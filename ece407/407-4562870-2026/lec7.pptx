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662" r:id="rId2"/>
    <p:sldId id="570" r:id="rId3"/>
    <p:sldId id="694" r:id="rId4"/>
    <p:sldId id="664" r:id="rId5"/>
    <p:sldId id="695" r:id="rId6"/>
    <p:sldId id="553" r:id="rId7"/>
    <p:sldId id="696" r:id="rId8"/>
    <p:sldId id="697" r:id="rId9"/>
    <p:sldId id="668" r:id="rId10"/>
    <p:sldId id="667" r:id="rId11"/>
    <p:sldId id="699" r:id="rId12"/>
    <p:sldId id="698" r:id="rId13"/>
    <p:sldId id="571" r:id="rId14"/>
    <p:sldId id="329" r:id="rId15"/>
    <p:sldId id="679" r:id="rId16"/>
    <p:sldId id="678" r:id="rId17"/>
    <p:sldId id="680" r:id="rId18"/>
    <p:sldId id="348" r:id="rId19"/>
    <p:sldId id="339" r:id="rId20"/>
    <p:sldId id="682" r:id="rId21"/>
    <p:sldId id="683" r:id="rId22"/>
    <p:sldId id="684" r:id="rId23"/>
    <p:sldId id="685" r:id="rId24"/>
    <p:sldId id="686" r:id="rId25"/>
    <p:sldId id="687" r:id="rId26"/>
    <p:sldId id="688" r:id="rId27"/>
    <p:sldId id="620" r:id="rId28"/>
    <p:sldId id="619" r:id="rId29"/>
    <p:sldId id="621" r:id="rId30"/>
    <p:sldId id="689" r:id="rId31"/>
    <p:sldId id="663" r:id="rId32"/>
    <p:sldId id="665" r:id="rId33"/>
    <p:sldId id="692" r:id="rId34"/>
    <p:sldId id="690" r:id="rId35"/>
    <p:sldId id="693" r:id="rId36"/>
    <p:sldId id="607" r:id="rId37"/>
    <p:sldId id="674" r:id="rId38"/>
    <p:sldId id="609" r:id="rId39"/>
    <p:sldId id="347" r:id="rId40"/>
    <p:sldId id="681" r:id="rId41"/>
    <p:sldId id="349" r:id="rId42"/>
    <p:sldId id="350" r:id="rId43"/>
    <p:sldId id="676" r:id="rId44"/>
    <p:sldId id="358" r:id="rId45"/>
    <p:sldId id="61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/>
    <p:restoredTop sz="56329" autoAdjust="0"/>
  </p:normalViewPr>
  <p:slideViewPr>
    <p:cSldViewPr snapToGrid="0" showGuides="1">
      <p:cViewPr varScale="1">
        <p:scale>
          <a:sx n="66" d="100"/>
          <a:sy n="66" d="100"/>
        </p:scale>
        <p:origin x="2576" y="19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18B71-9C39-4889-8E2C-9225BA8B3F5D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E8587-C61B-49BA-BD3C-A9EE353D7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29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121212"/>
                </a:solidFill>
                <a:effectLst/>
                <a:latin typeface="system-ui"/>
              </a:rPr>
              <a:t>Confusion — make the relationship between key and ciphertext complicated.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 </a:t>
            </a:r>
            <a:r>
              <a:rPr lang="en-US" b="1" i="0" u="none" strike="noStrike" dirty="0">
                <a:solidFill>
                  <a:srgbClr val="121212"/>
                </a:solidFill>
                <a:effectLst/>
                <a:latin typeface="system-ui"/>
              </a:rPr>
              <a:t>Each output bit should depend on the key in a messy, nonlinear way, so an attacker can't write down simple algebraic equations relating key bits to ciphertext bits.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 On your slide this is the round functions </a:t>
            </a:r>
            <a:r>
              <a:rPr lang="en-US" b="0" i="1" u="none" strike="noStrike" dirty="0">
                <a:solidFill>
                  <a:srgbClr val="121212"/>
                </a:solidFill>
                <a:effectLst/>
                <a:latin typeface="system-ui"/>
              </a:rPr>
              <a:t>f₁, …, f₁₆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-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  <a:sym typeface="Wingdings" pitchFamily="2" charset="2"/>
              </a:rPr>
              <a:t> 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 the S-boxes. Each </a:t>
            </a:r>
            <a:r>
              <a:rPr lang="en-US" b="0" i="1" u="none" strike="noStrike" dirty="0">
                <a:solidFill>
                  <a:srgbClr val="121212"/>
                </a:solidFill>
                <a:effectLst/>
                <a:latin typeface="system-ui"/>
              </a:rPr>
              <a:t>fᵢ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 is a small, key-dependent (or key-mixed) random-looking lookup table acting on one 8-bit chunk: </a:t>
            </a:r>
            <a:r>
              <a:rPr lang="en-US" dirty="0" err="1"/>
              <a:t>F_k</a:t>
            </a:r>
            <a:r>
              <a:rPr lang="en-US" dirty="0"/>
              <a:t>(x) = f₁(x₁) ‖ f₂(x₂) ‖ … ‖ f₁₆(x₁₆)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. Because each </a:t>
            </a:r>
            <a:r>
              <a:rPr lang="en-US" b="0" i="1" u="none" strike="noStrike" dirty="0">
                <a:solidFill>
                  <a:srgbClr val="121212"/>
                </a:solidFill>
                <a:effectLst/>
                <a:latin typeface="system-ui"/>
              </a:rPr>
              <a:t>fᵢ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 is a random permutation on a small domain, it's highly nonlinear.</a:t>
            </a:r>
          </a:p>
          <a:p>
            <a:endParaRPr lang="en-US" b="0" i="0" u="none" strike="noStrike" dirty="0">
              <a:solidFill>
                <a:srgbClr val="121212"/>
              </a:solidFill>
              <a:effectLst/>
              <a:latin typeface="system-ui"/>
            </a:endParaRPr>
          </a:p>
          <a:p>
            <a:endParaRPr lang="en-US" b="0" i="0" u="none" strike="noStrike" dirty="0">
              <a:solidFill>
                <a:srgbClr val="121212"/>
              </a:solidFill>
              <a:effectLst/>
              <a:latin typeface="system-ui"/>
            </a:endParaRPr>
          </a:p>
          <a:p>
            <a:pPr algn="l"/>
            <a:r>
              <a:rPr lang="en-US" b="1" i="0" u="none" strike="noStrike" dirty="0">
                <a:solidFill>
                  <a:srgbClr val="121212"/>
                </a:solidFill>
                <a:effectLst/>
                <a:latin typeface="system-ui"/>
              </a:rPr>
              <a:t>Diffusion — spread local changes over the whole block.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 Flipping one input bit should affect roughly half of all output bits (the avalanche effect), so statistical structure in the plaintext is smeared across the entire ciphertext.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  <a:sym typeface="Wingdings" pitchFamily="2" charset="2"/>
              </a:rPr>
              <a:t> </a:t>
            </a:r>
            <a:r>
              <a:rPr lang="en-US" b="1" i="0" u="none" strike="noStrike" dirty="0">
                <a:solidFill>
                  <a:srgbClr val="121212"/>
                </a:solidFill>
                <a:effectLst/>
                <a:latin typeface="system-ui"/>
              </a:rPr>
              <a:t>This is the mixing permutation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E8587-C61B-49BA-BD3C-A9EE353D70E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73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E8587-C61B-49BA-BD3C-A9EE353D70E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03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58623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79286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04985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8948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62BE-4293-4D7E-8FED-EFA019AFC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D1A74-AF1E-46A8-969C-64685C193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18083-291B-495C-BAB6-1CA89DC9E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0355C-5445-4237-B262-A23164E3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A2EEC-5F5F-4D03-9F61-C3898D11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0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229EA-3388-4D23-82A9-4F3003AAE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2867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F7303-1971-4CD2-8B0B-FF115F236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477" y="1743197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7884B-6D89-405B-909F-A90DE069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ACC1C-249F-4FDD-B428-EC207B74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F98E7-51DE-4E2D-9482-7B25C0E35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3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596D-914D-4E6D-AF46-B4998729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A2592-3A41-4778-8643-4E85E4F5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B768F-D2C9-4B4F-AD4B-7D3CCBB6F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628A7-FD4F-4564-86A5-14569CF8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6873D-EE02-40CB-82E5-FC355595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17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B8E9-3028-45FF-BFA0-3F576C75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849A6-FAF9-4467-A916-761573389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ED86A-1D75-4C06-BDAE-5667877AB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CF083-8A8C-4A9F-B603-0A0C30D60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B6354-55B3-4E64-8ECD-95536532B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45BA3-E82B-4150-AFEE-B8046EC2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51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58BD-5C91-4255-BA0D-911276E3D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20BD4-8880-45D0-90D9-071C791C8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C337D-B29A-4D93-9190-4AFBFD982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818BC-1713-4BB0-BD29-BBEECC746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446D4E-AEA1-4FE7-B3D8-EEFEA3CD1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4582CE-8BAA-46FF-8D36-0E537530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989E11-F3B3-415D-B5A9-522C5813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781E5-8EB7-4610-AA29-ECAFECA5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2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36C9-CDE4-4879-BA7D-0F985BF1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54AB7-2FEF-4B47-87EE-D334C5CA2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88316-D12F-426A-B8C8-3F85CF52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91593-3F56-4498-9268-88BD0507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39C03-0146-4658-B780-5A2D12374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726FC-EEC0-465F-9312-6B7A9CBC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46D91-3676-4D69-8E5F-267FDD22A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8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473F-09B7-4427-84BA-9F7D9421C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E777A-4377-4824-9580-5CD50236F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31D50-2E89-437B-B7A5-D525C9CA3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8A116-4E7B-4FBF-B5D3-C5A227E0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7E17E-6360-44B3-A9FC-43E4C2A80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564C6-9C35-4475-AC5F-A9E2A18F7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58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4457-2EBD-4422-ACE5-EB4635EB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E365B-1F69-4E89-BF0A-AE9ABA04F3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04F95-09E7-4B54-92F7-919F84BE1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BB4A7-1713-41A4-A987-82B25812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E5D9B-5A82-484F-A772-B349921AB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961B1-2F65-46C3-993A-E03DDB04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05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35D5E-1D09-4AA5-802D-4F59776F6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208FA-35A6-4EFB-8F48-9862886D3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C12DB-EB1D-4551-99AC-22EB9BA83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1BBAA-94B5-4ED9-AF79-CE399893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75956-F933-4CB8-B481-AECB03FE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16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19A50-C4E4-4F1B-8E62-D99CDF398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6962F-B4A1-4859-A12C-67016FF82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15B0A-81A5-479B-ADAA-456B1427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E43A1-61F1-46D0-835A-ADB57988AB4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594D5-082C-4ACF-940E-4A01DCAB5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E540E-0F1D-4EDA-A305-C1C4D643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49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A4509D-F445-49B1-BB62-E85722A9DC0D}" type="datetime1">
              <a:rPr lang="en-US" smtClean="0"/>
              <a:pPr>
                <a:defRPr/>
              </a:pPr>
              <a:t>9/14/26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Cryptography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5384800" cy="4495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4"/>
          </p:nvPr>
        </p:nvSpPr>
        <p:spPr>
          <a:xfrm>
            <a:off x="6299200" y="16764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852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3FBC14-1125-4876-92E8-1B0877571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77" y="15581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D414D-3C83-413A-81E2-B045C68BC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077" y="174319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9B5CF-C149-4249-940C-9F0BD416C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E43A1-61F1-46D0-835A-ADB57988AB4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6E08F-5D25-486D-BA81-889A52131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4A894-9BA9-41D9-AE9D-7132C3E9D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5E115-9843-43A9-95E4-D13672595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Advanced_Encryption_Standard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en.wikipedia.org/wiki/AES_key_schedule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3A1D-2BEB-A880-DED2-88CABF22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306C7F-6106-7A2C-4612-08B2DA5616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0152" y="1617654"/>
                <a:ext cx="11663599" cy="4482246"/>
              </a:xfrm>
            </p:spPr>
            <p:txBody>
              <a:bodyPr/>
              <a:lstStyle/>
              <a:p>
                <a:r>
                  <a:rPr lang="en-US" dirty="0"/>
                  <a:t>How many functions with n bits of input and output?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big lookup table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entries</a:t>
                </a:r>
              </a:p>
              <a:p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possibilities each,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strings of size n.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bits in total to represent a table.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dirty="0"/>
                  <a:t> different tables.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306C7F-6106-7A2C-4612-08B2DA5616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152" y="1617654"/>
                <a:ext cx="11663599" cy="4482246"/>
              </a:xfrm>
              <a:blipFill>
                <a:blip r:embed="rId2"/>
                <a:stretch>
                  <a:fillRect l="-940" t="-2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34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B6572-2D8B-4F7C-855A-083FCF00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286726"/>
            <a:ext cx="11368080" cy="1325563"/>
          </a:xfrm>
        </p:spPr>
        <p:txBody>
          <a:bodyPr/>
          <a:lstStyle/>
          <a:p>
            <a:r>
              <a:rPr lang="en-US" dirty="0"/>
              <a:t>Last time: Pseudorandom Function (PRF)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C0ACB-E1E6-4B9C-8918-FA3FD496819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981200" y="6356351"/>
            <a:ext cx="2133600" cy="365125"/>
          </a:xfrm>
        </p:spPr>
        <p:txBody>
          <a:bodyPr/>
          <a:lstStyle/>
          <a:p>
            <a:pPr>
              <a:defRPr/>
            </a:pPr>
            <a:fld id="{A7DE4472-E95E-430B-AA46-2D76F67E4D17}" type="datetime1">
              <a:rPr lang="en-US" smtClean="0"/>
              <a:pPr>
                <a:defRPr/>
              </a:pPr>
              <a:t>9/14/26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138EF-B666-4F8D-B18A-AA1FC1155E1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648200" y="6356351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GB"/>
              <a:t>Cryptography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DA0AB-4E7B-4F10-B950-C2BCF992D9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CBFCDD8-35B6-493B-A11D-6B1EF60FB7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743197"/>
                <a:ext cx="11078652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PRF is a function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such that for any PPT distinguishers </a:t>
                </a:r>
                <a:r>
                  <a:rPr lang="en-US" i="1" dirty="0"/>
                  <a:t>D</a:t>
                </a:r>
                <a:r>
                  <a:rPr lang="en-US" dirty="0"/>
                  <a:t>, there is a negligible function </a:t>
                </a:r>
                <a:r>
                  <a:rPr lang="en-US" dirty="0" err="1"/>
                  <a:t>negl</a:t>
                </a:r>
                <a:r>
                  <a:rPr lang="en-US" dirty="0"/>
                  <a:t> such that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(⋅)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(⋅)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negl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uniformly random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a random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un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CBFCDD8-35B6-493B-A11D-6B1EF60FB7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743197"/>
                <a:ext cx="11078652" cy="4351338"/>
              </a:xfrm>
              <a:blipFill>
                <a:blip r:embed="rId2"/>
                <a:stretch>
                  <a:fillRect l="-1101" t="-2521" r="-1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66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B6572-2D8B-4F7C-855A-083FCF00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Pseudorandom Function (PRF)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9E264-367D-4A3F-999D-C972625696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>
                    <a:latin typeface="+mj-lt"/>
                  </a:rPr>
                  <a:t>A random function instead of a random string in PRG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Or 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r>
                  <a:rPr lang="en-US" dirty="0"/>
                  <a:t>An efficient attacker cannot differentiate it from a random function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9E264-367D-4A3F-999D-C972625696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C0ACB-E1E6-4B9C-8918-FA3FD496819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981200" y="6356351"/>
            <a:ext cx="2133600" cy="365125"/>
          </a:xfrm>
        </p:spPr>
        <p:txBody>
          <a:bodyPr/>
          <a:lstStyle/>
          <a:p>
            <a:pPr>
              <a:defRPr/>
            </a:pPr>
            <a:fld id="{A7DE4472-E95E-430B-AA46-2D76F67E4D17}" type="datetime1">
              <a:rPr lang="en-US" smtClean="0"/>
              <a:pPr>
                <a:defRPr/>
              </a:pPr>
              <a:t>9/14/26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138EF-B666-4F8D-B18A-AA1FC1155E1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648200" y="6356351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GB"/>
              <a:t>Cryptography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DA0AB-4E7B-4F10-B950-C2BCF992D9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160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E531-AE77-382F-4589-807746D1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PRF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C5D55-568D-4B9C-E882-2813FAD99F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743197"/>
                <a:ext cx="11078652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PRF is a function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such that for any PPT distinguishers </a:t>
                </a:r>
                <a:r>
                  <a:rPr lang="en-US" i="1" dirty="0"/>
                  <a:t>D</a:t>
                </a:r>
                <a:r>
                  <a:rPr lang="en-US" dirty="0"/>
                  <a:t>, there is a negligible function </a:t>
                </a:r>
                <a:r>
                  <a:rPr lang="en-US" dirty="0" err="1"/>
                  <a:t>negl</a:t>
                </a:r>
                <a:r>
                  <a:rPr lang="en-US" dirty="0"/>
                  <a:t> such that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(⋅)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(⋅)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negl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uniformly random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a random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un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C5D55-568D-4B9C-E882-2813FAD99F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743197"/>
                <a:ext cx="11078652" cy="4351338"/>
              </a:xfrm>
              <a:blipFill>
                <a:blip r:embed="rId2"/>
                <a:stretch>
                  <a:fillRect l="-1101" t="-2521" r="-1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2075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71790-2438-1AFF-CA3C-237DFB58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PRF vs PRG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73BF5D-5556-6C84-8E00-36DF38DCE5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→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Key space size: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              # of random strings: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𝑃𝑅𝐹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Key space size: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	      # of random functions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73BF5D-5556-6C84-8E00-36DF38DCE5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24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PRF vs PRG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9886" y="1612289"/>
            <a:ext cx="6769474" cy="9412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PRF F immediately implies a PRG G:</a:t>
            </a:r>
          </a:p>
          <a:p>
            <a:pPr marL="457200" lvl="1" indent="0" algn="ctr">
              <a:buNone/>
            </a:pPr>
            <a:r>
              <a:rPr lang="en-US" dirty="0"/>
              <a:t>Define PRG(k) = </a:t>
            </a:r>
            <a:r>
              <a:rPr lang="en-US" dirty="0" err="1"/>
              <a:t>F</a:t>
            </a:r>
            <a:r>
              <a:rPr lang="en-US" baseline="-25000" dirty="0" err="1"/>
              <a:t>k</a:t>
            </a:r>
            <a:r>
              <a:rPr lang="en-US" dirty="0"/>
              <a:t>(1) | </a:t>
            </a:r>
            <a:r>
              <a:rPr lang="en-US" dirty="0" err="1"/>
              <a:t>F</a:t>
            </a:r>
            <a:r>
              <a:rPr lang="en-US" baseline="-25000" dirty="0" err="1"/>
              <a:t>k</a:t>
            </a:r>
            <a:r>
              <a:rPr lang="en-US" dirty="0"/>
              <a:t>(2) | </a:t>
            </a:r>
            <a:r>
              <a:rPr lang="en-US" dirty="0" err="1"/>
              <a:t>F</a:t>
            </a:r>
            <a:r>
              <a:rPr lang="en-US" baseline="-25000" dirty="0" err="1"/>
              <a:t>k</a:t>
            </a:r>
            <a:r>
              <a:rPr lang="en-US" dirty="0"/>
              <a:t>(3) | …</a:t>
            </a:r>
          </a:p>
          <a:p>
            <a:pPr marL="57150" indent="0" algn="ctr">
              <a:buNone/>
            </a:pPr>
            <a:endParaRPr lang="en-US" dirty="0"/>
          </a:p>
          <a:p>
            <a:pPr marL="57150" indent="0" algn="ctr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29EAF2-0AB5-2E33-5347-108EEB5EBD8E}"/>
              </a:ext>
            </a:extLst>
          </p:cNvPr>
          <p:cNvSpPr txBox="1"/>
          <p:nvPr/>
        </p:nvSpPr>
        <p:spPr>
          <a:xfrm>
            <a:off x="1956548" y="3355926"/>
            <a:ext cx="974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PRF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14417-413C-8C8A-2C79-83977D8316B0}"/>
              </a:ext>
            </a:extLst>
          </p:cNvPr>
          <p:cNvSpPr txBox="1"/>
          <p:nvPr/>
        </p:nvSpPr>
        <p:spPr>
          <a:xfrm>
            <a:off x="8276666" y="3355926"/>
            <a:ext cx="974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PRG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A962BE6-22B1-C9D9-1910-2A6E086A3D6F}"/>
              </a:ext>
            </a:extLst>
          </p:cNvPr>
          <p:cNvSpPr/>
          <p:nvPr/>
        </p:nvSpPr>
        <p:spPr>
          <a:xfrm>
            <a:off x="4123247" y="3018864"/>
            <a:ext cx="3160059" cy="337061"/>
          </a:xfrm>
          <a:prstGeom prst="rightArrow">
            <a:avLst>
              <a:gd name="adj1" fmla="val 50000"/>
              <a:gd name="adj2" fmla="val 3013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09F0547-0FF8-2437-0C3D-68E9DDC91D79}"/>
              </a:ext>
            </a:extLst>
          </p:cNvPr>
          <p:cNvSpPr/>
          <p:nvPr/>
        </p:nvSpPr>
        <p:spPr>
          <a:xfrm rot="10800000">
            <a:off x="4024593" y="4271242"/>
            <a:ext cx="3160059" cy="337061"/>
          </a:xfrm>
          <a:prstGeom prst="rightArrow">
            <a:avLst>
              <a:gd name="adj1" fmla="val 50000"/>
              <a:gd name="adj2" fmla="val 3013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BC832-335C-0D02-B5AB-7826B689FC90}"/>
              </a:ext>
            </a:extLst>
          </p:cNvPr>
          <p:cNvSpPr txBox="1"/>
          <p:nvPr/>
        </p:nvSpPr>
        <p:spPr>
          <a:xfrm>
            <a:off x="3383618" y="5323566"/>
            <a:ext cx="5926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 err="1">
                <a:latin typeface="+mj-lt"/>
              </a:rPr>
              <a:t>Goldreich</a:t>
            </a:r>
            <a:r>
              <a:rPr lang="en-US" sz="2000" b="0" i="0" u="none" strike="noStrike" baseline="0" dirty="0">
                <a:latin typeface="+mj-lt"/>
              </a:rPr>
              <a:t>-Goldwasser-</a:t>
            </a:r>
            <a:r>
              <a:rPr lang="en-US" sz="2000" b="0" i="0" u="none" strike="noStrike" baseline="0" dirty="0" err="1">
                <a:latin typeface="+mj-lt"/>
              </a:rPr>
              <a:t>Micali</a:t>
            </a:r>
            <a:r>
              <a:rPr lang="en-US" sz="2000" b="0" i="0" u="none" strike="noStrike" baseline="0" dirty="0">
                <a:latin typeface="+mj-lt"/>
              </a:rPr>
              <a:t> construction 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60007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500A1-90B7-5C0E-D093-513DB202F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CPA-security from PRF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326C9-3ACD-971B-DA3B-55D1EC6FCE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Construction: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: choose uniform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output it as the key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on input a message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sample uniform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dirty="0"/>
                  <a:t>: on input a ciphertext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compute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326C9-3ACD-971B-DA3B-55D1EC6FCE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033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FA15C7-F88E-04FF-39CC-76E100706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769" y="42526"/>
            <a:ext cx="9087298" cy="681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29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E138-BFF2-7DF6-CD64-6E2A7D2C0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6" y="150355"/>
            <a:ext cx="11570599" cy="1325563"/>
          </a:xfrm>
        </p:spPr>
        <p:txBody>
          <a:bodyPr/>
          <a:lstStyle/>
          <a:p>
            <a:r>
              <a:rPr lang="en-US" dirty="0"/>
              <a:t>Chosen-plaintext attack (CPA) security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90C3658-5EBE-0864-7799-C7A78C035B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0684" y="1405353"/>
                <a:ext cx="11570599" cy="530229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Experiment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PrivK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CPA</m:t>
                        </m:r>
                      </m:sup>
                    </m:sSub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 key </a:t>
                </a:r>
                <a:r>
                  <a:rPr lang="en-US" sz="2200" i="1" dirty="0"/>
                  <a:t>k</a:t>
                </a:r>
                <a:r>
                  <a:rPr lang="en-US" sz="2200" dirty="0"/>
                  <a:t> is generated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Gen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Adversary </a:t>
                </a:r>
                <a:r>
                  <a:rPr lang="en-US" sz="2200" i="1" dirty="0"/>
                  <a:t>A </a:t>
                </a:r>
                <a:r>
                  <a:rPr lang="en-US" sz="2200" dirty="0"/>
                  <a:t>is given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dirty="0"/>
                  <a:t>, and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oracle access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𝐄𝐧𝐜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2200" b="1" dirty="0">
                    <a:latin typeface="Monotype Corsiva" panose="03010101010201010101" pitchFamily="66" charset="0"/>
                  </a:rPr>
                  <a:t>. </a:t>
                </a:r>
                <a:r>
                  <a:rPr lang="en-US" sz="2200" i="1" dirty="0"/>
                  <a:t>A</a:t>
                </a:r>
                <a:r>
                  <a:rPr lang="en-US" sz="2200" dirty="0"/>
                  <a:t> outputs two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200" dirty="0">
                    <a:latin typeface="Monotype Corsiva" panose="03010101010201010101" pitchFamily="66" charset="0"/>
                  </a:rPr>
                  <a:t> M </a:t>
                </a:r>
                <a:r>
                  <a:rPr lang="en-US" sz="2200" dirty="0" err="1"/>
                  <a:t>s.t.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|=|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200" dirty="0">
                  <a:latin typeface="Monotype Corsiva" panose="03010101010201010101" pitchFamily="66" charset="0"/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A random bit </a:t>
                </a:r>
                <a:r>
                  <a:rPr lang="en-US" sz="2200" i="1" dirty="0"/>
                  <a:t>b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200" dirty="0"/>
                  <a:t> is chosen.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Enc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is given to </a:t>
                </a:r>
                <a:r>
                  <a:rPr lang="en-US" sz="2200" i="1" dirty="0"/>
                  <a:t>A. </a:t>
                </a:r>
                <a:endParaRPr lang="en-US" sz="2200" dirty="0"/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b="1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i="1" dirty="0"/>
                  <a:t>A </a:t>
                </a:r>
                <a:r>
                  <a:rPr lang="en-US" sz="2200" dirty="0"/>
                  <a:t>continues to have </a:t>
                </a:r>
                <a:r>
                  <a:rPr lang="en-US" sz="2200" b="1" dirty="0">
                    <a:solidFill>
                      <a:srgbClr val="0070C0"/>
                    </a:solidFill>
                  </a:rPr>
                  <a:t>oracle access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𝐄𝐧𝐜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sz="2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sz="2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and outputs</a:t>
                </a:r>
                <a:r>
                  <a:rPr lang="en-US" sz="2200" i="1" dirty="0"/>
                  <a:t> b’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sz="2200" dirty="0"/>
                  <a:t>Experiment outputs 1 if </a:t>
                </a:r>
                <a:r>
                  <a:rPr lang="en-US" sz="2200" i="1" dirty="0"/>
                  <a:t>b=b’, </a:t>
                </a:r>
                <a:r>
                  <a:rPr lang="en-US" sz="2200" dirty="0"/>
                  <a:t>and 0 otherwise</a:t>
                </a:r>
                <a:r>
                  <a:rPr lang="en-US" sz="2200" i="1" dirty="0"/>
                  <a:t>. </a:t>
                </a: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pPr marL="0">
                  <a:buNone/>
                </a:pPr>
                <a:endParaRPr lang="en-US" sz="2600" i="1" dirty="0"/>
              </a:p>
              <a:p>
                <a:pPr marL="0" indent="0">
                  <a:buNone/>
                </a:pPr>
                <a:r>
                  <a:rPr lang="en-US" sz="2400" dirty="0"/>
                  <a:t>Definition: a private-key encryption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Gen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Enc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CPA-secure, if for all probabilistic polynomial time adversaries </a:t>
                </a:r>
                <a:r>
                  <a:rPr lang="en-US" sz="2400" i="1" dirty="0"/>
                  <a:t>A</a:t>
                </a:r>
                <a:r>
                  <a:rPr lang="en-US" sz="2400" dirty="0"/>
                  <a:t>, there is a negligible function </a:t>
                </a:r>
                <a:r>
                  <a:rPr lang="en-US" sz="2400" dirty="0" err="1"/>
                  <a:t>negl</a:t>
                </a:r>
                <a:r>
                  <a:rPr lang="en-US" sz="2400" dirty="0"/>
                  <a:t> such that for all </a:t>
                </a:r>
                <a:r>
                  <a:rPr lang="en-US" sz="2400" i="1" dirty="0"/>
                  <a:t>n</a:t>
                </a:r>
                <a:r>
                  <a:rPr lang="en-US" sz="2400" dirty="0"/>
                  <a:t>,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Sup>
                            <m:sSubSup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𝐏𝐫𝐢𝐯𝐊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𝜫</m:t>
                              </m:r>
                            </m:sub>
                            <m:sup>
                              <m:r>
                                <a:rPr lang="en-US" sz="24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𝐂𝐏𝐀</m:t>
                              </m:r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func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]≤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𝐧𝐞𝐠𝐥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marL="571500" lvl="1" indent="-342900">
                  <a:buFont typeface="+mj-lt"/>
                  <a:buAutoNum type="arabicPeriod"/>
                </a:pPr>
                <a:endParaRPr lang="en-US" sz="2200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90C3658-5EBE-0864-7799-C7A78C035B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0684" y="1405353"/>
                <a:ext cx="11570599" cy="5302292"/>
              </a:xfrm>
              <a:blipFill>
                <a:blip r:embed="rId2"/>
                <a:stretch>
                  <a:fillRect l="-948" t="-1956" r="-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196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F4BF2-F763-B2DF-AE88-C36E63F87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idea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5E380-B362-AA2C-7524-5805B89226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612290"/>
                <a:ext cx="10823158" cy="513141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Reduction, build a </a:t>
                </a:r>
                <a:r>
                  <a:rPr lang="en-US" dirty="0">
                    <a:solidFill>
                      <a:srgbClr val="0070C0"/>
                    </a:solidFill>
                  </a:rPr>
                  <a:t>distinguisher</a:t>
                </a:r>
                <a:r>
                  <a:rPr lang="en-US" dirty="0"/>
                  <a:t> for PRF</a:t>
                </a:r>
              </a:p>
              <a:p>
                <a:r>
                  <a:rPr lang="en-US" dirty="0"/>
                  <a:t>Build the big lookup table for function f. Give random output for the random function f,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dirty="0"/>
                  <a:t> for PRF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Two cases: </a:t>
                </a:r>
                <a:r>
                  <a:rPr lang="en-US" dirty="0">
                    <a:solidFill>
                      <a:srgbClr val="0070C0"/>
                    </a:solidFill>
                  </a:rPr>
                  <a:t>(1) r has been queried by the adversary </a:t>
                </a:r>
                <a:r>
                  <a:rPr 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some gain of success;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(2) </a:t>
                </a:r>
                <a:r>
                  <a:rPr lang="en-US" dirty="0">
                    <a:solidFill>
                      <a:srgbClr val="00B050"/>
                    </a:solidFill>
                  </a:rPr>
                  <a:t>r has not been queried by the adversary </a:t>
                </a:r>
                <a:r>
                  <a:rPr lang="en-US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negl</a:t>
                </a:r>
                <a:r>
                  <a:rPr lang="en-US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PRF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probability: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negl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45E380-B362-AA2C-7524-5805B89226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612290"/>
                <a:ext cx="10823158" cy="5131410"/>
              </a:xfrm>
              <a:blipFill>
                <a:blip r:embed="rId2"/>
                <a:stretch>
                  <a:fillRect l="-1126" t="-2019" r="-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189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82EC-118D-A04A-62C6-D9AB02248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Pseudorandom Permutations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CD94A4-8D3C-37ED-89A1-A584ABD3BB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One-to-one, a subset of PRF</a:t>
                </a:r>
              </a:p>
              <a:p>
                <a:endParaRPr lang="en-US" dirty="0"/>
              </a:p>
              <a:p>
                <a:r>
                  <a:rPr lang="en-US" dirty="0"/>
                  <a:t>Invertible.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are efficiently computable.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CD94A4-8D3C-37ED-89A1-A584ABD3BB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BCFE6B-80A2-5AE7-7F70-3F45FA7D7329}"/>
                  </a:ext>
                </a:extLst>
              </p:cNvPr>
              <p:cNvSpPr txBox="1"/>
              <p:nvPr/>
            </p:nvSpPr>
            <p:spPr>
              <a:xfrm>
                <a:off x="620245" y="5048585"/>
                <a:ext cx="11126278" cy="734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(⋅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negl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BCFE6B-80A2-5AE7-7F70-3F45FA7D7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45" y="5048585"/>
                <a:ext cx="11126278" cy="7340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833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3A1D-2BEB-A880-DED2-88CABF22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permutations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306C7F-6106-7A2C-4612-08B2DA5616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0152" y="1617654"/>
                <a:ext cx="11663599" cy="4482246"/>
              </a:xfrm>
            </p:spPr>
            <p:txBody>
              <a:bodyPr/>
              <a:lstStyle/>
              <a:p>
                <a:r>
                  <a:rPr lang="en-US" dirty="0"/>
                  <a:t>How many one-to-one functions with n bits of input and output?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Stirling’s approximation: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!≈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306C7F-6106-7A2C-4612-08B2DA5616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152" y="1617654"/>
                <a:ext cx="11663599" cy="4482246"/>
              </a:xfrm>
              <a:blipFill>
                <a:blip r:embed="rId2"/>
                <a:stretch>
                  <a:fillRect l="-940" t="-2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27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E841-AFCE-4143-998D-9FD868FBB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Output Feedback (OFB) mode</a:t>
            </a:r>
            <a:endParaRPr lang="en-US" dirty="0"/>
          </a:p>
        </p:txBody>
      </p:sp>
      <p:pic>
        <p:nvPicPr>
          <p:cNvPr id="4" name="Picture 2" descr="OFB encryption.svg">
            <a:extLst>
              <a:ext uri="{FF2B5EF4-FFF2-40B4-BE49-F238E27FC236}">
                <a16:creationId xmlns:a16="http://schemas.microsoft.com/office/drawing/2014/main" id="{79EA0319-9AF4-456C-A1DC-AC50BD678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295400"/>
            <a:ext cx="8891753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954166-9BC4-4DD7-A410-56C6374665A2}"/>
              </a:ext>
            </a:extLst>
          </p:cNvPr>
          <p:cNvSpPr txBox="1"/>
          <p:nvPr/>
        </p:nvSpPr>
        <p:spPr>
          <a:xfrm>
            <a:off x="1410467" y="5343435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+mj-lt"/>
              </a:rPr>
              <a:t>Block cipher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+mj-lt"/>
              </a:rPr>
              <a:t>Mode of encryption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+mj-lt"/>
              </a:rPr>
              <a:t>Padding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FE02A0-0612-47B3-BA98-3761C2D67BD3}"/>
              </a:ext>
            </a:extLst>
          </p:cNvPr>
          <p:cNvCxnSpPr>
            <a:cxnSpLocks/>
          </p:cNvCxnSpPr>
          <p:nvPr/>
        </p:nvCxnSpPr>
        <p:spPr>
          <a:xfrm flipV="1">
            <a:off x="2475732" y="2927307"/>
            <a:ext cx="1304606" cy="24614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39B032D-AE83-4C46-9282-F76EDC70EB8D}"/>
              </a:ext>
            </a:extLst>
          </p:cNvPr>
          <p:cNvCxnSpPr>
            <a:cxnSpLocks/>
          </p:cNvCxnSpPr>
          <p:nvPr/>
        </p:nvCxnSpPr>
        <p:spPr>
          <a:xfrm flipV="1">
            <a:off x="3668537" y="3522588"/>
            <a:ext cx="4996784" cy="27815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46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block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Want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k</a:t>
            </a:r>
            <a:r>
              <a:rPr lang="en-US" altLang="en-US" dirty="0"/>
              <a:t> (for uniform, unknown key k) to be indistinguishable from a random function</a:t>
            </a:r>
          </a:p>
          <a:p>
            <a:endParaRPr lang="en-US" dirty="0"/>
          </a:p>
          <a:p>
            <a:r>
              <a:rPr lang="en-US" dirty="0"/>
              <a:t>If x and x’ differ in one bit, what should the relation between </a:t>
            </a:r>
            <a:r>
              <a:rPr lang="en-US" dirty="0" err="1"/>
              <a:t>F</a:t>
            </a:r>
            <a:r>
              <a:rPr lang="en-US" baseline="-25000" dirty="0" err="1"/>
              <a:t>k</a:t>
            </a:r>
            <a:r>
              <a:rPr lang="en-US" dirty="0"/>
              <a:t>(x) and </a:t>
            </a:r>
            <a:r>
              <a:rPr lang="en-US" dirty="0" err="1"/>
              <a:t>F</a:t>
            </a:r>
            <a:r>
              <a:rPr lang="en-US" baseline="-25000" dirty="0" err="1"/>
              <a:t>k</a:t>
            </a:r>
            <a:r>
              <a:rPr lang="en-US" dirty="0"/>
              <a:t>(x’) be?</a:t>
            </a:r>
          </a:p>
          <a:p>
            <a:pPr lvl="1"/>
            <a:r>
              <a:rPr lang="en-US" dirty="0"/>
              <a:t>How many bits should change (on average)?</a:t>
            </a:r>
          </a:p>
          <a:p>
            <a:pPr lvl="1"/>
            <a:r>
              <a:rPr lang="en-US" dirty="0"/>
              <a:t>Which bits should change?</a:t>
            </a:r>
          </a:p>
        </p:txBody>
      </p:sp>
    </p:spTree>
    <p:extLst>
      <p:ext uri="{BB962C8B-B14F-4D97-AF65-F5344CB8AC3E}">
        <p14:creationId xmlns:p14="http://schemas.microsoft.com/office/powerpoint/2010/main" val="790586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3A2D-1F23-7052-776F-1B2B888A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Confusion-diffusion paradigm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D2EFB-7BBC-1B09-3CFB-052752F95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||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||…||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dirty="0"/>
                  <a:t>Smaller random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: confusion</a:t>
                </a:r>
              </a:p>
              <a:p>
                <a:endParaRPr lang="en-US" dirty="0"/>
              </a:p>
              <a:p>
                <a:r>
                  <a:rPr lang="en-US" dirty="0"/>
                  <a:t>Mixing permutation: diffusion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D2EFB-7BBC-1B09-3CFB-052752F95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6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0821-985F-1D1D-2AF2-F3974B7D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6" y="286726"/>
            <a:ext cx="11254979" cy="1325563"/>
          </a:xfrm>
        </p:spPr>
        <p:txBody>
          <a:bodyPr/>
          <a:lstStyle/>
          <a:p>
            <a:r>
              <a:rPr lang="en-US" dirty="0"/>
              <a:t>Substitution-Permutation Networks (SPN)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06C97B-6A26-B03A-4595-D6774C2CA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14" y="1329804"/>
            <a:ext cx="5052927" cy="54188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1B0A02-401B-BD9A-606C-968CDD1ACF47}"/>
              </a:ext>
            </a:extLst>
          </p:cNvPr>
          <p:cNvSpPr txBox="1"/>
          <p:nvPr/>
        </p:nvSpPr>
        <p:spPr>
          <a:xfrm>
            <a:off x="6375042" y="1612289"/>
            <a:ext cx="5052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XOR with secret key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Substitution boxes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Permutation</a:t>
            </a:r>
          </a:p>
        </p:txBody>
      </p:sp>
    </p:spTree>
    <p:extLst>
      <p:ext uri="{BB962C8B-B14F-4D97-AF65-F5344CB8AC3E}">
        <p14:creationId xmlns:p14="http://schemas.microsoft.com/office/powerpoint/2010/main" val="1117122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26C5-E9EB-B414-B9DD-E200B361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Multi-round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180C2-9FB8-0C9F-6A1E-07891271F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1939E-71FE-1795-0A20-D62B63BD4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2786"/>
            <a:ext cx="4767907" cy="657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876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Avalanche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1-bit difference in the input should “affect” every bit of the output.</a:t>
            </a:r>
          </a:p>
        </p:txBody>
      </p:sp>
    </p:spTree>
    <p:extLst>
      <p:ext uri="{BB962C8B-B14F-4D97-AF65-F5344CB8AC3E}">
        <p14:creationId xmlns:p14="http://schemas.microsoft.com/office/powerpoint/2010/main" val="740053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476" y="221877"/>
            <a:ext cx="10515600" cy="1325563"/>
          </a:xfrm>
        </p:spPr>
        <p:txBody>
          <a:bodyPr/>
          <a:lstStyle/>
          <a:p>
            <a:r>
              <a:rPr lang="en-US" dirty="0"/>
              <a:t>Avalanche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476" y="1743196"/>
            <a:ext cx="11746523" cy="4892927"/>
          </a:xfrm>
        </p:spPr>
        <p:txBody>
          <a:bodyPr>
            <a:normAutofit/>
          </a:bodyPr>
          <a:lstStyle/>
          <a:p>
            <a:r>
              <a:rPr lang="en-US" dirty="0"/>
              <a:t>Design S-boxes and mixing permutation to ensure </a:t>
            </a:r>
            <a:r>
              <a:rPr lang="en-US" i="1" dirty="0"/>
              <a:t>avalanche effect</a:t>
            </a:r>
          </a:p>
          <a:p>
            <a:pPr lvl="1"/>
            <a:r>
              <a:rPr lang="en-US" dirty="0"/>
              <a:t>Small differences should eventually propagate to entire output</a:t>
            </a:r>
          </a:p>
          <a:p>
            <a:endParaRPr lang="en-US" dirty="0"/>
          </a:p>
          <a:p>
            <a:r>
              <a:rPr lang="en-US" dirty="0"/>
              <a:t>S-boxes: </a:t>
            </a:r>
            <a:r>
              <a:rPr lang="en-US" i="1" dirty="0"/>
              <a:t>any</a:t>
            </a:r>
            <a:r>
              <a:rPr lang="en-US" dirty="0"/>
              <a:t> 1-bit change in input causes ≥2-bit change in output, </a:t>
            </a:r>
            <a:r>
              <a:rPr lang="en-US" b="1" dirty="0"/>
              <a:t>non-linear!</a:t>
            </a:r>
          </a:p>
          <a:p>
            <a:pPr lvl="1"/>
            <a:r>
              <a:rPr lang="en-US" dirty="0"/>
              <a:t>Not so easy to ensure!</a:t>
            </a:r>
          </a:p>
          <a:p>
            <a:endParaRPr lang="en-US" dirty="0"/>
          </a:p>
          <a:p>
            <a:r>
              <a:rPr lang="en-US" dirty="0"/>
              <a:t>Mixing permutation</a:t>
            </a:r>
          </a:p>
          <a:p>
            <a:pPr lvl="1"/>
            <a:r>
              <a:rPr lang="en-US" dirty="0"/>
              <a:t>Each bit output from a given S-box should feed into a </a:t>
            </a:r>
            <a:r>
              <a:rPr lang="en-US" i="1" dirty="0"/>
              <a:t>different</a:t>
            </a:r>
            <a:r>
              <a:rPr lang="en-US" dirty="0"/>
              <a:t> S-box in the next round</a:t>
            </a:r>
          </a:p>
        </p:txBody>
      </p:sp>
    </p:spTree>
    <p:extLst>
      <p:ext uri="{BB962C8B-B14F-4D97-AF65-F5344CB8AC3E}">
        <p14:creationId xmlns:p14="http://schemas.microsoft.com/office/powerpoint/2010/main" val="22052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26C5-E9EB-B414-B9DD-E200B361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Avalanche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180C2-9FB8-0C9F-6A1E-07891271F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1939E-71FE-1795-0A20-D62B63BD4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2786"/>
            <a:ext cx="4767907" cy="657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32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829E1-4A10-C261-EB7A-1458DEB6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Sub-keys and master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E9E45-687D-EB1C-FC5F-B3BF03CBC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Master key: secret key</a:t>
            </a:r>
          </a:p>
          <a:p>
            <a:endParaRPr lang="en-US" dirty="0"/>
          </a:p>
          <a:p>
            <a:r>
              <a:rPr lang="en-US" dirty="0"/>
              <a:t>Sub-keys for different rounds are derived from the master key</a:t>
            </a:r>
          </a:p>
          <a:p>
            <a:endParaRPr lang="en-US" dirty="0"/>
          </a:p>
          <a:p>
            <a:r>
              <a:rPr lang="en-US" dirty="0"/>
              <a:t>L+1 sub-keys for L-round SPN: always XOR a sub-key at the end</a:t>
            </a:r>
          </a:p>
        </p:txBody>
      </p:sp>
    </p:spTree>
    <p:extLst>
      <p:ext uri="{BB962C8B-B14F-4D97-AF65-F5344CB8AC3E}">
        <p14:creationId xmlns:p14="http://schemas.microsoft.com/office/powerpoint/2010/main" val="4040732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D665-CAA9-4E58-B09E-673FE1DDD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71871-B05A-486A-963D-98F8E9E3012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981200" y="6356351"/>
            <a:ext cx="2133600" cy="365125"/>
          </a:xfrm>
        </p:spPr>
        <p:txBody>
          <a:bodyPr/>
          <a:lstStyle/>
          <a:p>
            <a:pPr>
              <a:defRPr/>
            </a:pPr>
            <a:fld id="{A7DE4472-E95E-430B-AA46-2D76F67E4D17}" type="datetime1">
              <a:rPr lang="en-US" smtClean="0"/>
              <a:pPr>
                <a:defRPr/>
              </a:pPr>
              <a:t>9/14/26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5BDF9-B194-4CBE-89DF-C1D551FAF2B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648200" y="6356351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GB"/>
              <a:t>Cryptography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C5505-D90D-449C-98CF-D56FC4DA5F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  <p:pic>
        <p:nvPicPr>
          <p:cNvPr id="70658" name="Picture 2" descr="AES-SubBytes.svg">
            <a:extLst>
              <a:ext uri="{FF2B5EF4-FFF2-40B4-BE49-F238E27FC236}">
                <a16:creationId xmlns:a16="http://schemas.microsoft.com/office/drawing/2014/main" id="{69EA73D8-3F46-4D65-B9CC-CA31E1971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559" y="1549766"/>
            <a:ext cx="3886200" cy="2014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60" name="Picture 4" descr="https://upload.wikimedia.org/wikipedia/commons/thumb/6/66/AES-ShiftRows.svg/2560px-AES-ShiftRows.svg.png">
            <a:extLst>
              <a:ext uri="{FF2B5EF4-FFF2-40B4-BE49-F238E27FC236}">
                <a16:creationId xmlns:a16="http://schemas.microsoft.com/office/drawing/2014/main" id="{C9FFE33B-3C49-40B3-804B-43A26AEBC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192" y="4450135"/>
            <a:ext cx="4364085" cy="161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62" name="Picture 6" descr="https://upload.wikimedia.org/wikipedia/commons/thumb/7/76/AES-MixColumns.svg/2560px-AES-MixColumns.svg.png">
            <a:extLst>
              <a:ext uri="{FF2B5EF4-FFF2-40B4-BE49-F238E27FC236}">
                <a16:creationId xmlns:a16="http://schemas.microsoft.com/office/drawing/2014/main" id="{FEA67700-66A4-4174-8FBF-FA738C466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915" y="4404257"/>
            <a:ext cx="3997885" cy="212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64" name="Picture 8" descr="https://upload.wikimedia.org/wikipedia/commons/thumb/a/ad/AES-AddRoundKey.svg/1920px-AES-AddRoundKey.svg.png">
            <a:extLst>
              <a:ext uri="{FF2B5EF4-FFF2-40B4-BE49-F238E27FC236}">
                <a16:creationId xmlns:a16="http://schemas.microsoft.com/office/drawing/2014/main" id="{BCB0FCF6-882F-43F4-B52A-FABB83853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559" y="1295400"/>
            <a:ext cx="3464483" cy="269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2C709B-3D22-4AED-9A6E-C37020300242}"/>
              </a:ext>
            </a:extLst>
          </p:cNvPr>
          <p:cNvCxnSpPr/>
          <p:nvPr/>
        </p:nvCxnSpPr>
        <p:spPr>
          <a:xfrm>
            <a:off x="1447800" y="409042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5E0AFB-C55B-45D6-A81C-152B6071373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019800" y="1295400"/>
            <a:ext cx="0" cy="50609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702F19-9EA0-8CFA-027E-8876FEC8DF89}"/>
              </a:ext>
            </a:extLst>
          </p:cNvPr>
          <p:cNvSpPr txBox="1"/>
          <p:nvPr/>
        </p:nvSpPr>
        <p:spPr>
          <a:xfrm>
            <a:off x="2545188" y="791790"/>
            <a:ext cx="7255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https://en.wikipedia.org/wiki/Advanced_Encryption_Standard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73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26DD1-2F35-8C56-A591-278E3AC8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C1D0A2-B70E-7A96-B205-BD8F17A849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743197"/>
                <a:ext cx="11455170" cy="4351338"/>
              </a:xfrm>
            </p:spPr>
            <p:txBody>
              <a:bodyPr/>
              <a:lstStyle/>
              <a:p>
                <a:r>
                  <a:rPr lang="en-US" dirty="0"/>
                  <a:t>AES-128, AES-192, AES-256: different key lengths. A block is 128-bit</a:t>
                </a:r>
              </a:p>
              <a:p>
                <a:endParaRPr lang="en-US" dirty="0"/>
              </a:p>
              <a:p>
                <a:r>
                  <a:rPr lang="en-US" dirty="0"/>
                  <a:t>A 128-bit sub-key is derived from the master key.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4×4</m:t>
                    </m:r>
                  </m:oMath>
                </a14:m>
                <a:r>
                  <a:rPr lang="en-US" dirty="0"/>
                  <a:t> bytes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sz="2400" dirty="0">
                    <a:hlinkClick r:id="rId2"/>
                  </a:rPr>
                  <a:t>https://en.wikipedia.org/wiki/AES_key_schedule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C1D0A2-B70E-7A96-B205-BD8F17A849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743197"/>
                <a:ext cx="11455170" cy="4351338"/>
              </a:xfrm>
              <a:blipFill>
                <a:blip r:embed="rId3"/>
                <a:stretch>
                  <a:fillRect l="-958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4384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67359-C682-D3E5-EE03-43DADACE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substitution boxes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1EDB70-B2C6-0711-5E49-FF4483625C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465729"/>
                <a:ext cx="10515600" cy="462880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1EDB70-B2C6-0711-5E49-FF4483625C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465729"/>
                <a:ext cx="10515600" cy="462880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52C96B9-1ABD-422D-073B-139758274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459" y="1271848"/>
            <a:ext cx="4973890" cy="538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02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CEF8-E7CA-B52F-1C61-392FF069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ShiftRows</a:t>
            </a:r>
            <a:r>
              <a:rPr lang="en-US" dirty="0"/>
              <a:t> and </a:t>
            </a:r>
            <a:r>
              <a:rPr lang="en-US" dirty="0" err="1"/>
              <a:t>MixColumns</a:t>
            </a:r>
            <a:endParaRPr lang="en-US" dirty="0"/>
          </a:p>
        </p:txBody>
      </p:sp>
      <p:pic>
        <p:nvPicPr>
          <p:cNvPr id="4" name="Picture 4" descr="https://upload.wikimedia.org/wikipedia/commons/thumb/6/66/AES-ShiftRows.svg/2560px-AES-ShiftRows.svg.png">
            <a:extLst>
              <a:ext uri="{FF2B5EF4-FFF2-40B4-BE49-F238E27FC236}">
                <a16:creationId xmlns:a16="http://schemas.microsoft.com/office/drawing/2014/main" id="{E4E129F3-CE04-EC34-CA3E-522DE781A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909" y="2002770"/>
            <a:ext cx="4364085" cy="161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ttps://upload.wikimedia.org/wikipedia/commons/thumb/7/76/AES-MixColumns.svg/2560px-AES-MixColumns.svg.png">
            <a:extLst>
              <a:ext uri="{FF2B5EF4-FFF2-40B4-BE49-F238E27FC236}">
                <a16:creationId xmlns:a16="http://schemas.microsoft.com/office/drawing/2014/main" id="{B274829E-3815-18CD-12F5-8FCAF829F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008" y="1749563"/>
            <a:ext cx="3997885" cy="212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922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2F61D-294C-8E9F-724E-2AC7BA39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B1F7-A9DD-41D4-FDA0-CBAE85D9D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AES has 10 rounds for 128-bit keys, 12 rounds for 192-bit keys, and 14 rounds for 256-bit keys.</a:t>
            </a:r>
          </a:p>
        </p:txBody>
      </p:sp>
    </p:spTree>
    <p:extLst>
      <p:ext uri="{BB962C8B-B14F-4D97-AF65-F5344CB8AC3E}">
        <p14:creationId xmlns:p14="http://schemas.microsoft.com/office/powerpoint/2010/main" val="11866077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5CE-EA46-4B03-8EBF-47341222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design principle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381B0-8084-4E11-AACD-43729402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BEBBB93-C321-56B5-C1B0-77439F95D76F}"/>
              </a:ext>
            </a:extLst>
          </p:cNvPr>
          <p:cNvSpPr txBox="1">
            <a:spLocks/>
          </p:cNvSpPr>
          <p:nvPr/>
        </p:nvSpPr>
        <p:spPr>
          <a:xfrm>
            <a:off x="1981201" y="1143000"/>
            <a:ext cx="8228013" cy="51054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20000"/>
              </a:lnSpc>
              <a:buNone/>
              <a:defRPr/>
            </a:pPr>
            <a:endParaRPr lang="en-US" dirty="0"/>
          </a:p>
          <a:p>
            <a:pPr marL="457200" lvl="1" indent="0">
              <a:lnSpc>
                <a:spcPct val="120000"/>
              </a:lnSpc>
              <a:buNone/>
              <a:defRPr/>
            </a:pPr>
            <a:r>
              <a:rPr lang="en-US" dirty="0"/>
              <a:t>Security should only rely on the secret key</a:t>
            </a:r>
          </a:p>
        </p:txBody>
      </p:sp>
    </p:spTree>
    <p:extLst>
      <p:ext uri="{BB962C8B-B14F-4D97-AF65-F5344CB8AC3E}">
        <p14:creationId xmlns:p14="http://schemas.microsoft.com/office/powerpoint/2010/main" val="385383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5CE-EA46-4B03-8EBF-47341222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381B0-8084-4E11-AACD-43729402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28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BEBBB93-C321-56B5-C1B0-77439F95D76F}"/>
              </a:ext>
            </a:extLst>
          </p:cNvPr>
          <p:cNvSpPr txBox="1">
            <a:spLocks/>
          </p:cNvSpPr>
          <p:nvPr/>
        </p:nvSpPr>
        <p:spPr>
          <a:xfrm>
            <a:off x="1446680" y="1481382"/>
            <a:ext cx="9146240" cy="35353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lnSpc>
                <a:spcPct val="120000"/>
              </a:lnSpc>
              <a:buNone/>
              <a:defRPr/>
            </a:pPr>
            <a:r>
              <a:rPr lang="en-US" sz="2800" dirty="0"/>
              <a:t>AES/DES is a PRF/PRP</a:t>
            </a:r>
          </a:p>
          <a:p>
            <a:pPr marL="57150" indent="0">
              <a:lnSpc>
                <a:spcPct val="120000"/>
              </a:lnSpc>
              <a:buNone/>
              <a:defRPr/>
            </a:pPr>
            <a:endParaRPr lang="en-US" sz="2800" dirty="0"/>
          </a:p>
          <a:p>
            <a:pPr marL="57150" indent="0">
              <a:lnSpc>
                <a:spcPct val="120000"/>
              </a:lnSpc>
              <a:buNone/>
              <a:defRPr/>
            </a:pPr>
            <a:r>
              <a:rPr lang="en-US" sz="2800" dirty="0"/>
              <a:t>What’s the difference? Enigma machine, Vigenère cipher</a:t>
            </a:r>
          </a:p>
          <a:p>
            <a:pPr marL="914400" lvl="1" indent="-457200">
              <a:lnSpc>
                <a:spcPct val="120000"/>
              </a:lnSpc>
              <a:defRPr/>
            </a:pPr>
            <a:r>
              <a:rPr lang="en-US" sz="2400" dirty="0"/>
              <a:t>Modular and composable  constructions</a:t>
            </a:r>
          </a:p>
          <a:p>
            <a:pPr marL="914400" lvl="1" indent="-457200">
              <a:lnSpc>
                <a:spcPct val="120000"/>
              </a:lnSpc>
              <a:defRPr/>
            </a:pPr>
            <a:r>
              <a:rPr lang="en-US" sz="2400" dirty="0"/>
              <a:t>Years of cryptanalysis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130BCE-7C34-BA82-0EB4-DA6E7108293D}"/>
              </a:ext>
            </a:extLst>
          </p:cNvPr>
          <p:cNvSpPr txBox="1"/>
          <p:nvPr/>
        </p:nvSpPr>
        <p:spPr>
          <a:xfrm>
            <a:off x="3048000" y="5257800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Don’t Roll Your Own Crypto!!!</a:t>
            </a:r>
          </a:p>
        </p:txBody>
      </p:sp>
    </p:spTree>
    <p:extLst>
      <p:ext uri="{BB962C8B-B14F-4D97-AF65-F5344CB8AC3E}">
        <p14:creationId xmlns:p14="http://schemas.microsoft.com/office/powerpoint/2010/main" val="26742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381B0-8084-4E11-AACD-43729402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29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B69F09F-0046-9D26-F015-6F9C27A77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65E652-5031-D684-09D6-1944B871D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95" y="136525"/>
            <a:ext cx="10035132" cy="641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863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5CE-EA46-4B03-8EBF-47341222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is invertible given 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381B0-8084-4E11-AACD-43729402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30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55312-16BA-4901-CD59-E65CB1517AF0}"/>
              </a:ext>
            </a:extLst>
          </p:cNvPr>
          <p:cNvSpPr txBox="1"/>
          <p:nvPr/>
        </p:nvSpPr>
        <p:spPr>
          <a:xfrm>
            <a:off x="860612" y="1481382"/>
            <a:ext cx="58606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S-box is invertible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do need AES decryptions in some block cipher modes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F0C7EC-CFA2-5AC7-29FE-41BAEA9D7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481" y="75551"/>
            <a:ext cx="4767907" cy="657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578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3A1D-2BEB-A880-DED2-88CABF22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Permutations vs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306C7F-6106-7A2C-4612-08B2DA5616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0152" y="1612289"/>
                <a:ext cx="11663599" cy="448761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Permutation: one-to-one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How many one-to-one functions with n bits of input and output?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Stirling’s approximation: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!≈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306C7F-6106-7A2C-4612-08B2DA5616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152" y="1612289"/>
                <a:ext cx="11663599" cy="4487611"/>
              </a:xfrm>
              <a:blipFill>
                <a:blip r:embed="rId2"/>
                <a:stretch>
                  <a:fillRect l="-940" t="-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66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82EC-118D-A04A-62C6-D9AB02248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Pseudorandom Permutations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CD94A4-8D3C-37ED-89A1-A584ABD3BB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743197"/>
                <a:ext cx="11576194" cy="4351338"/>
              </a:xfrm>
            </p:spPr>
            <p:txBody>
              <a:bodyPr/>
              <a:lstStyle/>
              <a:p>
                <a:r>
                  <a:rPr lang="en-US" dirty="0"/>
                  <a:t>One-to-one, a subset of PRF</a:t>
                </a:r>
              </a:p>
              <a:p>
                <a:endParaRPr lang="en-US" dirty="0"/>
              </a:p>
              <a:p>
                <a:r>
                  <a:rPr lang="en-US" dirty="0"/>
                  <a:t>Invertible.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are efficiently computable.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CD94A4-8D3C-37ED-89A1-A584ABD3BB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743197"/>
                <a:ext cx="11576194" cy="4351338"/>
              </a:xfrm>
              <a:blipFill>
                <a:blip r:embed="rId2"/>
                <a:stretch>
                  <a:fillRect l="-948" t="-2521" r="-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BCFE6B-80A2-5AE7-7F70-3F45FA7D7329}"/>
                  </a:ext>
                </a:extLst>
              </p:cNvPr>
              <p:cNvSpPr txBox="1"/>
              <p:nvPr/>
            </p:nvSpPr>
            <p:spPr>
              <a:xfrm>
                <a:off x="445477" y="4631726"/>
                <a:ext cx="11126278" cy="734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(⋅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negl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BCFE6B-80A2-5AE7-7F70-3F45FA7D7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77" y="4631726"/>
                <a:ext cx="11126278" cy="7340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5045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A4E17-A3D5-6CBC-7685-7B012C55D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Feistel network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925BD-FA55-8D58-1781-C2CD761DD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in DES</a:t>
            </a:r>
          </a:p>
          <a:p>
            <a:endParaRPr lang="en-US" dirty="0"/>
          </a:p>
          <a:p>
            <a:r>
              <a:rPr lang="en-US" dirty="0"/>
              <a:t>Advantage over SPN: S-boxes don’t need to be invertible </a:t>
            </a:r>
          </a:p>
        </p:txBody>
      </p:sp>
    </p:spTree>
    <p:extLst>
      <p:ext uri="{BB962C8B-B14F-4D97-AF65-F5344CB8AC3E}">
        <p14:creationId xmlns:p14="http://schemas.microsoft.com/office/powerpoint/2010/main" val="3041981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6AAF-D715-BA6C-0482-C257C8BBF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257315"/>
            <a:ext cx="10515600" cy="1325563"/>
          </a:xfrm>
        </p:spPr>
        <p:txBody>
          <a:bodyPr/>
          <a:lstStyle/>
          <a:p>
            <a:r>
              <a:rPr lang="en-US" altLang="ja-JP" dirty="0"/>
              <a:t>Feistel network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AC4002D-7FF4-21D3-A892-8B3F354DC416}"/>
              </a:ext>
            </a:extLst>
          </p:cNvPr>
          <p:cNvCxnSpPr/>
          <p:nvPr/>
        </p:nvCxnSpPr>
        <p:spPr>
          <a:xfrm>
            <a:off x="4811806" y="4493559"/>
            <a:ext cx="76200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F842452-B28B-8BF8-1940-6946E74CB630}"/>
              </a:ext>
            </a:extLst>
          </p:cNvPr>
          <p:cNvSpPr/>
          <p:nvPr/>
        </p:nvSpPr>
        <p:spPr>
          <a:xfrm>
            <a:off x="3364006" y="2512359"/>
            <a:ext cx="2514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/>
              <a:t>L</a:t>
            </a:r>
            <a:r>
              <a:rPr lang="en-US" sz="2800" baseline="-25000" dirty="0"/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C739F9-60C8-6523-2701-E49230292110}"/>
              </a:ext>
            </a:extLst>
          </p:cNvPr>
          <p:cNvSpPr/>
          <p:nvPr/>
        </p:nvSpPr>
        <p:spPr>
          <a:xfrm>
            <a:off x="5878606" y="2512359"/>
            <a:ext cx="2514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/>
              <a:t>R</a:t>
            </a:r>
            <a:r>
              <a:rPr lang="en-US" sz="2800" baseline="-25000" dirty="0"/>
              <a:t>0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9C23A9-6BC1-590C-3E5D-D98AAB4835CC}"/>
              </a:ext>
            </a:extLst>
          </p:cNvPr>
          <p:cNvSpPr/>
          <p:nvPr/>
        </p:nvSpPr>
        <p:spPr>
          <a:xfrm>
            <a:off x="5573806" y="4188759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f</a:t>
            </a:r>
            <a:r>
              <a:rPr lang="en-US" sz="2800" baseline="-25000" dirty="0" err="1"/>
              <a:t>k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F14276-5A2C-E077-4326-E56012F18E73}"/>
              </a:ext>
            </a:extLst>
          </p:cNvPr>
          <p:cNvCxnSpPr/>
          <p:nvPr/>
        </p:nvCxnSpPr>
        <p:spPr>
          <a:xfrm>
            <a:off x="7097806" y="3121959"/>
            <a:ext cx="0" cy="137160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CEC7929-D19B-4B9E-5D80-927ED60478C6}"/>
              </a:ext>
            </a:extLst>
          </p:cNvPr>
          <p:cNvCxnSpPr/>
          <p:nvPr/>
        </p:nvCxnSpPr>
        <p:spPr>
          <a:xfrm>
            <a:off x="6183406" y="4493559"/>
            <a:ext cx="91440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A97127-89F5-C09F-295D-D0BD69E4238E}"/>
              </a:ext>
            </a:extLst>
          </p:cNvPr>
          <p:cNvSpPr txBox="1"/>
          <p:nvPr/>
        </p:nvSpPr>
        <p:spPr>
          <a:xfrm>
            <a:off x="4488718" y="4231949"/>
            <a:ext cx="460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ym typeface="Symbol" panose="05050102010706020507" pitchFamily="18" charset="2"/>
              </a:rPr>
              <a:t>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3EB913-4B8E-2FC9-E49E-194064762310}"/>
              </a:ext>
            </a:extLst>
          </p:cNvPr>
          <p:cNvCxnSpPr>
            <a:endCxn id="10" idx="0"/>
          </p:cNvCxnSpPr>
          <p:nvPr/>
        </p:nvCxnSpPr>
        <p:spPr>
          <a:xfrm flipH="1">
            <a:off x="4718909" y="3154969"/>
            <a:ext cx="796" cy="11887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7C27756-E72A-0F0C-1892-AD5EF307B49D}"/>
              </a:ext>
            </a:extLst>
          </p:cNvPr>
          <p:cNvSpPr/>
          <p:nvPr/>
        </p:nvSpPr>
        <p:spPr>
          <a:xfrm>
            <a:off x="3364006" y="6017559"/>
            <a:ext cx="2514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/>
              <a:t>L</a:t>
            </a:r>
            <a:r>
              <a:rPr lang="en-US" sz="2800" baseline="-25000" dirty="0"/>
              <a:t>1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F29DA7-D56D-15C2-61D3-28F932BA09E5}"/>
              </a:ext>
            </a:extLst>
          </p:cNvPr>
          <p:cNvSpPr/>
          <p:nvPr/>
        </p:nvSpPr>
        <p:spPr>
          <a:xfrm>
            <a:off x="5878606" y="6017559"/>
            <a:ext cx="2514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/>
              <a:t>R</a:t>
            </a:r>
            <a:r>
              <a:rPr lang="en-US" sz="2800" baseline="-25000" dirty="0"/>
              <a:t>1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905137-3336-8110-9E42-78187859D2A9}"/>
              </a:ext>
            </a:extLst>
          </p:cNvPr>
          <p:cNvCxnSpPr/>
          <p:nvPr/>
        </p:nvCxnSpPr>
        <p:spPr>
          <a:xfrm>
            <a:off x="4718113" y="4645959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752545-1661-9A10-9CB8-36B74CDB7D9A}"/>
              </a:ext>
            </a:extLst>
          </p:cNvPr>
          <p:cNvCxnSpPr/>
          <p:nvPr/>
        </p:nvCxnSpPr>
        <p:spPr>
          <a:xfrm>
            <a:off x="4718114" y="5331759"/>
            <a:ext cx="2379693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35BB4A-F883-C46D-BB73-A0C1B6FD7279}"/>
              </a:ext>
            </a:extLst>
          </p:cNvPr>
          <p:cNvCxnSpPr/>
          <p:nvPr/>
        </p:nvCxnSpPr>
        <p:spPr>
          <a:xfrm>
            <a:off x="7097806" y="5331759"/>
            <a:ext cx="0" cy="685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5B1F50-2AD0-8F11-90BB-D7ABB2FF3E62}"/>
              </a:ext>
            </a:extLst>
          </p:cNvPr>
          <p:cNvCxnSpPr>
            <a:endCxn id="12" idx="0"/>
          </p:cNvCxnSpPr>
          <p:nvPr/>
        </p:nvCxnSpPr>
        <p:spPr>
          <a:xfrm flipH="1">
            <a:off x="4621306" y="4493559"/>
            <a:ext cx="2476500" cy="152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B57F27-8C05-B6FD-4036-9E86533A0173}"/>
                  </a:ext>
                </a:extLst>
              </p:cNvPr>
              <p:cNvSpPr txBox="1"/>
              <p:nvPr/>
            </p:nvSpPr>
            <p:spPr>
              <a:xfrm>
                <a:off x="838803" y="1575129"/>
                <a:ext cx="97289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B57F27-8C05-B6FD-4036-9E86533A0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03" y="1575129"/>
                <a:ext cx="972894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3450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B041-97AA-3628-2017-6F86E05B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Inverting Feistel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FAE5C1-A886-3B71-F35A-E76F920CD0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3664323"/>
                <a:ext cx="10515600" cy="24302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b="0" dirty="0"/>
                  <a:t>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800" b="0" dirty="0">
                    <a:latin typeface="+mj-lt"/>
                  </a:rPr>
                  <a:t>,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b="0" i="1" dirty="0">
                    <a:latin typeface="Cambria Math" panose="020405030504060302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FAE5C1-A886-3B71-F35A-E76F920CD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3664323"/>
                <a:ext cx="10515600" cy="2430211"/>
              </a:xfrm>
              <a:blipFill>
                <a:blip r:embed="rId2"/>
                <a:stretch>
                  <a:fillRect l="-348" t="-4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574AC6-D20F-CAAB-8500-D179FDF85C75}"/>
                  </a:ext>
                </a:extLst>
              </p:cNvPr>
              <p:cNvSpPr txBox="1"/>
              <p:nvPr/>
            </p:nvSpPr>
            <p:spPr>
              <a:xfrm>
                <a:off x="838803" y="1575129"/>
                <a:ext cx="97289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574AC6-D20F-CAAB-8500-D179FDF85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03" y="1575129"/>
                <a:ext cx="972894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6160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DES overview</a:t>
            </a:r>
          </a:p>
        </p:txBody>
      </p:sp>
      <p:sp>
        <p:nvSpPr>
          <p:cNvPr id="53965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68088" y="1958851"/>
            <a:ext cx="5851712" cy="4218111"/>
          </a:xfrm>
        </p:spPr>
        <p:txBody>
          <a:bodyPr>
            <a:normAutofit/>
          </a:bodyPr>
          <a:lstStyle/>
          <a:p>
            <a:r>
              <a:rPr lang="en-US" sz="2400" dirty="0"/>
              <a:t>Developed in 1970s </a:t>
            </a:r>
          </a:p>
          <a:p>
            <a:r>
              <a:rPr lang="en-US" sz="2400" dirty="0"/>
              <a:t>Block length 64 bits, key length 56 bits</a:t>
            </a:r>
          </a:p>
          <a:p>
            <a:pPr>
              <a:lnSpc>
                <a:spcPct val="90000"/>
              </a:lnSpc>
            </a:pPr>
            <a:r>
              <a:rPr lang="en-US" altLang="ja-JP" sz="2400" dirty="0"/>
              <a:t>Feistel cipher, 16 stages</a:t>
            </a:r>
          </a:p>
          <a:p>
            <a:pPr>
              <a:lnSpc>
                <a:spcPct val="90000"/>
              </a:lnSpc>
            </a:pPr>
            <a:r>
              <a:rPr lang="en-US" altLang="ja-JP" sz="2400" i="1" dirty="0">
                <a:latin typeface="Times New Roman" pitchFamily="-65" charset="0"/>
              </a:rPr>
              <a:t>K</a:t>
            </a:r>
            <a:r>
              <a:rPr lang="en-US" altLang="ja-JP" sz="2400" i="1" baseline="-25000" dirty="0">
                <a:latin typeface="Times New Roman" pitchFamily="-65" charset="0"/>
              </a:rPr>
              <a:t>1</a:t>
            </a:r>
            <a:r>
              <a:rPr lang="en-US" altLang="ja-JP" sz="2400" i="1" dirty="0">
                <a:latin typeface="Times New Roman" pitchFamily="-65" charset="0"/>
              </a:rPr>
              <a:t>,…, K</a:t>
            </a:r>
            <a:r>
              <a:rPr lang="en-US" altLang="ja-JP" sz="2400" i="1" baseline="-25000" dirty="0">
                <a:latin typeface="Times New Roman" pitchFamily="-65" charset="0"/>
              </a:rPr>
              <a:t>16</a:t>
            </a:r>
            <a:r>
              <a:rPr lang="en-US" altLang="ja-JP" sz="2400" dirty="0"/>
              <a:t> are 48 bit subkeys derived from </a:t>
            </a:r>
            <a:r>
              <a:rPr lang="en-US" altLang="ja-JP" sz="2400" i="1" dirty="0">
                <a:latin typeface="Times New Roman" pitchFamily="-65" charset="0"/>
              </a:rPr>
              <a:t>K</a:t>
            </a:r>
            <a:endParaRPr lang="en-US" altLang="ja-JP" sz="2400" dirty="0"/>
          </a:p>
        </p:txBody>
      </p:sp>
      <p:sp>
        <p:nvSpPr>
          <p:cNvPr id="539652" name="Rectangle 4"/>
          <p:cNvSpPr>
            <a:spLocks noChangeArrowheads="1"/>
          </p:cNvSpPr>
          <p:nvPr/>
        </p:nvSpPr>
        <p:spPr bwMode="auto">
          <a:xfrm>
            <a:off x="8232640" y="1120652"/>
            <a:ext cx="2362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dirty="0">
                <a:solidFill>
                  <a:prstClr val="black"/>
                </a:solidFill>
                <a:latin typeface="Candara" panose="020E0502030303020204"/>
              </a:rPr>
              <a:t>64 bit input </a:t>
            </a:r>
            <a:r>
              <a:rPr lang="en-US" altLang="ja-JP" i="1" dirty="0">
                <a:solidFill>
                  <a:prstClr val="black"/>
                </a:solidFill>
                <a:latin typeface="Candara" panose="020E0502030303020204"/>
              </a:rPr>
              <a:t>M</a:t>
            </a:r>
            <a:endParaRPr lang="en-US" altLang="ja-JP" dirty="0">
              <a:solidFill>
                <a:prstClr val="black"/>
              </a:solidFill>
              <a:latin typeface="Candara" panose="020E0502030303020204"/>
            </a:endParaRPr>
          </a:p>
        </p:txBody>
      </p:sp>
      <p:sp>
        <p:nvSpPr>
          <p:cNvPr id="539654" name="Rectangle 6"/>
          <p:cNvSpPr>
            <a:spLocks noChangeArrowheads="1"/>
          </p:cNvSpPr>
          <p:nvPr/>
        </p:nvSpPr>
        <p:spPr bwMode="auto">
          <a:xfrm>
            <a:off x="8232640" y="5768852"/>
            <a:ext cx="2362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dirty="0">
                <a:solidFill>
                  <a:prstClr val="black"/>
                </a:solidFill>
                <a:latin typeface="Candara" panose="020E0502030303020204"/>
              </a:rPr>
              <a:t>64 bit output </a:t>
            </a:r>
            <a:r>
              <a:rPr lang="en-US" altLang="ja-JP" i="1" dirty="0">
                <a:solidFill>
                  <a:prstClr val="black"/>
                </a:solidFill>
                <a:latin typeface="Candara" panose="020E0502030303020204"/>
              </a:rPr>
              <a:t>C</a:t>
            </a:r>
            <a:endParaRPr lang="en-US" altLang="ja-JP" dirty="0">
              <a:solidFill>
                <a:prstClr val="black"/>
              </a:solidFill>
              <a:latin typeface="Candara" panose="020E0502030303020204"/>
            </a:endParaRPr>
          </a:p>
        </p:txBody>
      </p:sp>
      <p:sp>
        <p:nvSpPr>
          <p:cNvPr id="539656" name="AutoShape 8"/>
          <p:cNvSpPr>
            <a:spLocks noChangeArrowheads="1"/>
          </p:cNvSpPr>
          <p:nvPr/>
        </p:nvSpPr>
        <p:spPr bwMode="auto">
          <a:xfrm>
            <a:off x="8499340" y="1958852"/>
            <a:ext cx="1828800" cy="685800"/>
          </a:xfrm>
          <a:prstGeom prst="octagon">
            <a:avLst>
              <a:gd name="adj" fmla="val 29287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1600">
                <a:solidFill>
                  <a:prstClr val="black"/>
                </a:solidFill>
                <a:latin typeface="Arial" pitchFamily="-65" charset="0"/>
              </a:rPr>
              <a:t>Initial permutation</a:t>
            </a:r>
          </a:p>
        </p:txBody>
      </p:sp>
      <p:sp>
        <p:nvSpPr>
          <p:cNvPr id="539657" name="AutoShape 9"/>
          <p:cNvSpPr>
            <a:spLocks noChangeArrowheads="1"/>
          </p:cNvSpPr>
          <p:nvPr/>
        </p:nvSpPr>
        <p:spPr bwMode="auto">
          <a:xfrm>
            <a:off x="8499340" y="4930652"/>
            <a:ext cx="1828800" cy="685800"/>
          </a:xfrm>
          <a:prstGeom prst="octagon">
            <a:avLst>
              <a:gd name="adj" fmla="val 29287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1600" dirty="0">
                <a:solidFill>
                  <a:prstClr val="black"/>
                </a:solidFill>
                <a:latin typeface="Arial" pitchFamily="-65" charset="0"/>
              </a:rPr>
              <a:t>Final permutation</a:t>
            </a:r>
          </a:p>
        </p:txBody>
      </p:sp>
      <p:sp>
        <p:nvSpPr>
          <p:cNvPr id="539658" name="AutoShape 10"/>
          <p:cNvSpPr>
            <a:spLocks noChangeArrowheads="1"/>
          </p:cNvSpPr>
          <p:nvPr/>
        </p:nvSpPr>
        <p:spPr bwMode="auto">
          <a:xfrm>
            <a:off x="8499340" y="4397252"/>
            <a:ext cx="1828800" cy="381000"/>
          </a:xfrm>
          <a:prstGeom prst="octagon">
            <a:avLst>
              <a:gd name="adj" fmla="val 29287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sz="1600" dirty="0">
                <a:solidFill>
                  <a:prstClr val="black"/>
                </a:solidFill>
                <a:latin typeface="Arial" pitchFamily="-65" charset="0"/>
              </a:rPr>
              <a:t>32-bit swap</a:t>
            </a:r>
          </a:p>
        </p:txBody>
      </p:sp>
      <p:cxnSp>
        <p:nvCxnSpPr>
          <p:cNvPr id="539659" name="AutoShape 11"/>
          <p:cNvCxnSpPr>
            <a:cxnSpLocks noChangeShapeType="1"/>
            <a:stCxn id="539652" idx="2"/>
            <a:endCxn id="539656" idx="0"/>
          </p:cNvCxnSpPr>
          <p:nvPr/>
        </p:nvCxnSpPr>
        <p:spPr bwMode="auto">
          <a:xfrm>
            <a:off x="9413740" y="1730252"/>
            <a:ext cx="0" cy="228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39660" name="AutoShape 12"/>
          <p:cNvCxnSpPr>
            <a:cxnSpLocks noChangeShapeType="1"/>
            <a:stCxn id="539658" idx="2"/>
            <a:endCxn id="539657" idx="0"/>
          </p:cNvCxnSpPr>
          <p:nvPr/>
        </p:nvCxnSpPr>
        <p:spPr bwMode="auto">
          <a:xfrm>
            <a:off x="9413740" y="4778252"/>
            <a:ext cx="0" cy="152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39661" name="AutoShape 13"/>
          <p:cNvCxnSpPr>
            <a:cxnSpLocks noChangeShapeType="1"/>
            <a:stCxn id="539657" idx="2"/>
            <a:endCxn id="539654" idx="0"/>
          </p:cNvCxnSpPr>
          <p:nvPr/>
        </p:nvCxnSpPr>
        <p:spPr bwMode="auto">
          <a:xfrm>
            <a:off x="9413740" y="5616452"/>
            <a:ext cx="0" cy="152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39666" name="AutoShape 18"/>
          <p:cNvSpPr>
            <a:spLocks noChangeArrowheads="1"/>
          </p:cNvSpPr>
          <p:nvPr/>
        </p:nvSpPr>
        <p:spPr bwMode="auto">
          <a:xfrm>
            <a:off x="8346940" y="2873252"/>
            <a:ext cx="2133600" cy="1295400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Feistel network </a:t>
            </a:r>
          </a:p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(16 rounds)</a:t>
            </a:r>
          </a:p>
        </p:txBody>
      </p:sp>
      <p:cxnSp>
        <p:nvCxnSpPr>
          <p:cNvPr id="539669" name="AutoShape 21"/>
          <p:cNvCxnSpPr>
            <a:cxnSpLocks noChangeShapeType="1"/>
            <a:stCxn id="539656" idx="2"/>
            <a:endCxn id="539666" idx="0"/>
          </p:cNvCxnSpPr>
          <p:nvPr/>
        </p:nvCxnSpPr>
        <p:spPr bwMode="auto">
          <a:xfrm>
            <a:off x="9413740" y="2644652"/>
            <a:ext cx="0" cy="228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39670" name="AutoShape 22"/>
          <p:cNvCxnSpPr>
            <a:cxnSpLocks noChangeShapeType="1"/>
            <a:stCxn id="539666" idx="2"/>
            <a:endCxn id="539658" idx="0"/>
          </p:cNvCxnSpPr>
          <p:nvPr/>
        </p:nvCxnSpPr>
        <p:spPr bwMode="auto">
          <a:xfrm>
            <a:off x="9413740" y="4168652"/>
            <a:ext cx="0" cy="228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39671" name="Rectangle 23"/>
          <p:cNvSpPr>
            <a:spLocks noChangeArrowheads="1"/>
          </p:cNvSpPr>
          <p:nvPr/>
        </p:nvSpPr>
        <p:spPr bwMode="auto">
          <a:xfrm>
            <a:off x="5946640" y="1120652"/>
            <a:ext cx="19050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dirty="0">
                <a:solidFill>
                  <a:prstClr val="black"/>
                </a:solidFill>
                <a:latin typeface="Candara" panose="020E0502030303020204"/>
              </a:rPr>
              <a:t>56 bit key </a:t>
            </a:r>
            <a:r>
              <a:rPr lang="en-US" altLang="ja-JP" i="1" dirty="0">
                <a:solidFill>
                  <a:prstClr val="black"/>
                </a:solidFill>
                <a:latin typeface="Candara" panose="020E0502030303020204"/>
              </a:rPr>
              <a:t>K</a:t>
            </a:r>
            <a:endParaRPr lang="en-US" altLang="ja-JP" dirty="0">
              <a:solidFill>
                <a:prstClr val="black"/>
              </a:solidFill>
              <a:latin typeface="Candara" panose="020E0502030303020204"/>
            </a:endParaRPr>
          </a:p>
        </p:txBody>
      </p:sp>
      <p:sp>
        <p:nvSpPr>
          <p:cNvPr id="539672" name="AutoShape 24"/>
          <p:cNvSpPr>
            <a:spLocks noChangeArrowheads="1"/>
          </p:cNvSpPr>
          <p:nvPr/>
        </p:nvSpPr>
        <p:spPr bwMode="auto">
          <a:xfrm>
            <a:off x="5984740" y="1958852"/>
            <a:ext cx="1828800" cy="685800"/>
          </a:xfrm>
          <a:prstGeom prst="octagon">
            <a:avLst>
              <a:gd name="adj" fmla="val 29287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1600">
                <a:solidFill>
                  <a:prstClr val="black"/>
                </a:solidFill>
                <a:latin typeface="Arial" pitchFamily="-65" charset="0"/>
              </a:rPr>
              <a:t>Subkey generator</a:t>
            </a:r>
          </a:p>
        </p:txBody>
      </p:sp>
      <p:cxnSp>
        <p:nvCxnSpPr>
          <p:cNvPr id="539673" name="AutoShape 25"/>
          <p:cNvCxnSpPr>
            <a:cxnSpLocks noChangeShapeType="1"/>
            <a:stCxn id="539671" idx="2"/>
            <a:endCxn id="539672" idx="0"/>
          </p:cNvCxnSpPr>
          <p:nvPr/>
        </p:nvCxnSpPr>
        <p:spPr bwMode="auto">
          <a:xfrm>
            <a:off x="6899140" y="1730252"/>
            <a:ext cx="0" cy="228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39675" name="AutoShape 27"/>
          <p:cNvCxnSpPr>
            <a:cxnSpLocks noChangeShapeType="1"/>
          </p:cNvCxnSpPr>
          <p:nvPr/>
        </p:nvCxnSpPr>
        <p:spPr bwMode="auto">
          <a:xfrm rot="16200000" flipH="1">
            <a:off x="7413490" y="2282702"/>
            <a:ext cx="3810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1" name="AutoShape 43"/>
          <p:cNvCxnSpPr>
            <a:cxnSpLocks noChangeShapeType="1"/>
          </p:cNvCxnSpPr>
          <p:nvPr/>
        </p:nvCxnSpPr>
        <p:spPr bwMode="auto">
          <a:xfrm rot="16200000" flipH="1">
            <a:off x="7489690" y="2206502"/>
            <a:ext cx="2286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2" name="AutoShape 44"/>
          <p:cNvCxnSpPr>
            <a:cxnSpLocks noChangeShapeType="1"/>
          </p:cNvCxnSpPr>
          <p:nvPr/>
        </p:nvCxnSpPr>
        <p:spPr bwMode="auto">
          <a:xfrm rot="16200000" flipH="1">
            <a:off x="7527790" y="2168402"/>
            <a:ext cx="1524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3" name="AutoShape 45"/>
          <p:cNvCxnSpPr>
            <a:cxnSpLocks noChangeShapeType="1"/>
          </p:cNvCxnSpPr>
          <p:nvPr/>
        </p:nvCxnSpPr>
        <p:spPr bwMode="auto">
          <a:xfrm rot="16200000" flipH="1">
            <a:off x="7299190" y="2397002"/>
            <a:ext cx="6096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4" name="AutoShape 46"/>
          <p:cNvCxnSpPr>
            <a:cxnSpLocks noChangeShapeType="1"/>
          </p:cNvCxnSpPr>
          <p:nvPr/>
        </p:nvCxnSpPr>
        <p:spPr bwMode="auto">
          <a:xfrm rot="16200000" flipH="1">
            <a:off x="7261090" y="2435102"/>
            <a:ext cx="6858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5" name="AutoShape 47"/>
          <p:cNvCxnSpPr>
            <a:cxnSpLocks noChangeShapeType="1"/>
            <a:stCxn id="539672" idx="2"/>
          </p:cNvCxnSpPr>
          <p:nvPr/>
        </p:nvCxnSpPr>
        <p:spPr bwMode="auto">
          <a:xfrm rot="16200000" flipH="1">
            <a:off x="7261090" y="2282702"/>
            <a:ext cx="6858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6" name="AutoShape 48"/>
          <p:cNvCxnSpPr>
            <a:cxnSpLocks noChangeShapeType="1"/>
            <a:stCxn id="539672" idx="2"/>
          </p:cNvCxnSpPr>
          <p:nvPr/>
        </p:nvCxnSpPr>
        <p:spPr bwMode="auto">
          <a:xfrm rot="16200000" flipH="1">
            <a:off x="7299190" y="2244602"/>
            <a:ext cx="6096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7" name="AutoShape 49"/>
          <p:cNvCxnSpPr>
            <a:cxnSpLocks noChangeShapeType="1"/>
            <a:stCxn id="539672" idx="2"/>
          </p:cNvCxnSpPr>
          <p:nvPr/>
        </p:nvCxnSpPr>
        <p:spPr bwMode="auto">
          <a:xfrm rot="16200000" flipH="1">
            <a:off x="7375390" y="2168402"/>
            <a:ext cx="4572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8" name="AutoShape 50"/>
          <p:cNvCxnSpPr>
            <a:cxnSpLocks noChangeShapeType="1"/>
          </p:cNvCxnSpPr>
          <p:nvPr/>
        </p:nvCxnSpPr>
        <p:spPr bwMode="auto">
          <a:xfrm rot="16200000" flipH="1">
            <a:off x="7413490" y="2892302"/>
            <a:ext cx="3810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9" name="AutoShape 51"/>
          <p:cNvCxnSpPr>
            <a:cxnSpLocks noChangeShapeType="1"/>
          </p:cNvCxnSpPr>
          <p:nvPr/>
        </p:nvCxnSpPr>
        <p:spPr bwMode="auto">
          <a:xfrm rot="16200000" flipH="1">
            <a:off x="7489690" y="2816102"/>
            <a:ext cx="2286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700" name="AutoShape 52"/>
          <p:cNvCxnSpPr>
            <a:cxnSpLocks noChangeShapeType="1"/>
          </p:cNvCxnSpPr>
          <p:nvPr/>
        </p:nvCxnSpPr>
        <p:spPr bwMode="auto">
          <a:xfrm rot="16200000" flipH="1">
            <a:off x="7527790" y="2778002"/>
            <a:ext cx="1524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701" name="AutoShape 53"/>
          <p:cNvCxnSpPr>
            <a:cxnSpLocks noChangeShapeType="1"/>
          </p:cNvCxnSpPr>
          <p:nvPr/>
        </p:nvCxnSpPr>
        <p:spPr bwMode="auto">
          <a:xfrm rot="16200000" flipH="1">
            <a:off x="7299190" y="3006602"/>
            <a:ext cx="6096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702" name="AutoShape 54"/>
          <p:cNvCxnSpPr>
            <a:cxnSpLocks noChangeShapeType="1"/>
          </p:cNvCxnSpPr>
          <p:nvPr/>
        </p:nvCxnSpPr>
        <p:spPr bwMode="auto">
          <a:xfrm rot="16200000" flipH="1">
            <a:off x="7261090" y="3044702"/>
            <a:ext cx="6858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703" name="AutoShape 55"/>
          <p:cNvCxnSpPr>
            <a:cxnSpLocks noChangeShapeType="1"/>
          </p:cNvCxnSpPr>
          <p:nvPr/>
        </p:nvCxnSpPr>
        <p:spPr bwMode="auto">
          <a:xfrm rot="16200000" flipH="1">
            <a:off x="7337290" y="2968502"/>
            <a:ext cx="5334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704" name="AutoShape 56"/>
          <p:cNvCxnSpPr>
            <a:cxnSpLocks noChangeShapeType="1"/>
          </p:cNvCxnSpPr>
          <p:nvPr/>
        </p:nvCxnSpPr>
        <p:spPr bwMode="auto">
          <a:xfrm rot="16200000" flipH="1">
            <a:off x="7375390" y="2930402"/>
            <a:ext cx="4572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705" name="AutoShape 57"/>
          <p:cNvCxnSpPr>
            <a:cxnSpLocks noChangeShapeType="1"/>
          </p:cNvCxnSpPr>
          <p:nvPr/>
        </p:nvCxnSpPr>
        <p:spPr bwMode="auto">
          <a:xfrm rot="16200000" flipH="1">
            <a:off x="7451590" y="2854202"/>
            <a:ext cx="3048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539706" name="Text Box 58"/>
          <p:cNvSpPr txBox="1">
            <a:spLocks noChangeArrowheads="1"/>
          </p:cNvSpPr>
          <p:nvPr/>
        </p:nvSpPr>
        <p:spPr bwMode="auto">
          <a:xfrm>
            <a:off x="6327640" y="2873253"/>
            <a:ext cx="609600" cy="1192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en-US" altLang="ja-JP" i="1">
                <a:solidFill>
                  <a:prstClr val="black"/>
                </a:solidFill>
                <a:latin typeface="Candara" panose="020E0502030303020204"/>
              </a:rPr>
              <a:t>K</a:t>
            </a:r>
            <a:r>
              <a:rPr lang="en-US" altLang="ja-JP" i="1" baseline="-25000">
                <a:solidFill>
                  <a:prstClr val="black"/>
                </a:solidFill>
                <a:latin typeface="Candara" panose="020E0502030303020204"/>
              </a:rPr>
              <a:t>1</a:t>
            </a:r>
            <a:endParaRPr lang="en-US" altLang="ja-JP" i="1">
              <a:solidFill>
                <a:prstClr val="black"/>
              </a:solidFill>
              <a:latin typeface="Candara" panose="020E0502030303020204"/>
            </a:endParaRPr>
          </a:p>
          <a:p>
            <a:pPr defTabSz="457200">
              <a:spcBef>
                <a:spcPct val="50000"/>
              </a:spcBef>
              <a:defRPr/>
            </a:pPr>
            <a:r>
              <a:rPr lang="en-US" altLang="ja-JP" i="1">
                <a:solidFill>
                  <a:prstClr val="black"/>
                </a:solidFill>
                <a:latin typeface="Candara" panose="020E0502030303020204"/>
              </a:rPr>
              <a:t> </a:t>
            </a:r>
          </a:p>
          <a:p>
            <a:pPr defTabSz="457200">
              <a:spcBef>
                <a:spcPct val="50000"/>
              </a:spcBef>
              <a:defRPr/>
            </a:pPr>
            <a:r>
              <a:rPr lang="en-US" altLang="ja-JP" i="1">
                <a:solidFill>
                  <a:prstClr val="black"/>
                </a:solidFill>
                <a:latin typeface="Candara" panose="020E0502030303020204"/>
              </a:rPr>
              <a:t>K</a:t>
            </a:r>
            <a:r>
              <a:rPr lang="en-US" altLang="ja-JP" i="1" baseline="-25000">
                <a:solidFill>
                  <a:prstClr val="black"/>
                </a:solidFill>
                <a:latin typeface="Candara" panose="020E0502030303020204"/>
              </a:rPr>
              <a:t>16</a:t>
            </a:r>
            <a:endParaRPr lang="en-US" altLang="ja-JP" i="1">
              <a:solidFill>
                <a:prstClr val="black"/>
              </a:solidFill>
              <a:latin typeface="Candara" panose="020E0502030303020204"/>
            </a:endParaRPr>
          </a:p>
        </p:txBody>
      </p:sp>
      <p:sp>
        <p:nvSpPr>
          <p:cNvPr id="539707" name="Line 59"/>
          <p:cNvSpPr>
            <a:spLocks noChangeShapeType="1"/>
          </p:cNvSpPr>
          <p:nvPr/>
        </p:nvSpPr>
        <p:spPr bwMode="auto">
          <a:xfrm>
            <a:off x="6632440" y="3330452"/>
            <a:ext cx="0" cy="3048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endParaRPr lang="ja-JP" altLang="en-US">
              <a:solidFill>
                <a:prstClr val="black"/>
              </a:solidFill>
              <a:latin typeface="Candara" panose="020E0502030303020204"/>
            </a:endParaRPr>
          </a:p>
        </p:txBody>
      </p:sp>
    </p:spTree>
    <p:extLst>
      <p:ext uri="{BB962C8B-B14F-4D97-AF65-F5344CB8AC3E}">
        <p14:creationId xmlns:p14="http://schemas.microsoft.com/office/powerpoint/2010/main" val="38325048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Feistel network in DES</a:t>
            </a:r>
          </a:p>
        </p:txBody>
      </p:sp>
      <p:sp>
        <p:nvSpPr>
          <p:cNvPr id="542737" name="AutoShape 17"/>
          <p:cNvSpPr>
            <a:spLocks noChangeArrowheads="1"/>
          </p:cNvSpPr>
          <p:nvPr/>
        </p:nvSpPr>
        <p:spPr bwMode="auto">
          <a:xfrm>
            <a:off x="6019800" y="2546350"/>
            <a:ext cx="2743200" cy="2438400"/>
          </a:xfrm>
          <a:prstGeom prst="octagon">
            <a:avLst>
              <a:gd name="adj" fmla="val 29287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endParaRPr lang="ja-JP" altLang="en-US" i="1">
              <a:solidFill>
                <a:prstClr val="black"/>
              </a:solidFill>
              <a:latin typeface="Candara" panose="020E0502030303020204"/>
              <a:ea typeface="ＭＳ Ｐゴシック" pitchFamily="-65" charset="-128"/>
            </a:endParaRPr>
          </a:p>
        </p:txBody>
      </p:sp>
      <p:sp>
        <p:nvSpPr>
          <p:cNvPr id="542724" name="Rectangle 4"/>
          <p:cNvSpPr>
            <a:spLocks noChangeArrowheads="1"/>
          </p:cNvSpPr>
          <p:nvPr/>
        </p:nvSpPr>
        <p:spPr bwMode="auto">
          <a:xfrm>
            <a:off x="3276600" y="6127750"/>
            <a:ext cx="27432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>
                <a:solidFill>
                  <a:prstClr val="black"/>
                </a:solidFill>
                <a:latin typeface="Arial" pitchFamily="-65" charset="0"/>
              </a:rPr>
              <a:t>32 bits </a:t>
            </a:r>
            <a:r>
              <a:rPr lang="en-US" altLang="ja-JP" i="1">
                <a:solidFill>
                  <a:prstClr val="black"/>
                </a:solidFill>
                <a:latin typeface="Candara" panose="020E0502030303020204"/>
              </a:rPr>
              <a:t>L</a:t>
            </a:r>
            <a:r>
              <a:rPr lang="en-US" altLang="ja-JP" i="1" baseline="-25000">
                <a:solidFill>
                  <a:prstClr val="black"/>
                </a:solidFill>
                <a:latin typeface="Candara" panose="020E0502030303020204"/>
              </a:rPr>
              <a:t>i+1</a:t>
            </a:r>
          </a:p>
        </p:txBody>
      </p:sp>
      <p:sp>
        <p:nvSpPr>
          <p:cNvPr id="542725" name="Rectangle 5"/>
          <p:cNvSpPr>
            <a:spLocks noChangeArrowheads="1"/>
          </p:cNvSpPr>
          <p:nvPr/>
        </p:nvSpPr>
        <p:spPr bwMode="auto">
          <a:xfrm>
            <a:off x="6019800" y="6127750"/>
            <a:ext cx="27432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>
                <a:solidFill>
                  <a:prstClr val="black"/>
                </a:solidFill>
                <a:latin typeface="Arial" pitchFamily="-65" charset="0"/>
              </a:rPr>
              <a:t>32 bits </a:t>
            </a:r>
            <a:r>
              <a:rPr lang="en-US" altLang="ja-JP" i="1">
                <a:solidFill>
                  <a:prstClr val="black"/>
                </a:solidFill>
                <a:latin typeface="Candara" panose="020E0502030303020204"/>
              </a:rPr>
              <a:t>R</a:t>
            </a:r>
            <a:r>
              <a:rPr lang="en-US" altLang="ja-JP" i="1" baseline="-25000">
                <a:solidFill>
                  <a:prstClr val="black"/>
                </a:solidFill>
                <a:latin typeface="Candara" panose="020E0502030303020204"/>
              </a:rPr>
              <a:t>i+1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162800" y="5365750"/>
            <a:ext cx="457200" cy="457200"/>
            <a:chOff x="1824" y="2400"/>
            <a:chExt cx="384" cy="384"/>
          </a:xfrm>
        </p:grpSpPr>
        <p:sp>
          <p:nvSpPr>
            <p:cNvPr id="542727" name="Oval 7"/>
            <p:cNvSpPr>
              <a:spLocks noChangeArrowheads="1"/>
            </p:cNvSpPr>
            <p:nvPr/>
          </p:nvSpPr>
          <p:spPr bwMode="auto">
            <a:xfrm>
              <a:off x="1824" y="2400"/>
              <a:ext cx="384" cy="38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ja-JP" altLang="en-US">
                <a:solidFill>
                  <a:prstClr val="black"/>
                </a:solidFill>
                <a:latin typeface="Candara" panose="020E0502030303020204"/>
              </a:endParaRPr>
            </a:p>
          </p:txBody>
        </p:sp>
        <p:sp>
          <p:nvSpPr>
            <p:cNvPr id="542728" name="Line 8"/>
            <p:cNvSpPr>
              <a:spLocks noChangeShapeType="1"/>
            </p:cNvSpPr>
            <p:nvPr/>
          </p:nvSpPr>
          <p:spPr bwMode="auto">
            <a:xfrm flipV="1">
              <a:off x="2016" y="2448"/>
              <a:ext cx="1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ja-JP" altLang="en-US">
                <a:solidFill>
                  <a:prstClr val="black"/>
                </a:solidFill>
                <a:latin typeface="Candara" panose="020E0502030303020204"/>
              </a:endParaRPr>
            </a:p>
          </p:txBody>
        </p:sp>
        <p:sp>
          <p:nvSpPr>
            <p:cNvPr id="542729" name="Line 9"/>
            <p:cNvSpPr>
              <a:spLocks noChangeShapeType="1"/>
            </p:cNvSpPr>
            <p:nvPr/>
          </p:nvSpPr>
          <p:spPr bwMode="auto">
            <a:xfrm>
              <a:off x="1872" y="2592"/>
              <a:ext cx="288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ja-JP" altLang="en-US">
                <a:solidFill>
                  <a:prstClr val="black"/>
                </a:solidFill>
                <a:latin typeface="Candara" panose="020E0502030303020204"/>
              </a:endParaRPr>
            </a:p>
          </p:txBody>
        </p:sp>
      </p:grpSp>
      <p:cxnSp>
        <p:nvCxnSpPr>
          <p:cNvPr id="542731" name="AutoShape 11"/>
          <p:cNvCxnSpPr>
            <a:cxnSpLocks noChangeShapeType="1"/>
            <a:stCxn id="542741" idx="2"/>
          </p:cNvCxnSpPr>
          <p:nvPr/>
        </p:nvCxnSpPr>
        <p:spPr bwMode="auto">
          <a:xfrm rot="16200000" flipH="1">
            <a:off x="4222750" y="2667000"/>
            <a:ext cx="3352800" cy="2501900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42732" name="AutoShape 12"/>
          <p:cNvCxnSpPr>
            <a:cxnSpLocks noChangeShapeType="1"/>
            <a:endCxn id="542725" idx="0"/>
          </p:cNvCxnSpPr>
          <p:nvPr/>
        </p:nvCxnSpPr>
        <p:spPr bwMode="auto">
          <a:xfrm>
            <a:off x="7391400" y="5835650"/>
            <a:ext cx="0" cy="2921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735" name="AutoShape 15"/>
          <p:cNvCxnSpPr>
            <a:cxnSpLocks noChangeShapeType="1"/>
            <a:stCxn id="542748" idx="2"/>
          </p:cNvCxnSpPr>
          <p:nvPr/>
        </p:nvCxnSpPr>
        <p:spPr bwMode="auto">
          <a:xfrm>
            <a:off x="7391400" y="4756150"/>
            <a:ext cx="0" cy="5969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42740" name="Rectangle 20"/>
          <p:cNvSpPr>
            <a:spLocks noChangeArrowheads="1"/>
          </p:cNvSpPr>
          <p:nvPr/>
        </p:nvSpPr>
        <p:spPr bwMode="auto">
          <a:xfrm>
            <a:off x="9315450" y="3232150"/>
            <a:ext cx="34657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i="1">
                <a:solidFill>
                  <a:prstClr val="black"/>
                </a:solidFill>
                <a:latin typeface="Candara" panose="020E0502030303020204"/>
              </a:rPr>
              <a:t>K</a:t>
            </a:r>
            <a:r>
              <a:rPr lang="en-US" altLang="ja-JP" i="1" baseline="-25000">
                <a:solidFill>
                  <a:prstClr val="black"/>
                </a:solidFill>
                <a:latin typeface="Candara" panose="020E0502030303020204"/>
              </a:rPr>
              <a:t>i</a:t>
            </a:r>
          </a:p>
        </p:txBody>
      </p:sp>
      <p:sp>
        <p:nvSpPr>
          <p:cNvPr id="542741" name="Rectangle 21"/>
          <p:cNvSpPr>
            <a:spLocks noChangeArrowheads="1"/>
          </p:cNvSpPr>
          <p:nvPr/>
        </p:nvSpPr>
        <p:spPr bwMode="auto">
          <a:xfrm>
            <a:off x="3276600" y="1860550"/>
            <a:ext cx="27432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>
                <a:solidFill>
                  <a:prstClr val="black"/>
                </a:solidFill>
                <a:latin typeface="Arial" pitchFamily="-65" charset="0"/>
              </a:rPr>
              <a:t>32 bits </a:t>
            </a:r>
            <a:r>
              <a:rPr lang="en-US" altLang="ja-JP" i="1">
                <a:solidFill>
                  <a:prstClr val="black"/>
                </a:solidFill>
                <a:latin typeface="Candara" panose="020E0502030303020204"/>
              </a:rPr>
              <a:t>L</a:t>
            </a:r>
            <a:r>
              <a:rPr lang="en-US" altLang="ja-JP" i="1" baseline="-25000">
                <a:solidFill>
                  <a:prstClr val="black"/>
                </a:solidFill>
                <a:latin typeface="Candara" panose="020E0502030303020204"/>
              </a:rPr>
              <a:t>i</a:t>
            </a:r>
            <a:endParaRPr lang="en-US" altLang="ja-JP" i="1">
              <a:solidFill>
                <a:prstClr val="black"/>
              </a:solidFill>
              <a:latin typeface="Candara" panose="020E0502030303020204"/>
            </a:endParaRPr>
          </a:p>
        </p:txBody>
      </p:sp>
      <p:sp>
        <p:nvSpPr>
          <p:cNvPr id="542742" name="Rectangle 22"/>
          <p:cNvSpPr>
            <a:spLocks noChangeArrowheads="1"/>
          </p:cNvSpPr>
          <p:nvPr/>
        </p:nvSpPr>
        <p:spPr bwMode="auto">
          <a:xfrm>
            <a:off x="6019800" y="1860550"/>
            <a:ext cx="27432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dirty="0">
                <a:solidFill>
                  <a:prstClr val="black"/>
                </a:solidFill>
                <a:latin typeface="Arial" pitchFamily="-65" charset="0"/>
              </a:rPr>
              <a:t>32 bits </a:t>
            </a:r>
            <a:r>
              <a:rPr lang="en-US" altLang="ja-JP" i="1" dirty="0">
                <a:solidFill>
                  <a:prstClr val="black"/>
                </a:solidFill>
                <a:latin typeface="Candara" panose="020E0502030303020204"/>
              </a:rPr>
              <a:t>R</a:t>
            </a:r>
            <a:r>
              <a:rPr lang="en-US" altLang="ja-JP" i="1" baseline="-25000" dirty="0">
                <a:solidFill>
                  <a:prstClr val="black"/>
                </a:solidFill>
                <a:latin typeface="Candara" panose="020E0502030303020204"/>
              </a:rPr>
              <a:t>i</a:t>
            </a:r>
          </a:p>
        </p:txBody>
      </p:sp>
      <p:cxnSp>
        <p:nvCxnSpPr>
          <p:cNvPr id="542743" name="AutoShape 23"/>
          <p:cNvCxnSpPr>
            <a:cxnSpLocks noChangeShapeType="1"/>
            <a:stCxn id="542742" idx="2"/>
            <a:endCxn id="542724" idx="1"/>
          </p:cNvCxnSpPr>
          <p:nvPr/>
        </p:nvCxnSpPr>
        <p:spPr bwMode="auto">
          <a:xfrm rot="5400000">
            <a:off x="3295650" y="2222500"/>
            <a:ext cx="4076700" cy="4114800"/>
          </a:xfrm>
          <a:prstGeom prst="bentConnector4">
            <a:avLst>
              <a:gd name="adj1" fmla="val 4241"/>
              <a:gd name="adj2" fmla="val 105556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7239000" y="3308350"/>
            <a:ext cx="304800" cy="304800"/>
            <a:chOff x="1824" y="2400"/>
            <a:chExt cx="384" cy="384"/>
          </a:xfrm>
        </p:grpSpPr>
        <p:sp>
          <p:nvSpPr>
            <p:cNvPr id="542745" name="Oval 25"/>
            <p:cNvSpPr>
              <a:spLocks noChangeArrowheads="1"/>
            </p:cNvSpPr>
            <p:nvPr/>
          </p:nvSpPr>
          <p:spPr bwMode="auto">
            <a:xfrm>
              <a:off x="1824" y="2400"/>
              <a:ext cx="384" cy="38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ja-JP" altLang="en-US">
                <a:solidFill>
                  <a:prstClr val="black"/>
                </a:solidFill>
                <a:latin typeface="Candara" panose="020E0502030303020204"/>
              </a:endParaRPr>
            </a:p>
          </p:txBody>
        </p:sp>
        <p:sp>
          <p:nvSpPr>
            <p:cNvPr id="542746" name="Line 26"/>
            <p:cNvSpPr>
              <a:spLocks noChangeShapeType="1"/>
            </p:cNvSpPr>
            <p:nvPr/>
          </p:nvSpPr>
          <p:spPr bwMode="auto">
            <a:xfrm flipV="1">
              <a:off x="2016" y="2448"/>
              <a:ext cx="1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ja-JP" altLang="en-US">
                <a:solidFill>
                  <a:prstClr val="black"/>
                </a:solidFill>
                <a:latin typeface="Candara" panose="020E0502030303020204"/>
              </a:endParaRPr>
            </a:p>
          </p:txBody>
        </p:sp>
        <p:sp>
          <p:nvSpPr>
            <p:cNvPr id="542747" name="Line 27"/>
            <p:cNvSpPr>
              <a:spLocks noChangeShapeType="1"/>
            </p:cNvSpPr>
            <p:nvPr/>
          </p:nvSpPr>
          <p:spPr bwMode="auto">
            <a:xfrm>
              <a:off x="1872" y="2592"/>
              <a:ext cx="288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ja-JP" altLang="en-US">
                <a:solidFill>
                  <a:prstClr val="black"/>
                </a:solidFill>
                <a:latin typeface="Candara" panose="020E0502030303020204"/>
              </a:endParaRPr>
            </a:p>
          </p:txBody>
        </p:sp>
      </p:grpSp>
      <p:sp>
        <p:nvSpPr>
          <p:cNvPr id="542748" name="Rectangle 28"/>
          <p:cNvSpPr>
            <a:spLocks noChangeArrowheads="1"/>
          </p:cNvSpPr>
          <p:nvPr/>
        </p:nvSpPr>
        <p:spPr bwMode="auto">
          <a:xfrm>
            <a:off x="6629400" y="4375150"/>
            <a:ext cx="1524000" cy="381000"/>
          </a:xfrm>
          <a:prstGeom prst="rect">
            <a:avLst/>
          </a:prstGeom>
          <a:solidFill>
            <a:srgbClr val="FF99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dirty="0">
                <a:solidFill>
                  <a:prstClr val="black"/>
                </a:solidFill>
                <a:latin typeface="Arial" pitchFamily="-65" charset="0"/>
              </a:rPr>
              <a:t>Permutation</a:t>
            </a:r>
          </a:p>
        </p:txBody>
      </p:sp>
      <p:sp>
        <p:nvSpPr>
          <p:cNvPr id="542749" name="AutoShape 29"/>
          <p:cNvSpPr>
            <a:spLocks noChangeArrowheads="1"/>
          </p:cNvSpPr>
          <p:nvPr/>
        </p:nvSpPr>
        <p:spPr bwMode="auto">
          <a:xfrm>
            <a:off x="6553200" y="3765550"/>
            <a:ext cx="1676400" cy="457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>
                <a:solidFill>
                  <a:prstClr val="black"/>
                </a:solidFill>
                <a:latin typeface="Arial" pitchFamily="-65" charset="0"/>
              </a:rPr>
              <a:t>S-boxes</a:t>
            </a:r>
          </a:p>
        </p:txBody>
      </p:sp>
      <p:sp>
        <p:nvSpPr>
          <p:cNvPr id="542751" name="AutoShape 31"/>
          <p:cNvSpPr>
            <a:spLocks noChangeArrowheads="1"/>
          </p:cNvSpPr>
          <p:nvPr/>
        </p:nvSpPr>
        <p:spPr bwMode="auto">
          <a:xfrm flipV="1">
            <a:off x="6564313" y="2698750"/>
            <a:ext cx="1676400" cy="457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10800000"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dirty="0">
                <a:solidFill>
                  <a:prstClr val="black"/>
                </a:solidFill>
                <a:latin typeface="Arial" pitchFamily="-65" charset="0"/>
              </a:rPr>
              <a:t>Expansion</a:t>
            </a:r>
          </a:p>
        </p:txBody>
      </p:sp>
      <p:cxnSp>
        <p:nvCxnSpPr>
          <p:cNvPr id="542752" name="AutoShape 32"/>
          <p:cNvCxnSpPr>
            <a:cxnSpLocks noChangeShapeType="1"/>
            <a:stCxn id="542740" idx="1"/>
          </p:cNvCxnSpPr>
          <p:nvPr/>
        </p:nvCxnSpPr>
        <p:spPr bwMode="auto">
          <a:xfrm flipH="1">
            <a:off x="7556500" y="3416816"/>
            <a:ext cx="1758950" cy="4393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753" name="AutoShape 33"/>
          <p:cNvCxnSpPr>
            <a:cxnSpLocks noChangeShapeType="1"/>
            <a:stCxn id="542742" idx="2"/>
            <a:endCxn id="542751" idx="1"/>
          </p:cNvCxnSpPr>
          <p:nvPr/>
        </p:nvCxnSpPr>
        <p:spPr bwMode="auto">
          <a:xfrm>
            <a:off x="7391401" y="2241550"/>
            <a:ext cx="9525" cy="4572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754" name="AutoShape 34"/>
          <p:cNvCxnSpPr>
            <a:cxnSpLocks noChangeShapeType="1"/>
            <a:stCxn id="542751" idx="3"/>
          </p:cNvCxnSpPr>
          <p:nvPr/>
        </p:nvCxnSpPr>
        <p:spPr bwMode="auto">
          <a:xfrm flipH="1">
            <a:off x="7391401" y="3155950"/>
            <a:ext cx="9525" cy="177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755" name="AutoShape 35"/>
          <p:cNvCxnSpPr>
            <a:cxnSpLocks noChangeShapeType="1"/>
            <a:endCxn id="542749" idx="3"/>
          </p:cNvCxnSpPr>
          <p:nvPr/>
        </p:nvCxnSpPr>
        <p:spPr bwMode="auto">
          <a:xfrm>
            <a:off x="7391400" y="3625850"/>
            <a:ext cx="0" cy="1397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756" name="AutoShape 36"/>
          <p:cNvCxnSpPr>
            <a:cxnSpLocks noChangeShapeType="1"/>
            <a:stCxn id="542749" idx="1"/>
            <a:endCxn id="542748" idx="0"/>
          </p:cNvCxnSpPr>
          <p:nvPr/>
        </p:nvCxnSpPr>
        <p:spPr bwMode="auto">
          <a:xfrm>
            <a:off x="7391400" y="4222750"/>
            <a:ext cx="0" cy="152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42757" name="Text Box 37"/>
          <p:cNvSpPr txBox="1">
            <a:spLocks noChangeArrowheads="1"/>
          </p:cNvSpPr>
          <p:nvPr/>
        </p:nvSpPr>
        <p:spPr bwMode="auto">
          <a:xfrm>
            <a:off x="7599364" y="3140075"/>
            <a:ext cx="782637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sz="1600">
                <a:solidFill>
                  <a:prstClr val="black"/>
                </a:solidFill>
                <a:latin typeface="Arial" pitchFamily="-65" charset="0"/>
              </a:rPr>
              <a:t>48 bits</a:t>
            </a:r>
          </a:p>
        </p:txBody>
      </p:sp>
      <p:sp>
        <p:nvSpPr>
          <p:cNvPr id="542758" name="Text Box 38"/>
          <p:cNvSpPr txBox="1">
            <a:spLocks noChangeArrowheads="1"/>
          </p:cNvSpPr>
          <p:nvPr/>
        </p:nvSpPr>
        <p:spPr bwMode="auto">
          <a:xfrm>
            <a:off x="7696200" y="5441950"/>
            <a:ext cx="7826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sz="1600">
                <a:solidFill>
                  <a:prstClr val="black"/>
                </a:solidFill>
                <a:latin typeface="Arial" pitchFamily="-65" charset="0"/>
              </a:rPr>
              <a:t>32 bits</a:t>
            </a:r>
          </a:p>
        </p:txBody>
      </p:sp>
      <p:sp>
        <p:nvSpPr>
          <p:cNvPr id="542759" name="Text Box 39"/>
          <p:cNvSpPr txBox="1">
            <a:spLocks noChangeArrowheads="1"/>
          </p:cNvSpPr>
          <p:nvPr/>
        </p:nvSpPr>
        <p:spPr bwMode="auto">
          <a:xfrm>
            <a:off x="4800601" y="3308351"/>
            <a:ext cx="127317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en-US" altLang="ja-JP">
                <a:solidFill>
                  <a:prstClr val="black"/>
                </a:solidFill>
                <a:latin typeface="Candara" panose="020E0502030303020204"/>
              </a:rPr>
              <a:t>Mangler function</a:t>
            </a:r>
          </a:p>
        </p:txBody>
      </p:sp>
    </p:spTree>
    <p:extLst>
      <p:ext uri="{BB962C8B-B14F-4D97-AF65-F5344CB8AC3E}">
        <p14:creationId xmlns:p14="http://schemas.microsoft.com/office/powerpoint/2010/main" val="31030440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 Boxes in 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 different S-Boxes   (48 bits input)</a:t>
            </a:r>
          </a:p>
          <a:p>
            <a:r>
              <a:rPr lang="en-US" dirty="0"/>
              <a:t>6-bit input to 4-bit output  (48 to 32 bits)</a:t>
            </a:r>
          </a:p>
          <a:p>
            <a:r>
              <a:rPr lang="en-US" dirty="0"/>
              <a:t>Not invertible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1981200" y="6356351"/>
            <a:ext cx="2133600" cy="365125"/>
          </a:xfrm>
        </p:spPr>
        <p:txBody>
          <a:bodyPr/>
          <a:lstStyle/>
          <a:p>
            <a:pPr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fld id="{A7DE4472-E95E-430B-AA46-2D76F67E4D17}" type="datetime1">
              <a:rPr lang="en-US">
                <a:solidFill>
                  <a:prstClr val="black">
                    <a:tint val="75000"/>
                  </a:prstClr>
                </a:solidFill>
                <a:latin typeface="Arial" charset="0"/>
              </a:rPr>
              <a:pPr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defRPr/>
              </a:pPr>
              <a:t>9/14/26</a:t>
            </a:fld>
            <a:endParaRPr lang="en-GB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4648200" y="6356351"/>
            <a:ext cx="2895600" cy="365125"/>
          </a:xfrm>
        </p:spPr>
        <p:txBody>
          <a:bodyPr/>
          <a:lstStyle/>
          <a:p>
            <a:pPr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  <a:latin typeface="Arial" charset="0"/>
              </a:rPr>
              <a:t>Cryptography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pPr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fld id="{40430D0A-94E0-4A9E-8011-005B3BE16F20}" type="slidenum">
              <a:rPr lang="en-GB">
                <a:solidFill>
                  <a:prstClr val="black">
                    <a:tint val="75000"/>
                  </a:prstClr>
                </a:solidFill>
                <a:latin typeface="Arial" charset="0"/>
              </a:rPr>
              <a:pPr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defRPr/>
              </a:pPr>
              <a:t>38</a:t>
            </a:fld>
            <a:endParaRPr lang="en-GB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76600" y="5943600"/>
            <a:ext cx="67818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4891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 </a:t>
            </a:r>
            <a:r>
              <a:rPr lang="en-US" dirty="0" err="1"/>
              <a:t>mangler</a:t>
            </a:r>
            <a:r>
              <a:rPr lang="en-US" dirty="0"/>
              <a:t>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S-boxes</a:t>
            </a:r>
          </a:p>
          <a:p>
            <a:pPr lvl="1"/>
            <a:r>
              <a:rPr lang="en-US" dirty="0"/>
              <a:t>Changing 1 bit of input changes at least 2 bits of output</a:t>
            </a:r>
          </a:p>
          <a:p>
            <a:pPr lvl="1"/>
            <a:endParaRPr lang="en-US" dirty="0"/>
          </a:p>
          <a:p>
            <a:r>
              <a:rPr lang="en-US" dirty="0"/>
              <a:t>Mixing permutation</a:t>
            </a:r>
          </a:p>
          <a:p>
            <a:pPr lvl="1"/>
            <a:r>
              <a:rPr lang="en-US" dirty="0"/>
              <a:t>The 4 bits of output from any S-box affect the input to 6 S-boxes in the next round</a:t>
            </a:r>
          </a:p>
        </p:txBody>
      </p:sp>
    </p:spTree>
    <p:extLst>
      <p:ext uri="{BB962C8B-B14F-4D97-AF65-F5344CB8AC3E}">
        <p14:creationId xmlns:p14="http://schemas.microsoft.com/office/powerpoint/2010/main" val="7084469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Avalanche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1-bit difference in left half of input</a:t>
            </a:r>
          </a:p>
          <a:p>
            <a:pPr lvl="1"/>
            <a:r>
              <a:rPr lang="en-US" dirty="0"/>
              <a:t>After 1 round, 1-bit difference in right half</a:t>
            </a:r>
          </a:p>
          <a:p>
            <a:pPr lvl="1"/>
            <a:r>
              <a:rPr lang="en-US" dirty="0"/>
              <a:t>S-boxes cause a 2-bit difference, implying a 3-bit difference overall after 2 rounds</a:t>
            </a:r>
          </a:p>
          <a:p>
            <a:pPr lvl="1"/>
            <a:r>
              <a:rPr lang="en-US" dirty="0"/>
              <a:t>Mixing permutation spreads differences into different S-boxes</a:t>
            </a:r>
          </a:p>
          <a:p>
            <a:pPr lvl="1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687132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of 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 is extremely well-designed </a:t>
            </a:r>
          </a:p>
          <a:p>
            <a:pPr lvl="1"/>
            <a:r>
              <a:rPr lang="en-US" dirty="0"/>
              <a:t>Except for some attacks that require large amounts of plaintext, no attacks better than brute-force are known</a:t>
            </a:r>
          </a:p>
          <a:p>
            <a:endParaRPr lang="en-US" dirty="0"/>
          </a:p>
          <a:p>
            <a:r>
              <a:rPr lang="en-US" dirty="0"/>
              <a:t>But … parameters are too small!</a:t>
            </a:r>
          </a:p>
        </p:txBody>
      </p:sp>
    </p:spTree>
    <p:extLst>
      <p:ext uri="{BB962C8B-B14F-4D97-AF65-F5344CB8AC3E}">
        <p14:creationId xmlns:p14="http://schemas.microsoft.com/office/powerpoint/2010/main" val="22252420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56-bit key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concern as soon as DES was released</a:t>
            </a:r>
          </a:p>
          <a:p>
            <a:endParaRPr lang="en-US" dirty="0"/>
          </a:p>
          <a:p>
            <a:r>
              <a:rPr lang="en-US" dirty="0"/>
              <a:t>Brute-force search over 2</a:t>
            </a:r>
            <a:r>
              <a:rPr lang="en-US" baseline="30000" dirty="0"/>
              <a:t>56</a:t>
            </a:r>
            <a:r>
              <a:rPr lang="en-US" dirty="0"/>
              <a:t> keys is possible</a:t>
            </a:r>
          </a:p>
          <a:p>
            <a:pPr lvl="1"/>
            <a:r>
              <a:rPr lang="en-US" dirty="0"/>
              <a:t>1997: 1000s of computers, 96 days</a:t>
            </a:r>
          </a:p>
          <a:p>
            <a:pPr lvl="1"/>
            <a:r>
              <a:rPr lang="en-US" dirty="0"/>
              <a:t>1998: distributed.net, 41 days</a:t>
            </a:r>
          </a:p>
          <a:p>
            <a:pPr lvl="1"/>
            <a:r>
              <a:rPr lang="en-US" dirty="0"/>
              <a:t>1999: Deep Crack ($250,000), 56 hours</a:t>
            </a:r>
          </a:p>
          <a:p>
            <a:pPr lvl="1"/>
            <a:r>
              <a:rPr lang="en-US" dirty="0"/>
              <a:t>Today: 48 FPGAs, ~1 day</a:t>
            </a:r>
          </a:p>
        </p:txBody>
      </p:sp>
    </p:spTree>
    <p:extLst>
      <p:ext uri="{BB962C8B-B14F-4D97-AF65-F5344CB8AC3E}">
        <p14:creationId xmlns:p14="http://schemas.microsoft.com/office/powerpoint/2010/main" val="29379708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Double DES</a:t>
            </a:r>
          </a:p>
        </p:txBody>
      </p:sp>
      <p:sp>
        <p:nvSpPr>
          <p:cNvPr id="553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2400" dirty="0"/>
              <a:t>Simple extension to DES, using two 56-bit keys</a:t>
            </a:r>
          </a:p>
        </p:txBody>
      </p:sp>
      <p:sp>
        <p:nvSpPr>
          <p:cNvPr id="553988" name="Rectangle 4"/>
          <p:cNvSpPr>
            <a:spLocks noChangeArrowheads="1"/>
          </p:cNvSpPr>
          <p:nvPr/>
        </p:nvSpPr>
        <p:spPr bwMode="auto">
          <a:xfrm>
            <a:off x="1676400" y="3286125"/>
            <a:ext cx="152400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Plaintext</a:t>
            </a:r>
          </a:p>
        </p:txBody>
      </p:sp>
      <p:sp>
        <p:nvSpPr>
          <p:cNvPr id="553990" name="Rectangle 6"/>
          <p:cNvSpPr>
            <a:spLocks noChangeArrowheads="1"/>
          </p:cNvSpPr>
          <p:nvPr/>
        </p:nvSpPr>
        <p:spPr bwMode="auto">
          <a:xfrm>
            <a:off x="7162800" y="3282843"/>
            <a:ext cx="152400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Ciphertext</a:t>
            </a:r>
          </a:p>
        </p:txBody>
      </p:sp>
      <p:sp>
        <p:nvSpPr>
          <p:cNvPr id="553991" name="AutoShape 7"/>
          <p:cNvSpPr>
            <a:spLocks noChangeArrowheads="1"/>
          </p:cNvSpPr>
          <p:nvPr/>
        </p:nvSpPr>
        <p:spPr bwMode="auto">
          <a:xfrm>
            <a:off x="3429000" y="2974975"/>
            <a:ext cx="1600200" cy="1447800"/>
          </a:xfrm>
          <a:prstGeom prst="hexagon">
            <a:avLst>
              <a:gd name="adj" fmla="val 27632"/>
              <a:gd name="vf" fmla="val 115470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DES </a:t>
            </a:r>
          </a:p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Encryption</a:t>
            </a:r>
          </a:p>
        </p:txBody>
      </p:sp>
      <p:sp>
        <p:nvSpPr>
          <p:cNvPr id="553992" name="AutoShape 8"/>
          <p:cNvSpPr>
            <a:spLocks noChangeArrowheads="1"/>
          </p:cNvSpPr>
          <p:nvPr/>
        </p:nvSpPr>
        <p:spPr bwMode="auto">
          <a:xfrm>
            <a:off x="5334000" y="2978043"/>
            <a:ext cx="1600200" cy="1447800"/>
          </a:xfrm>
          <a:prstGeom prst="hexagon">
            <a:avLst>
              <a:gd name="adj" fmla="val 27632"/>
              <a:gd name="vf" fmla="val 115470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DES</a:t>
            </a:r>
          </a:p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Encryption</a:t>
            </a:r>
          </a:p>
        </p:txBody>
      </p:sp>
      <p:cxnSp>
        <p:nvCxnSpPr>
          <p:cNvPr id="553993" name="AutoShape 9"/>
          <p:cNvCxnSpPr>
            <a:cxnSpLocks noChangeShapeType="1"/>
            <a:stCxn id="553988" idx="3"/>
            <a:endCxn id="553991" idx="1"/>
          </p:cNvCxnSpPr>
          <p:nvPr/>
        </p:nvCxnSpPr>
        <p:spPr bwMode="auto">
          <a:xfrm flipV="1">
            <a:off x="3200400" y="3698875"/>
            <a:ext cx="228600" cy="63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53994" name="AutoShape 10"/>
          <p:cNvCxnSpPr>
            <a:cxnSpLocks noChangeShapeType="1"/>
            <a:stCxn id="553991" idx="3"/>
          </p:cNvCxnSpPr>
          <p:nvPr/>
        </p:nvCxnSpPr>
        <p:spPr bwMode="auto">
          <a:xfrm>
            <a:off x="5029200" y="3698875"/>
            <a:ext cx="304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53996" name="AutoShape 12"/>
          <p:cNvCxnSpPr>
            <a:cxnSpLocks noChangeShapeType="1"/>
            <a:stCxn id="553992" idx="3"/>
            <a:endCxn id="553990" idx="1"/>
          </p:cNvCxnSpPr>
          <p:nvPr/>
        </p:nvCxnSpPr>
        <p:spPr bwMode="auto">
          <a:xfrm>
            <a:off x="6934200" y="3701943"/>
            <a:ext cx="2286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53997" name="Text Box 13"/>
          <p:cNvSpPr txBox="1">
            <a:spLocks noChangeArrowheads="1"/>
          </p:cNvSpPr>
          <p:nvPr/>
        </p:nvSpPr>
        <p:spPr bwMode="auto">
          <a:xfrm>
            <a:off x="3759201" y="2286000"/>
            <a:ext cx="9541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Key </a:t>
            </a:r>
            <a:r>
              <a:rPr lang="en-US" altLang="ja-JP" sz="2000" i="1">
                <a:solidFill>
                  <a:prstClr val="black"/>
                </a:solidFill>
                <a:latin typeface="Times New Roman" pitchFamily="-65" charset="0"/>
              </a:rPr>
              <a:t>K</a:t>
            </a:r>
            <a:r>
              <a:rPr lang="en-US" altLang="ja-JP" sz="2000" i="1" baseline="-25000">
                <a:solidFill>
                  <a:prstClr val="black"/>
                </a:solidFill>
                <a:latin typeface="Times New Roman" pitchFamily="-65" charset="0"/>
              </a:rPr>
              <a:t>1</a:t>
            </a:r>
            <a:endParaRPr lang="en-US" altLang="ja-JP" sz="2000">
              <a:solidFill>
                <a:prstClr val="black"/>
              </a:solidFill>
              <a:latin typeface="Arial" pitchFamily="-65" charset="0"/>
            </a:endParaRPr>
          </a:p>
        </p:txBody>
      </p:sp>
      <p:sp>
        <p:nvSpPr>
          <p:cNvPr id="553998" name="Text Box 14"/>
          <p:cNvSpPr txBox="1">
            <a:spLocks noChangeArrowheads="1"/>
          </p:cNvSpPr>
          <p:nvPr/>
        </p:nvSpPr>
        <p:spPr bwMode="auto">
          <a:xfrm>
            <a:off x="5662614" y="2304943"/>
            <a:ext cx="9541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Key </a:t>
            </a:r>
            <a:r>
              <a:rPr lang="en-US" altLang="ja-JP" sz="2000" i="1" dirty="0">
                <a:solidFill>
                  <a:prstClr val="black"/>
                </a:solidFill>
                <a:latin typeface="Times New Roman" pitchFamily="-65" charset="0"/>
              </a:rPr>
              <a:t>K</a:t>
            </a:r>
            <a:r>
              <a:rPr lang="en-US" altLang="ja-JP" sz="2000" i="1" baseline="-25000" dirty="0">
                <a:solidFill>
                  <a:prstClr val="black"/>
                </a:solidFill>
                <a:latin typeface="Times New Roman" pitchFamily="-65" charset="0"/>
              </a:rPr>
              <a:t>2</a:t>
            </a:r>
            <a:endParaRPr lang="en-US" altLang="ja-JP" sz="2000" dirty="0">
              <a:solidFill>
                <a:prstClr val="black"/>
              </a:solidFill>
              <a:latin typeface="Arial" pitchFamily="-65" charset="0"/>
            </a:endParaRPr>
          </a:p>
        </p:txBody>
      </p:sp>
      <p:cxnSp>
        <p:nvCxnSpPr>
          <p:cNvPr id="553999" name="AutoShape 15"/>
          <p:cNvCxnSpPr>
            <a:cxnSpLocks noChangeShapeType="1"/>
            <a:stCxn id="553997" idx="2"/>
            <a:endCxn id="553991" idx="0"/>
          </p:cNvCxnSpPr>
          <p:nvPr/>
        </p:nvCxnSpPr>
        <p:spPr bwMode="auto">
          <a:xfrm>
            <a:off x="4236254" y="2686111"/>
            <a:ext cx="792946" cy="101276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54000" name="AutoShape 16"/>
          <p:cNvCxnSpPr>
            <a:cxnSpLocks noChangeShapeType="1"/>
            <a:stCxn id="553998" idx="2"/>
            <a:endCxn id="553992" idx="0"/>
          </p:cNvCxnSpPr>
          <p:nvPr/>
        </p:nvCxnSpPr>
        <p:spPr bwMode="auto">
          <a:xfrm>
            <a:off x="6139668" y="2705053"/>
            <a:ext cx="794532" cy="99689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490112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Meet-in-the-middle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No! There is an attack taking 2</a:t>
            </a:r>
            <a:r>
              <a:rPr lang="en-US" baseline="30000" dirty="0"/>
              <a:t>n</a:t>
            </a:r>
            <a:r>
              <a:rPr lang="en-US" dirty="0"/>
              <a:t> time…</a:t>
            </a:r>
          </a:p>
          <a:p>
            <a:pPr lvl="1"/>
            <a:r>
              <a:rPr lang="en-US" dirty="0"/>
              <a:t>(And 2</a:t>
            </a:r>
            <a:r>
              <a:rPr lang="en-US" baseline="30000" dirty="0"/>
              <a:t>n</a:t>
            </a:r>
            <a:r>
              <a:rPr lang="en-US" dirty="0"/>
              <a:t> memory)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attack applies any time a block cipher can be “factored” into 2 independent components</a:t>
            </a:r>
          </a:p>
        </p:txBody>
      </p:sp>
    </p:spTree>
    <p:extLst>
      <p:ext uri="{BB962C8B-B14F-4D97-AF65-F5344CB8AC3E}">
        <p14:creationId xmlns:p14="http://schemas.microsoft.com/office/powerpoint/2010/main" val="268076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Triple DES</a:t>
            </a:r>
          </a:p>
        </p:txBody>
      </p:sp>
      <p:sp>
        <p:nvSpPr>
          <p:cNvPr id="553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2400" dirty="0"/>
              <a:t>Simple extension to DES, using or three 56-bit keys</a:t>
            </a:r>
          </a:p>
        </p:txBody>
      </p:sp>
      <p:sp>
        <p:nvSpPr>
          <p:cNvPr id="553988" name="Rectangle 4"/>
          <p:cNvSpPr>
            <a:spLocks noChangeArrowheads="1"/>
          </p:cNvSpPr>
          <p:nvPr/>
        </p:nvSpPr>
        <p:spPr bwMode="auto">
          <a:xfrm>
            <a:off x="1676400" y="3286125"/>
            <a:ext cx="152400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Plaintext</a:t>
            </a:r>
          </a:p>
        </p:txBody>
      </p:sp>
      <p:sp>
        <p:nvSpPr>
          <p:cNvPr id="553990" name="Rectangle 6"/>
          <p:cNvSpPr>
            <a:spLocks noChangeArrowheads="1"/>
          </p:cNvSpPr>
          <p:nvPr/>
        </p:nvSpPr>
        <p:spPr bwMode="auto">
          <a:xfrm>
            <a:off x="8991600" y="3279775"/>
            <a:ext cx="152400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Ciphertext</a:t>
            </a:r>
          </a:p>
        </p:txBody>
      </p:sp>
      <p:sp>
        <p:nvSpPr>
          <p:cNvPr id="553991" name="AutoShape 7"/>
          <p:cNvSpPr>
            <a:spLocks noChangeArrowheads="1"/>
          </p:cNvSpPr>
          <p:nvPr/>
        </p:nvSpPr>
        <p:spPr bwMode="auto">
          <a:xfrm>
            <a:off x="3429000" y="2974975"/>
            <a:ext cx="1600200" cy="1447800"/>
          </a:xfrm>
          <a:prstGeom prst="hexagon">
            <a:avLst>
              <a:gd name="adj" fmla="val 27632"/>
              <a:gd name="vf" fmla="val 115470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DES </a:t>
            </a:r>
          </a:p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Encryption</a:t>
            </a:r>
          </a:p>
        </p:txBody>
      </p:sp>
      <p:sp>
        <p:nvSpPr>
          <p:cNvPr id="553992" name="AutoShape 8"/>
          <p:cNvSpPr>
            <a:spLocks noChangeArrowheads="1"/>
          </p:cNvSpPr>
          <p:nvPr/>
        </p:nvSpPr>
        <p:spPr bwMode="auto">
          <a:xfrm>
            <a:off x="7162800" y="2974975"/>
            <a:ext cx="1600200" cy="1447800"/>
          </a:xfrm>
          <a:prstGeom prst="hexagon">
            <a:avLst>
              <a:gd name="adj" fmla="val 27632"/>
              <a:gd name="vf" fmla="val 115470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DES</a:t>
            </a:r>
          </a:p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Encryption</a:t>
            </a:r>
          </a:p>
        </p:txBody>
      </p:sp>
      <p:cxnSp>
        <p:nvCxnSpPr>
          <p:cNvPr id="553993" name="AutoShape 9"/>
          <p:cNvCxnSpPr>
            <a:cxnSpLocks noChangeShapeType="1"/>
            <a:stCxn id="553988" idx="3"/>
            <a:endCxn id="553991" idx="1"/>
          </p:cNvCxnSpPr>
          <p:nvPr/>
        </p:nvCxnSpPr>
        <p:spPr bwMode="auto">
          <a:xfrm flipV="1">
            <a:off x="3200400" y="3698875"/>
            <a:ext cx="228600" cy="63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53994" name="AutoShape 10"/>
          <p:cNvCxnSpPr>
            <a:cxnSpLocks noChangeShapeType="1"/>
            <a:stCxn id="553991" idx="3"/>
          </p:cNvCxnSpPr>
          <p:nvPr/>
        </p:nvCxnSpPr>
        <p:spPr bwMode="auto">
          <a:xfrm>
            <a:off x="5029200" y="3698875"/>
            <a:ext cx="304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53995" name="AutoShape 11"/>
          <p:cNvCxnSpPr>
            <a:cxnSpLocks noChangeShapeType="1"/>
            <a:endCxn id="553992" idx="1"/>
          </p:cNvCxnSpPr>
          <p:nvPr/>
        </p:nvCxnSpPr>
        <p:spPr bwMode="auto">
          <a:xfrm>
            <a:off x="6858000" y="3698875"/>
            <a:ext cx="304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53996" name="AutoShape 12"/>
          <p:cNvCxnSpPr>
            <a:cxnSpLocks noChangeShapeType="1"/>
            <a:stCxn id="553992" idx="3"/>
            <a:endCxn id="553990" idx="1"/>
          </p:cNvCxnSpPr>
          <p:nvPr/>
        </p:nvCxnSpPr>
        <p:spPr bwMode="auto">
          <a:xfrm>
            <a:off x="8763000" y="3698875"/>
            <a:ext cx="2286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53997" name="Text Box 13"/>
          <p:cNvSpPr txBox="1">
            <a:spLocks noChangeArrowheads="1"/>
          </p:cNvSpPr>
          <p:nvPr/>
        </p:nvSpPr>
        <p:spPr bwMode="auto">
          <a:xfrm>
            <a:off x="3759201" y="2286000"/>
            <a:ext cx="9541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Key </a:t>
            </a:r>
            <a:r>
              <a:rPr lang="en-US" altLang="ja-JP" sz="2000" i="1">
                <a:solidFill>
                  <a:prstClr val="black"/>
                </a:solidFill>
                <a:latin typeface="Times New Roman" pitchFamily="-65" charset="0"/>
              </a:rPr>
              <a:t>K</a:t>
            </a:r>
            <a:r>
              <a:rPr lang="en-US" altLang="ja-JP" sz="2000" i="1" baseline="-25000">
                <a:solidFill>
                  <a:prstClr val="black"/>
                </a:solidFill>
                <a:latin typeface="Times New Roman" pitchFamily="-65" charset="0"/>
              </a:rPr>
              <a:t>1</a:t>
            </a:r>
            <a:endParaRPr lang="en-US" altLang="ja-JP" sz="2000">
              <a:solidFill>
                <a:prstClr val="black"/>
              </a:solidFill>
              <a:latin typeface="Arial" pitchFamily="-65" charset="0"/>
            </a:endParaRPr>
          </a:p>
        </p:txBody>
      </p:sp>
      <p:sp>
        <p:nvSpPr>
          <p:cNvPr id="553998" name="Text Box 14"/>
          <p:cNvSpPr txBox="1">
            <a:spLocks noChangeArrowheads="1"/>
          </p:cNvSpPr>
          <p:nvPr/>
        </p:nvSpPr>
        <p:spPr bwMode="auto">
          <a:xfrm>
            <a:off x="7491414" y="2301875"/>
            <a:ext cx="9541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Key </a:t>
            </a:r>
            <a:r>
              <a:rPr lang="en-US" altLang="ja-JP" sz="2000" i="1" dirty="0">
                <a:solidFill>
                  <a:prstClr val="black"/>
                </a:solidFill>
                <a:latin typeface="Times New Roman" pitchFamily="-65" charset="0"/>
              </a:rPr>
              <a:t>K</a:t>
            </a:r>
            <a:r>
              <a:rPr lang="en-US" altLang="ja-JP" sz="2000" i="1" baseline="-25000" dirty="0">
                <a:solidFill>
                  <a:prstClr val="black"/>
                </a:solidFill>
                <a:latin typeface="Times New Roman" pitchFamily="-65" charset="0"/>
              </a:rPr>
              <a:t>3</a:t>
            </a:r>
            <a:endParaRPr lang="en-US" altLang="ja-JP" sz="2000" dirty="0">
              <a:solidFill>
                <a:prstClr val="black"/>
              </a:solidFill>
              <a:latin typeface="Arial" pitchFamily="-65" charset="0"/>
            </a:endParaRPr>
          </a:p>
        </p:txBody>
      </p:sp>
      <p:cxnSp>
        <p:nvCxnSpPr>
          <p:cNvPr id="553999" name="AutoShape 15"/>
          <p:cNvCxnSpPr>
            <a:cxnSpLocks noChangeShapeType="1"/>
            <a:stCxn id="553997" idx="2"/>
            <a:endCxn id="553991" idx="0"/>
          </p:cNvCxnSpPr>
          <p:nvPr/>
        </p:nvCxnSpPr>
        <p:spPr bwMode="auto">
          <a:xfrm>
            <a:off x="4236254" y="2686111"/>
            <a:ext cx="792946" cy="101276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54000" name="AutoShape 16"/>
          <p:cNvCxnSpPr>
            <a:cxnSpLocks noChangeShapeType="1"/>
            <a:stCxn id="553998" idx="2"/>
            <a:endCxn id="553992" idx="0"/>
          </p:cNvCxnSpPr>
          <p:nvPr/>
        </p:nvCxnSpPr>
        <p:spPr bwMode="auto">
          <a:xfrm>
            <a:off x="7968468" y="2701985"/>
            <a:ext cx="794532" cy="99689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54001" name="AutoShape 17"/>
          <p:cNvSpPr>
            <a:spLocks noChangeArrowheads="1"/>
          </p:cNvSpPr>
          <p:nvPr/>
        </p:nvSpPr>
        <p:spPr bwMode="auto">
          <a:xfrm>
            <a:off x="5322888" y="2981325"/>
            <a:ext cx="1600200" cy="1447800"/>
          </a:xfrm>
          <a:prstGeom prst="hexagon">
            <a:avLst>
              <a:gd name="adj" fmla="val 27632"/>
              <a:gd name="vf" fmla="val 115470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DES </a:t>
            </a:r>
          </a:p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Decryption</a:t>
            </a:r>
          </a:p>
        </p:txBody>
      </p:sp>
      <p:sp>
        <p:nvSpPr>
          <p:cNvPr id="554004" name="Text Box 20"/>
          <p:cNvSpPr txBox="1">
            <a:spLocks noChangeArrowheads="1"/>
          </p:cNvSpPr>
          <p:nvPr/>
        </p:nvSpPr>
        <p:spPr bwMode="auto">
          <a:xfrm>
            <a:off x="5651501" y="2308225"/>
            <a:ext cx="9541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Key </a:t>
            </a:r>
            <a:r>
              <a:rPr lang="en-US" altLang="ja-JP" sz="2000" i="1">
                <a:solidFill>
                  <a:prstClr val="black"/>
                </a:solidFill>
                <a:latin typeface="Times New Roman" pitchFamily="-65" charset="0"/>
              </a:rPr>
              <a:t>K</a:t>
            </a:r>
            <a:r>
              <a:rPr lang="en-US" altLang="ja-JP" sz="2000" i="1" baseline="-25000">
                <a:solidFill>
                  <a:prstClr val="black"/>
                </a:solidFill>
                <a:latin typeface="Times New Roman" pitchFamily="-65" charset="0"/>
              </a:rPr>
              <a:t>2</a:t>
            </a:r>
            <a:endParaRPr lang="en-US" altLang="ja-JP" sz="2000">
              <a:solidFill>
                <a:prstClr val="black"/>
              </a:solidFill>
              <a:latin typeface="Arial" pitchFamily="-65" charset="0"/>
            </a:endParaRPr>
          </a:p>
        </p:txBody>
      </p:sp>
      <p:cxnSp>
        <p:nvCxnSpPr>
          <p:cNvPr id="554005" name="AutoShape 21"/>
          <p:cNvCxnSpPr>
            <a:cxnSpLocks noChangeShapeType="1"/>
            <a:stCxn id="554004" idx="2"/>
            <a:endCxn id="554001" idx="0"/>
          </p:cNvCxnSpPr>
          <p:nvPr/>
        </p:nvCxnSpPr>
        <p:spPr bwMode="auto">
          <a:xfrm>
            <a:off x="6128554" y="2708335"/>
            <a:ext cx="794534" cy="99689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54006" name="Rectangle 22"/>
          <p:cNvSpPr>
            <a:spLocks noChangeArrowheads="1"/>
          </p:cNvSpPr>
          <p:nvPr/>
        </p:nvSpPr>
        <p:spPr bwMode="auto">
          <a:xfrm>
            <a:off x="1981200" y="4724400"/>
            <a:ext cx="82296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342900" indent="-342900" defTabSz="457200">
              <a:spcBef>
                <a:spcPct val="20000"/>
              </a:spcBef>
              <a:buFontTx/>
              <a:buChar char="•"/>
              <a:defRPr/>
            </a:pPr>
            <a:r>
              <a:rPr lang="en-US" altLang="ja-JP" sz="2000" dirty="0">
                <a:solidFill>
                  <a:srgbClr val="333333"/>
                </a:solidFill>
                <a:latin typeface="Arial" pitchFamily="-65" charset="0"/>
              </a:rPr>
              <a:t>Security level of 2</a:t>
            </a:r>
            <a:r>
              <a:rPr lang="en-US" altLang="ja-JP" sz="2000" baseline="30000" dirty="0">
                <a:solidFill>
                  <a:srgbClr val="333333"/>
                </a:solidFill>
                <a:latin typeface="Arial" pitchFamily="-65" charset="0"/>
              </a:rPr>
              <a:t>112</a:t>
            </a:r>
            <a:r>
              <a:rPr lang="en-US" altLang="ja-JP" sz="2000" dirty="0">
                <a:solidFill>
                  <a:srgbClr val="333333"/>
                </a:solidFill>
                <a:latin typeface="Arial" pitchFamily="-65" charset="0"/>
              </a:rPr>
              <a:t>, currently thought to be enough</a:t>
            </a:r>
          </a:p>
          <a:p>
            <a:pPr marL="800100" lvl="1" indent="-342900" defTabSz="457200">
              <a:spcBef>
                <a:spcPct val="20000"/>
              </a:spcBef>
              <a:buFontTx/>
              <a:buChar char="•"/>
              <a:defRPr/>
            </a:pPr>
            <a:r>
              <a:rPr lang="en-US" altLang="ja-JP" sz="2000" dirty="0">
                <a:solidFill>
                  <a:srgbClr val="333333"/>
                </a:solidFill>
                <a:latin typeface="Arial" pitchFamily="-65" charset="0"/>
              </a:rPr>
              <a:t>Can also use K</a:t>
            </a:r>
            <a:r>
              <a:rPr lang="en-US" altLang="ja-JP" sz="2000" baseline="-25000" dirty="0">
                <a:solidFill>
                  <a:srgbClr val="333333"/>
                </a:solidFill>
                <a:latin typeface="Arial" pitchFamily="-65" charset="0"/>
              </a:rPr>
              <a:t>1</a:t>
            </a:r>
            <a:r>
              <a:rPr lang="en-US" altLang="ja-JP" sz="2000" dirty="0">
                <a:solidFill>
                  <a:srgbClr val="333333"/>
                </a:solidFill>
                <a:latin typeface="Arial" pitchFamily="-65" charset="0"/>
              </a:rPr>
              <a:t>, K</a:t>
            </a:r>
            <a:r>
              <a:rPr lang="en-US" altLang="ja-JP" sz="2000" baseline="-25000" dirty="0">
                <a:solidFill>
                  <a:srgbClr val="333333"/>
                </a:solidFill>
                <a:latin typeface="Arial" pitchFamily="-65" charset="0"/>
              </a:rPr>
              <a:t>2</a:t>
            </a:r>
            <a:r>
              <a:rPr lang="en-US" altLang="ja-JP" sz="2000" dirty="0">
                <a:solidFill>
                  <a:srgbClr val="333333"/>
                </a:solidFill>
                <a:latin typeface="Arial" pitchFamily="-65" charset="0"/>
              </a:rPr>
              <a:t>, K</a:t>
            </a:r>
            <a:r>
              <a:rPr lang="en-US" altLang="ja-JP" sz="2000" baseline="-25000" dirty="0">
                <a:solidFill>
                  <a:srgbClr val="333333"/>
                </a:solidFill>
                <a:latin typeface="Arial" pitchFamily="-65" charset="0"/>
              </a:rPr>
              <a:t>1</a:t>
            </a:r>
            <a:r>
              <a:rPr lang="en-US" altLang="ja-JP" sz="2000" dirty="0">
                <a:solidFill>
                  <a:srgbClr val="333333"/>
                </a:solidFill>
                <a:latin typeface="Arial" pitchFamily="-65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4344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AAE05AB-5038-6B4D-A913-6C1FDBFC1415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a2a59f3f-e3e0-40b4-8cd7-ef358142927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3654</TotalTime>
  <Words>1707</Words>
  <Application>Microsoft Macintosh PowerPoint</Application>
  <PresentationFormat>Widescreen</PresentationFormat>
  <Paragraphs>291</Paragraphs>
  <Slides>45</Slides>
  <Notes>6</Notes>
  <HiddenSlides>4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system-ui</vt:lpstr>
      <vt:lpstr>Arial</vt:lpstr>
      <vt:lpstr>Calibri</vt:lpstr>
      <vt:lpstr>Cambria Math</vt:lpstr>
      <vt:lpstr>Candara</vt:lpstr>
      <vt:lpstr>Georgia</vt:lpstr>
      <vt:lpstr>Monotype Corsiva</vt:lpstr>
      <vt:lpstr>Symbol</vt:lpstr>
      <vt:lpstr>Times New Roman</vt:lpstr>
      <vt:lpstr>Office Theme</vt:lpstr>
      <vt:lpstr>Number of functions</vt:lpstr>
      <vt:lpstr>Last time: Pseudorandom Function (PRF)</vt:lpstr>
      <vt:lpstr>Pseudorandom Function (PRF)</vt:lpstr>
      <vt:lpstr>Definition of PRF</vt:lpstr>
      <vt:lpstr>PRF vs PRG</vt:lpstr>
      <vt:lpstr>PRF vs PRG</vt:lpstr>
      <vt:lpstr>CPA-security from PRF</vt:lpstr>
      <vt:lpstr>PowerPoint Presentation</vt:lpstr>
      <vt:lpstr>Chosen-plaintext attack (CPA) security</vt:lpstr>
      <vt:lpstr>Proof idea </vt:lpstr>
      <vt:lpstr>Pseudorandom Permutations</vt:lpstr>
      <vt:lpstr>Number of permutations</vt:lpstr>
      <vt:lpstr>Output Feedback (OFB) mode</vt:lpstr>
      <vt:lpstr>Designing block ciphers</vt:lpstr>
      <vt:lpstr>Confusion-diffusion paradigm</vt:lpstr>
      <vt:lpstr>Substitution-Permutation Networks (SPN)</vt:lpstr>
      <vt:lpstr>Multi-round design</vt:lpstr>
      <vt:lpstr>Avalanche effect</vt:lpstr>
      <vt:lpstr>Avalanche effect</vt:lpstr>
      <vt:lpstr>Avalanche effect</vt:lpstr>
      <vt:lpstr>Sub-keys and master key</vt:lpstr>
      <vt:lpstr>AES</vt:lpstr>
      <vt:lpstr>AES</vt:lpstr>
      <vt:lpstr>AES substitution boxes</vt:lpstr>
      <vt:lpstr>ShiftRows and MixColumns</vt:lpstr>
      <vt:lpstr>Multi-round</vt:lpstr>
      <vt:lpstr>Open design principle</vt:lpstr>
      <vt:lpstr>Assumptions</vt:lpstr>
      <vt:lpstr>PowerPoint Presentation</vt:lpstr>
      <vt:lpstr>AES is invertible given k</vt:lpstr>
      <vt:lpstr>Permutations vs functions</vt:lpstr>
      <vt:lpstr>Pseudorandom Permutations</vt:lpstr>
      <vt:lpstr>Feistel network</vt:lpstr>
      <vt:lpstr>Feistel network</vt:lpstr>
      <vt:lpstr>Inverting Feistel network</vt:lpstr>
      <vt:lpstr>DES overview</vt:lpstr>
      <vt:lpstr>Feistel network in DES</vt:lpstr>
      <vt:lpstr>Substitution Boxes in DES</vt:lpstr>
      <vt:lpstr>DES mangler function</vt:lpstr>
      <vt:lpstr>Avalanche effect</vt:lpstr>
      <vt:lpstr>Security of DES</vt:lpstr>
      <vt:lpstr>56-bit key length</vt:lpstr>
      <vt:lpstr>Double DES</vt:lpstr>
      <vt:lpstr>Meet-in-the-middle attack</vt:lpstr>
      <vt:lpstr>Triple 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CSCE 689 Section 602 Techniques in Applied Cryptography</dc:title>
  <dc:creator>Yupeng Zhang</dc:creator>
  <cp:lastModifiedBy>Luo, Ning</cp:lastModifiedBy>
  <cp:revision>172</cp:revision>
  <dcterms:created xsi:type="dcterms:W3CDTF">2019-08-25T21:23:20Z</dcterms:created>
  <dcterms:modified xsi:type="dcterms:W3CDTF">2026-09-16T19:03:29Z</dcterms:modified>
</cp:coreProperties>
</file>