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2" r:id="rId2"/>
    <p:sldId id="635" r:id="rId3"/>
    <p:sldId id="637" r:id="rId4"/>
    <p:sldId id="636" r:id="rId5"/>
    <p:sldId id="655" r:id="rId6"/>
    <p:sldId id="645" r:id="rId7"/>
    <p:sldId id="657" r:id="rId8"/>
    <p:sldId id="656" r:id="rId9"/>
    <p:sldId id="658" r:id="rId10"/>
    <p:sldId id="465" r:id="rId11"/>
    <p:sldId id="648" r:id="rId12"/>
    <p:sldId id="650" r:id="rId13"/>
    <p:sldId id="649" r:id="rId14"/>
    <p:sldId id="651" r:id="rId15"/>
    <p:sldId id="652" r:id="rId16"/>
    <p:sldId id="654" r:id="rId17"/>
    <p:sldId id="668" r:id="rId18"/>
    <p:sldId id="669" r:id="rId19"/>
    <p:sldId id="659" r:id="rId20"/>
    <p:sldId id="660" r:id="rId21"/>
    <p:sldId id="661" r:id="rId22"/>
    <p:sldId id="662" r:id="rId23"/>
    <p:sldId id="663" r:id="rId24"/>
    <p:sldId id="664" r:id="rId25"/>
    <p:sldId id="665" r:id="rId26"/>
    <p:sldId id="666" r:id="rId27"/>
    <p:sldId id="600" r:id="rId28"/>
    <p:sldId id="66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711"/>
  </p:normalViewPr>
  <p:slideViewPr>
    <p:cSldViewPr snapToGrid="0" showGuides="1">
      <p:cViewPr varScale="1">
        <p:scale>
          <a:sx n="117" d="100"/>
          <a:sy n="117" d="100"/>
        </p:scale>
        <p:origin x="600" y="1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18B71-9C39-4889-8E2C-9225BA8B3F5D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E8587-C61B-49BA-BD3C-A9EE353D7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2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62BE-4293-4D7E-8FED-EFA019AFC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D1A74-AF1E-46A8-969C-64685C193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18083-291B-495C-BAB6-1CA89DC9E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0355C-5445-4237-B262-A23164E3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A2EEC-5F5F-4D03-9F61-C3898D1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0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29EA-3388-4D23-82A9-4F3003AA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7303-1971-4CD2-8B0B-FF115F23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7" y="1743197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884B-6D89-405B-909F-A90DE069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ACC1C-249F-4FDD-B428-EC207B74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F98E7-51DE-4E2D-9482-7B25C0E3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3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596D-914D-4E6D-AF46-B4998729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A2592-3A41-4778-8643-4E85E4F5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768F-D2C9-4B4F-AD4B-7D3CCBB6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28A7-FD4F-4564-86A5-14569CF8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6873D-EE02-40CB-82E5-FC355595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1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B8E9-3028-45FF-BFA0-3F576C75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49A6-FAF9-4467-A916-761573389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ED86A-1D75-4C06-BDAE-5667877AB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CF083-8A8C-4A9F-B603-0A0C30D6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B6354-55B3-4E64-8ECD-95536532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5BA3-E82B-4150-AFEE-B8046EC2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5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58BD-5C91-4255-BA0D-911276E3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20BD4-8880-45D0-90D9-071C791C8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C337D-B29A-4D93-9190-4AFBFD982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818BC-1713-4BB0-BD29-BBEECC746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46D4E-AEA1-4FE7-B3D8-EEFEA3CD1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4582CE-8BAA-46FF-8D36-0E537530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89E11-F3B3-415D-B5A9-522C5813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781E5-8EB7-4610-AA29-ECAFECA5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2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36C9-CDE4-4879-BA7D-0F985BF1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54AB7-2FEF-4B47-87EE-D334C5CA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88316-D12F-426A-B8C8-3F85CF52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91593-3F56-4498-9268-88BD0507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39C03-0146-4658-B780-5A2D1237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726FC-EEC0-465F-9312-6B7A9CBC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46D91-3676-4D69-8E5F-267FDD22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8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473F-09B7-4427-84BA-9F7D9421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E777A-4377-4824-9580-5CD50236F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31D50-2E89-437B-B7A5-D525C9CA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8A116-4E7B-4FBF-B5D3-C5A227E0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7E17E-6360-44B3-A9FC-43E4C2A8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564C6-9C35-4475-AC5F-A9E2A18F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5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4457-2EBD-4422-ACE5-EB4635EB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E365B-1F69-4E89-BF0A-AE9ABA04F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04F95-09E7-4B54-92F7-919F84BE1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B4A7-1713-41A4-A987-82B25812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5D9B-5A82-484F-A772-B349921A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961B1-2F65-46C3-993A-E03DDB04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0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5D5E-1D09-4AA5-802D-4F59776F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208FA-35A6-4EFB-8F48-9862886D3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12DB-EB1D-4551-99AC-22EB9BA8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BBAA-94B5-4ED9-AF79-CE399893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5956-F933-4CB8-B481-AECB03FE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16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19A50-C4E4-4F1B-8E62-D99CDF398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6962F-B4A1-4859-A12C-67016FF82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15B0A-81A5-479B-ADAA-456B1427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594D5-082C-4ACF-940E-4A01DCAB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540E-0F1D-4EDA-A305-C1C4D643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FBC14-1125-4876-92E8-1B087757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7" y="1558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D414D-3C83-413A-81E2-B045C68BC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77" y="17431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9B5CF-C149-4249-940C-9F0BD416C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E43A1-61F1-46D0-835A-ADB57988AB43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E08F-5D25-486D-BA81-889A52131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A894-9BA9-41D9-AE9D-7132C3E9D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097A-AAC3-4FE2-AB3E-5E14BCFF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Computational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931D-341A-CAA7-6D6D-48E9FD14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6" y="1743197"/>
            <a:ext cx="116565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Two relaxations: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only against </a:t>
            </a:r>
            <a:r>
              <a:rPr lang="en-US" b="1" dirty="0"/>
              <a:t>Probabilistic Polynomial Time</a:t>
            </a:r>
            <a:r>
              <a:rPr lang="en-US" dirty="0"/>
              <a:t> adversaries.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can fail with a </a:t>
            </a:r>
            <a:r>
              <a:rPr lang="en-US" b="1" dirty="0"/>
              <a:t>negligible probability</a:t>
            </a:r>
          </a:p>
        </p:txBody>
      </p:sp>
    </p:spTree>
    <p:extLst>
      <p:ext uri="{BB962C8B-B14F-4D97-AF65-F5344CB8AC3E}">
        <p14:creationId xmlns:p14="http://schemas.microsoft.com/office/powerpoint/2010/main" val="215381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5EB8-8BFE-EE20-E382-B3EDFF14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computational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50D66F4-5125-7A7F-07B0-83DF87F1C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6088" y="174307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Algorithm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sz="2800" dirty="0"/>
                  <a:t> secret key,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800" dirty="0"/>
                  <a:t>: message,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8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>
                  <a:solidFill>
                    <a:srgbClr val="0070C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Dec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Correctness: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𝐷𝑒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𝐸𝑛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50D66F4-5125-7A7F-07B0-83DF87F1C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088" y="1743075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D1B159-82D5-D337-1B16-C94751B301A0}"/>
                  </a:ext>
                </a:extLst>
              </p:cNvPr>
              <p:cNvSpPr txBox="1"/>
              <p:nvPr/>
            </p:nvSpPr>
            <p:spPr>
              <a:xfrm>
                <a:off x="4015671" y="5560359"/>
                <a:ext cx="397188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/>
                  <a:t>n</a:t>
                </a:r>
                <a:r>
                  <a:rPr lang="en-US" sz="2800" dirty="0"/>
                  <a:t>: security parameter</a:t>
                </a:r>
              </a:p>
              <a:p>
                <a:r>
                  <a:rPr lang="en-US" sz="2800" dirty="0"/>
                  <a:t>usually use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D1B159-82D5-D337-1B16-C94751B30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671" y="5560359"/>
                <a:ext cx="3971882" cy="954107"/>
              </a:xfrm>
              <a:prstGeom prst="rect">
                <a:avLst/>
              </a:prstGeom>
              <a:blipFill>
                <a:blip r:embed="rId3"/>
                <a:stretch>
                  <a:fillRect l="-3226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88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indistinguishability against eavesdropper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920" y="2068606"/>
                <a:ext cx="11173385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eav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Adversary </a:t>
                </a:r>
                <a:r>
                  <a:rPr lang="en-US" i="1" dirty="0"/>
                  <a:t>A </a:t>
                </a:r>
                <a:r>
                  <a:rPr lang="en-US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and outputs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>
                    <a:latin typeface="Monotype Corsiva" panose="03010101010201010101" pitchFamily="66" charset="0"/>
                  </a:rPr>
                  <a:t> </a:t>
                </a:r>
              </a:p>
              <a:p>
                <a:pPr marL="228600" lvl="1" indent="0">
                  <a:buNone/>
                </a:pPr>
                <a:r>
                  <a:rPr lang="en-US" dirty="0">
                    <a:latin typeface="Monotype Corsiva" panose="03010101010201010101" pitchFamily="66" charset="0"/>
                  </a:rPr>
                  <a:t>	 </a:t>
                </a:r>
                <a:r>
                  <a:rPr lang="en-US" dirty="0" err="1">
                    <a:latin typeface="+mj-lt"/>
                  </a:rPr>
                  <a:t>s.t.</a:t>
                </a:r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b="1" dirty="0">
                  <a:solidFill>
                    <a:srgbClr val="0070C0"/>
                  </a:solidFill>
                  <a:latin typeface="Monotype Corsiva" panose="03010101010201010101" pitchFamily="66" charset="0"/>
                </a:endParaRPr>
              </a:p>
              <a:p>
                <a:pPr marL="228600" lvl="1" indent="0">
                  <a:buNone/>
                </a:pPr>
                <a:r>
                  <a:rPr lang="en-US" dirty="0"/>
                  <a:t>2. A key </a:t>
                </a:r>
                <a:r>
                  <a:rPr lang="en-US" i="1" dirty="0"/>
                  <a:t>k</a:t>
                </a:r>
                <a:r>
                  <a:rPr lang="en-US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 random bit </a:t>
                </a:r>
                <a:r>
                  <a:rPr lang="en-US" i="1" dirty="0"/>
                  <a:t>b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dirty="0"/>
                  <a:t> is chosen.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given to </a:t>
                </a:r>
                <a:r>
                  <a:rPr lang="en-US" i="1" dirty="0"/>
                  <a:t>A. </a:t>
                </a:r>
                <a:endParaRPr lang="en-US" dirty="0"/>
              </a:p>
              <a:p>
                <a:pPr marL="228600" lvl="1" indent="0">
                  <a:buNone/>
                </a:pPr>
                <a:r>
                  <a:rPr lang="en-US" dirty="0"/>
                  <a:t>3. </a:t>
                </a:r>
                <a:r>
                  <a:rPr lang="en-US" i="1" dirty="0"/>
                  <a:t>A </a:t>
                </a:r>
                <a:r>
                  <a:rPr lang="en-US" dirty="0"/>
                  <a:t>outputs</a:t>
                </a:r>
                <a:r>
                  <a:rPr lang="en-US" i="1" dirty="0"/>
                  <a:t> b’</a:t>
                </a:r>
              </a:p>
              <a:p>
                <a:pPr marL="228600" lvl="1" indent="0">
                  <a:buNone/>
                </a:pPr>
                <a:r>
                  <a:rPr lang="en-US" dirty="0"/>
                  <a:t>4. Experiment outputs 1 if </a:t>
                </a:r>
                <a:r>
                  <a:rPr lang="en-US" i="1" dirty="0"/>
                  <a:t>b=b’, </a:t>
                </a:r>
                <a:r>
                  <a:rPr lang="en-US" dirty="0"/>
                  <a:t>and 0 otherwise</a:t>
                </a:r>
                <a:r>
                  <a:rPr lang="en-US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920" y="2068606"/>
                <a:ext cx="11173385" cy="4876800"/>
              </a:xfrm>
              <a:blipFill>
                <a:blip r:embed="rId2"/>
                <a:stretch>
                  <a:fillRect l="-382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684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C907-2EB8-9AF6-A43D-EB4662A4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Indistinguishability against eavesdropper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58D78-CF9D-F85D-5D45-A4808043D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963271"/>
                <a:ext cx="11199676" cy="41312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Definition (EAV security):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70C0"/>
                    </a:solidFill>
                  </a:rPr>
                  <a:t>EAV-secure</a:t>
                </a:r>
                <a:r>
                  <a:rPr lang="en-US" sz="2800" dirty="0"/>
                  <a:t>, if for all </a:t>
                </a:r>
                <a:r>
                  <a:rPr lang="en-US" dirty="0">
                    <a:solidFill>
                      <a:srgbClr val="0070C0"/>
                    </a:solidFill>
                  </a:rPr>
                  <a:t>probabilistic polynomial time </a:t>
                </a:r>
                <a:r>
                  <a:rPr lang="en-US" dirty="0"/>
                  <a:t>adversaries </a:t>
                </a:r>
                <a:r>
                  <a:rPr lang="en-US" i="1" dirty="0"/>
                  <a:t>A</a:t>
                </a:r>
                <a:r>
                  <a:rPr lang="en-US" dirty="0"/>
                  <a:t>, there is a </a:t>
                </a:r>
                <a:r>
                  <a:rPr lang="en-US" dirty="0">
                    <a:solidFill>
                      <a:srgbClr val="0070C0"/>
                    </a:solidFill>
                  </a:rPr>
                  <a:t>negligible function </a:t>
                </a:r>
                <a:r>
                  <a:rPr lang="en-US" dirty="0" err="1">
                    <a:solidFill>
                      <a:srgbClr val="0070C0"/>
                    </a:solidFill>
                  </a:rPr>
                  <a:t>negl</a:t>
                </a:r>
                <a:r>
                  <a:rPr lang="en-US" dirty="0"/>
                  <a:t> such that for all </a:t>
                </a:r>
                <a:r>
                  <a:rPr lang="en-US" i="1" dirty="0"/>
                  <a:t>n</a:t>
                </a:r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𝒆𝒂𝒗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58D78-CF9D-F85D-5D45-A480804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963271"/>
                <a:ext cx="11199676" cy="4131264"/>
              </a:xfrm>
              <a:blipFill>
                <a:blip r:embed="rId2"/>
                <a:stretch>
                  <a:fillRect l="-1089" t="-2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22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6453-4CAD-D856-D281-F4BCDAC1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433BD-AFA3-23B5-A7F2-F0C396A51B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385047"/>
                <a:ext cx="10515600" cy="47094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PRG is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Pseudorandomness</a:t>
                </a:r>
                <a:r>
                  <a:rPr lang="en-US" dirty="0"/>
                  <a:t>: for any PPT algorithm D, there is a negligible function </a:t>
                </a:r>
                <a:r>
                  <a:rPr lang="en-US" dirty="0" err="1"/>
                  <a:t>negl</a:t>
                </a:r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uniformly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433BD-AFA3-23B5-A7F2-F0C396A51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385047"/>
                <a:ext cx="10515600" cy="4709488"/>
              </a:xfrm>
              <a:blipFill>
                <a:blip r:embed="rId2"/>
                <a:stretch>
                  <a:fillRect l="-1159" t="-2199" r="-1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37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E00BA-5272-4CAA-2AEA-BA694E87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that is not a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6DAEB-63FE-5897-6BF4-D953EFD5C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dirty="0"/>
                  <a:t> by computing the XOR of the first n bits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i="1" dirty="0"/>
                  <a:t>D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output 1, otherwise, output 0.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6DAEB-63FE-5897-6BF4-D953EFD5C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13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F069-A1E9-8554-9571-F84C7CF5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Brute-force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2F49B-583D-DC3A-FFD6-D34E19600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Distinguisher: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precompute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for all possible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the string is in the table, output 1, otherwise output 0.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r>
                  <a:rPr lang="en-US" b="0" dirty="0"/>
                  <a:t> </a:t>
                </a:r>
              </a:p>
              <a:p>
                <a:endParaRPr lang="en-US" b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2F49B-583D-DC3A-FFD6-D34E19600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91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30626" y="1401219"/>
            <a:ext cx="2126711" cy="1446688"/>
          </a:xfrm>
          <a:custGeom>
            <a:avLst/>
            <a:gdLst/>
            <a:ahLst/>
            <a:cxnLst/>
            <a:rect l="l" t="t" r="r" b="b"/>
            <a:pathLst>
              <a:path w="3507104" h="2385695">
                <a:moveTo>
                  <a:pt x="547037" y="0"/>
                </a:moveTo>
                <a:lnTo>
                  <a:pt x="2959469" y="0"/>
                </a:lnTo>
                <a:lnTo>
                  <a:pt x="3034530" y="124"/>
                </a:lnTo>
                <a:lnTo>
                  <a:pt x="3099782" y="992"/>
                </a:lnTo>
                <a:lnTo>
                  <a:pt x="3156115" y="3350"/>
                </a:lnTo>
                <a:lnTo>
                  <a:pt x="3204422" y="7942"/>
                </a:lnTo>
                <a:lnTo>
                  <a:pt x="3245595" y="15513"/>
                </a:lnTo>
                <a:lnTo>
                  <a:pt x="3325080" y="46831"/>
                </a:lnTo>
                <a:lnTo>
                  <a:pt x="3365816" y="72848"/>
                </a:lnTo>
                <a:lnTo>
                  <a:pt x="3402190" y="104316"/>
                </a:lnTo>
                <a:lnTo>
                  <a:pt x="3433658" y="140690"/>
                </a:lnTo>
                <a:lnTo>
                  <a:pt x="3459676" y="181427"/>
                </a:lnTo>
                <a:lnTo>
                  <a:pt x="3479700" y="225982"/>
                </a:lnTo>
                <a:lnTo>
                  <a:pt x="3498564" y="302084"/>
                </a:lnTo>
                <a:lnTo>
                  <a:pt x="3503156" y="350391"/>
                </a:lnTo>
                <a:lnTo>
                  <a:pt x="3505515" y="406724"/>
                </a:lnTo>
                <a:lnTo>
                  <a:pt x="3506383" y="471976"/>
                </a:lnTo>
                <a:lnTo>
                  <a:pt x="3506507" y="547037"/>
                </a:lnTo>
                <a:lnTo>
                  <a:pt x="3506507" y="1838650"/>
                </a:lnTo>
                <a:lnTo>
                  <a:pt x="3506383" y="1913712"/>
                </a:lnTo>
                <a:lnTo>
                  <a:pt x="3505515" y="1978964"/>
                </a:lnTo>
                <a:lnTo>
                  <a:pt x="3503156" y="2035297"/>
                </a:lnTo>
                <a:lnTo>
                  <a:pt x="3498564" y="2083604"/>
                </a:lnTo>
                <a:lnTo>
                  <a:pt x="3490994" y="2124777"/>
                </a:lnTo>
                <a:lnTo>
                  <a:pt x="3459676" y="2204261"/>
                </a:lnTo>
                <a:lnTo>
                  <a:pt x="3433658" y="2244998"/>
                </a:lnTo>
                <a:lnTo>
                  <a:pt x="3402190" y="2281372"/>
                </a:lnTo>
                <a:lnTo>
                  <a:pt x="3365816" y="2312840"/>
                </a:lnTo>
                <a:lnTo>
                  <a:pt x="3325080" y="2338858"/>
                </a:lnTo>
                <a:lnTo>
                  <a:pt x="3280525" y="2358882"/>
                </a:lnTo>
                <a:lnTo>
                  <a:pt x="3204422" y="2377745"/>
                </a:lnTo>
                <a:lnTo>
                  <a:pt x="3156115" y="2382337"/>
                </a:lnTo>
                <a:lnTo>
                  <a:pt x="3099782" y="2384695"/>
                </a:lnTo>
                <a:lnTo>
                  <a:pt x="3034530" y="2385564"/>
                </a:lnTo>
                <a:lnTo>
                  <a:pt x="2959469" y="2385688"/>
                </a:lnTo>
                <a:lnTo>
                  <a:pt x="547037" y="2385688"/>
                </a:lnTo>
                <a:lnTo>
                  <a:pt x="471976" y="2385564"/>
                </a:lnTo>
                <a:lnTo>
                  <a:pt x="406724" y="2384695"/>
                </a:lnTo>
                <a:lnTo>
                  <a:pt x="350391" y="2382337"/>
                </a:lnTo>
                <a:lnTo>
                  <a:pt x="302084" y="2377745"/>
                </a:lnTo>
                <a:lnTo>
                  <a:pt x="260911" y="2370175"/>
                </a:lnTo>
                <a:lnTo>
                  <a:pt x="181427" y="2338858"/>
                </a:lnTo>
                <a:lnTo>
                  <a:pt x="140690" y="2312840"/>
                </a:lnTo>
                <a:lnTo>
                  <a:pt x="104316" y="2281372"/>
                </a:lnTo>
                <a:lnTo>
                  <a:pt x="72848" y="2244998"/>
                </a:lnTo>
                <a:lnTo>
                  <a:pt x="46831" y="2204261"/>
                </a:lnTo>
                <a:lnTo>
                  <a:pt x="26807" y="2159707"/>
                </a:lnTo>
                <a:lnTo>
                  <a:pt x="7942" y="2083604"/>
                </a:lnTo>
                <a:lnTo>
                  <a:pt x="3350" y="2035297"/>
                </a:lnTo>
                <a:lnTo>
                  <a:pt x="992" y="1978964"/>
                </a:lnTo>
                <a:lnTo>
                  <a:pt x="124" y="1913712"/>
                </a:lnTo>
                <a:lnTo>
                  <a:pt x="0" y="1838650"/>
                </a:lnTo>
                <a:lnTo>
                  <a:pt x="0" y="547037"/>
                </a:lnTo>
                <a:lnTo>
                  <a:pt x="124" y="471976"/>
                </a:lnTo>
                <a:lnTo>
                  <a:pt x="992" y="406724"/>
                </a:lnTo>
                <a:lnTo>
                  <a:pt x="3350" y="350391"/>
                </a:lnTo>
                <a:lnTo>
                  <a:pt x="7942" y="302084"/>
                </a:lnTo>
                <a:lnTo>
                  <a:pt x="15513" y="260911"/>
                </a:lnTo>
                <a:lnTo>
                  <a:pt x="46831" y="181427"/>
                </a:lnTo>
                <a:lnTo>
                  <a:pt x="72848" y="140690"/>
                </a:lnTo>
                <a:lnTo>
                  <a:pt x="104316" y="104316"/>
                </a:lnTo>
                <a:lnTo>
                  <a:pt x="140690" y="72848"/>
                </a:lnTo>
                <a:lnTo>
                  <a:pt x="181427" y="46831"/>
                </a:lnTo>
                <a:lnTo>
                  <a:pt x="225982" y="26807"/>
                </a:lnTo>
                <a:lnTo>
                  <a:pt x="302084" y="7942"/>
                </a:lnTo>
                <a:lnTo>
                  <a:pt x="350391" y="3350"/>
                </a:lnTo>
                <a:lnTo>
                  <a:pt x="406724" y="992"/>
                </a:lnTo>
                <a:lnTo>
                  <a:pt x="471976" y="124"/>
                </a:lnTo>
                <a:lnTo>
                  <a:pt x="547037" y="0"/>
                </a:lnTo>
                <a:close/>
              </a:path>
            </a:pathLst>
          </a:custGeom>
          <a:ln w="188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2188393" y="1935352"/>
            <a:ext cx="21101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-30" dirty="0">
                <a:latin typeface="Calibri"/>
                <a:cs typeface="Calibri"/>
              </a:rPr>
              <a:t>G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4696" y="523844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4"/>
                </a:lnTo>
                <a:lnTo>
                  <a:pt x="300725" y="433184"/>
                </a:lnTo>
                <a:lnTo>
                  <a:pt x="0" y="433415"/>
                </a:lnTo>
                <a:lnTo>
                  <a:pt x="526818" y="1205841"/>
                </a:lnTo>
                <a:lnTo>
                  <a:pt x="1052455" y="432609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6" name="object 6"/>
          <p:cNvGrpSpPr/>
          <p:nvPr/>
        </p:nvGrpSpPr>
        <p:grpSpPr>
          <a:xfrm>
            <a:off x="4975679" y="4368428"/>
            <a:ext cx="2240691" cy="1887201"/>
            <a:chOff x="8204557" y="7203860"/>
            <a:chExt cx="3695065" cy="3112135"/>
          </a:xfrm>
        </p:grpSpPr>
        <p:sp>
          <p:nvSpPr>
            <p:cNvPr id="7" name="object 7"/>
            <p:cNvSpPr/>
            <p:nvPr/>
          </p:nvSpPr>
          <p:spPr>
            <a:xfrm>
              <a:off x="8298795" y="7298098"/>
              <a:ext cx="3507104" cy="2924175"/>
            </a:xfrm>
            <a:custGeom>
              <a:avLst/>
              <a:gdLst/>
              <a:ahLst/>
              <a:cxnLst/>
              <a:rect l="l" t="t" r="r" b="b"/>
              <a:pathLst>
                <a:path w="3507104" h="2924175">
                  <a:moveTo>
                    <a:pt x="547037" y="0"/>
                  </a:moveTo>
                  <a:lnTo>
                    <a:pt x="2959469" y="0"/>
                  </a:lnTo>
                  <a:lnTo>
                    <a:pt x="3034530" y="124"/>
                  </a:lnTo>
                  <a:lnTo>
                    <a:pt x="3099782" y="992"/>
                  </a:lnTo>
                  <a:lnTo>
                    <a:pt x="3156115" y="3350"/>
                  </a:lnTo>
                  <a:lnTo>
                    <a:pt x="3204422" y="7942"/>
                  </a:lnTo>
                  <a:lnTo>
                    <a:pt x="3245595" y="15513"/>
                  </a:lnTo>
                  <a:lnTo>
                    <a:pt x="3325080" y="46831"/>
                  </a:lnTo>
                  <a:lnTo>
                    <a:pt x="3365816" y="72848"/>
                  </a:lnTo>
                  <a:lnTo>
                    <a:pt x="3402190" y="104316"/>
                  </a:lnTo>
                  <a:lnTo>
                    <a:pt x="3433658" y="140690"/>
                  </a:lnTo>
                  <a:lnTo>
                    <a:pt x="3459676" y="181427"/>
                  </a:lnTo>
                  <a:lnTo>
                    <a:pt x="3479700" y="225982"/>
                  </a:lnTo>
                  <a:lnTo>
                    <a:pt x="3498564" y="302084"/>
                  </a:lnTo>
                  <a:lnTo>
                    <a:pt x="3503156" y="350391"/>
                  </a:lnTo>
                  <a:lnTo>
                    <a:pt x="3505515" y="406724"/>
                  </a:lnTo>
                  <a:lnTo>
                    <a:pt x="3506383" y="471976"/>
                  </a:lnTo>
                  <a:lnTo>
                    <a:pt x="3506507" y="547037"/>
                  </a:lnTo>
                  <a:lnTo>
                    <a:pt x="3506507" y="2376600"/>
                  </a:lnTo>
                  <a:lnTo>
                    <a:pt x="3506383" y="2451662"/>
                  </a:lnTo>
                  <a:lnTo>
                    <a:pt x="3505515" y="2516913"/>
                  </a:lnTo>
                  <a:lnTo>
                    <a:pt x="3503156" y="2573247"/>
                  </a:lnTo>
                  <a:lnTo>
                    <a:pt x="3498564" y="2621554"/>
                  </a:lnTo>
                  <a:lnTo>
                    <a:pt x="3490994" y="2662726"/>
                  </a:lnTo>
                  <a:lnTo>
                    <a:pt x="3459676" y="2742211"/>
                  </a:lnTo>
                  <a:lnTo>
                    <a:pt x="3433658" y="2782947"/>
                  </a:lnTo>
                  <a:lnTo>
                    <a:pt x="3402190" y="2819321"/>
                  </a:lnTo>
                  <a:lnTo>
                    <a:pt x="3365816" y="2850789"/>
                  </a:lnTo>
                  <a:lnTo>
                    <a:pt x="3325080" y="2876807"/>
                  </a:lnTo>
                  <a:lnTo>
                    <a:pt x="3280525" y="2896831"/>
                  </a:lnTo>
                  <a:lnTo>
                    <a:pt x="3204422" y="2915695"/>
                  </a:lnTo>
                  <a:lnTo>
                    <a:pt x="3156115" y="2920287"/>
                  </a:lnTo>
                  <a:lnTo>
                    <a:pt x="3099782" y="2922645"/>
                  </a:lnTo>
                  <a:lnTo>
                    <a:pt x="3034530" y="2923514"/>
                  </a:lnTo>
                  <a:lnTo>
                    <a:pt x="2959469" y="2923638"/>
                  </a:lnTo>
                  <a:lnTo>
                    <a:pt x="547037" y="2923638"/>
                  </a:lnTo>
                  <a:lnTo>
                    <a:pt x="471976" y="2923514"/>
                  </a:lnTo>
                  <a:lnTo>
                    <a:pt x="406724" y="2922645"/>
                  </a:lnTo>
                  <a:lnTo>
                    <a:pt x="350391" y="2920287"/>
                  </a:lnTo>
                  <a:lnTo>
                    <a:pt x="302084" y="2915695"/>
                  </a:lnTo>
                  <a:lnTo>
                    <a:pt x="260911" y="2908125"/>
                  </a:lnTo>
                  <a:lnTo>
                    <a:pt x="181427" y="2876807"/>
                  </a:lnTo>
                  <a:lnTo>
                    <a:pt x="140690" y="2850789"/>
                  </a:lnTo>
                  <a:lnTo>
                    <a:pt x="104316" y="2819321"/>
                  </a:lnTo>
                  <a:lnTo>
                    <a:pt x="72848" y="2782947"/>
                  </a:lnTo>
                  <a:lnTo>
                    <a:pt x="46831" y="2742211"/>
                  </a:lnTo>
                  <a:lnTo>
                    <a:pt x="26807" y="2697656"/>
                  </a:lnTo>
                  <a:lnTo>
                    <a:pt x="7942" y="2621554"/>
                  </a:lnTo>
                  <a:lnTo>
                    <a:pt x="3350" y="2573247"/>
                  </a:lnTo>
                  <a:lnTo>
                    <a:pt x="992" y="2516913"/>
                  </a:lnTo>
                  <a:lnTo>
                    <a:pt x="124" y="2451662"/>
                  </a:lnTo>
                  <a:lnTo>
                    <a:pt x="0" y="2376600"/>
                  </a:lnTo>
                  <a:lnTo>
                    <a:pt x="0" y="547037"/>
                  </a:lnTo>
                  <a:lnTo>
                    <a:pt x="124" y="471976"/>
                  </a:lnTo>
                  <a:lnTo>
                    <a:pt x="992" y="406724"/>
                  </a:lnTo>
                  <a:lnTo>
                    <a:pt x="3350" y="350391"/>
                  </a:lnTo>
                  <a:lnTo>
                    <a:pt x="7942" y="302084"/>
                  </a:lnTo>
                  <a:lnTo>
                    <a:pt x="15513" y="260911"/>
                  </a:lnTo>
                  <a:lnTo>
                    <a:pt x="46831" y="181427"/>
                  </a:lnTo>
                  <a:lnTo>
                    <a:pt x="72848" y="140690"/>
                  </a:lnTo>
                  <a:lnTo>
                    <a:pt x="104316" y="104316"/>
                  </a:lnTo>
                  <a:lnTo>
                    <a:pt x="140690" y="72848"/>
                  </a:lnTo>
                  <a:lnTo>
                    <a:pt x="181427" y="46831"/>
                  </a:lnTo>
                  <a:lnTo>
                    <a:pt x="225982" y="26807"/>
                  </a:lnTo>
                  <a:lnTo>
                    <a:pt x="302084" y="7942"/>
                  </a:lnTo>
                  <a:lnTo>
                    <a:pt x="350391" y="3350"/>
                  </a:lnTo>
                  <a:lnTo>
                    <a:pt x="406724" y="992"/>
                  </a:lnTo>
                  <a:lnTo>
                    <a:pt x="471976" y="124"/>
                  </a:lnTo>
                  <a:lnTo>
                    <a:pt x="547037" y="0"/>
                  </a:lnTo>
                  <a:close/>
                </a:path>
              </a:pathLst>
            </a:custGeom>
            <a:ln w="188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10691538" y="9116681"/>
              <a:ext cx="998219" cy="996950"/>
            </a:xfrm>
            <a:custGeom>
              <a:avLst/>
              <a:gdLst/>
              <a:ahLst/>
              <a:cxnLst/>
              <a:rect l="l" t="t" r="r" b="b"/>
              <a:pathLst>
                <a:path w="998220" h="996950">
                  <a:moveTo>
                    <a:pt x="805860" y="759460"/>
                  </a:moveTo>
                  <a:lnTo>
                    <a:pt x="191837" y="759460"/>
                  </a:lnTo>
                  <a:lnTo>
                    <a:pt x="193941" y="762000"/>
                  </a:lnTo>
                  <a:lnTo>
                    <a:pt x="195679" y="764540"/>
                  </a:lnTo>
                  <a:lnTo>
                    <a:pt x="197501" y="765810"/>
                  </a:lnTo>
                  <a:lnTo>
                    <a:pt x="209074" y="778510"/>
                  </a:lnTo>
                  <a:lnTo>
                    <a:pt x="221190" y="791210"/>
                  </a:lnTo>
                  <a:lnTo>
                    <a:pt x="233917" y="801370"/>
                  </a:lnTo>
                  <a:lnTo>
                    <a:pt x="253298" y="817880"/>
                  </a:lnTo>
                  <a:lnTo>
                    <a:pt x="256603" y="822960"/>
                  </a:lnTo>
                  <a:lnTo>
                    <a:pt x="257636" y="829310"/>
                  </a:lnTo>
                  <a:lnTo>
                    <a:pt x="256798" y="836930"/>
                  </a:lnTo>
                  <a:lnTo>
                    <a:pt x="252524" y="858520"/>
                  </a:lnTo>
                  <a:lnTo>
                    <a:pt x="248337" y="880110"/>
                  </a:lnTo>
                  <a:lnTo>
                    <a:pt x="239469" y="922020"/>
                  </a:lnTo>
                  <a:lnTo>
                    <a:pt x="237427" y="930910"/>
                  </a:lnTo>
                  <a:lnTo>
                    <a:pt x="239280" y="934720"/>
                  </a:lnTo>
                  <a:lnTo>
                    <a:pt x="247866" y="938530"/>
                  </a:lnTo>
                  <a:lnTo>
                    <a:pt x="360370" y="980440"/>
                  </a:lnTo>
                  <a:lnTo>
                    <a:pt x="406134" y="996950"/>
                  </a:lnTo>
                  <a:lnTo>
                    <a:pt x="410312" y="996950"/>
                  </a:lnTo>
                  <a:lnTo>
                    <a:pt x="414804" y="988060"/>
                  </a:lnTo>
                  <a:lnTo>
                    <a:pt x="425262" y="969010"/>
                  </a:lnTo>
                  <a:lnTo>
                    <a:pt x="435997" y="949960"/>
                  </a:lnTo>
                  <a:lnTo>
                    <a:pt x="446842" y="932180"/>
                  </a:lnTo>
                  <a:lnTo>
                    <a:pt x="457630" y="913130"/>
                  </a:lnTo>
                  <a:lnTo>
                    <a:pt x="461756" y="906780"/>
                  </a:lnTo>
                  <a:lnTo>
                    <a:pt x="466655" y="902970"/>
                  </a:lnTo>
                  <a:lnTo>
                    <a:pt x="472890" y="900430"/>
                  </a:lnTo>
                  <a:lnTo>
                    <a:pt x="528156" y="900430"/>
                  </a:lnTo>
                  <a:lnTo>
                    <a:pt x="543815" y="899160"/>
                  </a:lnTo>
                  <a:lnTo>
                    <a:pt x="552013" y="897890"/>
                  </a:lnTo>
                  <a:lnTo>
                    <a:pt x="783713" y="897890"/>
                  </a:lnTo>
                  <a:lnTo>
                    <a:pt x="779563" y="882650"/>
                  </a:lnTo>
                  <a:lnTo>
                    <a:pt x="768298" y="839470"/>
                  </a:lnTo>
                  <a:lnTo>
                    <a:pt x="762437" y="819150"/>
                  </a:lnTo>
                  <a:lnTo>
                    <a:pt x="759819" y="810260"/>
                  </a:lnTo>
                  <a:lnTo>
                    <a:pt x="760793" y="803910"/>
                  </a:lnTo>
                  <a:lnTo>
                    <a:pt x="768500" y="797560"/>
                  </a:lnTo>
                  <a:lnTo>
                    <a:pt x="781027" y="786130"/>
                  </a:lnTo>
                  <a:lnTo>
                    <a:pt x="792830" y="774700"/>
                  </a:lnTo>
                  <a:lnTo>
                    <a:pt x="803834" y="762000"/>
                  </a:lnTo>
                  <a:lnTo>
                    <a:pt x="805860" y="759460"/>
                  </a:lnTo>
                  <a:close/>
                </a:path>
                <a:path w="998220" h="996950">
                  <a:moveTo>
                    <a:pt x="783713" y="897890"/>
                  </a:moveTo>
                  <a:lnTo>
                    <a:pt x="552013" y="897890"/>
                  </a:lnTo>
                  <a:lnTo>
                    <a:pt x="558234" y="900430"/>
                  </a:lnTo>
                  <a:lnTo>
                    <a:pt x="563190" y="904240"/>
                  </a:lnTo>
                  <a:lnTo>
                    <a:pt x="567595" y="910590"/>
                  </a:lnTo>
                  <a:lnTo>
                    <a:pt x="579555" y="928370"/>
                  </a:lnTo>
                  <a:lnTo>
                    <a:pt x="603697" y="963930"/>
                  </a:lnTo>
                  <a:lnTo>
                    <a:pt x="615551" y="981710"/>
                  </a:lnTo>
                  <a:lnTo>
                    <a:pt x="620054" y="989330"/>
                  </a:lnTo>
                  <a:lnTo>
                    <a:pt x="623572" y="990600"/>
                  </a:lnTo>
                  <a:lnTo>
                    <a:pt x="631164" y="986790"/>
                  </a:lnTo>
                  <a:lnTo>
                    <a:pt x="704733" y="953770"/>
                  </a:lnTo>
                  <a:lnTo>
                    <a:pt x="741621" y="935990"/>
                  </a:lnTo>
                  <a:lnTo>
                    <a:pt x="778594" y="920750"/>
                  </a:lnTo>
                  <a:lnTo>
                    <a:pt x="787525" y="915670"/>
                  </a:lnTo>
                  <a:lnTo>
                    <a:pt x="787798" y="911860"/>
                  </a:lnTo>
                  <a:lnTo>
                    <a:pt x="785442" y="904240"/>
                  </a:lnTo>
                  <a:lnTo>
                    <a:pt x="783713" y="897890"/>
                  </a:lnTo>
                  <a:close/>
                </a:path>
                <a:path w="998220" h="996950">
                  <a:moveTo>
                    <a:pt x="528156" y="900430"/>
                  </a:moveTo>
                  <a:lnTo>
                    <a:pt x="481022" y="900430"/>
                  </a:lnTo>
                  <a:lnTo>
                    <a:pt x="496711" y="901700"/>
                  </a:lnTo>
                  <a:lnTo>
                    <a:pt x="512497" y="901700"/>
                  </a:lnTo>
                  <a:lnTo>
                    <a:pt x="528156" y="900430"/>
                  </a:lnTo>
                  <a:close/>
                </a:path>
                <a:path w="998220" h="996950">
                  <a:moveTo>
                    <a:pt x="66668" y="237490"/>
                  </a:moveTo>
                  <a:lnTo>
                    <a:pt x="62783" y="238760"/>
                  </a:lnTo>
                  <a:lnTo>
                    <a:pt x="45696" y="284480"/>
                  </a:lnTo>
                  <a:lnTo>
                    <a:pt x="31646" y="322580"/>
                  </a:lnTo>
                  <a:lnTo>
                    <a:pt x="17485" y="359410"/>
                  </a:lnTo>
                  <a:lnTo>
                    <a:pt x="3214" y="397510"/>
                  </a:lnTo>
                  <a:lnTo>
                    <a:pt x="0" y="405130"/>
                  </a:lnTo>
                  <a:lnTo>
                    <a:pt x="1298" y="410210"/>
                  </a:lnTo>
                  <a:lnTo>
                    <a:pt x="9580" y="414020"/>
                  </a:lnTo>
                  <a:lnTo>
                    <a:pt x="28478" y="425450"/>
                  </a:lnTo>
                  <a:lnTo>
                    <a:pt x="47225" y="435610"/>
                  </a:lnTo>
                  <a:lnTo>
                    <a:pt x="65918" y="447040"/>
                  </a:lnTo>
                  <a:lnTo>
                    <a:pt x="84657" y="457200"/>
                  </a:lnTo>
                  <a:lnTo>
                    <a:pt x="90703" y="461010"/>
                  </a:lnTo>
                  <a:lnTo>
                    <a:pt x="94799" y="466090"/>
                  </a:lnTo>
                  <a:lnTo>
                    <a:pt x="96894" y="472440"/>
                  </a:lnTo>
                  <a:lnTo>
                    <a:pt x="96939" y="481330"/>
                  </a:lnTo>
                  <a:lnTo>
                    <a:pt x="95837" y="496570"/>
                  </a:lnTo>
                  <a:lnTo>
                    <a:pt x="95936" y="513080"/>
                  </a:lnTo>
                  <a:lnTo>
                    <a:pt x="97139" y="529590"/>
                  </a:lnTo>
                  <a:lnTo>
                    <a:pt x="99347" y="544830"/>
                  </a:lnTo>
                  <a:lnTo>
                    <a:pt x="100970" y="554990"/>
                  </a:lnTo>
                  <a:lnTo>
                    <a:pt x="98070" y="560070"/>
                  </a:lnTo>
                  <a:lnTo>
                    <a:pt x="89944" y="565150"/>
                  </a:lnTo>
                  <a:lnTo>
                    <a:pt x="33818" y="603250"/>
                  </a:lnTo>
                  <a:lnTo>
                    <a:pt x="15025" y="614680"/>
                  </a:lnTo>
                  <a:lnTo>
                    <a:pt x="7874" y="619760"/>
                  </a:lnTo>
                  <a:lnTo>
                    <a:pt x="7319" y="623570"/>
                  </a:lnTo>
                  <a:lnTo>
                    <a:pt x="44422" y="704850"/>
                  </a:lnTo>
                  <a:lnTo>
                    <a:pt x="61029" y="741680"/>
                  </a:lnTo>
                  <a:lnTo>
                    <a:pt x="77432" y="778510"/>
                  </a:lnTo>
                  <a:lnTo>
                    <a:pt x="81421" y="787400"/>
                  </a:lnTo>
                  <a:lnTo>
                    <a:pt x="85547" y="787400"/>
                  </a:lnTo>
                  <a:lnTo>
                    <a:pt x="93672" y="784860"/>
                  </a:lnTo>
                  <a:lnTo>
                    <a:pt x="114921" y="778510"/>
                  </a:lnTo>
                  <a:lnTo>
                    <a:pt x="136236" y="773430"/>
                  </a:lnTo>
                  <a:lnTo>
                    <a:pt x="183156" y="760730"/>
                  </a:lnTo>
                  <a:lnTo>
                    <a:pt x="187439" y="760730"/>
                  </a:lnTo>
                  <a:lnTo>
                    <a:pt x="191837" y="759460"/>
                  </a:lnTo>
                  <a:lnTo>
                    <a:pt x="805860" y="759460"/>
                  </a:lnTo>
                  <a:lnTo>
                    <a:pt x="813964" y="749300"/>
                  </a:lnTo>
                  <a:lnTo>
                    <a:pt x="819096" y="744220"/>
                  </a:lnTo>
                  <a:lnTo>
                    <a:pt x="824546" y="740410"/>
                  </a:lnTo>
                  <a:lnTo>
                    <a:pt x="941670" y="740410"/>
                  </a:lnTo>
                  <a:lnTo>
                    <a:pt x="946476" y="727710"/>
                  </a:lnTo>
                  <a:lnTo>
                    <a:pt x="498969" y="727710"/>
                  </a:lnTo>
                  <a:lnTo>
                    <a:pt x="452833" y="722630"/>
                  </a:lnTo>
                  <a:lnTo>
                    <a:pt x="409858" y="709930"/>
                  </a:lnTo>
                  <a:lnTo>
                    <a:pt x="370967" y="688340"/>
                  </a:lnTo>
                  <a:lnTo>
                    <a:pt x="337081" y="660400"/>
                  </a:lnTo>
                  <a:lnTo>
                    <a:pt x="309121" y="626110"/>
                  </a:lnTo>
                  <a:lnTo>
                    <a:pt x="288008" y="588010"/>
                  </a:lnTo>
                  <a:lnTo>
                    <a:pt x="274665" y="544830"/>
                  </a:lnTo>
                  <a:lnTo>
                    <a:pt x="270012" y="499110"/>
                  </a:lnTo>
                  <a:lnTo>
                    <a:pt x="274665" y="452120"/>
                  </a:lnTo>
                  <a:lnTo>
                    <a:pt x="288008" y="408940"/>
                  </a:lnTo>
                  <a:lnTo>
                    <a:pt x="309121" y="370840"/>
                  </a:lnTo>
                  <a:lnTo>
                    <a:pt x="337081" y="336550"/>
                  </a:lnTo>
                  <a:lnTo>
                    <a:pt x="370967" y="308610"/>
                  </a:lnTo>
                  <a:lnTo>
                    <a:pt x="409858" y="287020"/>
                  </a:lnTo>
                  <a:lnTo>
                    <a:pt x="452833" y="274320"/>
                  </a:lnTo>
                  <a:lnTo>
                    <a:pt x="498969" y="269240"/>
                  </a:lnTo>
                  <a:lnTo>
                    <a:pt x="943286" y="269240"/>
                  </a:lnTo>
                  <a:lnTo>
                    <a:pt x="937561" y="256540"/>
                  </a:lnTo>
                  <a:lnTo>
                    <a:pt x="160434" y="256540"/>
                  </a:lnTo>
                  <a:lnTo>
                    <a:pt x="139238" y="251460"/>
                  </a:lnTo>
                  <a:lnTo>
                    <a:pt x="96839" y="243840"/>
                  </a:lnTo>
                  <a:lnTo>
                    <a:pt x="75725" y="238760"/>
                  </a:lnTo>
                  <a:lnTo>
                    <a:pt x="66668" y="237490"/>
                  </a:lnTo>
                  <a:close/>
                </a:path>
                <a:path w="998220" h="996950">
                  <a:moveTo>
                    <a:pt x="941670" y="740410"/>
                  </a:moveTo>
                  <a:lnTo>
                    <a:pt x="837429" y="740410"/>
                  </a:lnTo>
                  <a:lnTo>
                    <a:pt x="858621" y="745490"/>
                  </a:lnTo>
                  <a:lnTo>
                    <a:pt x="901024" y="753110"/>
                  </a:lnTo>
                  <a:lnTo>
                    <a:pt x="922139" y="758190"/>
                  </a:lnTo>
                  <a:lnTo>
                    <a:pt x="931144" y="759460"/>
                  </a:lnTo>
                  <a:lnTo>
                    <a:pt x="935133" y="758190"/>
                  </a:lnTo>
                  <a:lnTo>
                    <a:pt x="938306" y="749300"/>
                  </a:lnTo>
                  <a:lnTo>
                    <a:pt x="941670" y="740410"/>
                  </a:lnTo>
                  <a:close/>
                </a:path>
                <a:path w="998220" h="996950">
                  <a:moveTo>
                    <a:pt x="943286" y="269240"/>
                  </a:moveTo>
                  <a:lnTo>
                    <a:pt x="498969" y="269240"/>
                  </a:lnTo>
                  <a:lnTo>
                    <a:pt x="545108" y="274320"/>
                  </a:lnTo>
                  <a:lnTo>
                    <a:pt x="588083" y="287020"/>
                  </a:lnTo>
                  <a:lnTo>
                    <a:pt x="626974" y="308610"/>
                  </a:lnTo>
                  <a:lnTo>
                    <a:pt x="660860" y="336550"/>
                  </a:lnTo>
                  <a:lnTo>
                    <a:pt x="688819" y="370840"/>
                  </a:lnTo>
                  <a:lnTo>
                    <a:pt x="709931" y="408940"/>
                  </a:lnTo>
                  <a:lnTo>
                    <a:pt x="723273" y="452120"/>
                  </a:lnTo>
                  <a:lnTo>
                    <a:pt x="727925" y="499110"/>
                  </a:lnTo>
                  <a:lnTo>
                    <a:pt x="723273" y="544830"/>
                  </a:lnTo>
                  <a:lnTo>
                    <a:pt x="709931" y="588010"/>
                  </a:lnTo>
                  <a:lnTo>
                    <a:pt x="688819" y="626110"/>
                  </a:lnTo>
                  <a:lnTo>
                    <a:pt x="660860" y="660400"/>
                  </a:lnTo>
                  <a:lnTo>
                    <a:pt x="626974" y="688340"/>
                  </a:lnTo>
                  <a:lnTo>
                    <a:pt x="588083" y="709930"/>
                  </a:lnTo>
                  <a:lnTo>
                    <a:pt x="545108" y="722630"/>
                  </a:lnTo>
                  <a:lnTo>
                    <a:pt x="498969" y="727710"/>
                  </a:lnTo>
                  <a:lnTo>
                    <a:pt x="946476" y="727710"/>
                  </a:lnTo>
                  <a:lnTo>
                    <a:pt x="952243" y="712470"/>
                  </a:lnTo>
                  <a:lnTo>
                    <a:pt x="966296" y="674370"/>
                  </a:lnTo>
                  <a:lnTo>
                    <a:pt x="980461" y="637540"/>
                  </a:lnTo>
                  <a:lnTo>
                    <a:pt x="997917" y="591820"/>
                  </a:lnTo>
                  <a:lnTo>
                    <a:pt x="996765" y="586740"/>
                  </a:lnTo>
                  <a:lnTo>
                    <a:pt x="988441" y="582930"/>
                  </a:lnTo>
                  <a:lnTo>
                    <a:pt x="969540" y="572770"/>
                  </a:lnTo>
                  <a:lnTo>
                    <a:pt x="950789" y="561340"/>
                  </a:lnTo>
                  <a:lnTo>
                    <a:pt x="932094" y="551180"/>
                  </a:lnTo>
                  <a:lnTo>
                    <a:pt x="913364" y="539750"/>
                  </a:lnTo>
                  <a:lnTo>
                    <a:pt x="907331" y="535940"/>
                  </a:lnTo>
                  <a:lnTo>
                    <a:pt x="903196" y="530860"/>
                  </a:lnTo>
                  <a:lnTo>
                    <a:pt x="901053" y="524510"/>
                  </a:lnTo>
                  <a:lnTo>
                    <a:pt x="900998" y="516890"/>
                  </a:lnTo>
                  <a:lnTo>
                    <a:pt x="902119" y="500380"/>
                  </a:lnTo>
                  <a:lnTo>
                    <a:pt x="902013" y="483870"/>
                  </a:lnTo>
                  <a:lnTo>
                    <a:pt x="900797" y="467360"/>
                  </a:lnTo>
                  <a:lnTo>
                    <a:pt x="898590" y="452120"/>
                  </a:lnTo>
                  <a:lnTo>
                    <a:pt x="896988" y="441960"/>
                  </a:lnTo>
                  <a:lnTo>
                    <a:pt x="899826" y="436880"/>
                  </a:lnTo>
                  <a:lnTo>
                    <a:pt x="907993" y="431800"/>
                  </a:lnTo>
                  <a:lnTo>
                    <a:pt x="964063" y="393700"/>
                  </a:lnTo>
                  <a:lnTo>
                    <a:pt x="982839" y="382270"/>
                  </a:lnTo>
                  <a:lnTo>
                    <a:pt x="989927" y="377190"/>
                  </a:lnTo>
                  <a:lnTo>
                    <a:pt x="990744" y="373380"/>
                  </a:lnTo>
                  <a:lnTo>
                    <a:pt x="987268" y="365760"/>
                  </a:lnTo>
                  <a:lnTo>
                    <a:pt x="970362" y="328930"/>
                  </a:lnTo>
                  <a:lnTo>
                    <a:pt x="953591" y="292100"/>
                  </a:lnTo>
                  <a:lnTo>
                    <a:pt x="943286" y="269240"/>
                  </a:lnTo>
                  <a:close/>
                </a:path>
                <a:path w="998220" h="996950">
                  <a:moveTo>
                    <a:pt x="374302" y="6350"/>
                  </a:moveTo>
                  <a:lnTo>
                    <a:pt x="330009" y="26670"/>
                  </a:lnTo>
                  <a:lnTo>
                    <a:pt x="293171" y="44450"/>
                  </a:lnTo>
                  <a:lnTo>
                    <a:pt x="219270" y="77470"/>
                  </a:lnTo>
                  <a:lnTo>
                    <a:pt x="210244" y="81280"/>
                  </a:lnTo>
                  <a:lnTo>
                    <a:pt x="210255" y="85090"/>
                  </a:lnTo>
                  <a:lnTo>
                    <a:pt x="212579" y="92710"/>
                  </a:lnTo>
                  <a:lnTo>
                    <a:pt x="218440" y="114300"/>
                  </a:lnTo>
                  <a:lnTo>
                    <a:pt x="229706" y="157480"/>
                  </a:lnTo>
                  <a:lnTo>
                    <a:pt x="235584" y="177800"/>
                  </a:lnTo>
                  <a:lnTo>
                    <a:pt x="238223" y="187960"/>
                  </a:lnTo>
                  <a:lnTo>
                    <a:pt x="237113" y="193040"/>
                  </a:lnTo>
                  <a:lnTo>
                    <a:pt x="229448" y="199390"/>
                  </a:lnTo>
                  <a:lnTo>
                    <a:pt x="216928" y="210820"/>
                  </a:lnTo>
                  <a:lnTo>
                    <a:pt x="205135" y="222250"/>
                  </a:lnTo>
                  <a:lnTo>
                    <a:pt x="194150" y="234950"/>
                  </a:lnTo>
                  <a:lnTo>
                    <a:pt x="184057" y="247650"/>
                  </a:lnTo>
                  <a:lnTo>
                    <a:pt x="178852" y="254000"/>
                  </a:lnTo>
                  <a:lnTo>
                    <a:pt x="173321" y="256540"/>
                  </a:lnTo>
                  <a:lnTo>
                    <a:pt x="937561" y="256540"/>
                  </a:lnTo>
                  <a:lnTo>
                    <a:pt x="929068" y="237490"/>
                  </a:lnTo>
                  <a:lnTo>
                    <a:pt x="809598" y="237490"/>
                  </a:lnTo>
                  <a:lnTo>
                    <a:pt x="804425" y="236220"/>
                  </a:lnTo>
                  <a:lnTo>
                    <a:pt x="776277" y="205740"/>
                  </a:lnTo>
                  <a:lnTo>
                    <a:pt x="750615" y="185420"/>
                  </a:lnTo>
                  <a:lnTo>
                    <a:pt x="744685" y="179070"/>
                  </a:lnTo>
                  <a:lnTo>
                    <a:pt x="741370" y="173990"/>
                  </a:lnTo>
                  <a:lnTo>
                    <a:pt x="740308" y="167640"/>
                  </a:lnTo>
                  <a:lnTo>
                    <a:pt x="741139" y="160020"/>
                  </a:lnTo>
                  <a:lnTo>
                    <a:pt x="745431" y="138430"/>
                  </a:lnTo>
                  <a:lnTo>
                    <a:pt x="749615" y="118110"/>
                  </a:lnTo>
                  <a:lnTo>
                    <a:pt x="753139" y="100330"/>
                  </a:lnTo>
                  <a:lnTo>
                    <a:pt x="442782" y="100330"/>
                  </a:lnTo>
                  <a:lnTo>
                    <a:pt x="437326" y="97790"/>
                  </a:lnTo>
                  <a:lnTo>
                    <a:pt x="432060" y="88900"/>
                  </a:lnTo>
                  <a:lnTo>
                    <a:pt x="419767" y="71120"/>
                  </a:lnTo>
                  <a:lnTo>
                    <a:pt x="394724" y="33020"/>
                  </a:lnTo>
                  <a:lnTo>
                    <a:pt x="382396" y="15240"/>
                  </a:lnTo>
                  <a:lnTo>
                    <a:pt x="377852" y="7620"/>
                  </a:lnTo>
                  <a:lnTo>
                    <a:pt x="374302" y="6350"/>
                  </a:lnTo>
                  <a:close/>
                </a:path>
                <a:path w="998220" h="996950">
                  <a:moveTo>
                    <a:pt x="916621" y="209550"/>
                  </a:moveTo>
                  <a:lnTo>
                    <a:pt x="912485" y="209550"/>
                  </a:lnTo>
                  <a:lnTo>
                    <a:pt x="904349" y="212090"/>
                  </a:lnTo>
                  <a:lnTo>
                    <a:pt x="882689" y="218440"/>
                  </a:lnTo>
                  <a:lnTo>
                    <a:pt x="839219" y="229870"/>
                  </a:lnTo>
                  <a:lnTo>
                    <a:pt x="817535" y="234950"/>
                  </a:lnTo>
                  <a:lnTo>
                    <a:pt x="809598" y="237490"/>
                  </a:lnTo>
                  <a:lnTo>
                    <a:pt x="929068" y="237490"/>
                  </a:lnTo>
                  <a:lnTo>
                    <a:pt x="916621" y="209550"/>
                  </a:lnTo>
                  <a:close/>
                </a:path>
                <a:path w="998220" h="996950">
                  <a:moveTo>
                    <a:pt x="500761" y="95250"/>
                  </a:moveTo>
                  <a:lnTo>
                    <a:pt x="484609" y="95250"/>
                  </a:lnTo>
                  <a:lnTo>
                    <a:pt x="468467" y="96520"/>
                  </a:lnTo>
                  <a:lnTo>
                    <a:pt x="452415" y="99060"/>
                  </a:lnTo>
                  <a:lnTo>
                    <a:pt x="442782" y="100330"/>
                  </a:lnTo>
                  <a:lnTo>
                    <a:pt x="753139" y="100330"/>
                  </a:lnTo>
                  <a:lnTo>
                    <a:pt x="753894" y="96520"/>
                  </a:lnTo>
                  <a:lnTo>
                    <a:pt x="516842" y="96520"/>
                  </a:lnTo>
                  <a:lnTo>
                    <a:pt x="500761" y="95250"/>
                  </a:lnTo>
                  <a:close/>
                </a:path>
                <a:path w="998220" h="996950">
                  <a:moveTo>
                    <a:pt x="589720" y="0"/>
                  </a:moveTo>
                  <a:lnTo>
                    <a:pt x="586505" y="2540"/>
                  </a:lnTo>
                  <a:lnTo>
                    <a:pt x="583144" y="8890"/>
                  </a:lnTo>
                  <a:lnTo>
                    <a:pt x="572677" y="27940"/>
                  </a:lnTo>
                  <a:lnTo>
                    <a:pt x="551091" y="66040"/>
                  </a:lnTo>
                  <a:lnTo>
                    <a:pt x="524938" y="96520"/>
                  </a:lnTo>
                  <a:lnTo>
                    <a:pt x="753894" y="96520"/>
                  </a:lnTo>
                  <a:lnTo>
                    <a:pt x="758469" y="74930"/>
                  </a:lnTo>
                  <a:lnTo>
                    <a:pt x="760521" y="66040"/>
                  </a:lnTo>
                  <a:lnTo>
                    <a:pt x="758647" y="62230"/>
                  </a:lnTo>
                  <a:lnTo>
                    <a:pt x="712534" y="45720"/>
                  </a:lnTo>
                  <a:lnTo>
                    <a:pt x="675033" y="31750"/>
                  </a:lnTo>
                  <a:lnTo>
                    <a:pt x="637573" y="16510"/>
                  </a:lnTo>
                  <a:lnTo>
                    <a:pt x="598076" y="2540"/>
                  </a:lnTo>
                  <a:lnTo>
                    <a:pt x="596285" y="1270"/>
                  </a:lnTo>
                  <a:lnTo>
                    <a:pt x="594641" y="1270"/>
                  </a:lnTo>
                  <a:lnTo>
                    <a:pt x="589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2435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111011000110110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64388" y="4416149"/>
            <a:ext cx="1907225" cy="966127"/>
          </a:xfrm>
          <a:custGeom>
            <a:avLst/>
            <a:gdLst/>
            <a:ahLst/>
            <a:cxnLst/>
            <a:rect l="l" t="t" r="r" b="b"/>
            <a:pathLst>
              <a:path w="3145155" h="1593215">
                <a:moveTo>
                  <a:pt x="2984924" y="0"/>
                </a:moveTo>
                <a:lnTo>
                  <a:pt x="642378" y="889874"/>
                </a:lnTo>
                <a:lnTo>
                  <a:pt x="535585" y="608747"/>
                </a:lnTo>
                <a:lnTo>
                  <a:pt x="0" y="1375122"/>
                </a:lnTo>
                <a:lnTo>
                  <a:pt x="909333" y="1592608"/>
                </a:lnTo>
                <a:lnTo>
                  <a:pt x="802541" y="1311482"/>
                </a:lnTo>
                <a:lnTo>
                  <a:pt x="3145087" y="421608"/>
                </a:lnTo>
                <a:lnTo>
                  <a:pt x="2984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 txBox="1"/>
          <p:nvPr/>
        </p:nvSpPr>
        <p:spPr>
          <a:xfrm>
            <a:off x="82081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101101111011001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74696" y="2994055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5"/>
                </a:lnTo>
                <a:lnTo>
                  <a:pt x="300725" y="433185"/>
                </a:lnTo>
                <a:lnTo>
                  <a:pt x="0" y="433415"/>
                </a:lnTo>
                <a:lnTo>
                  <a:pt x="526818" y="1205842"/>
                </a:lnTo>
                <a:lnTo>
                  <a:pt x="1052455" y="432610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7264388" y="5464267"/>
            <a:ext cx="2946514" cy="1393549"/>
          </a:xfrm>
          <a:custGeom>
            <a:avLst/>
            <a:gdLst/>
            <a:ahLst/>
            <a:cxnLst/>
            <a:rect l="l" t="t" r="r" b="b"/>
            <a:pathLst>
              <a:path w="4859019" h="2298065">
                <a:moveTo>
                  <a:pt x="0" y="107981"/>
                </a:moveTo>
                <a:lnTo>
                  <a:pt x="675696" y="628253"/>
                </a:lnTo>
                <a:lnTo>
                  <a:pt x="638308" y="668079"/>
                </a:lnTo>
                <a:lnTo>
                  <a:pt x="603755" y="708733"/>
                </a:lnTo>
                <a:lnTo>
                  <a:pt x="572117" y="750182"/>
                </a:lnTo>
                <a:lnTo>
                  <a:pt x="543471" y="792391"/>
                </a:lnTo>
                <a:lnTo>
                  <a:pt x="517899" y="835327"/>
                </a:lnTo>
                <a:lnTo>
                  <a:pt x="495479" y="878958"/>
                </a:lnTo>
                <a:lnTo>
                  <a:pt x="476291" y="923248"/>
                </a:lnTo>
                <a:lnTo>
                  <a:pt x="460413" y="968165"/>
                </a:lnTo>
                <a:lnTo>
                  <a:pt x="447926" y="1013676"/>
                </a:lnTo>
                <a:lnTo>
                  <a:pt x="438908" y="1059746"/>
                </a:lnTo>
                <a:lnTo>
                  <a:pt x="433439" y="1106343"/>
                </a:lnTo>
                <a:lnTo>
                  <a:pt x="431599" y="1153432"/>
                </a:lnTo>
                <a:lnTo>
                  <a:pt x="432449" y="1185714"/>
                </a:lnTo>
                <a:lnTo>
                  <a:pt x="439184" y="1249605"/>
                </a:lnTo>
                <a:lnTo>
                  <a:pt x="452485" y="1312526"/>
                </a:lnTo>
                <a:lnTo>
                  <a:pt x="472173" y="1374382"/>
                </a:lnTo>
                <a:lnTo>
                  <a:pt x="498071" y="1435082"/>
                </a:lnTo>
                <a:lnTo>
                  <a:pt x="530003" y="1494534"/>
                </a:lnTo>
                <a:lnTo>
                  <a:pt x="567790" y="1552645"/>
                </a:lnTo>
                <a:lnTo>
                  <a:pt x="611254" y="1609322"/>
                </a:lnTo>
                <a:lnTo>
                  <a:pt x="660220" y="1664473"/>
                </a:lnTo>
                <a:lnTo>
                  <a:pt x="714508" y="1718006"/>
                </a:lnTo>
                <a:lnTo>
                  <a:pt x="743593" y="1744137"/>
                </a:lnTo>
                <a:lnTo>
                  <a:pt x="773942" y="1769829"/>
                </a:lnTo>
                <a:lnTo>
                  <a:pt x="805534" y="1795069"/>
                </a:lnTo>
                <a:lnTo>
                  <a:pt x="838345" y="1819848"/>
                </a:lnTo>
                <a:lnTo>
                  <a:pt x="872354" y="1844153"/>
                </a:lnTo>
                <a:lnTo>
                  <a:pt x="907538" y="1867972"/>
                </a:lnTo>
                <a:lnTo>
                  <a:pt x="943876" y="1891294"/>
                </a:lnTo>
                <a:lnTo>
                  <a:pt x="981345" y="1914108"/>
                </a:lnTo>
                <a:lnTo>
                  <a:pt x="1019922" y="1936402"/>
                </a:lnTo>
                <a:lnTo>
                  <a:pt x="1059587" y="1958164"/>
                </a:lnTo>
                <a:lnTo>
                  <a:pt x="1100316" y="1979383"/>
                </a:lnTo>
                <a:lnTo>
                  <a:pt x="1142088" y="2000047"/>
                </a:lnTo>
                <a:lnTo>
                  <a:pt x="1184880" y="2020145"/>
                </a:lnTo>
                <a:lnTo>
                  <a:pt x="1228670" y="2039665"/>
                </a:lnTo>
                <a:lnTo>
                  <a:pt x="1273436" y="2058596"/>
                </a:lnTo>
                <a:lnTo>
                  <a:pt x="1319156" y="2076926"/>
                </a:lnTo>
                <a:lnTo>
                  <a:pt x="1365807" y="2094643"/>
                </a:lnTo>
                <a:lnTo>
                  <a:pt x="1413368" y="2111737"/>
                </a:lnTo>
                <a:lnTo>
                  <a:pt x="1461816" y="2128195"/>
                </a:lnTo>
                <a:lnTo>
                  <a:pt x="1511129" y="2144005"/>
                </a:lnTo>
                <a:lnTo>
                  <a:pt x="1561285" y="2159157"/>
                </a:lnTo>
                <a:lnTo>
                  <a:pt x="1612261" y="2173639"/>
                </a:lnTo>
                <a:lnTo>
                  <a:pt x="1664036" y="2187439"/>
                </a:lnTo>
                <a:lnTo>
                  <a:pt x="1716587" y="2200546"/>
                </a:lnTo>
                <a:lnTo>
                  <a:pt x="1769892" y="2212948"/>
                </a:lnTo>
                <a:lnTo>
                  <a:pt x="1823929" y="2224634"/>
                </a:lnTo>
                <a:lnTo>
                  <a:pt x="1878676" y="2235591"/>
                </a:lnTo>
                <a:lnTo>
                  <a:pt x="1934111" y="2245809"/>
                </a:lnTo>
                <a:lnTo>
                  <a:pt x="1990211" y="2255276"/>
                </a:lnTo>
                <a:lnTo>
                  <a:pt x="2046954" y="2263980"/>
                </a:lnTo>
                <a:lnTo>
                  <a:pt x="2104318" y="2271911"/>
                </a:lnTo>
                <a:lnTo>
                  <a:pt x="2162281" y="2279055"/>
                </a:lnTo>
                <a:lnTo>
                  <a:pt x="2220821" y="2285402"/>
                </a:lnTo>
                <a:lnTo>
                  <a:pt x="2279915" y="2290941"/>
                </a:lnTo>
                <a:lnTo>
                  <a:pt x="2339541" y="2295659"/>
                </a:lnTo>
                <a:lnTo>
                  <a:pt x="2369206" y="2297576"/>
                </a:lnTo>
                <a:lnTo>
                  <a:pt x="2920564" y="2297576"/>
                </a:lnTo>
                <a:lnTo>
                  <a:pt x="3009859" y="2290941"/>
                </a:lnTo>
                <a:lnTo>
                  <a:pt x="3068957" y="2285402"/>
                </a:lnTo>
                <a:lnTo>
                  <a:pt x="3127500" y="2279055"/>
                </a:lnTo>
                <a:lnTo>
                  <a:pt x="3185467" y="2271911"/>
                </a:lnTo>
                <a:lnTo>
                  <a:pt x="3242836" y="2263980"/>
                </a:lnTo>
                <a:lnTo>
                  <a:pt x="3299584" y="2255276"/>
                </a:lnTo>
                <a:lnTo>
                  <a:pt x="3355689" y="2245809"/>
                </a:lnTo>
                <a:lnTo>
                  <a:pt x="3411129" y="2235591"/>
                </a:lnTo>
                <a:lnTo>
                  <a:pt x="3465882" y="2224634"/>
                </a:lnTo>
                <a:lnTo>
                  <a:pt x="3519925" y="2212948"/>
                </a:lnTo>
                <a:lnTo>
                  <a:pt x="3573237" y="2200546"/>
                </a:lnTo>
                <a:lnTo>
                  <a:pt x="3625794" y="2187439"/>
                </a:lnTo>
                <a:lnTo>
                  <a:pt x="3677576" y="2173639"/>
                </a:lnTo>
                <a:lnTo>
                  <a:pt x="3728560" y="2159157"/>
                </a:lnTo>
                <a:lnTo>
                  <a:pt x="3778723" y="2144005"/>
                </a:lnTo>
                <a:lnTo>
                  <a:pt x="3828043" y="2128195"/>
                </a:lnTo>
                <a:lnTo>
                  <a:pt x="3876498" y="2111737"/>
                </a:lnTo>
                <a:lnTo>
                  <a:pt x="3924067" y="2094643"/>
                </a:lnTo>
                <a:lnTo>
                  <a:pt x="3970726" y="2076926"/>
                </a:lnTo>
                <a:lnTo>
                  <a:pt x="4016454" y="2058596"/>
                </a:lnTo>
                <a:lnTo>
                  <a:pt x="4061228" y="2039665"/>
                </a:lnTo>
                <a:lnTo>
                  <a:pt x="4105026" y="2020145"/>
                </a:lnTo>
                <a:lnTo>
                  <a:pt x="4147827" y="2000047"/>
                </a:lnTo>
                <a:lnTo>
                  <a:pt x="4189607" y="1979383"/>
                </a:lnTo>
                <a:lnTo>
                  <a:pt x="4230344" y="1958164"/>
                </a:lnTo>
                <a:lnTo>
                  <a:pt x="4270017" y="1936402"/>
                </a:lnTo>
                <a:lnTo>
                  <a:pt x="4308603" y="1914108"/>
                </a:lnTo>
                <a:lnTo>
                  <a:pt x="4346080" y="1891294"/>
                </a:lnTo>
                <a:lnTo>
                  <a:pt x="4382426" y="1867972"/>
                </a:lnTo>
                <a:lnTo>
                  <a:pt x="4417618" y="1844153"/>
                </a:lnTo>
                <a:lnTo>
                  <a:pt x="4451635" y="1819848"/>
                </a:lnTo>
                <a:lnTo>
                  <a:pt x="4484454" y="1795069"/>
                </a:lnTo>
                <a:lnTo>
                  <a:pt x="4516053" y="1769829"/>
                </a:lnTo>
                <a:lnTo>
                  <a:pt x="4546410" y="1744137"/>
                </a:lnTo>
                <a:lnTo>
                  <a:pt x="4575502" y="1718006"/>
                </a:lnTo>
                <a:lnTo>
                  <a:pt x="4603308" y="1691448"/>
                </a:lnTo>
                <a:lnTo>
                  <a:pt x="4654970" y="1637094"/>
                </a:lnTo>
                <a:lnTo>
                  <a:pt x="4701220" y="1581168"/>
                </a:lnTo>
                <a:lnTo>
                  <a:pt x="4741879" y="1523763"/>
                </a:lnTo>
                <a:lnTo>
                  <a:pt x="4776770" y="1464970"/>
                </a:lnTo>
                <a:lnTo>
                  <a:pt x="4805716" y="1404883"/>
                </a:lnTo>
                <a:lnTo>
                  <a:pt x="4828538" y="1343593"/>
                </a:lnTo>
                <a:lnTo>
                  <a:pt x="4845060" y="1281193"/>
                </a:lnTo>
                <a:lnTo>
                  <a:pt x="4855103" y="1217775"/>
                </a:lnTo>
                <a:lnTo>
                  <a:pt x="4858490" y="1153432"/>
                </a:lnTo>
                <a:lnTo>
                  <a:pt x="4857640" y="1121151"/>
                </a:lnTo>
                <a:lnTo>
                  <a:pt x="4850902" y="1057257"/>
                </a:lnTo>
                <a:lnTo>
                  <a:pt x="4837598" y="994333"/>
                </a:lnTo>
                <a:lnTo>
                  <a:pt x="4817904" y="932470"/>
                </a:lnTo>
                <a:lnTo>
                  <a:pt x="4791997" y="871762"/>
                </a:lnTo>
                <a:lnTo>
                  <a:pt x="4760057" y="812301"/>
                </a:lnTo>
                <a:lnTo>
                  <a:pt x="4722259" y="754180"/>
                </a:lnTo>
                <a:lnTo>
                  <a:pt x="4678783" y="697491"/>
                </a:lnTo>
                <a:lnTo>
                  <a:pt x="4629804" y="642326"/>
                </a:lnTo>
                <a:lnTo>
                  <a:pt x="4575502" y="588779"/>
                </a:lnTo>
                <a:lnTo>
                  <a:pt x="4546410" y="562641"/>
                </a:lnTo>
                <a:lnTo>
                  <a:pt x="4516053" y="536942"/>
                </a:lnTo>
                <a:lnTo>
                  <a:pt x="4484454" y="511693"/>
                </a:lnTo>
                <a:lnTo>
                  <a:pt x="4451635" y="486907"/>
                </a:lnTo>
                <a:lnTo>
                  <a:pt x="4417618" y="462594"/>
                </a:lnTo>
                <a:lnTo>
                  <a:pt x="4382426" y="438767"/>
                </a:lnTo>
                <a:lnTo>
                  <a:pt x="4346080" y="415436"/>
                </a:lnTo>
                <a:lnTo>
                  <a:pt x="4308603" y="392614"/>
                </a:lnTo>
                <a:lnTo>
                  <a:pt x="4270017" y="370312"/>
                </a:lnTo>
                <a:lnTo>
                  <a:pt x="4230344" y="348542"/>
                </a:lnTo>
                <a:lnTo>
                  <a:pt x="4189606" y="327315"/>
                </a:lnTo>
                <a:lnTo>
                  <a:pt x="4147826" y="306642"/>
                </a:lnTo>
                <a:lnTo>
                  <a:pt x="4105026" y="286536"/>
                </a:lnTo>
                <a:lnTo>
                  <a:pt x="4061228" y="267007"/>
                </a:lnTo>
                <a:lnTo>
                  <a:pt x="4016454" y="248068"/>
                </a:lnTo>
                <a:lnTo>
                  <a:pt x="3983716" y="234940"/>
                </a:lnTo>
                <a:lnTo>
                  <a:pt x="1310169" y="234940"/>
                </a:lnTo>
                <a:lnTo>
                  <a:pt x="0" y="107981"/>
                </a:lnTo>
                <a:close/>
              </a:path>
              <a:path w="4859019" h="2298065">
                <a:moveTo>
                  <a:pt x="2644882" y="0"/>
                </a:moveTo>
                <a:lnTo>
                  <a:pt x="2589268" y="361"/>
                </a:lnTo>
                <a:lnTo>
                  <a:pt x="2534005" y="1439"/>
                </a:lnTo>
                <a:lnTo>
                  <a:pt x="2479107" y="3224"/>
                </a:lnTo>
                <a:lnTo>
                  <a:pt x="2424589" y="5709"/>
                </a:lnTo>
                <a:lnTo>
                  <a:pt x="2370467" y="8882"/>
                </a:lnTo>
                <a:lnTo>
                  <a:pt x="2316756" y="12737"/>
                </a:lnTo>
                <a:lnTo>
                  <a:pt x="2263469" y="17263"/>
                </a:lnTo>
                <a:lnTo>
                  <a:pt x="2210624" y="22451"/>
                </a:lnTo>
                <a:lnTo>
                  <a:pt x="2158233" y="28293"/>
                </a:lnTo>
                <a:lnTo>
                  <a:pt x="2106313" y="34780"/>
                </a:lnTo>
                <a:lnTo>
                  <a:pt x="2054879" y="41902"/>
                </a:lnTo>
                <a:lnTo>
                  <a:pt x="2003944" y="49651"/>
                </a:lnTo>
                <a:lnTo>
                  <a:pt x="1953526" y="58017"/>
                </a:lnTo>
                <a:lnTo>
                  <a:pt x="1903637" y="66992"/>
                </a:lnTo>
                <a:lnTo>
                  <a:pt x="1854294" y="76566"/>
                </a:lnTo>
                <a:lnTo>
                  <a:pt x="1805511" y="86731"/>
                </a:lnTo>
                <a:lnTo>
                  <a:pt x="1757304" y="97478"/>
                </a:lnTo>
                <a:lnTo>
                  <a:pt x="1709686" y="108796"/>
                </a:lnTo>
                <a:lnTo>
                  <a:pt x="1662675" y="120679"/>
                </a:lnTo>
                <a:lnTo>
                  <a:pt x="1616283" y="133115"/>
                </a:lnTo>
                <a:lnTo>
                  <a:pt x="1570527" y="146097"/>
                </a:lnTo>
                <a:lnTo>
                  <a:pt x="1525421" y="159616"/>
                </a:lnTo>
                <a:lnTo>
                  <a:pt x="1480980" y="173662"/>
                </a:lnTo>
                <a:lnTo>
                  <a:pt x="1437219" y="188226"/>
                </a:lnTo>
                <a:lnTo>
                  <a:pt x="1394154" y="203300"/>
                </a:lnTo>
                <a:lnTo>
                  <a:pt x="1351799" y="218874"/>
                </a:lnTo>
                <a:lnTo>
                  <a:pt x="1310169" y="234940"/>
                </a:lnTo>
                <a:lnTo>
                  <a:pt x="3983716" y="234940"/>
                </a:lnTo>
                <a:lnTo>
                  <a:pt x="3924067" y="212005"/>
                </a:lnTo>
                <a:lnTo>
                  <a:pt x="3876498" y="194904"/>
                </a:lnTo>
                <a:lnTo>
                  <a:pt x="3828043" y="178438"/>
                </a:lnTo>
                <a:lnTo>
                  <a:pt x="3778722" y="162620"/>
                </a:lnTo>
                <a:lnTo>
                  <a:pt x="3728559" y="147461"/>
                </a:lnTo>
                <a:lnTo>
                  <a:pt x="3677576" y="132972"/>
                </a:lnTo>
                <a:lnTo>
                  <a:pt x="3625794" y="119165"/>
                </a:lnTo>
                <a:lnTo>
                  <a:pt x="3573236" y="106051"/>
                </a:lnTo>
                <a:lnTo>
                  <a:pt x="3519925" y="93643"/>
                </a:lnTo>
                <a:lnTo>
                  <a:pt x="3465882" y="81951"/>
                </a:lnTo>
                <a:lnTo>
                  <a:pt x="3411129" y="70988"/>
                </a:lnTo>
                <a:lnTo>
                  <a:pt x="3355689" y="60764"/>
                </a:lnTo>
                <a:lnTo>
                  <a:pt x="3299584" y="51292"/>
                </a:lnTo>
                <a:lnTo>
                  <a:pt x="3242836" y="42583"/>
                </a:lnTo>
                <a:lnTo>
                  <a:pt x="3185467" y="34648"/>
                </a:lnTo>
                <a:lnTo>
                  <a:pt x="3127500" y="27500"/>
                </a:lnTo>
                <a:lnTo>
                  <a:pt x="3068957" y="21149"/>
                </a:lnTo>
                <a:lnTo>
                  <a:pt x="3009859" y="15607"/>
                </a:lnTo>
                <a:lnTo>
                  <a:pt x="2950230" y="10886"/>
                </a:lnTo>
                <a:lnTo>
                  <a:pt x="2890091" y="6998"/>
                </a:lnTo>
                <a:lnTo>
                  <a:pt x="2829465" y="3953"/>
                </a:lnTo>
                <a:lnTo>
                  <a:pt x="2768373" y="1765"/>
                </a:lnTo>
                <a:lnTo>
                  <a:pt x="2706838" y="443"/>
                </a:lnTo>
                <a:lnTo>
                  <a:pt x="26448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57" y="699867"/>
            <a:ext cx="6051994" cy="288111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657545" y="2095234"/>
            <a:ext cx="605321" cy="604551"/>
          </a:xfrm>
          <a:custGeom>
            <a:avLst/>
            <a:gdLst/>
            <a:ahLst/>
            <a:cxnLst/>
            <a:rect l="l" t="t" r="r" b="b"/>
            <a:pathLst>
              <a:path w="998220" h="996950">
                <a:moveTo>
                  <a:pt x="805855" y="759460"/>
                </a:moveTo>
                <a:lnTo>
                  <a:pt x="191828" y="759460"/>
                </a:lnTo>
                <a:lnTo>
                  <a:pt x="193939" y="762000"/>
                </a:lnTo>
                <a:lnTo>
                  <a:pt x="195681" y="764540"/>
                </a:lnTo>
                <a:lnTo>
                  <a:pt x="197501" y="765810"/>
                </a:lnTo>
                <a:lnTo>
                  <a:pt x="209075" y="778510"/>
                </a:lnTo>
                <a:lnTo>
                  <a:pt x="221190" y="791210"/>
                </a:lnTo>
                <a:lnTo>
                  <a:pt x="233915" y="801370"/>
                </a:lnTo>
                <a:lnTo>
                  <a:pt x="253294" y="817880"/>
                </a:lnTo>
                <a:lnTo>
                  <a:pt x="256600" y="822960"/>
                </a:lnTo>
                <a:lnTo>
                  <a:pt x="257635" y="829310"/>
                </a:lnTo>
                <a:lnTo>
                  <a:pt x="256800" y="836930"/>
                </a:lnTo>
                <a:lnTo>
                  <a:pt x="252521" y="858520"/>
                </a:lnTo>
                <a:lnTo>
                  <a:pt x="248333" y="880110"/>
                </a:lnTo>
                <a:lnTo>
                  <a:pt x="239469" y="922020"/>
                </a:lnTo>
                <a:lnTo>
                  <a:pt x="237427" y="930910"/>
                </a:lnTo>
                <a:lnTo>
                  <a:pt x="239277" y="934720"/>
                </a:lnTo>
                <a:lnTo>
                  <a:pt x="247862" y="938530"/>
                </a:lnTo>
                <a:lnTo>
                  <a:pt x="360367" y="980440"/>
                </a:lnTo>
                <a:lnTo>
                  <a:pt x="406133" y="996950"/>
                </a:lnTo>
                <a:lnTo>
                  <a:pt x="410314" y="996950"/>
                </a:lnTo>
                <a:lnTo>
                  <a:pt x="414799" y="988060"/>
                </a:lnTo>
                <a:lnTo>
                  <a:pt x="425259" y="969010"/>
                </a:lnTo>
                <a:lnTo>
                  <a:pt x="435993" y="949960"/>
                </a:lnTo>
                <a:lnTo>
                  <a:pt x="446835" y="932180"/>
                </a:lnTo>
                <a:lnTo>
                  <a:pt x="457622" y="913130"/>
                </a:lnTo>
                <a:lnTo>
                  <a:pt x="461750" y="906780"/>
                </a:lnTo>
                <a:lnTo>
                  <a:pt x="466650" y="902970"/>
                </a:lnTo>
                <a:lnTo>
                  <a:pt x="472884" y="900430"/>
                </a:lnTo>
                <a:lnTo>
                  <a:pt x="528152" y="900430"/>
                </a:lnTo>
                <a:lnTo>
                  <a:pt x="543810" y="899160"/>
                </a:lnTo>
                <a:lnTo>
                  <a:pt x="552008" y="897890"/>
                </a:lnTo>
                <a:lnTo>
                  <a:pt x="783706" y="897890"/>
                </a:lnTo>
                <a:lnTo>
                  <a:pt x="779558" y="882650"/>
                </a:lnTo>
                <a:lnTo>
                  <a:pt x="768294" y="839470"/>
                </a:lnTo>
                <a:lnTo>
                  <a:pt x="762430" y="819150"/>
                </a:lnTo>
                <a:lnTo>
                  <a:pt x="759821" y="810260"/>
                </a:lnTo>
                <a:lnTo>
                  <a:pt x="760785" y="803910"/>
                </a:lnTo>
                <a:lnTo>
                  <a:pt x="768491" y="797560"/>
                </a:lnTo>
                <a:lnTo>
                  <a:pt x="781021" y="786130"/>
                </a:lnTo>
                <a:lnTo>
                  <a:pt x="792825" y="774700"/>
                </a:lnTo>
                <a:lnTo>
                  <a:pt x="803829" y="762000"/>
                </a:lnTo>
                <a:lnTo>
                  <a:pt x="805855" y="759460"/>
                </a:lnTo>
                <a:close/>
              </a:path>
              <a:path w="998220" h="996950">
                <a:moveTo>
                  <a:pt x="783706" y="897890"/>
                </a:moveTo>
                <a:lnTo>
                  <a:pt x="552008" y="897890"/>
                </a:lnTo>
                <a:lnTo>
                  <a:pt x="558229" y="900430"/>
                </a:lnTo>
                <a:lnTo>
                  <a:pt x="563187" y="904240"/>
                </a:lnTo>
                <a:lnTo>
                  <a:pt x="567592" y="910590"/>
                </a:lnTo>
                <a:lnTo>
                  <a:pt x="579551" y="928370"/>
                </a:lnTo>
                <a:lnTo>
                  <a:pt x="603693" y="963930"/>
                </a:lnTo>
                <a:lnTo>
                  <a:pt x="615544" y="981710"/>
                </a:lnTo>
                <a:lnTo>
                  <a:pt x="620053" y="989330"/>
                </a:lnTo>
                <a:lnTo>
                  <a:pt x="623565" y="990600"/>
                </a:lnTo>
                <a:lnTo>
                  <a:pt x="704728" y="953770"/>
                </a:lnTo>
                <a:lnTo>
                  <a:pt x="741617" y="935990"/>
                </a:lnTo>
                <a:lnTo>
                  <a:pt x="778595" y="920750"/>
                </a:lnTo>
                <a:lnTo>
                  <a:pt x="787521" y="915670"/>
                </a:lnTo>
                <a:lnTo>
                  <a:pt x="787796" y="911860"/>
                </a:lnTo>
                <a:lnTo>
                  <a:pt x="785434" y="904240"/>
                </a:lnTo>
                <a:lnTo>
                  <a:pt x="783706" y="897890"/>
                </a:lnTo>
                <a:close/>
              </a:path>
              <a:path w="998220" h="996950">
                <a:moveTo>
                  <a:pt x="528152" y="900430"/>
                </a:moveTo>
                <a:lnTo>
                  <a:pt x="481015" y="900430"/>
                </a:lnTo>
                <a:lnTo>
                  <a:pt x="496706" y="901700"/>
                </a:lnTo>
                <a:lnTo>
                  <a:pt x="512494" y="901700"/>
                </a:lnTo>
                <a:lnTo>
                  <a:pt x="528152" y="900430"/>
                </a:lnTo>
                <a:close/>
              </a:path>
              <a:path w="998220" h="996950">
                <a:moveTo>
                  <a:pt x="66660" y="237490"/>
                </a:moveTo>
                <a:lnTo>
                  <a:pt x="62784" y="238760"/>
                </a:lnTo>
                <a:lnTo>
                  <a:pt x="45694" y="284480"/>
                </a:lnTo>
                <a:lnTo>
                  <a:pt x="31642" y="322580"/>
                </a:lnTo>
                <a:lnTo>
                  <a:pt x="17479" y="359410"/>
                </a:lnTo>
                <a:lnTo>
                  <a:pt x="0" y="405130"/>
                </a:lnTo>
                <a:lnTo>
                  <a:pt x="1294" y="410210"/>
                </a:lnTo>
                <a:lnTo>
                  <a:pt x="9580" y="414020"/>
                </a:lnTo>
                <a:lnTo>
                  <a:pt x="28478" y="425450"/>
                </a:lnTo>
                <a:lnTo>
                  <a:pt x="47224" y="435610"/>
                </a:lnTo>
                <a:lnTo>
                  <a:pt x="65918" y="447040"/>
                </a:lnTo>
                <a:lnTo>
                  <a:pt x="84656" y="457200"/>
                </a:lnTo>
                <a:lnTo>
                  <a:pt x="90702" y="461010"/>
                </a:lnTo>
                <a:lnTo>
                  <a:pt x="94796" y="466090"/>
                </a:lnTo>
                <a:lnTo>
                  <a:pt x="96890" y="472440"/>
                </a:lnTo>
                <a:lnTo>
                  <a:pt x="96935" y="481330"/>
                </a:lnTo>
                <a:lnTo>
                  <a:pt x="95833" y="496570"/>
                </a:lnTo>
                <a:lnTo>
                  <a:pt x="95933" y="513080"/>
                </a:lnTo>
                <a:lnTo>
                  <a:pt x="97136" y="529590"/>
                </a:lnTo>
                <a:lnTo>
                  <a:pt x="99344" y="544830"/>
                </a:lnTo>
                <a:lnTo>
                  <a:pt x="100966" y="554990"/>
                </a:lnTo>
                <a:lnTo>
                  <a:pt x="98071" y="560070"/>
                </a:lnTo>
                <a:lnTo>
                  <a:pt x="89940" y="565150"/>
                </a:lnTo>
                <a:lnTo>
                  <a:pt x="33813" y="603250"/>
                </a:lnTo>
                <a:lnTo>
                  <a:pt x="15021" y="614680"/>
                </a:lnTo>
                <a:lnTo>
                  <a:pt x="7870" y="619760"/>
                </a:lnTo>
                <a:lnTo>
                  <a:pt x="7314" y="623570"/>
                </a:lnTo>
                <a:lnTo>
                  <a:pt x="44422" y="704850"/>
                </a:lnTo>
                <a:lnTo>
                  <a:pt x="61028" y="741680"/>
                </a:lnTo>
                <a:lnTo>
                  <a:pt x="77428" y="778510"/>
                </a:lnTo>
                <a:lnTo>
                  <a:pt x="81415" y="787400"/>
                </a:lnTo>
                <a:lnTo>
                  <a:pt x="85543" y="787400"/>
                </a:lnTo>
                <a:lnTo>
                  <a:pt x="93671" y="784860"/>
                </a:lnTo>
                <a:lnTo>
                  <a:pt x="114917" y="778510"/>
                </a:lnTo>
                <a:lnTo>
                  <a:pt x="136234" y="773430"/>
                </a:lnTo>
                <a:lnTo>
                  <a:pt x="183152" y="760730"/>
                </a:lnTo>
                <a:lnTo>
                  <a:pt x="187436" y="760730"/>
                </a:lnTo>
                <a:lnTo>
                  <a:pt x="191828" y="759460"/>
                </a:lnTo>
                <a:lnTo>
                  <a:pt x="805855" y="759460"/>
                </a:lnTo>
                <a:lnTo>
                  <a:pt x="813957" y="749300"/>
                </a:lnTo>
                <a:lnTo>
                  <a:pt x="819090" y="744220"/>
                </a:lnTo>
                <a:lnTo>
                  <a:pt x="824542" y="740410"/>
                </a:lnTo>
                <a:lnTo>
                  <a:pt x="941783" y="740410"/>
                </a:lnTo>
                <a:lnTo>
                  <a:pt x="946536" y="727710"/>
                </a:lnTo>
                <a:lnTo>
                  <a:pt x="498968" y="727710"/>
                </a:lnTo>
                <a:lnTo>
                  <a:pt x="452830" y="722630"/>
                </a:lnTo>
                <a:lnTo>
                  <a:pt x="409855" y="709930"/>
                </a:lnTo>
                <a:lnTo>
                  <a:pt x="370964" y="688340"/>
                </a:lnTo>
                <a:lnTo>
                  <a:pt x="337078" y="660400"/>
                </a:lnTo>
                <a:lnTo>
                  <a:pt x="309119" y="626110"/>
                </a:lnTo>
                <a:lnTo>
                  <a:pt x="288007" y="588010"/>
                </a:lnTo>
                <a:lnTo>
                  <a:pt x="274664" y="544830"/>
                </a:lnTo>
                <a:lnTo>
                  <a:pt x="270012" y="499110"/>
                </a:lnTo>
                <a:lnTo>
                  <a:pt x="274664" y="452120"/>
                </a:lnTo>
                <a:lnTo>
                  <a:pt x="288007" y="408940"/>
                </a:lnTo>
                <a:lnTo>
                  <a:pt x="309119" y="370840"/>
                </a:lnTo>
                <a:lnTo>
                  <a:pt x="337078" y="336550"/>
                </a:lnTo>
                <a:lnTo>
                  <a:pt x="370964" y="308610"/>
                </a:lnTo>
                <a:lnTo>
                  <a:pt x="409855" y="287020"/>
                </a:lnTo>
                <a:lnTo>
                  <a:pt x="452830" y="274320"/>
                </a:lnTo>
                <a:lnTo>
                  <a:pt x="498968" y="269240"/>
                </a:lnTo>
                <a:lnTo>
                  <a:pt x="943282" y="269240"/>
                </a:lnTo>
                <a:lnTo>
                  <a:pt x="937556" y="256540"/>
                </a:lnTo>
                <a:lnTo>
                  <a:pt x="160430" y="256540"/>
                </a:lnTo>
                <a:lnTo>
                  <a:pt x="139233" y="251460"/>
                </a:lnTo>
                <a:lnTo>
                  <a:pt x="96833" y="243840"/>
                </a:lnTo>
                <a:lnTo>
                  <a:pt x="75719" y="238760"/>
                </a:lnTo>
                <a:lnTo>
                  <a:pt x="66660" y="237490"/>
                </a:lnTo>
                <a:close/>
              </a:path>
              <a:path w="998220" h="996950">
                <a:moveTo>
                  <a:pt x="941783" y="740410"/>
                </a:moveTo>
                <a:lnTo>
                  <a:pt x="837427" y="740410"/>
                </a:lnTo>
                <a:lnTo>
                  <a:pt x="858617" y="745490"/>
                </a:lnTo>
                <a:lnTo>
                  <a:pt x="901021" y="753110"/>
                </a:lnTo>
                <a:lnTo>
                  <a:pt x="922139" y="758190"/>
                </a:lnTo>
                <a:lnTo>
                  <a:pt x="931137" y="759460"/>
                </a:lnTo>
                <a:lnTo>
                  <a:pt x="935128" y="758190"/>
                </a:lnTo>
                <a:lnTo>
                  <a:pt x="941783" y="740410"/>
                </a:lnTo>
                <a:close/>
              </a:path>
              <a:path w="998220" h="996950">
                <a:moveTo>
                  <a:pt x="943282" y="269240"/>
                </a:moveTo>
                <a:lnTo>
                  <a:pt x="498968" y="269240"/>
                </a:lnTo>
                <a:lnTo>
                  <a:pt x="545106" y="274320"/>
                </a:lnTo>
                <a:lnTo>
                  <a:pt x="588082" y="287020"/>
                </a:lnTo>
                <a:lnTo>
                  <a:pt x="626973" y="308610"/>
                </a:lnTo>
                <a:lnTo>
                  <a:pt x="660858" y="336550"/>
                </a:lnTo>
                <a:lnTo>
                  <a:pt x="688817" y="370840"/>
                </a:lnTo>
                <a:lnTo>
                  <a:pt x="709929" y="408940"/>
                </a:lnTo>
                <a:lnTo>
                  <a:pt x="723271" y="452120"/>
                </a:lnTo>
                <a:lnTo>
                  <a:pt x="727923" y="499110"/>
                </a:lnTo>
                <a:lnTo>
                  <a:pt x="723270" y="544830"/>
                </a:lnTo>
                <a:lnTo>
                  <a:pt x="709927" y="588010"/>
                </a:lnTo>
                <a:lnTo>
                  <a:pt x="688816" y="626110"/>
                </a:lnTo>
                <a:lnTo>
                  <a:pt x="660856" y="660400"/>
                </a:lnTo>
                <a:lnTo>
                  <a:pt x="626971" y="688340"/>
                </a:lnTo>
                <a:lnTo>
                  <a:pt x="588080" y="709930"/>
                </a:lnTo>
                <a:lnTo>
                  <a:pt x="545105" y="722630"/>
                </a:lnTo>
                <a:lnTo>
                  <a:pt x="498968" y="727710"/>
                </a:lnTo>
                <a:lnTo>
                  <a:pt x="946536" y="727710"/>
                </a:lnTo>
                <a:lnTo>
                  <a:pt x="952240" y="712470"/>
                </a:lnTo>
                <a:lnTo>
                  <a:pt x="966292" y="674370"/>
                </a:lnTo>
                <a:lnTo>
                  <a:pt x="980456" y="637540"/>
                </a:lnTo>
                <a:lnTo>
                  <a:pt x="997914" y="591820"/>
                </a:lnTo>
                <a:lnTo>
                  <a:pt x="996764" y="586740"/>
                </a:lnTo>
                <a:lnTo>
                  <a:pt x="988432" y="582930"/>
                </a:lnTo>
                <a:lnTo>
                  <a:pt x="969533" y="572770"/>
                </a:lnTo>
                <a:lnTo>
                  <a:pt x="950782" y="561340"/>
                </a:lnTo>
                <a:lnTo>
                  <a:pt x="932087" y="551180"/>
                </a:lnTo>
                <a:lnTo>
                  <a:pt x="913357" y="539750"/>
                </a:lnTo>
                <a:lnTo>
                  <a:pt x="907327" y="535940"/>
                </a:lnTo>
                <a:lnTo>
                  <a:pt x="903194" y="530860"/>
                </a:lnTo>
                <a:lnTo>
                  <a:pt x="901053" y="524510"/>
                </a:lnTo>
                <a:lnTo>
                  <a:pt x="901000" y="516890"/>
                </a:lnTo>
                <a:lnTo>
                  <a:pt x="902119" y="500380"/>
                </a:lnTo>
                <a:lnTo>
                  <a:pt x="902011" y="483870"/>
                </a:lnTo>
                <a:lnTo>
                  <a:pt x="900796" y="467360"/>
                </a:lnTo>
                <a:lnTo>
                  <a:pt x="898591" y="452120"/>
                </a:lnTo>
                <a:lnTo>
                  <a:pt x="896985" y="441960"/>
                </a:lnTo>
                <a:lnTo>
                  <a:pt x="899828" y="436880"/>
                </a:lnTo>
                <a:lnTo>
                  <a:pt x="907995" y="431800"/>
                </a:lnTo>
                <a:lnTo>
                  <a:pt x="964061" y="393700"/>
                </a:lnTo>
                <a:lnTo>
                  <a:pt x="982837" y="382270"/>
                </a:lnTo>
                <a:lnTo>
                  <a:pt x="989919" y="377190"/>
                </a:lnTo>
                <a:lnTo>
                  <a:pt x="990738" y="373380"/>
                </a:lnTo>
                <a:lnTo>
                  <a:pt x="970360" y="328930"/>
                </a:lnTo>
                <a:lnTo>
                  <a:pt x="953587" y="292100"/>
                </a:lnTo>
                <a:lnTo>
                  <a:pt x="943282" y="269240"/>
                </a:lnTo>
                <a:close/>
              </a:path>
              <a:path w="998220" h="996950">
                <a:moveTo>
                  <a:pt x="374298" y="6350"/>
                </a:moveTo>
                <a:lnTo>
                  <a:pt x="330006" y="26670"/>
                </a:lnTo>
                <a:lnTo>
                  <a:pt x="293169" y="44450"/>
                </a:lnTo>
                <a:lnTo>
                  <a:pt x="219262" y="77470"/>
                </a:lnTo>
                <a:lnTo>
                  <a:pt x="210237" y="81280"/>
                </a:lnTo>
                <a:lnTo>
                  <a:pt x="210254" y="85090"/>
                </a:lnTo>
                <a:lnTo>
                  <a:pt x="212578" y="92710"/>
                </a:lnTo>
                <a:lnTo>
                  <a:pt x="218438" y="114300"/>
                </a:lnTo>
                <a:lnTo>
                  <a:pt x="229705" y="157480"/>
                </a:lnTo>
                <a:lnTo>
                  <a:pt x="235583" y="177800"/>
                </a:lnTo>
                <a:lnTo>
                  <a:pt x="238214" y="187960"/>
                </a:lnTo>
                <a:lnTo>
                  <a:pt x="237111" y="193040"/>
                </a:lnTo>
                <a:lnTo>
                  <a:pt x="229444" y="199390"/>
                </a:lnTo>
                <a:lnTo>
                  <a:pt x="216924" y="210820"/>
                </a:lnTo>
                <a:lnTo>
                  <a:pt x="205131" y="222250"/>
                </a:lnTo>
                <a:lnTo>
                  <a:pt x="194148" y="234950"/>
                </a:lnTo>
                <a:lnTo>
                  <a:pt x="184057" y="247650"/>
                </a:lnTo>
                <a:lnTo>
                  <a:pt x="178852" y="254000"/>
                </a:lnTo>
                <a:lnTo>
                  <a:pt x="173319" y="256540"/>
                </a:lnTo>
                <a:lnTo>
                  <a:pt x="937556" y="256540"/>
                </a:lnTo>
                <a:lnTo>
                  <a:pt x="929062" y="237490"/>
                </a:lnTo>
                <a:lnTo>
                  <a:pt x="809591" y="237490"/>
                </a:lnTo>
                <a:lnTo>
                  <a:pt x="804424" y="236220"/>
                </a:lnTo>
                <a:lnTo>
                  <a:pt x="776276" y="205740"/>
                </a:lnTo>
                <a:lnTo>
                  <a:pt x="750616" y="185420"/>
                </a:lnTo>
                <a:lnTo>
                  <a:pt x="744683" y="179070"/>
                </a:lnTo>
                <a:lnTo>
                  <a:pt x="741365" y="173990"/>
                </a:lnTo>
                <a:lnTo>
                  <a:pt x="740302" y="167640"/>
                </a:lnTo>
                <a:lnTo>
                  <a:pt x="741135" y="160020"/>
                </a:lnTo>
                <a:lnTo>
                  <a:pt x="745426" y="138430"/>
                </a:lnTo>
                <a:lnTo>
                  <a:pt x="749611" y="118110"/>
                </a:lnTo>
                <a:lnTo>
                  <a:pt x="753136" y="100330"/>
                </a:lnTo>
                <a:lnTo>
                  <a:pt x="442778" y="100330"/>
                </a:lnTo>
                <a:lnTo>
                  <a:pt x="437320" y="97790"/>
                </a:lnTo>
                <a:lnTo>
                  <a:pt x="432052" y="88900"/>
                </a:lnTo>
                <a:lnTo>
                  <a:pt x="419764" y="71120"/>
                </a:lnTo>
                <a:lnTo>
                  <a:pt x="394720" y="33020"/>
                </a:lnTo>
                <a:lnTo>
                  <a:pt x="382391" y="15240"/>
                </a:lnTo>
                <a:lnTo>
                  <a:pt x="377846" y="7620"/>
                </a:lnTo>
                <a:lnTo>
                  <a:pt x="374298" y="6350"/>
                </a:lnTo>
                <a:close/>
              </a:path>
              <a:path w="998220" h="996950">
                <a:moveTo>
                  <a:pt x="916613" y="209550"/>
                </a:moveTo>
                <a:lnTo>
                  <a:pt x="912476" y="209550"/>
                </a:lnTo>
                <a:lnTo>
                  <a:pt x="904342" y="212090"/>
                </a:lnTo>
                <a:lnTo>
                  <a:pt x="882681" y="218440"/>
                </a:lnTo>
                <a:lnTo>
                  <a:pt x="839214" y="229870"/>
                </a:lnTo>
                <a:lnTo>
                  <a:pt x="817532" y="234950"/>
                </a:lnTo>
                <a:lnTo>
                  <a:pt x="809591" y="237490"/>
                </a:lnTo>
                <a:lnTo>
                  <a:pt x="929062" y="237490"/>
                </a:lnTo>
                <a:lnTo>
                  <a:pt x="916613" y="209550"/>
                </a:lnTo>
                <a:close/>
              </a:path>
              <a:path w="998220" h="996950">
                <a:moveTo>
                  <a:pt x="500758" y="95250"/>
                </a:moveTo>
                <a:lnTo>
                  <a:pt x="484606" y="95250"/>
                </a:lnTo>
                <a:lnTo>
                  <a:pt x="468466" y="96520"/>
                </a:lnTo>
                <a:lnTo>
                  <a:pt x="452415" y="99060"/>
                </a:lnTo>
                <a:lnTo>
                  <a:pt x="442778" y="100330"/>
                </a:lnTo>
                <a:lnTo>
                  <a:pt x="753136" y="100330"/>
                </a:lnTo>
                <a:lnTo>
                  <a:pt x="753891" y="96520"/>
                </a:lnTo>
                <a:lnTo>
                  <a:pt x="516842" y="96520"/>
                </a:lnTo>
                <a:lnTo>
                  <a:pt x="500758" y="95250"/>
                </a:lnTo>
                <a:close/>
              </a:path>
              <a:path w="998220" h="996950">
                <a:moveTo>
                  <a:pt x="589719" y="0"/>
                </a:moveTo>
                <a:lnTo>
                  <a:pt x="586500" y="2540"/>
                </a:lnTo>
                <a:lnTo>
                  <a:pt x="583136" y="8890"/>
                </a:lnTo>
                <a:lnTo>
                  <a:pt x="572670" y="27940"/>
                </a:lnTo>
                <a:lnTo>
                  <a:pt x="551085" y="66040"/>
                </a:lnTo>
                <a:lnTo>
                  <a:pt x="524935" y="96520"/>
                </a:lnTo>
                <a:lnTo>
                  <a:pt x="753891" y="96520"/>
                </a:lnTo>
                <a:lnTo>
                  <a:pt x="758466" y="74930"/>
                </a:lnTo>
                <a:lnTo>
                  <a:pt x="760518" y="66040"/>
                </a:lnTo>
                <a:lnTo>
                  <a:pt x="758646" y="62230"/>
                </a:lnTo>
                <a:lnTo>
                  <a:pt x="712532" y="45720"/>
                </a:lnTo>
                <a:lnTo>
                  <a:pt x="675029" y="31750"/>
                </a:lnTo>
                <a:lnTo>
                  <a:pt x="637569" y="16510"/>
                </a:lnTo>
                <a:lnTo>
                  <a:pt x="598067" y="2540"/>
                </a:lnTo>
                <a:lnTo>
                  <a:pt x="596278" y="1270"/>
                </a:lnTo>
                <a:lnTo>
                  <a:pt x="594638" y="1270"/>
                </a:lnTo>
                <a:lnTo>
                  <a:pt x="589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9904005" y="10819703"/>
            <a:ext cx="299084" cy="24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60"/>
                </a:spcBef>
              </a:pPr>
              <a:t>8</a:t>
            </a:fld>
            <a:endParaRPr spc="-15" dirty="0"/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F1049782-5CE6-0698-3BB2-3858AEE2D54E}"/>
              </a:ext>
            </a:extLst>
          </p:cNvPr>
          <p:cNvSpPr txBox="1"/>
          <p:nvPr/>
        </p:nvSpPr>
        <p:spPr>
          <a:xfrm>
            <a:off x="1504617" y="113810"/>
            <a:ext cx="157876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01101010</a:t>
            </a:r>
            <a:endParaRPr sz="2486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85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9776-2B57-A886-6265-DC9CF3AE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of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A2C46-FB85-1113-0D2A-4C71EB6E0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9811" y="1702855"/>
                <a:ext cx="11952711" cy="4351338"/>
              </a:xfrm>
            </p:spPr>
            <p:txBody>
              <a:bodyPr/>
              <a:lstStyle/>
              <a:p>
                <a:r>
                  <a:rPr lang="en-US" sz="2800" dirty="0">
                    <a:latin typeface="+mj-lt"/>
                    <a:cs typeface="Arial"/>
                  </a:rPr>
                  <a:t>We</a:t>
                </a:r>
                <a:r>
                  <a:rPr lang="en-US" sz="2800" spc="-39" dirty="0">
                    <a:latin typeface="+mj-lt"/>
                    <a:cs typeface="Arial"/>
                  </a:rPr>
                  <a:t> </a:t>
                </a:r>
                <a:r>
                  <a:rPr lang="en-US" sz="2800" dirty="0">
                    <a:latin typeface="+mj-lt"/>
                    <a:cs typeface="Arial"/>
                  </a:rPr>
                  <a:t>believe</a:t>
                </a:r>
                <a:r>
                  <a:rPr lang="en-US" sz="2800" spc="-36" dirty="0">
                    <a:latin typeface="+mj-lt"/>
                    <a:cs typeface="Arial"/>
                  </a:rPr>
                  <a:t> </a:t>
                </a:r>
                <a:r>
                  <a:rPr lang="en-US" sz="2800" dirty="0">
                    <a:latin typeface="+mj-lt"/>
                    <a:cs typeface="Arial"/>
                  </a:rPr>
                  <a:t>that</a:t>
                </a:r>
                <a:r>
                  <a:rPr lang="en-US" sz="2800" spc="-39" dirty="0">
                    <a:latin typeface="+mj-lt"/>
                    <a:cs typeface="Arial"/>
                  </a:rPr>
                  <a:t> </a:t>
                </a:r>
                <a:r>
                  <a:rPr lang="en-US" sz="2800" dirty="0">
                    <a:latin typeface="+mj-lt"/>
                    <a:cs typeface="Arial"/>
                  </a:rPr>
                  <a:t>PRGs</a:t>
                </a:r>
                <a:r>
                  <a:rPr lang="en-US" sz="2800" spc="-36" dirty="0">
                    <a:latin typeface="+mj-lt"/>
                    <a:cs typeface="Arial"/>
                  </a:rPr>
                  <a:t> </a:t>
                </a:r>
                <a:r>
                  <a:rPr lang="en-US" sz="2800" spc="-12" dirty="0">
                    <a:latin typeface="+mj-lt"/>
                    <a:cs typeface="Arial"/>
                  </a:rPr>
                  <a:t>exist – assumption</a:t>
                </a:r>
              </a:p>
              <a:p>
                <a:endParaRPr lang="en-US" sz="2800" dirty="0">
                  <a:latin typeface="+mj-lt"/>
                  <a:cs typeface="Arial"/>
                </a:endParaRPr>
              </a:p>
              <a:p>
                <a:r>
                  <a:rPr lang="en-US" dirty="0"/>
                  <a:t>Construction from NP hard problems (e.g., 3-SAT)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One-way function from 3-SAT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One-way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PRG</a:t>
                </a:r>
              </a:p>
              <a:p>
                <a:pPr marL="914400" lvl="2" indent="0">
                  <a:buNone/>
                </a:pPr>
                <a:r>
                  <a:rPr lang="en-US" sz="2400" dirty="0"/>
                  <a:t>	</a:t>
                </a:r>
                <a:r>
                  <a:rPr lang="en-US" sz="2000" i="1" dirty="0"/>
                  <a:t> </a:t>
                </a:r>
                <a:r>
                  <a:rPr lang="en-US" sz="2000" dirty="0"/>
                  <a:t>Foundations of Cryptography, Volume 1: Basic Tools (2001)</a:t>
                </a:r>
                <a:r>
                  <a:rPr lang="en-US" dirty="0"/>
                  <a:t>, Oded </a:t>
                </a:r>
                <a:r>
                  <a:rPr lang="en-US" dirty="0" err="1"/>
                  <a:t>Goldreich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A2C46-FB85-1113-0D2A-4C71EB6E0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9811" y="1702855"/>
                <a:ext cx="11952711" cy="4351338"/>
              </a:xfrm>
              <a:blipFill>
                <a:blip r:embed="rId2"/>
                <a:stretch>
                  <a:fillRect l="-9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45123DA-6997-8214-4468-376F7B02BD4E}"/>
              </a:ext>
            </a:extLst>
          </p:cNvPr>
          <p:cNvSpPr txBox="1"/>
          <p:nvPr/>
        </p:nvSpPr>
        <p:spPr>
          <a:xfrm>
            <a:off x="5806287" y="3524581"/>
            <a:ext cx="609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(additional assumption on worst-case hardness to average-case hardness)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BC475-91D7-3E37-5885-11F70D0C55F3}"/>
              </a:ext>
            </a:extLst>
          </p:cNvPr>
          <p:cNvSpPr txBox="1"/>
          <p:nvPr/>
        </p:nvSpPr>
        <p:spPr>
          <a:xfrm>
            <a:off x="445477" y="5768788"/>
            <a:ext cx="4350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PRG exists, then P!=NP</a:t>
            </a:r>
          </a:p>
        </p:txBody>
      </p:sp>
    </p:spTree>
    <p:extLst>
      <p:ext uri="{BB962C8B-B14F-4D97-AF65-F5344CB8AC3E}">
        <p14:creationId xmlns:p14="http://schemas.microsoft.com/office/powerpoint/2010/main" val="122370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One-time pad</a:t>
            </a: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5334000" y="2433936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key</a:t>
            </a:r>
          </a:p>
        </p:txBody>
      </p:sp>
      <p:sp>
        <p:nvSpPr>
          <p:cNvPr id="32774" name="Line 14"/>
          <p:cNvSpPr>
            <a:spLocks noChangeShapeType="1"/>
          </p:cNvSpPr>
          <p:nvPr/>
        </p:nvSpPr>
        <p:spPr bwMode="auto">
          <a:xfrm>
            <a:off x="4572000" y="4195019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5" name="Line 18"/>
          <p:cNvSpPr>
            <a:spLocks noChangeShapeType="1"/>
          </p:cNvSpPr>
          <p:nvPr/>
        </p:nvSpPr>
        <p:spPr bwMode="auto">
          <a:xfrm flipV="1">
            <a:off x="6119976" y="2971800"/>
            <a:ext cx="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lg" len="med"/>
            <a:tailEnd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6" name="Line 19"/>
          <p:cNvSpPr>
            <a:spLocks noChangeShapeType="1"/>
          </p:cNvSpPr>
          <p:nvPr/>
        </p:nvSpPr>
        <p:spPr bwMode="auto">
          <a:xfrm>
            <a:off x="6324600" y="4195019"/>
            <a:ext cx="131673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80" name="Text Box 26"/>
          <p:cNvSpPr txBox="1">
            <a:spLocks noChangeArrowheads="1"/>
          </p:cNvSpPr>
          <p:nvPr/>
        </p:nvSpPr>
        <p:spPr bwMode="auto">
          <a:xfrm>
            <a:off x="5642617" y="1595736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007818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message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3312620" y="32004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7677354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 err="1">
                <a:latin typeface="Calibri"/>
              </a:rPr>
              <a:t>ciphertext</a:t>
            </a:r>
            <a:endParaRPr lang="en-US" altLang="en-US" dirty="0">
              <a:latin typeface="Calibri"/>
            </a:endParaRP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7982156" y="31242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0" y="3779522"/>
            <a:ext cx="657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prstClr val="black"/>
                </a:solidFill>
                <a:latin typeface="Calibri"/>
                <a:sym typeface="Symbol"/>
              </a:rPr>
              <a:t></a:t>
            </a:r>
            <a:endParaRPr lang="en-US" sz="4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ight Brace 1"/>
          <p:cNvSpPr/>
          <p:nvPr/>
        </p:nvSpPr>
        <p:spPr>
          <a:xfrm rot="16200000">
            <a:off x="3587665" y="3001554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Right Brace 16"/>
          <p:cNvSpPr/>
          <p:nvPr/>
        </p:nvSpPr>
        <p:spPr>
          <a:xfrm rot="16200000">
            <a:off x="5913847" y="1454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Right Brace 17"/>
          <p:cNvSpPr/>
          <p:nvPr/>
        </p:nvSpPr>
        <p:spPr>
          <a:xfrm rot="16200000">
            <a:off x="8257201" y="2978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4352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5029-4DC8-7A3B-167F-E9A3DCD3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EAV-security from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Construction: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choose uniform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output it as the key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  <a:blipFill>
                <a:blip r:embed="rId2"/>
                <a:stretch>
                  <a:fillRect l="-1159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53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0B63-D3CA-ED12-2D0F-D2F65068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EAV-security from PRG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BB361-25B9-612C-DFED-1A75689E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7" y="1485900"/>
            <a:ext cx="10515600" cy="5085374"/>
          </a:xfrm>
        </p:spPr>
        <p:txBody>
          <a:bodyPr/>
          <a:lstStyle/>
          <a:p>
            <a:r>
              <a:rPr lang="en-US" dirty="0"/>
              <a:t>Theorem: if </a:t>
            </a:r>
            <a:r>
              <a:rPr lang="en-US" i="1" dirty="0"/>
              <a:t>G</a:t>
            </a:r>
            <a:r>
              <a:rPr lang="en-US" dirty="0"/>
              <a:t> is a PRG, then the construction is EAV secure.</a:t>
            </a:r>
          </a:p>
          <a:p>
            <a:endParaRPr lang="en-US" dirty="0"/>
          </a:p>
          <a:p>
            <a:pPr lvl="1"/>
            <a:r>
              <a:rPr lang="en-US" altLang="zh-CN" dirty="0"/>
              <a:t>Game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Demo;</a:t>
            </a:r>
            <a:r>
              <a:rPr lang="zh-CN" altLang="en-US" dirty="0"/>
              <a:t> 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56190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9E62-23D2-802D-87FC-B8D7EF1C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reduction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9E84A5-E6A9-E983-A890-D76AED255853}"/>
              </a:ext>
            </a:extLst>
          </p:cNvPr>
          <p:cNvSpPr/>
          <p:nvPr/>
        </p:nvSpPr>
        <p:spPr>
          <a:xfrm>
            <a:off x="3516405" y="1612289"/>
            <a:ext cx="4034118" cy="52174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65FBD-A2EF-85B4-9FEB-D6E2ACA03E1D}"/>
              </a:ext>
            </a:extLst>
          </p:cNvPr>
          <p:cNvSpPr txBox="1"/>
          <p:nvPr/>
        </p:nvSpPr>
        <p:spPr>
          <a:xfrm>
            <a:off x="3818964" y="1867783"/>
            <a:ext cx="954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A’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E7A85B-BB86-8710-DCF4-73765B1F1B2C}"/>
              </a:ext>
            </a:extLst>
          </p:cNvPr>
          <p:cNvSpPr/>
          <p:nvPr/>
        </p:nvSpPr>
        <p:spPr>
          <a:xfrm>
            <a:off x="5868518" y="4093272"/>
            <a:ext cx="1417545" cy="21425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C9ADC-053F-F9A2-CA86-F73BFF9F5017}"/>
              </a:ext>
            </a:extLst>
          </p:cNvPr>
          <p:cNvSpPr txBox="1"/>
          <p:nvPr/>
        </p:nvSpPr>
        <p:spPr>
          <a:xfrm>
            <a:off x="6169960" y="4785358"/>
            <a:ext cx="954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709E86-B93A-9082-9184-878B3EFA15B3}"/>
              </a:ext>
            </a:extLst>
          </p:cNvPr>
          <p:cNvCxnSpPr/>
          <p:nvPr/>
        </p:nvCxnSpPr>
        <p:spPr>
          <a:xfrm>
            <a:off x="544605" y="2809077"/>
            <a:ext cx="29718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2139DF-038D-CF7B-6FBB-2B035FF7D2EE}"/>
              </a:ext>
            </a:extLst>
          </p:cNvPr>
          <p:cNvSpPr txBox="1"/>
          <p:nvPr/>
        </p:nvSpPr>
        <p:spPr>
          <a:xfrm>
            <a:off x="1001805" y="1867783"/>
            <a:ext cx="1976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Instance of problem 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A7D077-E798-E918-5762-3A0190559ECA}"/>
              </a:ext>
            </a:extLst>
          </p:cNvPr>
          <p:cNvCxnSpPr>
            <a:cxnSpLocks/>
          </p:cNvCxnSpPr>
          <p:nvPr/>
        </p:nvCxnSpPr>
        <p:spPr>
          <a:xfrm flipH="1">
            <a:off x="544605" y="5834665"/>
            <a:ext cx="301886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F83289F-B172-2938-56D2-09C34AF7D5E9}"/>
              </a:ext>
            </a:extLst>
          </p:cNvPr>
          <p:cNvSpPr txBox="1"/>
          <p:nvPr/>
        </p:nvSpPr>
        <p:spPr>
          <a:xfrm>
            <a:off x="1001805" y="5023522"/>
            <a:ext cx="1976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Solution of problem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9B0B28-EB93-08E2-C4E2-48C8CE04CF74}"/>
                  </a:ext>
                </a:extLst>
              </p:cNvPr>
              <p:cNvSpPr txBox="1"/>
              <p:nvPr/>
            </p:nvSpPr>
            <p:spPr>
              <a:xfrm>
                <a:off x="3966881" y="3966139"/>
                <a:ext cx="156658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Instance of scheme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9B0B28-EB93-08E2-C4E2-48C8CE04C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881" y="3966139"/>
                <a:ext cx="1566583" cy="707886"/>
              </a:xfrm>
              <a:prstGeom prst="rect">
                <a:avLst/>
              </a:prstGeom>
              <a:blipFill>
                <a:blip r:embed="rId2"/>
                <a:stretch>
                  <a:fillRect l="-4280" t="-6034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0C2E42-B9B9-5A08-5014-A345CD769C4C}"/>
              </a:ext>
            </a:extLst>
          </p:cNvPr>
          <p:cNvCxnSpPr>
            <a:cxnSpLocks/>
          </p:cNvCxnSpPr>
          <p:nvPr/>
        </p:nvCxnSpPr>
        <p:spPr>
          <a:xfrm>
            <a:off x="3761813" y="4742776"/>
            <a:ext cx="202378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A48ACE-85C7-A14A-E183-C4007C70D96B}"/>
              </a:ext>
            </a:extLst>
          </p:cNvPr>
          <p:cNvCxnSpPr>
            <a:cxnSpLocks/>
          </p:cNvCxnSpPr>
          <p:nvPr/>
        </p:nvCxnSpPr>
        <p:spPr>
          <a:xfrm flipH="1">
            <a:off x="3818964" y="5639683"/>
            <a:ext cx="19666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D7DCF75-A5D0-5A95-6598-B71A581A7B43}"/>
              </a:ext>
            </a:extLst>
          </p:cNvPr>
          <p:cNvSpPr txBox="1"/>
          <p:nvPr/>
        </p:nvSpPr>
        <p:spPr>
          <a:xfrm>
            <a:off x="4095143" y="5720980"/>
            <a:ext cx="1566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“break”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3F08D5-8CE5-81E8-28DD-CFD4C629D67A}"/>
              </a:ext>
            </a:extLst>
          </p:cNvPr>
          <p:cNvSpPr txBox="1"/>
          <p:nvPr/>
        </p:nvSpPr>
        <p:spPr>
          <a:xfrm>
            <a:off x="8175811" y="1148854"/>
            <a:ext cx="38256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X is the hard problem in the assumption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Polynomial time reduction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Non-negligible success probability</a:t>
            </a:r>
          </a:p>
        </p:txBody>
      </p:sp>
    </p:spTree>
    <p:extLst>
      <p:ext uri="{BB962C8B-B14F-4D97-AF65-F5344CB8AC3E}">
        <p14:creationId xmlns:p14="http://schemas.microsoft.com/office/powerpoint/2010/main" val="2212785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Indistinguishability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261" y="1429870"/>
                <a:ext cx="11173385" cy="48768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 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eav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Adversary </a:t>
                </a:r>
                <a:r>
                  <a:rPr lang="en-US" sz="2200" i="1" dirty="0"/>
                  <a:t>A </a:t>
                </a:r>
                <a:r>
                  <a:rPr lang="en-US" sz="2200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and outputs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Monotype Corsiva" panose="03010101010201010101" pitchFamily="66" charset="0"/>
                  </a:rPr>
                  <a:t> M </a:t>
                </a:r>
                <a:r>
                  <a:rPr lang="en-US" sz="2200" dirty="0" err="1">
                    <a:latin typeface="+mj-lt"/>
                  </a:rPr>
                  <a:t>s.t.</a:t>
                </a:r>
                <a:r>
                  <a:rPr lang="en-US" sz="22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|=|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key </a:t>
                </a:r>
                <a:r>
                  <a:rPr lang="en-US" sz="2200" i="1" dirty="0"/>
                  <a:t>k</a:t>
                </a:r>
                <a:r>
                  <a:rPr lang="en-US" sz="2200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, a random bit </a:t>
                </a:r>
                <a:r>
                  <a:rPr lang="en-US" sz="2200" i="1" dirty="0"/>
                  <a:t>b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/>
                  <a:t> is chosen.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is given to </a:t>
                </a:r>
                <a:r>
                  <a:rPr lang="en-US" sz="2200" i="1" dirty="0"/>
                  <a:t>A. </a:t>
                </a: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i="1" dirty="0"/>
                  <a:t>A </a:t>
                </a:r>
                <a:r>
                  <a:rPr lang="en-US" sz="2200" dirty="0"/>
                  <a:t>outputs</a:t>
                </a:r>
                <a:r>
                  <a:rPr lang="en-US" sz="2200" i="1" dirty="0"/>
                  <a:t> 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Experiment outputs 1 if </a:t>
                </a:r>
                <a:r>
                  <a:rPr lang="en-US" sz="2200" i="1" dirty="0"/>
                  <a:t>b=b’, </a:t>
                </a:r>
                <a:r>
                  <a:rPr lang="en-US" sz="2200" dirty="0"/>
                  <a:t>and 0 otherwise</a:t>
                </a:r>
                <a:r>
                  <a:rPr lang="en-US" sz="2200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0" indent="0">
                  <a:buNone/>
                </a:pPr>
                <a:r>
                  <a:rPr lang="en-US" sz="2400" dirty="0"/>
                  <a:t>Definition (EAV security):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070C0"/>
                    </a:solidFill>
                  </a:rPr>
                  <a:t>EAV-secure</a:t>
                </a:r>
                <a:r>
                  <a:rPr lang="en-US" sz="2400" dirty="0"/>
                  <a:t>, if for all </a:t>
                </a:r>
                <a:r>
                  <a:rPr lang="en-US" sz="2400" dirty="0">
                    <a:solidFill>
                      <a:srgbClr val="0070C0"/>
                    </a:solidFill>
                  </a:rPr>
                  <a:t>probabilistic polynomial time </a:t>
                </a:r>
                <a:r>
                  <a:rPr lang="en-US" sz="2400" dirty="0"/>
                  <a:t>adversaries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there is 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negligible function </a:t>
                </a:r>
                <a:r>
                  <a:rPr lang="en-US" sz="2400" dirty="0" err="1">
                    <a:solidFill>
                      <a:srgbClr val="0070C0"/>
                    </a:solidFill>
                  </a:rPr>
                  <a:t>negl</a:t>
                </a:r>
                <a:r>
                  <a:rPr lang="en-US" sz="2400" dirty="0"/>
                  <a:t> such that for all </a:t>
                </a:r>
                <a:r>
                  <a:rPr lang="en-US" sz="2400" i="1" dirty="0"/>
                  <a:t>n</a:t>
                </a:r>
                <a:r>
                  <a:rPr lang="en-US" sz="2400" dirty="0"/>
                  <a:t>,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𝒆𝒂𝒗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261" y="1429870"/>
                <a:ext cx="11173385" cy="4876800"/>
              </a:xfrm>
              <a:blipFill>
                <a:blip r:embed="rId2"/>
                <a:stretch>
                  <a:fillRect l="-709" t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03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167615-EE24-CE4D-7FD5-0B0B24539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6" y="396688"/>
                <a:ext cx="11697217" cy="64613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there is </a:t>
                </a:r>
                <a:r>
                  <a:rPr lang="en-US" i="1" dirty="0"/>
                  <a:t>A</a:t>
                </a:r>
                <a:r>
                  <a:rPr lang="en-US" dirty="0"/>
                  <a:t> breaks the EAV security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PrivK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𝛱</m:t>
                              </m:r>
                            </m:sub>
                            <m:sup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𝑒𝑎𝑣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]&gt;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Distinguisher </a:t>
                </a:r>
                <a:r>
                  <a:rPr lang="en-US" i="1" dirty="0"/>
                  <a:t>D</a:t>
                </a:r>
                <a:r>
                  <a:rPr lang="en-US" dirty="0"/>
                  <a:t> with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a string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of (</a:t>
                </a:r>
                <a:r>
                  <a:rPr lang="en-US" dirty="0" err="1"/>
                  <a:t>n+s</a:t>
                </a:r>
                <a:r>
                  <a:rPr lang="en-US" dirty="0"/>
                  <a:t>) bits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Run </a:t>
                </a:r>
                <a:r>
                  <a:rPr lang="en-US" i="1" dirty="0"/>
                  <a:t>A </a:t>
                </a:r>
                <a:r>
                  <a:rPr lang="en-US" dirty="0"/>
                  <a:t>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latin typeface="Monotype Corsiva" panose="03010101010201010101" pitchFamily="66" charset="0"/>
                  </a:rPr>
                  <a:t> M </a:t>
                </a:r>
                <a:r>
                  <a:rPr lang="en-US" sz="2400" dirty="0" err="1">
                    <a:latin typeface="+mj-lt"/>
                  </a:rPr>
                  <a:t>s.t.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>
                  <a:latin typeface="Monotype Corsiva" panose="03010101010201010101" pitchFamily="66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Choose a random bit </a:t>
                </a:r>
                <a:r>
                  <a:rPr lang="en-US" sz="2400" i="1" dirty="0"/>
                  <a:t>b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/>
                  <a:t>,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Give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to </a:t>
                </a:r>
                <a:r>
                  <a:rPr lang="en-US" i="1" dirty="0"/>
                  <a:t>A</a:t>
                </a:r>
                <a:r>
                  <a:rPr lang="en-US" dirty="0"/>
                  <a:t> and obtain output </a:t>
                </a:r>
                <a:r>
                  <a:rPr lang="en-US" i="1" dirty="0"/>
                  <a:t>b’</a:t>
                </a:r>
                <a:r>
                  <a:rPr lang="en-US" dirty="0"/>
                  <a:t>. Output 1 if </a:t>
                </a:r>
                <a:r>
                  <a:rPr lang="en-US" i="1" dirty="0"/>
                  <a:t>b’=b</a:t>
                </a:r>
                <a:r>
                  <a:rPr lang="en-US" dirty="0"/>
                  <a:t>, 0 otherwise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random string,</a:t>
                </a:r>
                <a:endParaRPr lang="en-US" b="0" i="0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PrivK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OTP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eav</m:t>
                            </m:r>
                          </m:sup>
                        </m:sSubSup>
                        <m:d>
                          <m:d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PrivK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eav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i="0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167615-EE24-CE4D-7FD5-0B0B24539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6" y="396688"/>
                <a:ext cx="11697217" cy="6461312"/>
              </a:xfrm>
              <a:blipFill>
                <a:blip r:embed="rId2"/>
                <a:stretch>
                  <a:fillRect l="-1042" t="-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06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1AF7-FB0B-1133-5B8E-8B0CA07D5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199320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5ED46-5C62-581D-8C52-A6DA5804B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612289"/>
                <a:ext cx="10515600" cy="4482246"/>
              </a:xfrm>
            </p:spPr>
            <p:txBody>
              <a:bodyPr/>
              <a:lstStyle/>
              <a:p>
                <a:r>
                  <a:rPr lang="en-US" dirty="0"/>
                  <a:t>PRG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EAV secure encryption</a:t>
                </a:r>
              </a:p>
              <a:p>
                <a:pPr lvl="1"/>
                <a:r>
                  <a:rPr lang="en-US" dirty="0"/>
                  <a:t>Key shorter than message, but still one encryption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Common reductions in crypto and TCS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5ED46-5C62-581D-8C52-A6DA5804B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612289"/>
                <a:ext cx="10515600" cy="4482246"/>
              </a:xfrm>
              <a:blipFill>
                <a:blip r:embed="rId2"/>
                <a:stretch>
                  <a:fillRect l="-1159" t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991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B5C8-F6E4-AEC4-BBD7-E861C66A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5980E-24F3-FA23-72DA-44FDC3C73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Adversary can’t infer any information about the message 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B8437-B2C9-B9EC-1770-CCF44F6F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91" y="2590169"/>
            <a:ext cx="9989063" cy="32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08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B5C8-F6E4-AEC4-BBD7-E861C66A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5980E-24F3-FA23-72DA-44FDC3C73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7" y="4234470"/>
            <a:ext cx="10515600" cy="1436618"/>
          </a:xfrm>
        </p:spPr>
        <p:txBody>
          <a:bodyPr/>
          <a:lstStyle/>
          <a:p>
            <a:r>
              <a:rPr lang="en-US" dirty="0"/>
              <a:t>EAV-security is equivalent to semantic security.</a:t>
            </a:r>
          </a:p>
          <a:p>
            <a:pPr lvl="1"/>
            <a:r>
              <a:rPr lang="en-US" dirty="0"/>
              <a:t>Demo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C2274-4AFD-77F3-E745-BC5ED09C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76" y="2271943"/>
            <a:ext cx="10164247" cy="105195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DAB00B-55E8-AD2B-FAF5-5639E6D3E40A}"/>
              </a:ext>
            </a:extLst>
          </p:cNvPr>
          <p:cNvSpPr txBox="1">
            <a:spLocks/>
          </p:cNvSpPr>
          <p:nvPr/>
        </p:nvSpPr>
        <p:spPr>
          <a:xfrm>
            <a:off x="838200" y="1481774"/>
            <a:ext cx="10515600" cy="1436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899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5029-4DC8-7A3B-167F-E9A3DCD3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 encrypt 2 messages now?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Construction: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choose uniform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output it as the key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  <a:blipFill>
                <a:blip r:embed="rId2"/>
                <a:stretch>
                  <a:fillRect l="-1159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827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C0DD-93E3-5E77-18BF-0B598B02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1509702" cy="1325563"/>
          </a:xfrm>
        </p:spPr>
        <p:txBody>
          <a:bodyPr/>
          <a:lstStyle/>
          <a:p>
            <a:r>
              <a:rPr lang="en-US" dirty="0"/>
              <a:t>Indistinguishability for multiple encryptions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688A2-D751-362C-3268-635A42B0F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6821" y="1497407"/>
                <a:ext cx="11570599" cy="530229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Adversary </a:t>
                </a:r>
                <a:r>
                  <a:rPr lang="en-US" sz="2200" i="1" dirty="0"/>
                  <a:t>A </a:t>
                </a:r>
                <a:r>
                  <a:rPr lang="en-US" sz="2200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and outputs two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lists</a:t>
                </a:r>
                <a:r>
                  <a:rPr lang="en-US" sz="2200" dirty="0"/>
                  <a:t> of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},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  <a:latin typeface="+mj-lt"/>
                  </a:rPr>
                  <a:t> </a:t>
                </a:r>
                <a:r>
                  <a:rPr lang="en-US" sz="2200" dirty="0" err="1">
                    <a:latin typeface="+mj-lt"/>
                  </a:rPr>
                  <a:t>s.t.</a:t>
                </a:r>
                <a:r>
                  <a:rPr lang="en-US" sz="22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∀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2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key </a:t>
                </a:r>
                <a:r>
                  <a:rPr lang="en-US" sz="2200" i="1" dirty="0"/>
                  <a:t>k</a:t>
                </a:r>
                <a:r>
                  <a:rPr lang="en-US" sz="2200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, a random bit </a:t>
                </a:r>
                <a:r>
                  <a:rPr lang="en-US" sz="2200" i="1" dirty="0"/>
                  <a:t>b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/>
                  <a:t> is chosen. A list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is given to </a:t>
                </a:r>
                <a:r>
                  <a:rPr lang="en-US" sz="2200" i="1" dirty="0"/>
                  <a:t>A</a:t>
                </a:r>
                <a:r>
                  <a:rPr lang="en-US" sz="22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2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𝑬𝒏𝒄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</a:rPr>
                  <a:t> </a:t>
                </a:r>
                <a:endParaRPr lang="en-US" sz="2200" b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i="1" dirty="0"/>
                  <a:t>A </a:t>
                </a:r>
                <a:r>
                  <a:rPr lang="en-US" sz="2200" dirty="0"/>
                  <a:t>outputs</a:t>
                </a:r>
                <a:r>
                  <a:rPr lang="en-US" sz="2200" i="1" dirty="0"/>
                  <a:t> 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Experiment outputs 1 if </a:t>
                </a:r>
                <a:r>
                  <a:rPr lang="en-US" sz="2200" i="1" dirty="0"/>
                  <a:t>b=b’, </a:t>
                </a:r>
                <a:r>
                  <a:rPr lang="en-US" sz="2200" dirty="0"/>
                  <a:t>and 0 otherwise</a:t>
                </a:r>
                <a:r>
                  <a:rPr lang="en-US" sz="2200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0" indent="0">
                  <a:buNone/>
                </a:pPr>
                <a:r>
                  <a:rPr lang="en-US" sz="2400" dirty="0"/>
                  <a:t>Definition: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secure, if for all probabilistic polynomial time adversaries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there is a negligible function </a:t>
                </a:r>
                <a:r>
                  <a:rPr lang="en-US" sz="2400" dirty="0" err="1"/>
                  <a:t>negl</a:t>
                </a:r>
                <a:r>
                  <a:rPr lang="en-US" sz="2400" dirty="0"/>
                  <a:t> such that for all </a:t>
                </a:r>
                <a:r>
                  <a:rPr lang="en-US" sz="2400" i="1" dirty="0"/>
                  <a:t>n</a:t>
                </a:r>
                <a:r>
                  <a:rPr lang="en-US" sz="2400" dirty="0"/>
                  <a:t>,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688A2-D751-362C-3268-635A42B0F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6821" y="1497407"/>
                <a:ext cx="11570599" cy="5302292"/>
              </a:xfrm>
              <a:blipFill>
                <a:blip r:embed="rId2"/>
                <a:stretch>
                  <a:fillRect l="-948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29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FD5C-7979-0EFB-7231-4423B116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now?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8FF39-38AC-9F82-3FDD-382EA0887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construction is not secure under the new definition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e>
                      </m:d>
                      <m:r>
                        <a:rPr lang="en-US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8FF39-38AC-9F82-3FDD-382EA0887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22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824D-DB79-326B-63D9-58848F01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Necessity of probabilistic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758B7-8B79-66E5-56E2-4E4237C3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 deterministic encryption can be secure under the definition of multiple encryptions.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zh-CN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883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926D-2481-1CF2-A6BB-E7E0C5B6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202383" cy="1325563"/>
          </a:xfrm>
        </p:spPr>
        <p:txBody>
          <a:bodyPr/>
          <a:lstStyle/>
          <a:p>
            <a:r>
              <a:rPr lang="en-US" dirty="0"/>
              <a:t>Probabilistic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A3573-144E-E75A-F37E-5D3BDD5ECE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663103"/>
                <a:ext cx="10515600" cy="44314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Encrypting the same message multiple times gives </a:t>
                </a:r>
                <a:r>
                  <a:rPr lang="en-US" sz="2400" dirty="0">
                    <a:solidFill>
                      <a:srgbClr val="0070C0"/>
                    </a:solidFill>
                  </a:rPr>
                  <a:t>different</a:t>
                </a:r>
                <a:r>
                  <a:rPr lang="en-US" sz="2400" dirty="0"/>
                  <a:t> ciphertexts.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 random 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r</a:t>
                </a:r>
                <a:r>
                  <a:rPr lang="en-US" sz="2400" dirty="0"/>
                  <a:t> is chosen for every encryption, and sent to the receiver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Dec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A3573-144E-E75A-F37E-5D3BDD5EC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663103"/>
                <a:ext cx="10515600" cy="4431432"/>
              </a:xfrm>
              <a:blipFill>
                <a:blip r:embed="rId2"/>
                <a:stretch>
                  <a:fillRect l="-870" t="-1926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92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E138-BFF2-7DF6-CD64-6E2A7D2C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150355"/>
            <a:ext cx="11644241" cy="1325563"/>
          </a:xfrm>
        </p:spPr>
        <p:txBody>
          <a:bodyPr/>
          <a:lstStyle/>
          <a:p>
            <a:r>
              <a:rPr lang="en-US" b="1" dirty="0"/>
              <a:t>Chosen-plaintext attack (CPA)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CPA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key </a:t>
                </a:r>
                <a:r>
                  <a:rPr lang="en-US" sz="2200" i="1" dirty="0"/>
                  <a:t>k</a:t>
                </a:r>
                <a:r>
                  <a:rPr lang="en-US" sz="2200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Adversary </a:t>
                </a:r>
                <a:r>
                  <a:rPr lang="en-US" sz="2200" i="1" dirty="0"/>
                  <a:t>A </a:t>
                </a:r>
                <a:r>
                  <a:rPr lang="en-US" sz="2200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and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200" b="1" dirty="0">
                    <a:latin typeface="Monotype Corsiva" panose="03010101010201010101" pitchFamily="66" charset="0"/>
                  </a:rPr>
                  <a:t>. </a:t>
                </a:r>
                <a:r>
                  <a:rPr lang="en-US" sz="2200" i="1" dirty="0"/>
                  <a:t>A</a:t>
                </a:r>
                <a:r>
                  <a:rPr lang="en-US" sz="2200" dirty="0"/>
                  <a:t> outputs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Monotype Corsiva" panose="03010101010201010101" pitchFamily="66" charset="0"/>
                  </a:rPr>
                  <a:t> M </a:t>
                </a:r>
                <a:r>
                  <a:rPr lang="en-US" sz="2200" dirty="0" err="1"/>
                  <a:t>s.t.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|=|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random bit </a:t>
                </a:r>
                <a:r>
                  <a:rPr lang="en-US" sz="2200" i="1" dirty="0"/>
                  <a:t>b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/>
                  <a:t> is chosen.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is given to </a:t>
                </a:r>
                <a:r>
                  <a:rPr lang="en-US" sz="2200" i="1" dirty="0"/>
                  <a:t>A. </a:t>
                </a: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b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i="1" dirty="0"/>
                  <a:t>A </a:t>
                </a:r>
                <a:r>
                  <a:rPr lang="en-US" sz="2200" dirty="0"/>
                  <a:t>continues to have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 outputs</a:t>
                </a:r>
                <a:r>
                  <a:rPr lang="en-US" sz="2200" i="1" dirty="0"/>
                  <a:t> 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Experiment outputs 1 if </a:t>
                </a:r>
                <a:r>
                  <a:rPr lang="en-US" sz="2200" i="1" dirty="0"/>
                  <a:t>b=b’, </a:t>
                </a:r>
                <a:r>
                  <a:rPr lang="en-US" sz="2200" dirty="0"/>
                  <a:t>and 0 otherwise</a:t>
                </a:r>
                <a:r>
                  <a:rPr lang="en-US" sz="2200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0" indent="0">
                  <a:buNone/>
                </a:pPr>
                <a:r>
                  <a:rPr lang="en-US" sz="2400" dirty="0"/>
                  <a:t>Definition: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CPA-secure, if for all probabilistic polynomial time adversaries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there is a negligible function </a:t>
                </a:r>
                <a:r>
                  <a:rPr lang="en-US" sz="2400" dirty="0" err="1"/>
                  <a:t>negl</a:t>
                </a:r>
                <a:r>
                  <a:rPr lang="en-US" sz="2400" dirty="0"/>
                  <a:t> such that for all </a:t>
                </a:r>
                <a:r>
                  <a:rPr lang="en-US" sz="2400" i="1" dirty="0"/>
                  <a:t>n</a:t>
                </a:r>
                <a:r>
                  <a:rPr lang="en-US" sz="2400" dirty="0"/>
                  <a:t>,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𝐂𝐏𝐀</m:t>
                              </m:r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  <a:blipFill>
                <a:blip r:embed="rId2"/>
                <a:stretch>
                  <a:fillRect l="-948" t="-1956" r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989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EFE9-1317-C05E-CB37-FFE225BC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multiple encryptions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7AC7-203F-2DA7-4010-12262BCFF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Theorem:</a:t>
            </a:r>
            <a:r>
              <a:rPr lang="en-US" dirty="0"/>
              <a:t> any private-key encryption scheme that is CPA-secure, is also CPA-secure for </a:t>
            </a:r>
            <a:r>
              <a:rPr lang="en-US" b="1" dirty="0"/>
              <a:t>multiple</a:t>
            </a:r>
            <a:r>
              <a:rPr lang="en-US" dirty="0"/>
              <a:t> encryptions.</a:t>
            </a:r>
          </a:p>
          <a:p>
            <a:endParaRPr lang="en-US" dirty="0"/>
          </a:p>
          <a:p>
            <a:pPr lvl="1"/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00948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FF8C-7C70-AE7A-7B0F-790BE28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1245342" cy="1325563"/>
          </a:xfrm>
        </p:spPr>
        <p:txBody>
          <a:bodyPr/>
          <a:lstStyle/>
          <a:p>
            <a:r>
              <a:rPr lang="en-US" dirty="0"/>
              <a:t>Stream cipher with Initialization Vector (IV)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40A30-CD7E-9834-02B5-26FA7ACF6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PRG with IV: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𝑰𝑽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𝑰𝑽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40A30-CD7E-9834-02B5-26FA7ACF6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576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A942-7A57-4D7B-B065-D05C03B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RC4 (Ron Rivest 1987)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C115-70B3-4E02-9764-A986EF7FEF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  <p:pic>
        <p:nvPicPr>
          <p:cNvPr id="70658" name="Picture 2" descr="https://upload.wikimedia.org/wikipedia/commons/thumb/e/e9/RC4.svg/2560px-RC4.svg.png">
            <a:extLst>
              <a:ext uri="{FF2B5EF4-FFF2-40B4-BE49-F238E27FC236}">
                <a16:creationId xmlns:a16="http://schemas.microsoft.com/office/drawing/2014/main" id="{A82F9138-2825-4913-B012-D37F14392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257" y="1348629"/>
            <a:ext cx="6324600" cy="282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30CDBA-E1DE-4FAD-9FE0-311BDB740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19" y="4883295"/>
            <a:ext cx="4622051" cy="1838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BF4762-47BE-4361-92B6-A91830679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875" y="4609772"/>
            <a:ext cx="3524250" cy="2248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532175-7A24-4485-8BE8-F116E24E588D}"/>
              </a:ext>
            </a:extLst>
          </p:cNvPr>
          <p:cNvSpPr txBox="1"/>
          <p:nvPr/>
        </p:nvSpPr>
        <p:spPr>
          <a:xfrm>
            <a:off x="2373451" y="429256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scheduling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8C007-5E78-4D22-81F5-582A0CA60F6E}"/>
              </a:ext>
            </a:extLst>
          </p:cNvPr>
          <p:cNvSpPr txBox="1"/>
          <p:nvPr/>
        </p:nvSpPr>
        <p:spPr>
          <a:xfrm>
            <a:off x="8701120" y="4240440"/>
            <a:ext cx="205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PRG</a:t>
            </a:r>
          </a:p>
        </p:txBody>
      </p:sp>
    </p:spTree>
    <p:extLst>
      <p:ext uri="{BB962C8B-B14F-4D97-AF65-F5344CB8AC3E}">
        <p14:creationId xmlns:p14="http://schemas.microsoft.com/office/powerpoint/2010/main" val="3495041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A942-7A57-4D7B-B065-D05C03B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of RC4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15E6F-4F1F-E644-D3F3-80146E550DCB}"/>
              </a:ext>
            </a:extLst>
          </p:cNvPr>
          <p:cNvSpPr txBox="1"/>
          <p:nvPr/>
        </p:nvSpPr>
        <p:spPr>
          <a:xfrm>
            <a:off x="742566" y="1546502"/>
            <a:ext cx="104082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Output not uniform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Handling IV is not secure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Replacement: ChaCha20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dirty="0"/>
              <a:t>See more in</a:t>
            </a:r>
            <a:r>
              <a:rPr lang="zh-CN" altLang="en-US" sz="2800" dirty="0"/>
              <a:t> </a:t>
            </a:r>
            <a:r>
              <a:rPr lang="en-US" altLang="zh-CN" sz="2800" dirty="0"/>
              <a:t>textbook</a:t>
            </a:r>
            <a:r>
              <a:rPr lang="en-US" sz="2800" dirty="0"/>
              <a:t> Chapter 7.1*</a:t>
            </a:r>
          </a:p>
        </p:txBody>
      </p:sp>
    </p:spTree>
    <p:extLst>
      <p:ext uri="{BB962C8B-B14F-4D97-AF65-F5344CB8AC3E}">
        <p14:creationId xmlns:p14="http://schemas.microsoft.com/office/powerpoint/2010/main" val="75547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4758</TotalTime>
  <Words>1382</Words>
  <Application>Microsoft Macintosh PowerPoint</Application>
  <PresentationFormat>Widescreen</PresentationFormat>
  <Paragraphs>223</Paragraphs>
  <Slides>28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Georgia</vt:lpstr>
      <vt:lpstr>Monotype Corsiva</vt:lpstr>
      <vt:lpstr>Office Theme</vt:lpstr>
      <vt:lpstr>Last time: Computational security</vt:lpstr>
      <vt:lpstr>Definition of computational security</vt:lpstr>
      <vt:lpstr>Computation indistinguishability against eavesdropper</vt:lpstr>
      <vt:lpstr>Computational Indistinguishability against eavesdropper</vt:lpstr>
      <vt:lpstr>Definition</vt:lpstr>
      <vt:lpstr>Example that is not a PRG</vt:lpstr>
      <vt:lpstr>Brute-force search</vt:lpstr>
      <vt:lpstr>PowerPoint Presentation</vt:lpstr>
      <vt:lpstr>Existence of PRG</vt:lpstr>
      <vt:lpstr>One-time pad</vt:lpstr>
      <vt:lpstr>EAV-security from PRG</vt:lpstr>
      <vt:lpstr>EAV-security from PRG</vt:lpstr>
      <vt:lpstr>Proof by reduction</vt:lpstr>
      <vt:lpstr>Indistinguishability experiment</vt:lpstr>
      <vt:lpstr>PowerPoint Presentation</vt:lpstr>
      <vt:lpstr>PowerPoint Presentation</vt:lpstr>
      <vt:lpstr>Semantic security</vt:lpstr>
      <vt:lpstr>Semantic security</vt:lpstr>
      <vt:lpstr>Can you encrypt 2 messages now?</vt:lpstr>
      <vt:lpstr>Indistinguishability for multiple encryptions</vt:lpstr>
      <vt:lpstr>Security now?</vt:lpstr>
      <vt:lpstr>Necessity of probabilistic encryption</vt:lpstr>
      <vt:lpstr>Probabilistic encryption</vt:lpstr>
      <vt:lpstr>Chosen-plaintext attack (CPA) security</vt:lpstr>
      <vt:lpstr>What about multiple encryptions now?</vt:lpstr>
      <vt:lpstr>Stream cipher with Initialization Vector (IV)</vt:lpstr>
      <vt:lpstr>RC4 (Ron Rivest 1987)</vt:lpstr>
      <vt:lpstr>Vulnerability of RC4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CSCE 689 Section 602 Techniques in Applied Cryptography</dc:title>
  <dc:creator>Yupeng Zhang</dc:creator>
  <cp:lastModifiedBy>Luo, Ning</cp:lastModifiedBy>
  <cp:revision>130</cp:revision>
  <dcterms:created xsi:type="dcterms:W3CDTF">2019-08-25T21:23:20Z</dcterms:created>
  <dcterms:modified xsi:type="dcterms:W3CDTF">2026-09-10T20:44:56Z</dcterms:modified>
</cp:coreProperties>
</file>