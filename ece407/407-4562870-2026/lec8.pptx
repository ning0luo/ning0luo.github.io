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1" r:id="rId2"/>
  </p:sldMasterIdLst>
  <p:notesMasterIdLst>
    <p:notesMasterId r:id="rId49"/>
  </p:notesMasterIdLst>
  <p:sldIdLst>
    <p:sldId id="256" r:id="rId3"/>
    <p:sldId id="329" r:id="rId4"/>
    <p:sldId id="679" r:id="rId5"/>
    <p:sldId id="678" r:id="rId6"/>
    <p:sldId id="680" r:id="rId7"/>
    <p:sldId id="348" r:id="rId8"/>
    <p:sldId id="339" r:id="rId9"/>
    <p:sldId id="682" r:id="rId10"/>
    <p:sldId id="683" r:id="rId11"/>
    <p:sldId id="684" r:id="rId12"/>
    <p:sldId id="685" r:id="rId13"/>
    <p:sldId id="686" r:id="rId14"/>
    <p:sldId id="687" r:id="rId15"/>
    <p:sldId id="688" r:id="rId16"/>
    <p:sldId id="620" r:id="rId17"/>
    <p:sldId id="619" r:id="rId18"/>
    <p:sldId id="621" r:id="rId19"/>
    <p:sldId id="689" r:id="rId20"/>
    <p:sldId id="697" r:id="rId21"/>
    <p:sldId id="663" r:id="rId22"/>
    <p:sldId id="665" r:id="rId23"/>
    <p:sldId id="692" r:id="rId24"/>
    <p:sldId id="690" r:id="rId25"/>
    <p:sldId id="693" r:id="rId26"/>
    <p:sldId id="607" r:id="rId27"/>
    <p:sldId id="674" r:id="rId28"/>
    <p:sldId id="609" r:id="rId29"/>
    <p:sldId id="347" r:id="rId30"/>
    <p:sldId id="681" r:id="rId31"/>
    <p:sldId id="349" r:id="rId32"/>
    <p:sldId id="350" r:id="rId33"/>
    <p:sldId id="676" r:id="rId34"/>
    <p:sldId id="358" r:id="rId35"/>
    <p:sldId id="610" r:id="rId36"/>
    <p:sldId id="584" r:id="rId37"/>
    <p:sldId id="333" r:id="rId38"/>
    <p:sldId id="276" r:id="rId39"/>
    <p:sldId id="691" r:id="rId40"/>
    <p:sldId id="677" r:id="rId41"/>
    <p:sldId id="332" r:id="rId42"/>
    <p:sldId id="694" r:id="rId43"/>
    <p:sldId id="586" r:id="rId44"/>
    <p:sldId id="574" r:id="rId45"/>
    <p:sldId id="604" r:id="rId46"/>
    <p:sldId id="334" r:id="rId47"/>
    <p:sldId id="587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372"/>
    <p:restoredTop sz="94655"/>
  </p:normalViewPr>
  <p:slideViewPr>
    <p:cSldViewPr snapToGrid="0">
      <p:cViewPr varScale="1">
        <p:scale>
          <a:sx n="91" d="100"/>
          <a:sy n="91" d="100"/>
        </p:scale>
        <p:origin x="216" y="7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ableStyles" Target="tableStyle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8" Type="http://schemas.openxmlformats.org/officeDocument/2006/relationships/slide" Target="slides/slide6.xml"/><Relationship Id="rId51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7277D9-4216-B643-9562-1484F317ACDD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ABECB7-1724-4E46-B68D-9474604CCE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63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i="0" u="none" strike="noStrike" dirty="0">
                <a:solidFill>
                  <a:srgbClr val="121212"/>
                </a:solidFill>
                <a:effectLst/>
                <a:latin typeface="system-ui"/>
              </a:rPr>
              <a:t>Confusion — make the relationship between key and ciphertext complicated.</a:t>
            </a:r>
            <a:r>
              <a:rPr lang="en-US" b="0" i="0" u="none" strike="noStrike" dirty="0">
                <a:solidFill>
                  <a:srgbClr val="121212"/>
                </a:solidFill>
                <a:effectLst/>
                <a:latin typeface="system-ui"/>
              </a:rPr>
              <a:t> </a:t>
            </a:r>
            <a:r>
              <a:rPr lang="en-US" b="1" i="0" u="none" strike="noStrike" dirty="0">
                <a:solidFill>
                  <a:srgbClr val="121212"/>
                </a:solidFill>
                <a:effectLst/>
                <a:latin typeface="system-ui"/>
              </a:rPr>
              <a:t>Each output bit should depend on the key in a messy, nonlinear way, so an attacker can't write down simple algebraic equations relating key bits to ciphertext bits.</a:t>
            </a:r>
            <a:r>
              <a:rPr lang="en-US" b="0" i="0" u="none" strike="noStrike" dirty="0">
                <a:solidFill>
                  <a:srgbClr val="121212"/>
                </a:solidFill>
                <a:effectLst/>
                <a:latin typeface="system-ui"/>
              </a:rPr>
              <a:t> On your slide this is the round functions </a:t>
            </a:r>
            <a:r>
              <a:rPr lang="en-US" b="0" i="1" u="none" strike="noStrike" dirty="0">
                <a:solidFill>
                  <a:srgbClr val="121212"/>
                </a:solidFill>
                <a:effectLst/>
                <a:latin typeface="system-ui"/>
              </a:rPr>
              <a:t>f₁, …, f₁₆</a:t>
            </a:r>
            <a:r>
              <a:rPr lang="en-US" b="0" i="0" u="none" strike="noStrike" dirty="0">
                <a:solidFill>
                  <a:srgbClr val="121212"/>
                </a:solidFill>
                <a:effectLst/>
                <a:latin typeface="system-ui"/>
              </a:rPr>
              <a:t>-</a:t>
            </a:r>
            <a:r>
              <a:rPr lang="en-US" b="0" i="0" u="none" strike="noStrike" dirty="0">
                <a:solidFill>
                  <a:srgbClr val="121212"/>
                </a:solidFill>
                <a:effectLst/>
                <a:latin typeface="system-ui"/>
                <a:sym typeface="Wingdings" pitchFamily="2" charset="2"/>
              </a:rPr>
              <a:t> </a:t>
            </a:r>
            <a:r>
              <a:rPr lang="en-US" b="0" i="0" u="none" strike="noStrike" dirty="0">
                <a:solidFill>
                  <a:srgbClr val="121212"/>
                </a:solidFill>
                <a:effectLst/>
                <a:latin typeface="system-ui"/>
              </a:rPr>
              <a:t> the S-boxes. Each </a:t>
            </a:r>
            <a:r>
              <a:rPr lang="en-US" b="0" i="1" u="none" strike="noStrike" dirty="0">
                <a:solidFill>
                  <a:srgbClr val="121212"/>
                </a:solidFill>
                <a:effectLst/>
                <a:latin typeface="system-ui"/>
              </a:rPr>
              <a:t>fᵢ</a:t>
            </a:r>
            <a:r>
              <a:rPr lang="en-US" b="0" i="0" u="none" strike="noStrike" dirty="0">
                <a:solidFill>
                  <a:srgbClr val="121212"/>
                </a:solidFill>
                <a:effectLst/>
                <a:latin typeface="system-ui"/>
              </a:rPr>
              <a:t> is a small, key-dependent (or key-mixed) random-looking lookup table acting on one 8-bit chunk: </a:t>
            </a:r>
            <a:r>
              <a:rPr lang="en-US" dirty="0" err="1"/>
              <a:t>F_k</a:t>
            </a:r>
            <a:r>
              <a:rPr lang="en-US" dirty="0"/>
              <a:t>(x) = f₁(x₁) ‖ f₂(x₂) ‖ … ‖ f₁₆(x₁₆)</a:t>
            </a:r>
            <a:r>
              <a:rPr lang="en-US" b="0" i="0" u="none" strike="noStrike" dirty="0">
                <a:solidFill>
                  <a:srgbClr val="121212"/>
                </a:solidFill>
                <a:effectLst/>
                <a:latin typeface="system-ui"/>
              </a:rPr>
              <a:t>. Because each </a:t>
            </a:r>
            <a:r>
              <a:rPr lang="en-US" b="0" i="1" u="none" strike="noStrike" dirty="0">
                <a:solidFill>
                  <a:srgbClr val="121212"/>
                </a:solidFill>
                <a:effectLst/>
                <a:latin typeface="system-ui"/>
              </a:rPr>
              <a:t>fᵢ</a:t>
            </a:r>
            <a:r>
              <a:rPr lang="en-US" b="0" i="0" u="none" strike="noStrike" dirty="0">
                <a:solidFill>
                  <a:srgbClr val="121212"/>
                </a:solidFill>
                <a:effectLst/>
                <a:latin typeface="system-ui"/>
              </a:rPr>
              <a:t> is a random permutation on a small domain, it's highly nonlinear.</a:t>
            </a:r>
          </a:p>
          <a:p>
            <a:endParaRPr lang="en-US" b="0" i="0" u="none" strike="noStrike" dirty="0">
              <a:solidFill>
                <a:srgbClr val="121212"/>
              </a:solidFill>
              <a:effectLst/>
              <a:latin typeface="system-ui"/>
            </a:endParaRPr>
          </a:p>
          <a:p>
            <a:endParaRPr lang="en-US" b="0" i="0" u="none" strike="noStrike" dirty="0">
              <a:solidFill>
                <a:srgbClr val="121212"/>
              </a:solidFill>
              <a:effectLst/>
              <a:latin typeface="system-ui"/>
            </a:endParaRPr>
          </a:p>
          <a:p>
            <a:pPr algn="l"/>
            <a:r>
              <a:rPr lang="en-US" b="1" i="0" u="none" strike="noStrike" dirty="0">
                <a:solidFill>
                  <a:srgbClr val="121212"/>
                </a:solidFill>
                <a:effectLst/>
                <a:latin typeface="system-ui"/>
              </a:rPr>
              <a:t>Diffusion — spread local changes over the whole block.</a:t>
            </a:r>
            <a:r>
              <a:rPr lang="en-US" b="0" i="0" u="none" strike="noStrike" dirty="0">
                <a:solidFill>
                  <a:srgbClr val="121212"/>
                </a:solidFill>
                <a:effectLst/>
                <a:latin typeface="system-ui"/>
              </a:rPr>
              <a:t> Flipping one input bit should affect roughly half of all output bits (the avalanche effect), so statistical structure in the plaintext is smeared across the entire ciphertext.</a:t>
            </a:r>
            <a:r>
              <a:rPr lang="en-US" b="0" i="0" u="none" strike="noStrike" dirty="0">
                <a:solidFill>
                  <a:srgbClr val="121212"/>
                </a:solidFill>
                <a:effectLst/>
                <a:latin typeface="system-ui"/>
                <a:sym typeface="Wingdings" pitchFamily="2" charset="2"/>
              </a:rPr>
              <a:t> </a:t>
            </a:r>
            <a:r>
              <a:rPr lang="en-US" b="1" i="0" u="none" strike="noStrike" dirty="0">
                <a:solidFill>
                  <a:srgbClr val="121212"/>
                </a:solidFill>
                <a:effectLst/>
                <a:latin typeface="system-ui"/>
              </a:rPr>
              <a:t>This is the mixing permutation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E8587-C61B-49BA-BD3C-A9EE353D70E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9739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E8587-C61B-49BA-BD3C-A9EE353D70E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7032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0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80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2586235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11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5792862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2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0498565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2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289482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4694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1439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178C3-7505-47A6-04B3-C6DB5CA70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7C826FFA-9D1A-3966-2721-BC1F1D23739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37F37A0D-F1AB-D6AA-6001-9879CACE04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4032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59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793C3-2883-40DB-512F-FCFB9E3C2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Image Placeholder 1">
            <a:extLst>
              <a:ext uri="{FF2B5EF4-FFF2-40B4-BE49-F238E27FC236}">
                <a16:creationId xmlns:a16="http://schemas.microsoft.com/office/drawing/2014/main" id="{264DCE81-A731-75DF-26E8-FEF1A29EB0B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9459" name="Notes Placeholder 2">
            <a:extLst>
              <a:ext uri="{FF2B5EF4-FFF2-40B4-BE49-F238E27FC236}">
                <a16:creationId xmlns:a16="http://schemas.microsoft.com/office/drawing/2014/main" id="{3EC358E3-ED9E-0D7B-390F-859DB33C57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6055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98FEB-FF4F-AB8B-4223-C08842A418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A5FA1C-AD53-68F7-A808-F6AB07531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52739-90DD-5226-0561-807C2E77F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C284E-9C06-CD41-9F43-5229161A4BAF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8E4D9-B4C8-BF74-E5A9-BB5766CD7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16DF5-011C-D3E8-68B9-3264F3910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2C27-7565-0344-9F68-7D4FFF4A9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350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D1982-92FC-705E-816A-AD0380BDD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A2A85-DFCD-6A63-7523-B928ACDCC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BE40A-07BC-F516-4171-29357D417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C284E-9C06-CD41-9F43-5229161A4BAF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1ED8C-0919-EB21-F23A-E1301EA69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4D6F6-82B8-D9BB-A3B9-9D5F51F2D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2C27-7565-0344-9F68-7D4FFF4A9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722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6CC9E-690A-224E-7EC3-743744775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4F220-1884-2EC6-1306-C27096402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FAE55-7848-0B82-623B-E40C5AFA3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C284E-9C06-CD41-9F43-5229161A4BAF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FFC94-46D9-4F1A-2A2E-4515FAC61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AF765-F20D-B3E2-EB3F-1250E11A7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2C27-7565-0344-9F68-7D4FFF4A9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680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BB365-5780-04B0-19B4-196B6A8A9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D0C1A-416C-6C7A-376B-6DF364709A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FBA8B9-2467-F870-382F-5BF5027185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CBBDBD-AD55-9194-4F77-F37B4699D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C284E-9C06-CD41-9F43-5229161A4BAF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A6524-5634-CC69-276B-D000CD8FA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5FFB07-25CD-2112-6D81-1DC119AC7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2C27-7565-0344-9F68-7D4FFF4A9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507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C834E-8DAD-26C8-608F-ACD321A53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33234-33CE-14AF-9627-46A036AAE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A9A4E4-742C-80EF-13DA-98FAF9DEA7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DDA1B6-5649-CF97-64D7-8871FC9841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CBAC68-ED3A-3475-15D9-D3E2BA1FA4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F80883-D4C2-1817-B6DD-DB5F57246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C284E-9C06-CD41-9F43-5229161A4BAF}" type="datetimeFigureOut">
              <a:rPr lang="en-US" smtClean="0"/>
              <a:t>9/21/26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9A4FEF-0048-32F3-4E97-4585FC9CB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CB33C7-65F5-6501-A1F0-98B3C12C5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2C27-7565-0344-9F68-7D4FFF4A9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938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FE327-2334-D9C2-2D02-371A75AE4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76E98D-B1CB-24F2-D646-ED4C6AB5D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C284E-9C06-CD41-9F43-5229161A4BAF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452155-24FA-9E7E-A28B-58796EBCA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44536-6382-4866-707E-CFFD632EB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2C27-7565-0344-9F68-7D4FFF4A9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154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FEEB78-48B5-6F2B-5ED0-E319E86B8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C284E-9C06-CD41-9F43-5229161A4BAF}" type="datetimeFigureOut">
              <a:rPr lang="en-US" smtClean="0"/>
              <a:t>9/21/26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D6A607-A0AA-4C97-9088-D2768D2E8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C8E80-0A01-6C24-4EA0-5A44850B7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2C27-7565-0344-9F68-7D4FFF4A9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943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000F1-26CC-F3CA-DB19-175D82743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744B3-832D-1B0A-08B9-0E43BA6EB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6A6E3A-EE03-83CC-5E4D-3C6A51B78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0EBDC-6532-0493-179E-592967BFA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C284E-9C06-CD41-9F43-5229161A4BAF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D1452A-642A-4DA5-9D1C-EBDE99640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D94C19-F7B7-4EE8-4C89-7DCBD8483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2C27-7565-0344-9F68-7D4FFF4A9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986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304C6-4AA1-590D-EA04-35F642350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CEF189-CA56-8939-7842-FE4658A8B0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323E53-1776-55D2-5E4B-308E1B0DE6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7A6667-CEF4-FEDF-1AF7-D7732FA98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C284E-9C06-CD41-9F43-5229161A4BAF}" type="datetimeFigureOut">
              <a:rPr lang="en-US" smtClean="0"/>
              <a:t>9/21/26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6C18E0-BC57-3619-00F4-93ADF8119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B7D7A9-995E-A5D8-1FCB-9353161E5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2C27-7565-0344-9F68-7D4FFF4A9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447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F58C6-AA47-5A19-41E3-01202A4C2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4D02DE-E4FF-AF5F-258F-CAA8596CE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6DEBD-EA7F-976A-CB0B-54A6019E9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C284E-9C06-CD41-9F43-5229161A4BAF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2E4C2-8DAC-920C-3C79-2BC87029F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54422-72FA-17CE-24EC-CE7320647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2C27-7565-0344-9F68-7D4FFF4A9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011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331569-45C3-6041-DFF3-BB10BBCFD0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2F9D2E-A3CF-B372-6CE6-6686BD920B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32E54-14B1-F606-B6F8-87D0BD25A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C284E-9C06-CD41-9F43-5229161A4BAF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9D84A-71E0-E0B3-E9B2-3863E1136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C4C06-E715-B15B-A2AE-82DEDFE98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2C27-7565-0344-9F68-7D4FFF4A9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118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BA4509D-F445-49B1-BB62-E85722A9DC0D}" type="datetime1">
              <a:rPr lang="en-US" smtClean="0"/>
              <a:pPr>
                <a:defRPr/>
              </a:pPr>
              <a:t>9/21/26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Cryptography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430D0A-94E0-4A9E-8011-005B3BE16F20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5384800" cy="4495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4"/>
          </p:nvPr>
        </p:nvSpPr>
        <p:spPr>
          <a:xfrm>
            <a:off x="6299200" y="1676400"/>
            <a:ext cx="53848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901302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98FEB-FF4F-AB8B-4223-C08842A418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A5FA1C-AD53-68F7-A808-F6AB07531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852739-90DD-5226-0561-807C2E77F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C284E-9C06-CD41-9F43-5229161A4BAF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A8E4D9-B4C8-BF74-E5A9-BB5766CD7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16DF5-011C-D3E8-68B9-3264F3910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2C27-7565-0344-9F68-7D4FFF4A9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3506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D1982-92FC-705E-816A-AD0380BDD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EA2A85-DFCD-6A63-7523-B928ACDCC7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BE40A-07BC-F516-4171-29357D417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C284E-9C06-CD41-9F43-5229161A4BAF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1ED8C-0919-EB21-F23A-E1301EA69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4D6F6-82B8-D9BB-A3B9-9D5F51F2D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2C27-7565-0344-9F68-7D4FFF4A9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7226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6CC9E-690A-224E-7EC3-743744775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4F220-1884-2EC6-1306-C27096402D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FAE55-7848-0B82-623B-E40C5AFA3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C284E-9C06-CD41-9F43-5229161A4BAF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0FFC94-46D9-4F1A-2A2E-4515FAC61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EAF765-F20D-B3E2-EB3F-1250E11A7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2C27-7565-0344-9F68-7D4FFF4A9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6801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BB365-5780-04B0-19B4-196B6A8A9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D0C1A-416C-6C7A-376B-6DF364709A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FBA8B9-2467-F870-382F-5BF5027185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CBBDBD-AD55-9194-4F77-F37B4699D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C284E-9C06-CD41-9F43-5229161A4BAF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A6524-5634-CC69-276B-D000CD8FA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5FFB07-25CD-2112-6D81-1DC119AC7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2C27-7565-0344-9F68-7D4FFF4A9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5070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C834E-8DAD-26C8-608F-ACD321A53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833234-33CE-14AF-9627-46A036AAE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A9A4E4-742C-80EF-13DA-98FAF9DEA7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DDA1B6-5649-CF97-64D7-8871FC9841B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CBAC68-ED3A-3475-15D9-D3E2BA1FA4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F80883-D4C2-1817-B6DD-DB5F57246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C284E-9C06-CD41-9F43-5229161A4BAF}" type="datetimeFigureOut">
              <a:rPr lang="en-US" smtClean="0"/>
              <a:t>9/22/26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9A4FEF-0048-32F3-4E97-4585FC9CB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CB33C7-65F5-6501-A1F0-98B3C12C5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2C27-7565-0344-9F68-7D4FFF4A9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9386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FE327-2334-D9C2-2D02-371A75AE4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76E98D-B1CB-24F2-D646-ED4C6AB5D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C284E-9C06-CD41-9F43-5229161A4BAF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452155-24FA-9E7E-A28B-58796EBCA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44536-6382-4866-707E-CFFD632EB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2C27-7565-0344-9F68-7D4FFF4A9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1545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FEEB78-48B5-6F2B-5ED0-E319E86B8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C284E-9C06-CD41-9F43-5229161A4BAF}" type="datetimeFigureOut">
              <a:rPr lang="en-US" smtClean="0"/>
              <a:t>9/22/26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D6A607-A0AA-4C97-9088-D2768D2E8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C8E80-0A01-6C24-4EA0-5A44850B7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2C27-7565-0344-9F68-7D4FFF4A9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9438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000F1-26CC-F3CA-DB19-175D82743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744B3-832D-1B0A-08B9-0E43BA6EB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6A6E3A-EE03-83CC-5E4D-3C6A51B78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0EBDC-6532-0493-179E-592967BFA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C284E-9C06-CD41-9F43-5229161A4BAF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D1452A-642A-4DA5-9D1C-EBDE99640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D94C19-F7B7-4EE8-4C89-7DCBD8483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2C27-7565-0344-9F68-7D4FFF4A9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9860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304C6-4AA1-590D-EA04-35F642350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CEF189-CA56-8939-7842-FE4658A8B0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323E53-1776-55D2-5E4B-308E1B0DE6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7A6667-CEF4-FEDF-1AF7-D7732FA98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C284E-9C06-CD41-9F43-5229161A4BAF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6C18E0-BC57-3619-00F4-93ADF8119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B7D7A9-995E-A5D8-1FCB-9353161E5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2C27-7565-0344-9F68-7D4FFF4A9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44751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F58C6-AA47-5A19-41E3-01202A4C2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4D02DE-E4FF-AF5F-258F-CAA8596CE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6DEBD-EA7F-976A-CB0B-54A6019E9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C284E-9C06-CD41-9F43-5229161A4BAF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2E4C2-8DAC-920C-3C79-2BC87029F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54422-72FA-17CE-24EC-CE7320647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2C27-7565-0344-9F68-7D4FFF4A9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0110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331569-45C3-6041-DFF3-BB10BBCFD0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2F9D2E-A3CF-B372-6CE6-6686BD920B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32E54-14B1-F606-B6F8-87D0BD25A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C284E-9C06-CD41-9F43-5229161A4BAF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29D84A-71E0-E0B3-E9B2-3863E1136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C4C06-E715-B15B-A2AE-82DEDFE98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7B2C27-7565-0344-9F68-7D4FFF4A9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11838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BA4509D-F445-49B1-BB62-E85722A9DC0D}" type="datetime1">
              <a:rPr lang="en-US" smtClean="0"/>
              <a:pPr>
                <a:defRPr/>
              </a:pPr>
              <a:t>9/22/26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Cryptography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430D0A-94E0-4A9E-8011-005B3BE16F20}" type="slidenum">
              <a:rPr lang="en-GB" smtClean="0"/>
              <a:pPr>
                <a:defRPr/>
              </a:pPr>
              <a:t>‹#›</a:t>
            </a:fld>
            <a:endParaRPr lang="en-GB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609600" y="1676400"/>
            <a:ext cx="5384800" cy="4495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6"/>
          <p:cNvSpPr>
            <a:spLocks noGrp="1"/>
          </p:cNvSpPr>
          <p:nvPr>
            <p:ph sz="quarter" idx="14"/>
          </p:nvPr>
        </p:nvSpPr>
        <p:spPr>
          <a:xfrm>
            <a:off x="6299200" y="1676400"/>
            <a:ext cx="53848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90130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4CA33A-5A79-3C5D-5644-89F6CFB3B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8BC889-1DA2-01F3-D123-4D6FBD1D8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1DB10-1788-E5DD-C019-E9828D0ACD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2C284E-9C06-CD41-9F43-5229161A4BAF}" type="datetimeFigureOut">
              <a:rPr lang="en-US" smtClean="0"/>
              <a:t>9/21/26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4B17F-888A-5D59-3F30-66068D97E6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E1304-F871-55A5-6282-6D52FD489C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7B2C27-7565-0344-9F68-7D4FFF4A9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26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4CA33A-5A79-3C5D-5644-89F6CFB3B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8BC889-1DA2-01F3-D123-4D6FBD1D8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31DB10-1788-E5DD-C019-E9828D0ACD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2C284E-9C06-CD41-9F43-5229161A4BAF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4B17F-888A-5D59-3F30-66068D97E6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5E1304-F871-55A5-6282-6D52FD489C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7B2C27-7565-0344-9F68-7D4FFF4A93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2634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Advanced_Encryption_Standard" TargetMode="Externa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hyperlink" Target="https://en.wikipedia.org/wiki/AES_key_schedule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FB324-33DD-D83C-D4B5-0BDC7ABBFB9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065D83-E485-5562-6C30-032F6719A2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959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Designing block ciphers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Want </a:t>
            </a:r>
            <a:r>
              <a:rPr lang="en-US" altLang="en-US" dirty="0" err="1"/>
              <a:t>F</a:t>
            </a:r>
            <a:r>
              <a:rPr lang="en-US" altLang="en-US" baseline="-25000" dirty="0" err="1"/>
              <a:t>k</a:t>
            </a:r>
            <a:r>
              <a:rPr lang="en-US" altLang="en-US" dirty="0"/>
              <a:t> (for uniform, unknown key k) to be indistinguishable from a random function</a:t>
            </a:r>
          </a:p>
          <a:p>
            <a:endParaRPr lang="en-US" dirty="0"/>
          </a:p>
          <a:p>
            <a:r>
              <a:rPr lang="en-US" dirty="0"/>
              <a:t>If x and x’ differ in one bit, what should the relation between </a:t>
            </a:r>
            <a:r>
              <a:rPr lang="en-US" dirty="0" err="1"/>
              <a:t>F</a:t>
            </a:r>
            <a:r>
              <a:rPr lang="en-US" baseline="-25000" dirty="0" err="1"/>
              <a:t>k</a:t>
            </a:r>
            <a:r>
              <a:rPr lang="en-US" dirty="0"/>
              <a:t>(x) and </a:t>
            </a:r>
            <a:r>
              <a:rPr lang="en-US" dirty="0" err="1"/>
              <a:t>F</a:t>
            </a:r>
            <a:r>
              <a:rPr lang="en-US" baseline="-25000" dirty="0" err="1"/>
              <a:t>k</a:t>
            </a:r>
            <a:r>
              <a:rPr lang="en-US" dirty="0"/>
              <a:t>(x’) be?</a:t>
            </a:r>
          </a:p>
          <a:p>
            <a:pPr lvl="1"/>
            <a:r>
              <a:rPr lang="en-US" dirty="0"/>
              <a:t>How many bits should change (on average)?</a:t>
            </a:r>
          </a:p>
          <a:p>
            <a:pPr lvl="1"/>
            <a:r>
              <a:rPr lang="en-US" dirty="0"/>
              <a:t>Which bits should change?</a:t>
            </a:r>
          </a:p>
        </p:txBody>
      </p:sp>
    </p:spTree>
    <p:extLst>
      <p:ext uri="{BB962C8B-B14F-4D97-AF65-F5344CB8AC3E}">
        <p14:creationId xmlns:p14="http://schemas.microsoft.com/office/powerpoint/2010/main" val="790586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73A2D-1F23-7052-776F-1B2B888A5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Confusion-diffusion paradigm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5D2EFB-7BBC-1B09-3CFB-052752F95D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||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||…||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16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16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:endParaRPr lang="en-US" dirty="0"/>
              </a:p>
              <a:p>
                <a:r>
                  <a:rPr lang="en-US" dirty="0"/>
                  <a:t>Smaller random blocks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en-US" dirty="0"/>
                  <a:t>: confusion</a:t>
                </a:r>
              </a:p>
              <a:p>
                <a:endParaRPr lang="en-US" dirty="0"/>
              </a:p>
              <a:p>
                <a:r>
                  <a:rPr lang="en-US" dirty="0"/>
                  <a:t>Mixing permutation: diffusion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5D2EFB-7BBC-1B09-3CFB-052752F95D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363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20821-985F-1D1D-2AF2-F3974B7DB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476" y="286726"/>
            <a:ext cx="11254979" cy="1325563"/>
          </a:xfrm>
        </p:spPr>
        <p:txBody>
          <a:bodyPr/>
          <a:lstStyle/>
          <a:p>
            <a:r>
              <a:rPr lang="en-US" dirty="0"/>
              <a:t>Substitution-Permutation Networks (SPN)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06C97B-6A26-B03A-4595-D6774C2CA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214" y="1329804"/>
            <a:ext cx="5052927" cy="54188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1B0A02-401B-BD9A-606C-968CDD1ACF47}"/>
              </a:ext>
            </a:extLst>
          </p:cNvPr>
          <p:cNvSpPr txBox="1"/>
          <p:nvPr/>
        </p:nvSpPr>
        <p:spPr>
          <a:xfrm>
            <a:off x="6375042" y="1612289"/>
            <a:ext cx="505292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/>
              <a:t>XOR with secret key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Substitution boxes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/>
              <a:t>Permutation</a:t>
            </a:r>
          </a:p>
        </p:txBody>
      </p:sp>
    </p:spTree>
    <p:extLst>
      <p:ext uri="{BB962C8B-B14F-4D97-AF65-F5344CB8AC3E}">
        <p14:creationId xmlns:p14="http://schemas.microsoft.com/office/powerpoint/2010/main" val="1117122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B26C5-E9EB-B414-B9DD-E200B3618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Multi-round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180C2-9FB8-0C9F-6A1E-07891271F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B1939E-71FE-1795-0A20-D62B63BD4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2786"/>
            <a:ext cx="4767907" cy="6572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876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Avalanche 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1-bit difference in the input should “affect” every bit of the output.</a:t>
            </a:r>
          </a:p>
        </p:txBody>
      </p:sp>
    </p:spTree>
    <p:extLst>
      <p:ext uri="{BB962C8B-B14F-4D97-AF65-F5344CB8AC3E}">
        <p14:creationId xmlns:p14="http://schemas.microsoft.com/office/powerpoint/2010/main" val="740053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476" y="221877"/>
            <a:ext cx="10515600" cy="1325563"/>
          </a:xfrm>
        </p:spPr>
        <p:txBody>
          <a:bodyPr/>
          <a:lstStyle/>
          <a:p>
            <a:r>
              <a:rPr lang="en-US" dirty="0"/>
              <a:t>Avalanche 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5476" y="1743196"/>
            <a:ext cx="11746523" cy="4892927"/>
          </a:xfrm>
        </p:spPr>
        <p:txBody>
          <a:bodyPr>
            <a:normAutofit/>
          </a:bodyPr>
          <a:lstStyle/>
          <a:p>
            <a:r>
              <a:rPr lang="en-US" dirty="0"/>
              <a:t>Design S-boxes and mixing permutation to ensure </a:t>
            </a:r>
            <a:r>
              <a:rPr lang="en-US" i="1" dirty="0"/>
              <a:t>avalanche effect</a:t>
            </a:r>
          </a:p>
          <a:p>
            <a:pPr lvl="1"/>
            <a:r>
              <a:rPr lang="en-US" dirty="0"/>
              <a:t>Small differences should eventually propagate to entire output</a:t>
            </a:r>
          </a:p>
          <a:p>
            <a:endParaRPr lang="en-US" dirty="0"/>
          </a:p>
          <a:p>
            <a:r>
              <a:rPr lang="en-US" dirty="0"/>
              <a:t>S-boxes: </a:t>
            </a:r>
            <a:r>
              <a:rPr lang="en-US" i="1" dirty="0"/>
              <a:t>any</a:t>
            </a:r>
            <a:r>
              <a:rPr lang="en-US" dirty="0"/>
              <a:t> 1-bit change in input causes ≥2-bit change in output, </a:t>
            </a:r>
            <a:r>
              <a:rPr lang="en-US" b="1" dirty="0"/>
              <a:t>non-linear!</a:t>
            </a:r>
          </a:p>
          <a:p>
            <a:pPr lvl="1"/>
            <a:r>
              <a:rPr lang="en-US" dirty="0"/>
              <a:t>Not so easy to ensure!</a:t>
            </a:r>
          </a:p>
          <a:p>
            <a:endParaRPr lang="en-US" dirty="0"/>
          </a:p>
          <a:p>
            <a:r>
              <a:rPr lang="en-US" dirty="0"/>
              <a:t>Mixing permutation</a:t>
            </a:r>
          </a:p>
          <a:p>
            <a:pPr lvl="1"/>
            <a:r>
              <a:rPr lang="en-US" dirty="0"/>
              <a:t>Each bit output from a given S-box should feed into a </a:t>
            </a:r>
            <a:r>
              <a:rPr lang="en-US" i="1" dirty="0"/>
              <a:t>different</a:t>
            </a:r>
            <a:r>
              <a:rPr lang="en-US" dirty="0"/>
              <a:t> S-box in the next round</a:t>
            </a:r>
          </a:p>
        </p:txBody>
      </p:sp>
    </p:spTree>
    <p:extLst>
      <p:ext uri="{BB962C8B-B14F-4D97-AF65-F5344CB8AC3E}">
        <p14:creationId xmlns:p14="http://schemas.microsoft.com/office/powerpoint/2010/main" val="220524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B26C5-E9EB-B414-B9DD-E200B3618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Avalanche effect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B180C2-9FB8-0C9F-6A1E-07891271F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B1939E-71FE-1795-0A20-D62B63BD4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2786"/>
            <a:ext cx="4767907" cy="6572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4326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829E1-4A10-C261-EB7A-1458DEB6B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Sub-keys and master key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3E9E45-687D-EB1C-FC5F-B3BF03CBC0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Master key: secret key</a:t>
            </a:r>
          </a:p>
          <a:p>
            <a:endParaRPr lang="en-US" dirty="0"/>
          </a:p>
          <a:p>
            <a:r>
              <a:rPr lang="en-US" dirty="0"/>
              <a:t>Sub-keys for different rounds are derived from the master key</a:t>
            </a:r>
          </a:p>
          <a:p>
            <a:endParaRPr lang="en-US" dirty="0"/>
          </a:p>
          <a:p>
            <a:r>
              <a:rPr lang="en-US" dirty="0"/>
              <a:t>L+1 sub-keys for L-round SPN: always XOR a sub-key at the end</a:t>
            </a:r>
          </a:p>
        </p:txBody>
      </p:sp>
    </p:spTree>
    <p:extLst>
      <p:ext uri="{BB962C8B-B14F-4D97-AF65-F5344CB8AC3E}">
        <p14:creationId xmlns:p14="http://schemas.microsoft.com/office/powerpoint/2010/main" val="4040732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BD665-CAA9-4E58-B09E-673FE1DDD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171871-B05A-486A-963D-98F8E9E30127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1981200" y="6356351"/>
            <a:ext cx="2133600" cy="365125"/>
          </a:xfrm>
        </p:spPr>
        <p:txBody>
          <a:bodyPr/>
          <a:lstStyle/>
          <a:p>
            <a:pPr>
              <a:defRPr/>
            </a:pPr>
            <a:fld id="{A7DE4472-E95E-430B-AA46-2D76F67E4D17}" type="datetime1">
              <a:rPr lang="en-US" smtClean="0"/>
              <a:pPr>
                <a:defRPr/>
              </a:pPr>
              <a:t>9/21/26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5BDF9-B194-4CBE-89DF-C1D551FAF2B8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648200" y="6356351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GB"/>
              <a:t>Cryptography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5C5505-D90D-449C-98CF-D56FC4DA5F9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077200" y="6356351"/>
            <a:ext cx="2133600" cy="365125"/>
          </a:xfrm>
        </p:spPr>
        <p:txBody>
          <a:bodyPr/>
          <a:lstStyle/>
          <a:p>
            <a:pPr>
              <a:defRPr/>
            </a:pPr>
            <a:fld id="{40430D0A-94E0-4A9E-8011-005B3BE16F20}" type="slidenum">
              <a:rPr lang="en-GB" smtClean="0"/>
              <a:pPr>
                <a:defRPr/>
              </a:pPr>
              <a:t>10</a:t>
            </a:fld>
            <a:endParaRPr lang="en-GB"/>
          </a:p>
        </p:txBody>
      </p:sp>
      <p:pic>
        <p:nvPicPr>
          <p:cNvPr id="70658" name="Picture 2" descr="AES-SubBytes.svg">
            <a:extLst>
              <a:ext uri="{FF2B5EF4-FFF2-40B4-BE49-F238E27FC236}">
                <a16:creationId xmlns:a16="http://schemas.microsoft.com/office/drawing/2014/main" id="{69EA73D8-3F46-4D65-B9CC-CA31E19714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3559" y="1549766"/>
            <a:ext cx="3886200" cy="2014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660" name="Picture 4" descr="https://upload.wikimedia.org/wikipedia/commons/thumb/6/66/AES-ShiftRows.svg/2560px-AES-ShiftRows.svg.png">
            <a:extLst>
              <a:ext uri="{FF2B5EF4-FFF2-40B4-BE49-F238E27FC236}">
                <a16:creationId xmlns:a16="http://schemas.microsoft.com/office/drawing/2014/main" id="{C9FFE33B-3C49-40B3-804B-43A26AEBC9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9192" y="4450135"/>
            <a:ext cx="4364085" cy="1616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662" name="Picture 6" descr="https://upload.wikimedia.org/wikipedia/commons/thumb/7/76/AES-MixColumns.svg/2560px-AES-MixColumns.svg.png">
            <a:extLst>
              <a:ext uri="{FF2B5EF4-FFF2-40B4-BE49-F238E27FC236}">
                <a16:creationId xmlns:a16="http://schemas.microsoft.com/office/drawing/2014/main" id="{FEA67700-66A4-4174-8FBF-FA738C4663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3915" y="4404257"/>
            <a:ext cx="3997885" cy="212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664" name="Picture 8" descr="https://upload.wikimedia.org/wikipedia/commons/thumb/a/ad/AES-AddRoundKey.svg/1920px-AES-AddRoundKey.svg.png">
            <a:extLst>
              <a:ext uri="{FF2B5EF4-FFF2-40B4-BE49-F238E27FC236}">
                <a16:creationId xmlns:a16="http://schemas.microsoft.com/office/drawing/2014/main" id="{BCB0FCF6-882F-43F4-B52A-FABB838537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1559" y="1295400"/>
            <a:ext cx="3464483" cy="2693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82C709B-3D22-4AED-9A6E-C37020300242}"/>
              </a:ext>
            </a:extLst>
          </p:cNvPr>
          <p:cNvCxnSpPr/>
          <p:nvPr/>
        </p:nvCxnSpPr>
        <p:spPr>
          <a:xfrm>
            <a:off x="1447800" y="409042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B5E0AFB-C55B-45D6-A81C-152B6071373B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6019800" y="1295400"/>
            <a:ext cx="0" cy="50609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6702F19-9EA0-8CFA-027E-8876FEC8DF89}"/>
              </a:ext>
            </a:extLst>
          </p:cNvPr>
          <p:cNvSpPr txBox="1"/>
          <p:nvPr/>
        </p:nvSpPr>
        <p:spPr>
          <a:xfrm>
            <a:off x="2545188" y="791790"/>
            <a:ext cx="72556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6"/>
              </a:rPr>
              <a:t>https://en.wikipedia.org/wiki/Advanced_Encryption_Standard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173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26DD1-2F35-8C56-A591-278E3AC8F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C1D0A2-B70E-7A96-B205-BD8F17A849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5477" y="1743197"/>
                <a:ext cx="11455170" cy="4351338"/>
              </a:xfrm>
            </p:spPr>
            <p:txBody>
              <a:bodyPr/>
              <a:lstStyle/>
              <a:p>
                <a:r>
                  <a:rPr lang="en-US" dirty="0"/>
                  <a:t>AES-128, AES-192, AES-256: different key lengths. A block is 128-bit</a:t>
                </a:r>
              </a:p>
              <a:p>
                <a:endParaRPr lang="en-US" dirty="0"/>
              </a:p>
              <a:p>
                <a:r>
                  <a:rPr lang="en-US" dirty="0"/>
                  <a:t>A 128-bit sub-key is derived from the master key.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4×4</m:t>
                    </m:r>
                  </m:oMath>
                </a14:m>
                <a:r>
                  <a:rPr lang="en-US" dirty="0"/>
                  <a:t> bytes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sz="2400" dirty="0">
                    <a:hlinkClick r:id="rId2"/>
                  </a:rPr>
                  <a:t>https://en.wikipedia.org/wiki/AES_key_schedule</a:t>
                </a: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4C1D0A2-B70E-7A96-B205-BD8F17A849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477" y="1743197"/>
                <a:ext cx="11455170" cy="4351338"/>
              </a:xfrm>
              <a:blipFill>
                <a:blip r:embed="rId3"/>
                <a:stretch>
                  <a:fillRect l="-958" t="-2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4384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67359-C682-D3E5-EE03-43DADACEB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AES substitution boxes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1EDB70-B2C6-0711-5E49-FF4483625C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5477" y="1465729"/>
                <a:ext cx="10515600" cy="4628806"/>
              </a:xfrm>
            </p:spPr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0,1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0,1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1EDB70-B2C6-0711-5E49-FF4483625C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477" y="1465729"/>
                <a:ext cx="10515600" cy="4628806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52C96B9-1ABD-422D-073B-139758274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0459" y="1271848"/>
            <a:ext cx="4973890" cy="5385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202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CCEF8-E7CA-B52F-1C61-392FF069E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ShiftRows</a:t>
            </a:r>
            <a:r>
              <a:rPr lang="en-US" dirty="0"/>
              <a:t> and </a:t>
            </a:r>
            <a:r>
              <a:rPr lang="en-US" dirty="0" err="1"/>
              <a:t>MixColumns</a:t>
            </a:r>
            <a:endParaRPr lang="en-US" dirty="0"/>
          </a:p>
        </p:txBody>
      </p:sp>
      <p:pic>
        <p:nvPicPr>
          <p:cNvPr id="4" name="Picture 4" descr="https://upload.wikimedia.org/wikipedia/commons/thumb/6/66/AES-ShiftRows.svg/2560px-AES-ShiftRows.svg.png">
            <a:extLst>
              <a:ext uri="{FF2B5EF4-FFF2-40B4-BE49-F238E27FC236}">
                <a16:creationId xmlns:a16="http://schemas.microsoft.com/office/drawing/2014/main" id="{E4E129F3-CE04-EC34-CA3E-522DE781A0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909" y="2002770"/>
            <a:ext cx="4364085" cy="1616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https://upload.wikimedia.org/wikipedia/commons/thumb/7/76/AES-MixColumns.svg/2560px-AES-MixColumns.svg.png">
            <a:extLst>
              <a:ext uri="{FF2B5EF4-FFF2-40B4-BE49-F238E27FC236}">
                <a16:creationId xmlns:a16="http://schemas.microsoft.com/office/drawing/2014/main" id="{B274829E-3815-18CD-12F5-8FCAF829F0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8008" y="1749563"/>
            <a:ext cx="3997885" cy="212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9226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2F61D-294C-8E9F-724E-2AC7BA396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BB1F7-A9DD-41D4-FDA0-CBAE85D9D4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AES has 10 rounds for 128-bit keys, 12 rounds for 192-bit keys, and 14 rounds for 256-bit keys.</a:t>
            </a:r>
          </a:p>
        </p:txBody>
      </p:sp>
    </p:spTree>
    <p:extLst>
      <p:ext uri="{BB962C8B-B14F-4D97-AF65-F5344CB8AC3E}">
        <p14:creationId xmlns:p14="http://schemas.microsoft.com/office/powerpoint/2010/main" val="11866077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5CE-EA46-4B03-8EBF-473412229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Open design principle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E381B0-8084-4E11-AACD-437294025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430D0A-94E0-4A9E-8011-005B3BE16F20}" type="slidenum">
              <a:rPr lang="en-GB" smtClean="0"/>
              <a:pPr>
                <a:defRPr/>
              </a:pPr>
              <a:t>15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BEBBB93-C321-56B5-C1B0-77439F95D76F}"/>
              </a:ext>
            </a:extLst>
          </p:cNvPr>
          <p:cNvSpPr txBox="1">
            <a:spLocks/>
          </p:cNvSpPr>
          <p:nvPr/>
        </p:nvSpPr>
        <p:spPr>
          <a:xfrm>
            <a:off x="1981201" y="1143000"/>
            <a:ext cx="8228013" cy="51054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20000"/>
              </a:lnSpc>
              <a:buNone/>
              <a:defRPr/>
            </a:pPr>
            <a:endParaRPr lang="en-US" dirty="0"/>
          </a:p>
          <a:p>
            <a:pPr marL="457200" lvl="1" indent="0">
              <a:lnSpc>
                <a:spcPct val="120000"/>
              </a:lnSpc>
              <a:buNone/>
              <a:defRPr/>
            </a:pPr>
            <a:r>
              <a:rPr lang="en-US" dirty="0"/>
              <a:t>Security should only rely on the secret key</a:t>
            </a:r>
          </a:p>
        </p:txBody>
      </p:sp>
    </p:spTree>
    <p:extLst>
      <p:ext uri="{BB962C8B-B14F-4D97-AF65-F5344CB8AC3E}">
        <p14:creationId xmlns:p14="http://schemas.microsoft.com/office/powerpoint/2010/main" val="3853839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5CE-EA46-4B03-8EBF-473412229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Assumptions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E381B0-8084-4E11-AACD-437294025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430D0A-94E0-4A9E-8011-005B3BE16F20}" type="slidenum">
              <a:rPr lang="en-GB" smtClean="0"/>
              <a:pPr>
                <a:defRPr/>
              </a:pPr>
              <a:t>16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BEBBB93-C321-56B5-C1B0-77439F95D76F}"/>
              </a:ext>
            </a:extLst>
          </p:cNvPr>
          <p:cNvSpPr txBox="1">
            <a:spLocks/>
          </p:cNvSpPr>
          <p:nvPr/>
        </p:nvSpPr>
        <p:spPr>
          <a:xfrm>
            <a:off x="1446680" y="1481382"/>
            <a:ext cx="9146240" cy="353536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" indent="0">
              <a:lnSpc>
                <a:spcPct val="120000"/>
              </a:lnSpc>
              <a:buNone/>
              <a:defRPr/>
            </a:pPr>
            <a:r>
              <a:rPr lang="en-US" sz="2800" dirty="0"/>
              <a:t>AES/DES is a PRF/PRP</a:t>
            </a:r>
          </a:p>
          <a:p>
            <a:pPr marL="57150" indent="0">
              <a:lnSpc>
                <a:spcPct val="120000"/>
              </a:lnSpc>
              <a:buNone/>
              <a:defRPr/>
            </a:pPr>
            <a:endParaRPr lang="en-US" sz="2800" dirty="0"/>
          </a:p>
          <a:p>
            <a:pPr marL="57150" indent="0">
              <a:lnSpc>
                <a:spcPct val="120000"/>
              </a:lnSpc>
              <a:buNone/>
              <a:defRPr/>
            </a:pPr>
            <a:r>
              <a:rPr lang="en-US" sz="2800" dirty="0"/>
              <a:t>What’s the difference? Enigma machine, Vigenère cipher</a:t>
            </a:r>
          </a:p>
          <a:p>
            <a:pPr marL="914400" lvl="1" indent="-457200">
              <a:lnSpc>
                <a:spcPct val="120000"/>
              </a:lnSpc>
              <a:defRPr/>
            </a:pPr>
            <a:r>
              <a:rPr lang="en-US" sz="2400" dirty="0"/>
              <a:t>Modular and composable  constructions</a:t>
            </a:r>
          </a:p>
          <a:p>
            <a:pPr marL="914400" lvl="1" indent="-457200">
              <a:lnSpc>
                <a:spcPct val="120000"/>
              </a:lnSpc>
              <a:defRPr/>
            </a:pPr>
            <a:r>
              <a:rPr lang="en-US" sz="2400" dirty="0"/>
              <a:t>Years of cryptanalysis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130BCE-7C34-BA82-0EB4-DA6E7108293D}"/>
              </a:ext>
            </a:extLst>
          </p:cNvPr>
          <p:cNvSpPr txBox="1"/>
          <p:nvPr/>
        </p:nvSpPr>
        <p:spPr>
          <a:xfrm>
            <a:off x="3048000" y="5257800"/>
            <a:ext cx="594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Don’t Roll Your Own Crypto!!!</a:t>
            </a:r>
          </a:p>
        </p:txBody>
      </p:sp>
    </p:spTree>
    <p:extLst>
      <p:ext uri="{BB962C8B-B14F-4D97-AF65-F5344CB8AC3E}">
        <p14:creationId xmlns:p14="http://schemas.microsoft.com/office/powerpoint/2010/main" val="267427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E381B0-8084-4E11-AACD-437294025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430D0A-94E0-4A9E-8011-005B3BE16F20}" type="slidenum">
              <a:rPr lang="en-GB" smtClean="0"/>
              <a:pPr>
                <a:defRPr/>
              </a:pPr>
              <a:t>17</a:t>
            </a:fld>
            <a:endParaRPr lang="en-GB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B69F09F-0046-9D26-F015-6F9C27A77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65E652-5031-D684-09D6-1944B871D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895" y="136525"/>
            <a:ext cx="10035132" cy="641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2863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7F5CE-EA46-4B03-8EBF-473412229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AES is invertible given 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E381B0-8084-4E11-AACD-437294025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0430D0A-94E0-4A9E-8011-005B3BE16F20}" type="slidenum">
              <a:rPr lang="en-GB" smtClean="0"/>
              <a:pPr>
                <a:defRPr/>
              </a:pPr>
              <a:t>18</a:t>
            </a:fld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D55312-16BA-4901-CD59-E65CB1517AF0}"/>
              </a:ext>
            </a:extLst>
          </p:cNvPr>
          <p:cNvSpPr txBox="1"/>
          <p:nvPr/>
        </p:nvSpPr>
        <p:spPr>
          <a:xfrm>
            <a:off x="860612" y="1481382"/>
            <a:ext cx="586067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S-box is invertible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We do need AES decryptions in some block cipher modes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2F0C7EC-CFA2-5AC7-29FE-41BAEA9D7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3481" y="75551"/>
            <a:ext cx="4767907" cy="6572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1578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C5AD2-3114-AF2B-7D1C-75D4E2B58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Activity: build a cipher, then break the next team’s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8439A-8A52-A811-49BA-4146FCDF42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8800"/>
            <a:ext cx="5181600" cy="3759200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/>
              <a:t>Build — 20 min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 sz="1700" dirty="0"/>
              <a:t>Teams of three. Design a block cipher for 32-bit blocks and a 32-bit key, or a mode built on a 4-bit S-box we give you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 sz="1700" dirty="0"/>
              <a:t>Write the spec precisely: number of rounds, S-box table, permutation, key schedule, how blocks chain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 sz="1700" dirty="0"/>
              <a:t>Anything goes except restating AES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 sz="1700" dirty="0"/>
              <a:t>Hand the written spec to the team on your right. No verbal explanation — if the spec is ambiguous, that is a finding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41EB02-CA12-CE9B-D94C-48AF1C6AF3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3759200"/>
          </a:xfrm>
        </p:spPr>
        <p:txBody>
          <a:bodyPr/>
          <a:lstStyle/>
          <a:p>
            <a:pPr marL="0" indent="0">
              <a:spcAft>
                <a:spcPts val="400"/>
              </a:spcAft>
              <a:buNone/>
            </a:pPr>
            <a:r>
              <a:rPr lang="en-US" sz="2000" b="1" dirty="0"/>
              <a:t>Break — 20 min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 sz="1700" dirty="0"/>
              <a:t>You also get four plaintext-ciphertext pairs and the right to ask the designers for five more encryptions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 sz="1700" dirty="0"/>
              <a:t>Win by recovering the key, or by predicting any bit of an unseen ciphertext better than guessing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 sz="1700" dirty="0"/>
              <a:t>Look for: linearity across rounds, a round that omits the key, an S-box with fixed points, short key schedule period, repeated blocks visible in the output</a:t>
            </a:r>
          </a:p>
          <a:p>
            <a:pPr marL="285750" indent="-285750">
              <a:spcBef>
                <a:spcPts val="1000"/>
              </a:spcBef>
              <a:buFont typeface="Arial"/>
              <a:buChar char="•"/>
            </a:pPr>
            <a:r>
              <a:rPr lang="en-US" sz="1700" dirty="0"/>
              <a:t>State your break in three lines: assumption, observation, exploit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5410200"/>
            <a:ext cx="10515600" cy="55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600" b="1" dirty="0"/>
              <a:t>Report out — 10 min: </a:t>
            </a:r>
            <a:r>
              <a:rPr lang="en-US" sz="1600" dirty="0"/>
              <a:t>each attacking team states the flaw in one sentence and demonstrates it. Nobody in this room will break AES; every break will be a design mistake around it — the same shape of error as the iMessage attack.</a:t>
            </a:r>
          </a:p>
        </p:txBody>
      </p:sp>
    </p:spTree>
    <p:extLst>
      <p:ext uri="{BB962C8B-B14F-4D97-AF65-F5344CB8AC3E}">
        <p14:creationId xmlns:p14="http://schemas.microsoft.com/office/powerpoint/2010/main" val="6826478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83A1D-2BEB-A880-DED2-88CABF22B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Permutations vs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306C7F-6106-7A2C-4612-08B2DA5616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0152" y="1612289"/>
                <a:ext cx="11663599" cy="4487611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Permutation: one-to-one function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>
                        <a:latin typeface="Cambria Math" panose="02040503050406030204" pitchFamily="18" charset="0"/>
                      </a:rPr>
                      <m:t>: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How many one-to-one functions with n bits of input and output? 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Stirling’s approximation: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!≈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rad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!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den>
                            </m:f>
                          </m:e>
                        </m:d>
                      </m:e>
                      <m:sup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306C7F-6106-7A2C-4612-08B2DA5616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0152" y="1612289"/>
                <a:ext cx="11663599" cy="4487611"/>
              </a:xfrm>
              <a:blipFill>
                <a:blip r:embed="rId2"/>
                <a:stretch>
                  <a:fillRect l="-940" t="-3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0664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682EC-118D-A04A-62C6-D9AB02248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Pseudorandom Permutations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CD94A4-8D3C-37ED-89A1-A584ABD3BB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5477" y="1743197"/>
                <a:ext cx="11576194" cy="4351338"/>
              </a:xfrm>
            </p:spPr>
            <p:txBody>
              <a:bodyPr/>
              <a:lstStyle/>
              <a:p>
                <a:r>
                  <a:rPr lang="en-US" dirty="0"/>
                  <a:t>One-to-one, a subset of PRF</a:t>
                </a:r>
              </a:p>
              <a:p>
                <a:endParaRPr lang="en-US" dirty="0"/>
              </a:p>
              <a:p>
                <a:r>
                  <a:rPr lang="en-US" dirty="0"/>
                  <a:t>Invertible. 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b="0" dirty="0"/>
                  <a:t>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are efficiently computable.  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CD94A4-8D3C-37ED-89A1-A584ABD3BB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477" y="1743197"/>
                <a:ext cx="11576194" cy="4351338"/>
              </a:xfrm>
              <a:blipFill>
                <a:blip r:embed="rId2"/>
                <a:stretch>
                  <a:fillRect l="-948" t="-2521" r="-4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BCFE6B-80A2-5AE7-7F70-3F45FA7D7329}"/>
                  </a:ext>
                </a:extLst>
              </p:cNvPr>
              <p:cNvSpPr txBox="1"/>
              <p:nvPr/>
            </p:nvSpPr>
            <p:spPr>
              <a:xfrm>
                <a:off x="445477" y="4631726"/>
                <a:ext cx="11126278" cy="73404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sSub>
                                        <m:sSub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</m:sSub>
                                      <m:d>
                                        <m:d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⋅</m:t>
                                          </m:r>
                                        </m:e>
                                      </m:d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Sup>
                                        <m:sSubSup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𝐹</m:t>
                                          </m:r>
                                        </m:e>
                                        <m:sub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bSup>
                                      <m:d>
                                        <m:dPr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⋅</m:t>
                                          </m:r>
                                        </m:e>
                                      </m:d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sup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</m:d>
                            </m:e>
                          </m:func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Pr</m:t>
                              </m:r>
                            </m:fName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𝑓</m:t>
                                      </m:r>
                                      <m:d>
                                        <m:d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⋅</m:t>
                                          </m:r>
                                        </m:e>
                                      </m:d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p>
                                        <m:sSup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</a:rPr>
                                            <m:t>𝑓</m:t>
                                          </m:r>
                                        </m:e>
                                        <m:sup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(⋅</m:t>
                                      </m:r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e>
                                        <m:sup>
                                          <m:r>
                                            <a:rPr lang="en-US" sz="2800" b="0" i="1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negl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BBCFE6B-80A2-5AE7-7F70-3F45FA7D7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477" y="4631726"/>
                <a:ext cx="11126278" cy="7340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105045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A4E17-A3D5-6CBC-7685-7B012C55D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Feistel network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925BD-FA55-8D58-1781-C2CD761DD2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in DES</a:t>
            </a:r>
          </a:p>
          <a:p>
            <a:endParaRPr lang="en-US" dirty="0"/>
          </a:p>
          <a:p>
            <a:r>
              <a:rPr lang="en-US" dirty="0"/>
              <a:t>Advantage over SPN: S-boxes don’t need to be invertible </a:t>
            </a:r>
          </a:p>
        </p:txBody>
      </p:sp>
    </p:spTree>
    <p:extLst>
      <p:ext uri="{BB962C8B-B14F-4D97-AF65-F5344CB8AC3E}">
        <p14:creationId xmlns:p14="http://schemas.microsoft.com/office/powerpoint/2010/main" val="30419817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06AAF-D715-BA6C-0482-C257C8BBF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477" y="257315"/>
            <a:ext cx="10515600" cy="1325563"/>
          </a:xfrm>
        </p:spPr>
        <p:txBody>
          <a:bodyPr/>
          <a:lstStyle/>
          <a:p>
            <a:r>
              <a:rPr lang="en-US" altLang="ja-JP" dirty="0"/>
              <a:t>Feistel network</a:t>
            </a:r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AC4002D-7FF4-21D3-A892-8B3F354DC416}"/>
              </a:ext>
            </a:extLst>
          </p:cNvPr>
          <p:cNvCxnSpPr/>
          <p:nvPr/>
        </p:nvCxnSpPr>
        <p:spPr>
          <a:xfrm>
            <a:off x="4811806" y="4493559"/>
            <a:ext cx="762000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1F842452-B28B-8BF8-1940-6946E74CB630}"/>
              </a:ext>
            </a:extLst>
          </p:cNvPr>
          <p:cNvSpPr/>
          <p:nvPr/>
        </p:nvSpPr>
        <p:spPr>
          <a:xfrm>
            <a:off x="3364006" y="2512359"/>
            <a:ext cx="2514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/>
              <a:t>L</a:t>
            </a:r>
            <a:r>
              <a:rPr lang="en-US" sz="2800" baseline="-25000" dirty="0"/>
              <a:t>0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C739F9-60C8-6523-2701-E49230292110}"/>
              </a:ext>
            </a:extLst>
          </p:cNvPr>
          <p:cNvSpPr/>
          <p:nvPr/>
        </p:nvSpPr>
        <p:spPr>
          <a:xfrm>
            <a:off x="5878606" y="2512359"/>
            <a:ext cx="2514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/>
              <a:t>R</a:t>
            </a:r>
            <a:r>
              <a:rPr lang="en-US" sz="2800" baseline="-25000" dirty="0"/>
              <a:t>0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9C23A9-6BC1-590C-3E5D-D98AAB4835CC}"/>
              </a:ext>
            </a:extLst>
          </p:cNvPr>
          <p:cNvSpPr/>
          <p:nvPr/>
        </p:nvSpPr>
        <p:spPr>
          <a:xfrm>
            <a:off x="5573806" y="4188759"/>
            <a:ext cx="609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 err="1"/>
              <a:t>f</a:t>
            </a:r>
            <a:r>
              <a:rPr lang="en-US" sz="2800" baseline="-25000" dirty="0" err="1"/>
              <a:t>k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1F14276-5A2C-E077-4326-E56012F18E73}"/>
              </a:ext>
            </a:extLst>
          </p:cNvPr>
          <p:cNvCxnSpPr/>
          <p:nvPr/>
        </p:nvCxnSpPr>
        <p:spPr>
          <a:xfrm>
            <a:off x="7097806" y="3121959"/>
            <a:ext cx="0" cy="1371600"/>
          </a:xfrm>
          <a:prstGeom prst="straightConnector1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CEC7929-D19B-4B9E-5D80-927ED60478C6}"/>
              </a:ext>
            </a:extLst>
          </p:cNvPr>
          <p:cNvCxnSpPr/>
          <p:nvPr/>
        </p:nvCxnSpPr>
        <p:spPr>
          <a:xfrm>
            <a:off x="6183406" y="4493559"/>
            <a:ext cx="914400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0A97127-89F5-C09F-295D-D0BD69E4238E}"/>
              </a:ext>
            </a:extLst>
          </p:cNvPr>
          <p:cNvSpPr txBox="1"/>
          <p:nvPr/>
        </p:nvSpPr>
        <p:spPr>
          <a:xfrm>
            <a:off x="4488718" y="4231949"/>
            <a:ext cx="46038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ym typeface="Symbol" panose="05050102010706020507" pitchFamily="18" charset="2"/>
              </a:rPr>
              <a:t></a:t>
            </a:r>
            <a:endParaRPr lang="en-US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B3EB913-4B8E-2FC9-E49E-194064762310}"/>
              </a:ext>
            </a:extLst>
          </p:cNvPr>
          <p:cNvCxnSpPr>
            <a:endCxn id="10" idx="0"/>
          </p:cNvCxnSpPr>
          <p:nvPr/>
        </p:nvCxnSpPr>
        <p:spPr>
          <a:xfrm flipH="1">
            <a:off x="4718909" y="3154969"/>
            <a:ext cx="796" cy="11887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F7C27756-E72A-0F0C-1892-AD5EF307B49D}"/>
              </a:ext>
            </a:extLst>
          </p:cNvPr>
          <p:cNvSpPr/>
          <p:nvPr/>
        </p:nvSpPr>
        <p:spPr>
          <a:xfrm>
            <a:off x="3364006" y="6017559"/>
            <a:ext cx="2514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/>
              <a:t>L</a:t>
            </a:r>
            <a:r>
              <a:rPr lang="en-US" sz="2800" baseline="-25000" dirty="0"/>
              <a:t>1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F29DA7-D56D-15C2-61D3-28F932BA09E5}"/>
              </a:ext>
            </a:extLst>
          </p:cNvPr>
          <p:cNvSpPr/>
          <p:nvPr/>
        </p:nvSpPr>
        <p:spPr>
          <a:xfrm>
            <a:off x="5878606" y="6017559"/>
            <a:ext cx="2514600" cy="609600"/>
          </a:xfrm>
          <a:prstGeom prst="rect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r>
              <a:rPr lang="en-US" sz="2800" dirty="0"/>
              <a:t>R</a:t>
            </a:r>
            <a:r>
              <a:rPr lang="en-US" sz="2800" baseline="-25000" dirty="0"/>
              <a:t>1</a:t>
            </a:r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2905137-3336-8110-9E42-78187859D2A9}"/>
              </a:ext>
            </a:extLst>
          </p:cNvPr>
          <p:cNvCxnSpPr/>
          <p:nvPr/>
        </p:nvCxnSpPr>
        <p:spPr>
          <a:xfrm>
            <a:off x="4718113" y="4645959"/>
            <a:ext cx="0" cy="68580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7752545-1661-9A10-9CB8-36B74CDB7D9A}"/>
              </a:ext>
            </a:extLst>
          </p:cNvPr>
          <p:cNvCxnSpPr/>
          <p:nvPr/>
        </p:nvCxnSpPr>
        <p:spPr>
          <a:xfrm>
            <a:off x="4718114" y="5331759"/>
            <a:ext cx="2379693" cy="0"/>
          </a:xfrm>
          <a:prstGeom prst="line">
            <a:avLst/>
          </a:prstGeom>
          <a:ln w="190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9F35BB4A-F883-C46D-BB73-A0C1B6FD7279}"/>
              </a:ext>
            </a:extLst>
          </p:cNvPr>
          <p:cNvCxnSpPr/>
          <p:nvPr/>
        </p:nvCxnSpPr>
        <p:spPr>
          <a:xfrm>
            <a:off x="7097806" y="5331759"/>
            <a:ext cx="0" cy="6858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75B1F50-2AD0-8F11-90BB-D7ABB2FF3E62}"/>
              </a:ext>
            </a:extLst>
          </p:cNvPr>
          <p:cNvCxnSpPr>
            <a:endCxn id="12" idx="0"/>
          </p:cNvCxnSpPr>
          <p:nvPr/>
        </p:nvCxnSpPr>
        <p:spPr>
          <a:xfrm flipH="1">
            <a:off x="4621306" y="4493559"/>
            <a:ext cx="2476500" cy="1524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3B57F27-8C05-B6FD-4036-9E86533A0173}"/>
                  </a:ext>
                </a:extLst>
              </p:cNvPr>
              <p:cNvSpPr txBox="1"/>
              <p:nvPr/>
            </p:nvSpPr>
            <p:spPr>
              <a:xfrm>
                <a:off x="838803" y="1575129"/>
                <a:ext cx="972894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3B57F27-8C05-B6FD-4036-9E86533A01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803" y="1575129"/>
                <a:ext cx="9728947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34501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6B041-97AA-3628-2017-6F86E05BC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Inverting Feistel network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FAE5C1-A886-3B71-F35A-E76F920CD0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5477" y="3664323"/>
                <a:ext cx="10515600" cy="2430211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800" b="0" dirty="0"/>
                  <a:t> Given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b="0" i="1" dirty="0">
                    <a:latin typeface="Cambria Math" panose="02040503050406030204" pitchFamily="18" charset="0"/>
                  </a:rPr>
                  <a:t> </a:t>
                </a:r>
                <a:r>
                  <a:rPr lang="en-US" sz="2800" b="0" dirty="0">
                    <a:latin typeface="+mj-lt"/>
                  </a:rPr>
                  <a:t>,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800" b="0" i="1" dirty="0">
                    <a:latin typeface="Cambria Math" panose="02040503050406030204" pitchFamily="18" charset="0"/>
                  </a:rPr>
                  <a:t>,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⊕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EFAE5C1-A886-3B71-F35A-E76F920CD0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477" y="3664323"/>
                <a:ext cx="10515600" cy="2430211"/>
              </a:xfrm>
              <a:blipFill>
                <a:blip r:embed="rId2"/>
                <a:stretch>
                  <a:fillRect l="-348" t="-4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5574AC6-D20F-CAAB-8500-D179FDF85C75}"/>
                  </a:ext>
                </a:extLst>
              </p:cNvPr>
              <p:cNvSpPr txBox="1"/>
              <p:nvPr/>
            </p:nvSpPr>
            <p:spPr>
              <a:xfrm>
                <a:off x="838803" y="1575129"/>
                <a:ext cx="9728947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⊕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75574AC6-D20F-CAAB-8500-D179FDF85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803" y="1575129"/>
                <a:ext cx="9728947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061608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6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DES overview</a:t>
            </a:r>
          </a:p>
        </p:txBody>
      </p:sp>
      <p:sp>
        <p:nvSpPr>
          <p:cNvPr id="539651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168088" y="1958851"/>
            <a:ext cx="5851712" cy="4218111"/>
          </a:xfrm>
        </p:spPr>
        <p:txBody>
          <a:bodyPr>
            <a:normAutofit/>
          </a:bodyPr>
          <a:lstStyle/>
          <a:p>
            <a:r>
              <a:rPr lang="en-US" sz="2400" dirty="0"/>
              <a:t>Developed in 1970s </a:t>
            </a:r>
          </a:p>
          <a:p>
            <a:r>
              <a:rPr lang="en-US" sz="2400" dirty="0"/>
              <a:t>Block length 64 bits, key length 56 bits</a:t>
            </a:r>
          </a:p>
          <a:p>
            <a:pPr>
              <a:lnSpc>
                <a:spcPct val="90000"/>
              </a:lnSpc>
            </a:pPr>
            <a:r>
              <a:rPr lang="en-US" altLang="ja-JP" sz="2400" dirty="0"/>
              <a:t>Feistel cipher, 16 stages</a:t>
            </a:r>
          </a:p>
          <a:p>
            <a:pPr>
              <a:lnSpc>
                <a:spcPct val="90000"/>
              </a:lnSpc>
            </a:pPr>
            <a:r>
              <a:rPr lang="en-US" altLang="ja-JP" sz="2400" i="1" dirty="0">
                <a:latin typeface="Times New Roman" pitchFamily="-65" charset="0"/>
              </a:rPr>
              <a:t>K</a:t>
            </a:r>
            <a:r>
              <a:rPr lang="en-US" altLang="ja-JP" sz="2400" i="1" baseline="-25000" dirty="0">
                <a:latin typeface="Times New Roman" pitchFamily="-65" charset="0"/>
              </a:rPr>
              <a:t>1</a:t>
            </a:r>
            <a:r>
              <a:rPr lang="en-US" altLang="ja-JP" sz="2400" i="1" dirty="0">
                <a:latin typeface="Times New Roman" pitchFamily="-65" charset="0"/>
              </a:rPr>
              <a:t>,…, K</a:t>
            </a:r>
            <a:r>
              <a:rPr lang="en-US" altLang="ja-JP" sz="2400" i="1" baseline="-25000" dirty="0">
                <a:latin typeface="Times New Roman" pitchFamily="-65" charset="0"/>
              </a:rPr>
              <a:t>16</a:t>
            </a:r>
            <a:r>
              <a:rPr lang="en-US" altLang="ja-JP" sz="2400" dirty="0"/>
              <a:t> are 48 bit subkeys derived from </a:t>
            </a:r>
            <a:r>
              <a:rPr lang="en-US" altLang="ja-JP" sz="2400" i="1" dirty="0">
                <a:latin typeface="Times New Roman" pitchFamily="-65" charset="0"/>
              </a:rPr>
              <a:t>K</a:t>
            </a:r>
            <a:endParaRPr lang="en-US" altLang="ja-JP" sz="2400" dirty="0"/>
          </a:p>
        </p:txBody>
      </p:sp>
      <p:sp>
        <p:nvSpPr>
          <p:cNvPr id="539652" name="Rectangle 4"/>
          <p:cNvSpPr>
            <a:spLocks noChangeArrowheads="1"/>
          </p:cNvSpPr>
          <p:nvPr/>
        </p:nvSpPr>
        <p:spPr bwMode="auto">
          <a:xfrm>
            <a:off x="8232640" y="1120652"/>
            <a:ext cx="23622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 defTabSz="457200">
              <a:defRPr/>
            </a:pPr>
            <a:r>
              <a:rPr lang="en-US" altLang="ja-JP" dirty="0">
                <a:solidFill>
                  <a:prstClr val="black"/>
                </a:solidFill>
                <a:latin typeface="Candara" panose="020E0502030303020204"/>
              </a:rPr>
              <a:t>64 bit input </a:t>
            </a:r>
            <a:r>
              <a:rPr lang="en-US" altLang="ja-JP" i="1" dirty="0">
                <a:solidFill>
                  <a:prstClr val="black"/>
                </a:solidFill>
                <a:latin typeface="Candara" panose="020E0502030303020204"/>
              </a:rPr>
              <a:t>M</a:t>
            </a:r>
            <a:endParaRPr lang="en-US" altLang="ja-JP" dirty="0">
              <a:solidFill>
                <a:prstClr val="black"/>
              </a:solidFill>
              <a:latin typeface="Candara" panose="020E0502030303020204"/>
            </a:endParaRPr>
          </a:p>
        </p:txBody>
      </p:sp>
      <p:sp>
        <p:nvSpPr>
          <p:cNvPr id="539654" name="Rectangle 6"/>
          <p:cNvSpPr>
            <a:spLocks noChangeArrowheads="1"/>
          </p:cNvSpPr>
          <p:nvPr/>
        </p:nvSpPr>
        <p:spPr bwMode="auto">
          <a:xfrm>
            <a:off x="8232640" y="5768852"/>
            <a:ext cx="23622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 defTabSz="457200">
              <a:defRPr/>
            </a:pPr>
            <a:r>
              <a:rPr lang="en-US" altLang="ja-JP" dirty="0">
                <a:solidFill>
                  <a:prstClr val="black"/>
                </a:solidFill>
                <a:latin typeface="Candara" panose="020E0502030303020204"/>
              </a:rPr>
              <a:t>64 bit output </a:t>
            </a:r>
            <a:r>
              <a:rPr lang="en-US" altLang="ja-JP" i="1" dirty="0">
                <a:solidFill>
                  <a:prstClr val="black"/>
                </a:solidFill>
                <a:latin typeface="Candara" panose="020E0502030303020204"/>
              </a:rPr>
              <a:t>C</a:t>
            </a:r>
            <a:endParaRPr lang="en-US" altLang="ja-JP" dirty="0">
              <a:solidFill>
                <a:prstClr val="black"/>
              </a:solidFill>
              <a:latin typeface="Candara" panose="020E0502030303020204"/>
            </a:endParaRPr>
          </a:p>
        </p:txBody>
      </p:sp>
      <p:sp>
        <p:nvSpPr>
          <p:cNvPr id="539656" name="AutoShape 8"/>
          <p:cNvSpPr>
            <a:spLocks noChangeArrowheads="1"/>
          </p:cNvSpPr>
          <p:nvPr/>
        </p:nvSpPr>
        <p:spPr bwMode="auto">
          <a:xfrm>
            <a:off x="8499340" y="1958852"/>
            <a:ext cx="1828800" cy="685800"/>
          </a:xfrm>
          <a:prstGeom prst="octagon">
            <a:avLst>
              <a:gd name="adj" fmla="val 29287"/>
            </a:avLst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>
              <a:defRPr/>
            </a:pPr>
            <a:r>
              <a:rPr lang="en-US" altLang="ja-JP" sz="1600">
                <a:solidFill>
                  <a:prstClr val="black"/>
                </a:solidFill>
                <a:latin typeface="Arial" pitchFamily="-65" charset="0"/>
              </a:rPr>
              <a:t>Initial permutation</a:t>
            </a:r>
          </a:p>
        </p:txBody>
      </p:sp>
      <p:sp>
        <p:nvSpPr>
          <p:cNvPr id="539657" name="AutoShape 9"/>
          <p:cNvSpPr>
            <a:spLocks noChangeArrowheads="1"/>
          </p:cNvSpPr>
          <p:nvPr/>
        </p:nvSpPr>
        <p:spPr bwMode="auto">
          <a:xfrm>
            <a:off x="8499340" y="4930652"/>
            <a:ext cx="1828800" cy="685800"/>
          </a:xfrm>
          <a:prstGeom prst="octagon">
            <a:avLst>
              <a:gd name="adj" fmla="val 29287"/>
            </a:avLst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>
              <a:defRPr/>
            </a:pPr>
            <a:r>
              <a:rPr lang="en-US" altLang="ja-JP" sz="1600" dirty="0">
                <a:solidFill>
                  <a:prstClr val="black"/>
                </a:solidFill>
                <a:latin typeface="Arial" pitchFamily="-65" charset="0"/>
              </a:rPr>
              <a:t>Final permutation</a:t>
            </a:r>
          </a:p>
        </p:txBody>
      </p:sp>
      <p:sp>
        <p:nvSpPr>
          <p:cNvPr id="539658" name="AutoShape 10"/>
          <p:cNvSpPr>
            <a:spLocks noChangeArrowheads="1"/>
          </p:cNvSpPr>
          <p:nvPr/>
        </p:nvSpPr>
        <p:spPr bwMode="auto">
          <a:xfrm>
            <a:off x="8499340" y="4397252"/>
            <a:ext cx="1828800" cy="381000"/>
          </a:xfrm>
          <a:prstGeom prst="octagon">
            <a:avLst>
              <a:gd name="adj" fmla="val 29287"/>
            </a:avLst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 defTabSz="457200">
              <a:defRPr/>
            </a:pPr>
            <a:r>
              <a:rPr lang="en-US" altLang="ja-JP" sz="1600" dirty="0">
                <a:solidFill>
                  <a:prstClr val="black"/>
                </a:solidFill>
                <a:latin typeface="Arial" pitchFamily="-65" charset="0"/>
              </a:rPr>
              <a:t>32-bit swap</a:t>
            </a:r>
          </a:p>
        </p:txBody>
      </p:sp>
      <p:cxnSp>
        <p:nvCxnSpPr>
          <p:cNvPr id="539659" name="AutoShape 11"/>
          <p:cNvCxnSpPr>
            <a:cxnSpLocks noChangeShapeType="1"/>
            <a:stCxn id="539652" idx="2"/>
            <a:endCxn id="539656" idx="0"/>
          </p:cNvCxnSpPr>
          <p:nvPr/>
        </p:nvCxnSpPr>
        <p:spPr bwMode="auto">
          <a:xfrm>
            <a:off x="9413740" y="1730252"/>
            <a:ext cx="0" cy="2286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39660" name="AutoShape 12"/>
          <p:cNvCxnSpPr>
            <a:cxnSpLocks noChangeShapeType="1"/>
            <a:stCxn id="539658" idx="2"/>
            <a:endCxn id="539657" idx="0"/>
          </p:cNvCxnSpPr>
          <p:nvPr/>
        </p:nvCxnSpPr>
        <p:spPr bwMode="auto">
          <a:xfrm>
            <a:off x="9413740" y="4778252"/>
            <a:ext cx="0" cy="152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39661" name="AutoShape 13"/>
          <p:cNvCxnSpPr>
            <a:cxnSpLocks noChangeShapeType="1"/>
            <a:stCxn id="539657" idx="2"/>
            <a:endCxn id="539654" idx="0"/>
          </p:cNvCxnSpPr>
          <p:nvPr/>
        </p:nvCxnSpPr>
        <p:spPr bwMode="auto">
          <a:xfrm>
            <a:off x="9413740" y="5616452"/>
            <a:ext cx="0" cy="152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539666" name="AutoShape 18"/>
          <p:cNvSpPr>
            <a:spLocks noChangeArrowheads="1"/>
          </p:cNvSpPr>
          <p:nvPr/>
        </p:nvSpPr>
        <p:spPr bwMode="auto">
          <a:xfrm>
            <a:off x="8346940" y="2873252"/>
            <a:ext cx="2133600" cy="1295400"/>
          </a:xfrm>
          <a:prstGeom prst="roundRect">
            <a:avLst>
              <a:gd name="adj" fmla="val 16667"/>
            </a:avLst>
          </a:prstGeom>
          <a:solidFill>
            <a:srgbClr val="FFCC00"/>
          </a:solidFill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>
              <a:defRPr/>
            </a:pPr>
            <a:r>
              <a:rPr lang="en-US" altLang="ja-JP" sz="2000">
                <a:solidFill>
                  <a:prstClr val="black"/>
                </a:solidFill>
                <a:latin typeface="Arial" pitchFamily="-65" charset="0"/>
              </a:rPr>
              <a:t>Feistel network </a:t>
            </a:r>
          </a:p>
          <a:p>
            <a:pPr defTabSz="457200">
              <a:defRPr/>
            </a:pPr>
            <a:r>
              <a:rPr lang="en-US" altLang="ja-JP" sz="2000">
                <a:solidFill>
                  <a:prstClr val="black"/>
                </a:solidFill>
                <a:latin typeface="Arial" pitchFamily="-65" charset="0"/>
              </a:rPr>
              <a:t>(16 rounds)</a:t>
            </a:r>
          </a:p>
        </p:txBody>
      </p:sp>
      <p:cxnSp>
        <p:nvCxnSpPr>
          <p:cNvPr id="539669" name="AutoShape 21"/>
          <p:cNvCxnSpPr>
            <a:cxnSpLocks noChangeShapeType="1"/>
            <a:stCxn id="539656" idx="2"/>
            <a:endCxn id="539666" idx="0"/>
          </p:cNvCxnSpPr>
          <p:nvPr/>
        </p:nvCxnSpPr>
        <p:spPr bwMode="auto">
          <a:xfrm>
            <a:off x="9413740" y="2644652"/>
            <a:ext cx="0" cy="2286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39670" name="AutoShape 22"/>
          <p:cNvCxnSpPr>
            <a:cxnSpLocks noChangeShapeType="1"/>
            <a:stCxn id="539666" idx="2"/>
            <a:endCxn id="539658" idx="0"/>
          </p:cNvCxnSpPr>
          <p:nvPr/>
        </p:nvCxnSpPr>
        <p:spPr bwMode="auto">
          <a:xfrm>
            <a:off x="9413740" y="4168652"/>
            <a:ext cx="0" cy="2286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539671" name="Rectangle 23"/>
          <p:cNvSpPr>
            <a:spLocks noChangeArrowheads="1"/>
          </p:cNvSpPr>
          <p:nvPr/>
        </p:nvSpPr>
        <p:spPr bwMode="auto">
          <a:xfrm>
            <a:off x="5946640" y="1120652"/>
            <a:ext cx="1905000" cy="6096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 defTabSz="457200">
              <a:defRPr/>
            </a:pPr>
            <a:r>
              <a:rPr lang="en-US" altLang="ja-JP" dirty="0">
                <a:solidFill>
                  <a:prstClr val="black"/>
                </a:solidFill>
                <a:latin typeface="Candara" panose="020E0502030303020204"/>
              </a:rPr>
              <a:t>56 bit key </a:t>
            </a:r>
            <a:r>
              <a:rPr lang="en-US" altLang="ja-JP" i="1" dirty="0">
                <a:solidFill>
                  <a:prstClr val="black"/>
                </a:solidFill>
                <a:latin typeface="Candara" panose="020E0502030303020204"/>
              </a:rPr>
              <a:t>K</a:t>
            </a:r>
            <a:endParaRPr lang="en-US" altLang="ja-JP" dirty="0">
              <a:solidFill>
                <a:prstClr val="black"/>
              </a:solidFill>
              <a:latin typeface="Candara" panose="020E0502030303020204"/>
            </a:endParaRPr>
          </a:p>
        </p:txBody>
      </p:sp>
      <p:sp>
        <p:nvSpPr>
          <p:cNvPr id="539672" name="AutoShape 24"/>
          <p:cNvSpPr>
            <a:spLocks noChangeArrowheads="1"/>
          </p:cNvSpPr>
          <p:nvPr/>
        </p:nvSpPr>
        <p:spPr bwMode="auto">
          <a:xfrm>
            <a:off x="5984740" y="1958852"/>
            <a:ext cx="1828800" cy="685800"/>
          </a:xfrm>
          <a:prstGeom prst="octagon">
            <a:avLst>
              <a:gd name="adj" fmla="val 29287"/>
            </a:avLst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>
              <a:defRPr/>
            </a:pPr>
            <a:r>
              <a:rPr lang="en-US" altLang="ja-JP" sz="1600">
                <a:solidFill>
                  <a:prstClr val="black"/>
                </a:solidFill>
                <a:latin typeface="Arial" pitchFamily="-65" charset="0"/>
              </a:rPr>
              <a:t>Subkey generator</a:t>
            </a:r>
          </a:p>
        </p:txBody>
      </p:sp>
      <p:cxnSp>
        <p:nvCxnSpPr>
          <p:cNvPr id="539673" name="AutoShape 25"/>
          <p:cNvCxnSpPr>
            <a:cxnSpLocks noChangeShapeType="1"/>
            <a:stCxn id="539671" idx="2"/>
            <a:endCxn id="539672" idx="0"/>
          </p:cNvCxnSpPr>
          <p:nvPr/>
        </p:nvCxnSpPr>
        <p:spPr bwMode="auto">
          <a:xfrm>
            <a:off x="6899140" y="1730252"/>
            <a:ext cx="0" cy="2286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39675" name="AutoShape 27"/>
          <p:cNvCxnSpPr>
            <a:cxnSpLocks noChangeShapeType="1"/>
          </p:cNvCxnSpPr>
          <p:nvPr/>
        </p:nvCxnSpPr>
        <p:spPr bwMode="auto">
          <a:xfrm rot="16200000" flipH="1">
            <a:off x="7413490" y="2282702"/>
            <a:ext cx="381000" cy="1409700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539691" name="AutoShape 43"/>
          <p:cNvCxnSpPr>
            <a:cxnSpLocks noChangeShapeType="1"/>
          </p:cNvCxnSpPr>
          <p:nvPr/>
        </p:nvCxnSpPr>
        <p:spPr bwMode="auto">
          <a:xfrm rot="16200000" flipH="1">
            <a:off x="7489690" y="2206502"/>
            <a:ext cx="228600" cy="1409700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539692" name="AutoShape 44"/>
          <p:cNvCxnSpPr>
            <a:cxnSpLocks noChangeShapeType="1"/>
          </p:cNvCxnSpPr>
          <p:nvPr/>
        </p:nvCxnSpPr>
        <p:spPr bwMode="auto">
          <a:xfrm rot="16200000" flipH="1">
            <a:off x="7527790" y="2168402"/>
            <a:ext cx="152400" cy="1409700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539693" name="AutoShape 45"/>
          <p:cNvCxnSpPr>
            <a:cxnSpLocks noChangeShapeType="1"/>
          </p:cNvCxnSpPr>
          <p:nvPr/>
        </p:nvCxnSpPr>
        <p:spPr bwMode="auto">
          <a:xfrm rot="16200000" flipH="1">
            <a:off x="7299190" y="2397002"/>
            <a:ext cx="609600" cy="1409700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539694" name="AutoShape 46"/>
          <p:cNvCxnSpPr>
            <a:cxnSpLocks noChangeShapeType="1"/>
          </p:cNvCxnSpPr>
          <p:nvPr/>
        </p:nvCxnSpPr>
        <p:spPr bwMode="auto">
          <a:xfrm rot="16200000" flipH="1">
            <a:off x="7261090" y="2435102"/>
            <a:ext cx="685800" cy="1409700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539695" name="AutoShape 47"/>
          <p:cNvCxnSpPr>
            <a:cxnSpLocks noChangeShapeType="1"/>
            <a:stCxn id="539672" idx="2"/>
          </p:cNvCxnSpPr>
          <p:nvPr/>
        </p:nvCxnSpPr>
        <p:spPr bwMode="auto">
          <a:xfrm rot="16200000" flipH="1">
            <a:off x="7261090" y="2282702"/>
            <a:ext cx="685800" cy="1409700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539696" name="AutoShape 48"/>
          <p:cNvCxnSpPr>
            <a:cxnSpLocks noChangeShapeType="1"/>
            <a:stCxn id="539672" idx="2"/>
          </p:cNvCxnSpPr>
          <p:nvPr/>
        </p:nvCxnSpPr>
        <p:spPr bwMode="auto">
          <a:xfrm rot="16200000" flipH="1">
            <a:off x="7299190" y="2244602"/>
            <a:ext cx="609600" cy="1409700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539697" name="AutoShape 49"/>
          <p:cNvCxnSpPr>
            <a:cxnSpLocks noChangeShapeType="1"/>
            <a:stCxn id="539672" idx="2"/>
          </p:cNvCxnSpPr>
          <p:nvPr/>
        </p:nvCxnSpPr>
        <p:spPr bwMode="auto">
          <a:xfrm rot="16200000" flipH="1">
            <a:off x="7375390" y="2168402"/>
            <a:ext cx="457200" cy="1409700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539698" name="AutoShape 50"/>
          <p:cNvCxnSpPr>
            <a:cxnSpLocks noChangeShapeType="1"/>
          </p:cNvCxnSpPr>
          <p:nvPr/>
        </p:nvCxnSpPr>
        <p:spPr bwMode="auto">
          <a:xfrm rot="16200000" flipH="1">
            <a:off x="7413490" y="2892302"/>
            <a:ext cx="381000" cy="1409700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539699" name="AutoShape 51"/>
          <p:cNvCxnSpPr>
            <a:cxnSpLocks noChangeShapeType="1"/>
          </p:cNvCxnSpPr>
          <p:nvPr/>
        </p:nvCxnSpPr>
        <p:spPr bwMode="auto">
          <a:xfrm rot="16200000" flipH="1">
            <a:off x="7489690" y="2816102"/>
            <a:ext cx="228600" cy="1409700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539700" name="AutoShape 52"/>
          <p:cNvCxnSpPr>
            <a:cxnSpLocks noChangeShapeType="1"/>
          </p:cNvCxnSpPr>
          <p:nvPr/>
        </p:nvCxnSpPr>
        <p:spPr bwMode="auto">
          <a:xfrm rot="16200000" flipH="1">
            <a:off x="7527790" y="2778002"/>
            <a:ext cx="152400" cy="1409700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539701" name="AutoShape 53"/>
          <p:cNvCxnSpPr>
            <a:cxnSpLocks noChangeShapeType="1"/>
          </p:cNvCxnSpPr>
          <p:nvPr/>
        </p:nvCxnSpPr>
        <p:spPr bwMode="auto">
          <a:xfrm rot="16200000" flipH="1">
            <a:off x="7299190" y="3006602"/>
            <a:ext cx="609600" cy="1409700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539702" name="AutoShape 54"/>
          <p:cNvCxnSpPr>
            <a:cxnSpLocks noChangeShapeType="1"/>
          </p:cNvCxnSpPr>
          <p:nvPr/>
        </p:nvCxnSpPr>
        <p:spPr bwMode="auto">
          <a:xfrm rot="16200000" flipH="1">
            <a:off x="7261090" y="3044702"/>
            <a:ext cx="685800" cy="1409700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539703" name="AutoShape 55"/>
          <p:cNvCxnSpPr>
            <a:cxnSpLocks noChangeShapeType="1"/>
          </p:cNvCxnSpPr>
          <p:nvPr/>
        </p:nvCxnSpPr>
        <p:spPr bwMode="auto">
          <a:xfrm rot="16200000" flipH="1">
            <a:off x="7337290" y="2968502"/>
            <a:ext cx="533400" cy="1409700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539704" name="AutoShape 56"/>
          <p:cNvCxnSpPr>
            <a:cxnSpLocks noChangeShapeType="1"/>
          </p:cNvCxnSpPr>
          <p:nvPr/>
        </p:nvCxnSpPr>
        <p:spPr bwMode="auto">
          <a:xfrm rot="16200000" flipH="1">
            <a:off x="7375390" y="2930402"/>
            <a:ext cx="457200" cy="1409700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539705" name="AutoShape 57"/>
          <p:cNvCxnSpPr>
            <a:cxnSpLocks noChangeShapeType="1"/>
          </p:cNvCxnSpPr>
          <p:nvPr/>
        </p:nvCxnSpPr>
        <p:spPr bwMode="auto">
          <a:xfrm rot="16200000" flipH="1">
            <a:off x="7451590" y="2854202"/>
            <a:ext cx="304800" cy="1409700"/>
          </a:xfrm>
          <a:prstGeom prst="bentConnector2">
            <a:avLst/>
          </a:prstGeom>
          <a:noFill/>
          <a:ln w="1270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sp>
        <p:nvSpPr>
          <p:cNvPr id="539706" name="Text Box 58"/>
          <p:cNvSpPr txBox="1">
            <a:spLocks noChangeArrowheads="1"/>
          </p:cNvSpPr>
          <p:nvPr/>
        </p:nvSpPr>
        <p:spPr bwMode="auto">
          <a:xfrm>
            <a:off x="6327640" y="2873253"/>
            <a:ext cx="609600" cy="11922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en-US" altLang="ja-JP" i="1">
                <a:solidFill>
                  <a:prstClr val="black"/>
                </a:solidFill>
                <a:latin typeface="Candara" panose="020E0502030303020204"/>
              </a:rPr>
              <a:t>K</a:t>
            </a:r>
            <a:r>
              <a:rPr lang="en-US" altLang="ja-JP" i="1" baseline="-25000">
                <a:solidFill>
                  <a:prstClr val="black"/>
                </a:solidFill>
                <a:latin typeface="Candara" panose="020E0502030303020204"/>
              </a:rPr>
              <a:t>1</a:t>
            </a:r>
            <a:endParaRPr lang="en-US" altLang="ja-JP" i="1">
              <a:solidFill>
                <a:prstClr val="black"/>
              </a:solidFill>
              <a:latin typeface="Candara" panose="020E0502030303020204"/>
            </a:endParaRPr>
          </a:p>
          <a:p>
            <a:pPr defTabSz="457200">
              <a:spcBef>
                <a:spcPct val="50000"/>
              </a:spcBef>
              <a:defRPr/>
            </a:pPr>
            <a:r>
              <a:rPr lang="en-US" altLang="ja-JP" i="1">
                <a:solidFill>
                  <a:prstClr val="black"/>
                </a:solidFill>
                <a:latin typeface="Candara" panose="020E0502030303020204"/>
              </a:rPr>
              <a:t> </a:t>
            </a:r>
          </a:p>
          <a:p>
            <a:pPr defTabSz="457200">
              <a:spcBef>
                <a:spcPct val="50000"/>
              </a:spcBef>
              <a:defRPr/>
            </a:pPr>
            <a:r>
              <a:rPr lang="en-US" altLang="ja-JP" i="1">
                <a:solidFill>
                  <a:prstClr val="black"/>
                </a:solidFill>
                <a:latin typeface="Candara" panose="020E0502030303020204"/>
              </a:rPr>
              <a:t>K</a:t>
            </a:r>
            <a:r>
              <a:rPr lang="en-US" altLang="ja-JP" i="1" baseline="-25000">
                <a:solidFill>
                  <a:prstClr val="black"/>
                </a:solidFill>
                <a:latin typeface="Candara" panose="020E0502030303020204"/>
              </a:rPr>
              <a:t>16</a:t>
            </a:r>
            <a:endParaRPr lang="en-US" altLang="ja-JP" i="1">
              <a:solidFill>
                <a:prstClr val="black"/>
              </a:solidFill>
              <a:latin typeface="Candara" panose="020E0502030303020204"/>
            </a:endParaRPr>
          </a:p>
        </p:txBody>
      </p:sp>
      <p:sp>
        <p:nvSpPr>
          <p:cNvPr id="539707" name="Line 59"/>
          <p:cNvSpPr>
            <a:spLocks noChangeShapeType="1"/>
          </p:cNvSpPr>
          <p:nvPr/>
        </p:nvSpPr>
        <p:spPr bwMode="auto">
          <a:xfrm>
            <a:off x="6632440" y="3330452"/>
            <a:ext cx="0" cy="30480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>
              <a:defRPr/>
            </a:pPr>
            <a:endParaRPr lang="ja-JP" altLang="en-US">
              <a:solidFill>
                <a:prstClr val="black"/>
              </a:solidFill>
              <a:latin typeface="Candara" panose="020E0502030303020204"/>
            </a:endParaRPr>
          </a:p>
        </p:txBody>
      </p:sp>
    </p:spTree>
    <p:extLst>
      <p:ext uri="{BB962C8B-B14F-4D97-AF65-F5344CB8AC3E}">
        <p14:creationId xmlns:p14="http://schemas.microsoft.com/office/powerpoint/2010/main" val="38325048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Feistel network in DES</a:t>
            </a:r>
          </a:p>
        </p:txBody>
      </p:sp>
      <p:sp>
        <p:nvSpPr>
          <p:cNvPr id="542737" name="AutoShape 17"/>
          <p:cNvSpPr>
            <a:spLocks noChangeArrowheads="1"/>
          </p:cNvSpPr>
          <p:nvPr/>
        </p:nvSpPr>
        <p:spPr bwMode="auto">
          <a:xfrm>
            <a:off x="6019800" y="2546350"/>
            <a:ext cx="2743200" cy="2438400"/>
          </a:xfrm>
          <a:prstGeom prst="octagon">
            <a:avLst>
              <a:gd name="adj" fmla="val 29287"/>
            </a:avLst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>
              <a:defRPr/>
            </a:pPr>
            <a:endParaRPr lang="ja-JP" altLang="en-US" i="1">
              <a:solidFill>
                <a:prstClr val="black"/>
              </a:solidFill>
              <a:latin typeface="Candara" panose="020E0502030303020204"/>
              <a:ea typeface="ＭＳ Ｐゴシック" pitchFamily="-65" charset="-128"/>
            </a:endParaRPr>
          </a:p>
        </p:txBody>
      </p:sp>
      <p:sp>
        <p:nvSpPr>
          <p:cNvPr id="542724" name="Rectangle 4"/>
          <p:cNvSpPr>
            <a:spLocks noChangeArrowheads="1"/>
          </p:cNvSpPr>
          <p:nvPr/>
        </p:nvSpPr>
        <p:spPr bwMode="auto">
          <a:xfrm>
            <a:off x="3276600" y="6127750"/>
            <a:ext cx="2743200" cy="381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>
              <a:defRPr/>
            </a:pPr>
            <a:r>
              <a:rPr lang="en-US" altLang="ja-JP">
                <a:solidFill>
                  <a:prstClr val="black"/>
                </a:solidFill>
                <a:latin typeface="Arial" pitchFamily="-65" charset="0"/>
              </a:rPr>
              <a:t>32 bits </a:t>
            </a:r>
            <a:r>
              <a:rPr lang="en-US" altLang="ja-JP" i="1">
                <a:solidFill>
                  <a:prstClr val="black"/>
                </a:solidFill>
                <a:latin typeface="Candara" panose="020E0502030303020204"/>
              </a:rPr>
              <a:t>L</a:t>
            </a:r>
            <a:r>
              <a:rPr lang="en-US" altLang="ja-JP" i="1" baseline="-25000">
                <a:solidFill>
                  <a:prstClr val="black"/>
                </a:solidFill>
                <a:latin typeface="Candara" panose="020E0502030303020204"/>
              </a:rPr>
              <a:t>i+1</a:t>
            </a:r>
          </a:p>
        </p:txBody>
      </p:sp>
      <p:sp>
        <p:nvSpPr>
          <p:cNvPr id="542725" name="Rectangle 5"/>
          <p:cNvSpPr>
            <a:spLocks noChangeArrowheads="1"/>
          </p:cNvSpPr>
          <p:nvPr/>
        </p:nvSpPr>
        <p:spPr bwMode="auto">
          <a:xfrm>
            <a:off x="6019800" y="6127750"/>
            <a:ext cx="2743200" cy="381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>
              <a:defRPr/>
            </a:pPr>
            <a:r>
              <a:rPr lang="en-US" altLang="ja-JP">
                <a:solidFill>
                  <a:prstClr val="black"/>
                </a:solidFill>
                <a:latin typeface="Arial" pitchFamily="-65" charset="0"/>
              </a:rPr>
              <a:t>32 bits </a:t>
            </a:r>
            <a:r>
              <a:rPr lang="en-US" altLang="ja-JP" i="1">
                <a:solidFill>
                  <a:prstClr val="black"/>
                </a:solidFill>
                <a:latin typeface="Candara" panose="020E0502030303020204"/>
              </a:rPr>
              <a:t>R</a:t>
            </a:r>
            <a:r>
              <a:rPr lang="en-US" altLang="ja-JP" i="1" baseline="-25000">
                <a:solidFill>
                  <a:prstClr val="black"/>
                </a:solidFill>
                <a:latin typeface="Candara" panose="020E0502030303020204"/>
              </a:rPr>
              <a:t>i+1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7162800" y="5365750"/>
            <a:ext cx="457200" cy="457200"/>
            <a:chOff x="1824" y="2400"/>
            <a:chExt cx="384" cy="384"/>
          </a:xfrm>
        </p:grpSpPr>
        <p:sp>
          <p:nvSpPr>
            <p:cNvPr id="542727" name="Oval 7"/>
            <p:cNvSpPr>
              <a:spLocks noChangeArrowheads="1"/>
            </p:cNvSpPr>
            <p:nvPr/>
          </p:nvSpPr>
          <p:spPr bwMode="auto">
            <a:xfrm>
              <a:off x="1824" y="2400"/>
              <a:ext cx="384" cy="38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>
                <a:defRPr/>
              </a:pPr>
              <a:endParaRPr lang="ja-JP" altLang="en-US">
                <a:solidFill>
                  <a:prstClr val="black"/>
                </a:solidFill>
                <a:latin typeface="Candara" panose="020E0502030303020204"/>
              </a:endParaRPr>
            </a:p>
          </p:txBody>
        </p:sp>
        <p:sp>
          <p:nvSpPr>
            <p:cNvPr id="542728" name="Line 8"/>
            <p:cNvSpPr>
              <a:spLocks noChangeShapeType="1"/>
            </p:cNvSpPr>
            <p:nvPr/>
          </p:nvSpPr>
          <p:spPr bwMode="auto">
            <a:xfrm flipV="1">
              <a:off x="2016" y="2448"/>
              <a:ext cx="1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>
                <a:defRPr/>
              </a:pPr>
              <a:endParaRPr lang="ja-JP" altLang="en-US">
                <a:solidFill>
                  <a:prstClr val="black"/>
                </a:solidFill>
                <a:latin typeface="Candara" panose="020E0502030303020204"/>
              </a:endParaRPr>
            </a:p>
          </p:txBody>
        </p:sp>
        <p:sp>
          <p:nvSpPr>
            <p:cNvPr id="542729" name="Line 9"/>
            <p:cNvSpPr>
              <a:spLocks noChangeShapeType="1"/>
            </p:cNvSpPr>
            <p:nvPr/>
          </p:nvSpPr>
          <p:spPr bwMode="auto">
            <a:xfrm>
              <a:off x="1872" y="2592"/>
              <a:ext cx="288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>
                <a:defRPr/>
              </a:pPr>
              <a:endParaRPr lang="ja-JP" altLang="en-US">
                <a:solidFill>
                  <a:prstClr val="black"/>
                </a:solidFill>
                <a:latin typeface="Candara" panose="020E0502030303020204"/>
              </a:endParaRPr>
            </a:p>
          </p:txBody>
        </p:sp>
      </p:grpSp>
      <p:cxnSp>
        <p:nvCxnSpPr>
          <p:cNvPr id="542731" name="AutoShape 11"/>
          <p:cNvCxnSpPr>
            <a:cxnSpLocks noChangeShapeType="1"/>
            <a:stCxn id="542741" idx="2"/>
          </p:cNvCxnSpPr>
          <p:nvPr/>
        </p:nvCxnSpPr>
        <p:spPr bwMode="auto">
          <a:xfrm rot="16200000" flipH="1">
            <a:off x="4222750" y="2667000"/>
            <a:ext cx="3352800" cy="2501900"/>
          </a:xfrm>
          <a:prstGeom prst="bentConnector2">
            <a:avLst/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cxnSp>
        <p:nvCxnSpPr>
          <p:cNvPr id="542732" name="AutoShape 12"/>
          <p:cNvCxnSpPr>
            <a:cxnSpLocks noChangeShapeType="1"/>
            <a:endCxn id="542725" idx="0"/>
          </p:cNvCxnSpPr>
          <p:nvPr/>
        </p:nvCxnSpPr>
        <p:spPr bwMode="auto">
          <a:xfrm>
            <a:off x="7391400" y="5835650"/>
            <a:ext cx="0" cy="2921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2735" name="AutoShape 15"/>
          <p:cNvCxnSpPr>
            <a:cxnSpLocks noChangeShapeType="1"/>
            <a:stCxn id="542748" idx="2"/>
          </p:cNvCxnSpPr>
          <p:nvPr/>
        </p:nvCxnSpPr>
        <p:spPr bwMode="auto">
          <a:xfrm>
            <a:off x="7391400" y="4756150"/>
            <a:ext cx="0" cy="5969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542740" name="Rectangle 20"/>
          <p:cNvSpPr>
            <a:spLocks noChangeArrowheads="1"/>
          </p:cNvSpPr>
          <p:nvPr/>
        </p:nvSpPr>
        <p:spPr bwMode="auto">
          <a:xfrm>
            <a:off x="9315450" y="3232150"/>
            <a:ext cx="346570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defTabSz="457200">
              <a:defRPr/>
            </a:pPr>
            <a:r>
              <a:rPr lang="en-US" altLang="ja-JP" i="1">
                <a:solidFill>
                  <a:prstClr val="black"/>
                </a:solidFill>
                <a:latin typeface="Candara" panose="020E0502030303020204"/>
              </a:rPr>
              <a:t>K</a:t>
            </a:r>
            <a:r>
              <a:rPr lang="en-US" altLang="ja-JP" i="1" baseline="-25000">
                <a:solidFill>
                  <a:prstClr val="black"/>
                </a:solidFill>
                <a:latin typeface="Candara" panose="020E0502030303020204"/>
              </a:rPr>
              <a:t>i</a:t>
            </a:r>
          </a:p>
        </p:txBody>
      </p:sp>
      <p:sp>
        <p:nvSpPr>
          <p:cNvPr id="542741" name="Rectangle 21"/>
          <p:cNvSpPr>
            <a:spLocks noChangeArrowheads="1"/>
          </p:cNvSpPr>
          <p:nvPr/>
        </p:nvSpPr>
        <p:spPr bwMode="auto">
          <a:xfrm>
            <a:off x="3276600" y="1860550"/>
            <a:ext cx="2743200" cy="381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>
              <a:defRPr/>
            </a:pPr>
            <a:r>
              <a:rPr lang="en-US" altLang="ja-JP">
                <a:solidFill>
                  <a:prstClr val="black"/>
                </a:solidFill>
                <a:latin typeface="Arial" pitchFamily="-65" charset="0"/>
              </a:rPr>
              <a:t>32 bits </a:t>
            </a:r>
            <a:r>
              <a:rPr lang="en-US" altLang="ja-JP" i="1">
                <a:solidFill>
                  <a:prstClr val="black"/>
                </a:solidFill>
                <a:latin typeface="Candara" panose="020E0502030303020204"/>
              </a:rPr>
              <a:t>L</a:t>
            </a:r>
            <a:r>
              <a:rPr lang="en-US" altLang="ja-JP" i="1" baseline="-25000">
                <a:solidFill>
                  <a:prstClr val="black"/>
                </a:solidFill>
                <a:latin typeface="Candara" panose="020E0502030303020204"/>
              </a:rPr>
              <a:t>i</a:t>
            </a:r>
            <a:endParaRPr lang="en-US" altLang="ja-JP" i="1">
              <a:solidFill>
                <a:prstClr val="black"/>
              </a:solidFill>
              <a:latin typeface="Candara" panose="020E0502030303020204"/>
            </a:endParaRPr>
          </a:p>
        </p:txBody>
      </p:sp>
      <p:sp>
        <p:nvSpPr>
          <p:cNvPr id="542742" name="Rectangle 22"/>
          <p:cNvSpPr>
            <a:spLocks noChangeArrowheads="1"/>
          </p:cNvSpPr>
          <p:nvPr/>
        </p:nvSpPr>
        <p:spPr bwMode="auto">
          <a:xfrm>
            <a:off x="6019800" y="1860550"/>
            <a:ext cx="2743200" cy="3810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>
              <a:defRPr/>
            </a:pPr>
            <a:r>
              <a:rPr lang="en-US" altLang="ja-JP" dirty="0">
                <a:solidFill>
                  <a:prstClr val="black"/>
                </a:solidFill>
                <a:latin typeface="Arial" pitchFamily="-65" charset="0"/>
              </a:rPr>
              <a:t>32 bits </a:t>
            </a:r>
            <a:r>
              <a:rPr lang="en-US" altLang="ja-JP" i="1" dirty="0">
                <a:solidFill>
                  <a:prstClr val="black"/>
                </a:solidFill>
                <a:latin typeface="Candara" panose="020E0502030303020204"/>
              </a:rPr>
              <a:t>R</a:t>
            </a:r>
            <a:r>
              <a:rPr lang="en-US" altLang="ja-JP" i="1" baseline="-25000" dirty="0">
                <a:solidFill>
                  <a:prstClr val="black"/>
                </a:solidFill>
                <a:latin typeface="Candara" panose="020E0502030303020204"/>
              </a:rPr>
              <a:t>i</a:t>
            </a:r>
          </a:p>
        </p:txBody>
      </p:sp>
      <p:cxnSp>
        <p:nvCxnSpPr>
          <p:cNvPr id="542743" name="AutoShape 23"/>
          <p:cNvCxnSpPr>
            <a:cxnSpLocks noChangeShapeType="1"/>
            <a:stCxn id="542742" idx="2"/>
            <a:endCxn id="542724" idx="1"/>
          </p:cNvCxnSpPr>
          <p:nvPr/>
        </p:nvCxnSpPr>
        <p:spPr bwMode="auto">
          <a:xfrm rot="5400000">
            <a:off x="3295650" y="2222500"/>
            <a:ext cx="4076700" cy="4114800"/>
          </a:xfrm>
          <a:prstGeom prst="bentConnector4">
            <a:avLst>
              <a:gd name="adj1" fmla="val 4241"/>
              <a:gd name="adj2" fmla="val 105556"/>
            </a:avLst>
          </a:prstGeom>
          <a:noFill/>
          <a:ln w="2857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</p:cxnSp>
      <p:grpSp>
        <p:nvGrpSpPr>
          <p:cNvPr id="3" name="Group 24"/>
          <p:cNvGrpSpPr>
            <a:grpSpLocks/>
          </p:cNvGrpSpPr>
          <p:nvPr/>
        </p:nvGrpSpPr>
        <p:grpSpPr bwMode="auto">
          <a:xfrm>
            <a:off x="7239000" y="3308350"/>
            <a:ext cx="304800" cy="304800"/>
            <a:chOff x="1824" y="2400"/>
            <a:chExt cx="384" cy="384"/>
          </a:xfrm>
        </p:grpSpPr>
        <p:sp>
          <p:nvSpPr>
            <p:cNvPr id="542745" name="Oval 25"/>
            <p:cNvSpPr>
              <a:spLocks noChangeArrowheads="1"/>
            </p:cNvSpPr>
            <p:nvPr/>
          </p:nvSpPr>
          <p:spPr bwMode="auto">
            <a:xfrm>
              <a:off x="1824" y="2400"/>
              <a:ext cx="384" cy="384"/>
            </a:xfrm>
            <a:prstGeom prst="ellips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>
                <a:defRPr/>
              </a:pPr>
              <a:endParaRPr lang="ja-JP" altLang="en-US">
                <a:solidFill>
                  <a:prstClr val="black"/>
                </a:solidFill>
                <a:latin typeface="Candara" panose="020E0502030303020204"/>
              </a:endParaRPr>
            </a:p>
          </p:txBody>
        </p:sp>
        <p:sp>
          <p:nvSpPr>
            <p:cNvPr id="542746" name="Line 26"/>
            <p:cNvSpPr>
              <a:spLocks noChangeShapeType="1"/>
            </p:cNvSpPr>
            <p:nvPr/>
          </p:nvSpPr>
          <p:spPr bwMode="auto">
            <a:xfrm flipV="1">
              <a:off x="2016" y="2448"/>
              <a:ext cx="1" cy="28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>
                <a:defRPr/>
              </a:pPr>
              <a:endParaRPr lang="ja-JP" altLang="en-US">
                <a:solidFill>
                  <a:prstClr val="black"/>
                </a:solidFill>
                <a:latin typeface="Candara" panose="020E0502030303020204"/>
              </a:endParaRPr>
            </a:p>
          </p:txBody>
        </p:sp>
        <p:sp>
          <p:nvSpPr>
            <p:cNvPr id="542747" name="Line 27"/>
            <p:cNvSpPr>
              <a:spLocks noChangeShapeType="1"/>
            </p:cNvSpPr>
            <p:nvPr/>
          </p:nvSpPr>
          <p:spPr bwMode="auto">
            <a:xfrm>
              <a:off x="1872" y="2592"/>
              <a:ext cx="288" cy="1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>
              <a:prstTxWarp prst="textNoShape">
                <a:avLst/>
              </a:prstTxWarp>
            </a:bodyPr>
            <a:lstStyle/>
            <a:p>
              <a:pPr defTabSz="457200">
                <a:defRPr/>
              </a:pPr>
              <a:endParaRPr lang="ja-JP" altLang="en-US">
                <a:solidFill>
                  <a:prstClr val="black"/>
                </a:solidFill>
                <a:latin typeface="Candara" panose="020E0502030303020204"/>
              </a:endParaRPr>
            </a:p>
          </p:txBody>
        </p:sp>
      </p:grpSp>
      <p:sp>
        <p:nvSpPr>
          <p:cNvPr id="542748" name="Rectangle 28"/>
          <p:cNvSpPr>
            <a:spLocks noChangeArrowheads="1"/>
          </p:cNvSpPr>
          <p:nvPr/>
        </p:nvSpPr>
        <p:spPr bwMode="auto">
          <a:xfrm>
            <a:off x="6629400" y="4375150"/>
            <a:ext cx="1524000" cy="381000"/>
          </a:xfrm>
          <a:prstGeom prst="rect">
            <a:avLst/>
          </a:prstGeom>
          <a:solidFill>
            <a:srgbClr val="FF99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 defTabSz="457200">
              <a:defRPr/>
            </a:pPr>
            <a:r>
              <a:rPr lang="en-US" altLang="ja-JP" dirty="0">
                <a:solidFill>
                  <a:prstClr val="black"/>
                </a:solidFill>
                <a:latin typeface="Arial" pitchFamily="-65" charset="0"/>
              </a:rPr>
              <a:t>Permutation</a:t>
            </a:r>
          </a:p>
        </p:txBody>
      </p:sp>
      <p:sp>
        <p:nvSpPr>
          <p:cNvPr id="542749" name="AutoShape 29"/>
          <p:cNvSpPr>
            <a:spLocks noChangeArrowheads="1"/>
          </p:cNvSpPr>
          <p:nvPr/>
        </p:nvSpPr>
        <p:spPr bwMode="auto">
          <a:xfrm>
            <a:off x="6553200" y="3765550"/>
            <a:ext cx="1676400" cy="4572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99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>
              <a:defRPr/>
            </a:pPr>
            <a:r>
              <a:rPr lang="en-US" altLang="ja-JP">
                <a:solidFill>
                  <a:prstClr val="black"/>
                </a:solidFill>
                <a:latin typeface="Arial" pitchFamily="-65" charset="0"/>
              </a:rPr>
              <a:t>S-boxes</a:t>
            </a:r>
          </a:p>
        </p:txBody>
      </p:sp>
      <p:sp>
        <p:nvSpPr>
          <p:cNvPr id="542751" name="AutoShape 31"/>
          <p:cNvSpPr>
            <a:spLocks noChangeArrowheads="1"/>
          </p:cNvSpPr>
          <p:nvPr/>
        </p:nvSpPr>
        <p:spPr bwMode="auto">
          <a:xfrm flipV="1">
            <a:off x="6564313" y="2698750"/>
            <a:ext cx="1676400" cy="457200"/>
          </a:xfrm>
          <a:custGeom>
            <a:avLst/>
            <a:gdLst>
              <a:gd name="G0" fmla="+- 5400 0 0"/>
              <a:gd name="G1" fmla="+- 21600 0 5400"/>
              <a:gd name="G2" fmla="*/ 5400 1 2"/>
              <a:gd name="G3" fmla="+- 21600 0 G2"/>
              <a:gd name="G4" fmla="+/ 5400 21600 2"/>
              <a:gd name="G5" fmla="+/ G1 0 2"/>
              <a:gd name="G6" fmla="*/ 21600 21600 5400"/>
              <a:gd name="G7" fmla="*/ G6 1 2"/>
              <a:gd name="G8" fmla="+- 21600 0 G7"/>
              <a:gd name="G9" fmla="*/ 21600 1 2"/>
              <a:gd name="G10" fmla="+- 5400 0 G9"/>
              <a:gd name="G11" fmla="?: G10 G8 0"/>
              <a:gd name="G12" fmla="?: G10 G7 21600"/>
              <a:gd name="T0" fmla="*/ 18900 w 21600"/>
              <a:gd name="T1" fmla="*/ 10800 h 21600"/>
              <a:gd name="T2" fmla="*/ 10800 w 21600"/>
              <a:gd name="T3" fmla="*/ 21600 h 21600"/>
              <a:gd name="T4" fmla="*/ 2700 w 21600"/>
              <a:gd name="T5" fmla="*/ 10800 h 21600"/>
              <a:gd name="T6" fmla="*/ 10800 w 21600"/>
              <a:gd name="T7" fmla="*/ 0 h 21600"/>
              <a:gd name="T8" fmla="*/ 4500 w 21600"/>
              <a:gd name="T9" fmla="*/ 4500 h 21600"/>
              <a:gd name="T10" fmla="*/ 17100 w 21600"/>
              <a:gd name="T11" fmla="*/ 171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T8" t="T9" r="T10" b="T11"/>
            <a:pathLst>
              <a:path w="21600" h="21600">
                <a:moveTo>
                  <a:pt x="0" y="0"/>
                </a:moveTo>
                <a:lnTo>
                  <a:pt x="5400" y="21600"/>
                </a:lnTo>
                <a:lnTo>
                  <a:pt x="16200" y="21600"/>
                </a:lnTo>
                <a:lnTo>
                  <a:pt x="21600" y="0"/>
                </a:lnTo>
                <a:close/>
              </a:path>
            </a:pathLst>
          </a:custGeom>
          <a:solidFill>
            <a:srgbClr val="FF99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rot="10800000" wrap="none" anchor="ctr">
            <a:prstTxWarp prst="textNoShape">
              <a:avLst/>
            </a:prstTxWarp>
          </a:bodyPr>
          <a:lstStyle/>
          <a:p>
            <a:pPr algn="ctr" defTabSz="457200">
              <a:defRPr/>
            </a:pPr>
            <a:r>
              <a:rPr lang="en-US" altLang="ja-JP" dirty="0">
                <a:solidFill>
                  <a:prstClr val="black"/>
                </a:solidFill>
                <a:latin typeface="Arial" pitchFamily="-65" charset="0"/>
              </a:rPr>
              <a:t>Expansion</a:t>
            </a:r>
          </a:p>
        </p:txBody>
      </p:sp>
      <p:cxnSp>
        <p:nvCxnSpPr>
          <p:cNvPr id="542752" name="AutoShape 32"/>
          <p:cNvCxnSpPr>
            <a:cxnSpLocks noChangeShapeType="1"/>
            <a:stCxn id="542740" idx="1"/>
          </p:cNvCxnSpPr>
          <p:nvPr/>
        </p:nvCxnSpPr>
        <p:spPr bwMode="auto">
          <a:xfrm flipH="1">
            <a:off x="7556500" y="3416816"/>
            <a:ext cx="1758950" cy="43934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2753" name="AutoShape 33"/>
          <p:cNvCxnSpPr>
            <a:cxnSpLocks noChangeShapeType="1"/>
            <a:stCxn id="542742" idx="2"/>
            <a:endCxn id="542751" idx="1"/>
          </p:cNvCxnSpPr>
          <p:nvPr/>
        </p:nvCxnSpPr>
        <p:spPr bwMode="auto">
          <a:xfrm>
            <a:off x="7391401" y="2241550"/>
            <a:ext cx="9525" cy="45720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2754" name="AutoShape 34"/>
          <p:cNvCxnSpPr>
            <a:cxnSpLocks noChangeShapeType="1"/>
            <a:stCxn id="542751" idx="3"/>
          </p:cNvCxnSpPr>
          <p:nvPr/>
        </p:nvCxnSpPr>
        <p:spPr bwMode="auto">
          <a:xfrm flipH="1">
            <a:off x="7391401" y="3155950"/>
            <a:ext cx="9525" cy="1778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2755" name="AutoShape 35"/>
          <p:cNvCxnSpPr>
            <a:cxnSpLocks noChangeShapeType="1"/>
            <a:endCxn id="542749" idx="3"/>
          </p:cNvCxnSpPr>
          <p:nvPr/>
        </p:nvCxnSpPr>
        <p:spPr bwMode="auto">
          <a:xfrm>
            <a:off x="7391400" y="3625850"/>
            <a:ext cx="0" cy="1397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42756" name="AutoShape 36"/>
          <p:cNvCxnSpPr>
            <a:cxnSpLocks noChangeShapeType="1"/>
            <a:stCxn id="542749" idx="1"/>
            <a:endCxn id="542748" idx="0"/>
          </p:cNvCxnSpPr>
          <p:nvPr/>
        </p:nvCxnSpPr>
        <p:spPr bwMode="auto">
          <a:xfrm>
            <a:off x="7391400" y="4222750"/>
            <a:ext cx="0" cy="15240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542757" name="Text Box 37"/>
          <p:cNvSpPr txBox="1">
            <a:spLocks noChangeArrowheads="1"/>
          </p:cNvSpPr>
          <p:nvPr/>
        </p:nvSpPr>
        <p:spPr bwMode="auto">
          <a:xfrm>
            <a:off x="7599364" y="3140075"/>
            <a:ext cx="782637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defTabSz="457200">
              <a:defRPr/>
            </a:pPr>
            <a:r>
              <a:rPr lang="en-US" altLang="ja-JP" sz="1600">
                <a:solidFill>
                  <a:prstClr val="black"/>
                </a:solidFill>
                <a:latin typeface="Arial" pitchFamily="-65" charset="0"/>
              </a:rPr>
              <a:t>48 bits</a:t>
            </a:r>
          </a:p>
        </p:txBody>
      </p:sp>
      <p:sp>
        <p:nvSpPr>
          <p:cNvPr id="542758" name="Text Box 38"/>
          <p:cNvSpPr txBox="1">
            <a:spLocks noChangeArrowheads="1"/>
          </p:cNvSpPr>
          <p:nvPr/>
        </p:nvSpPr>
        <p:spPr bwMode="auto">
          <a:xfrm>
            <a:off x="7696200" y="5441950"/>
            <a:ext cx="782638" cy="336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defTabSz="457200">
              <a:defRPr/>
            </a:pPr>
            <a:r>
              <a:rPr lang="en-US" altLang="ja-JP" sz="1600">
                <a:solidFill>
                  <a:prstClr val="black"/>
                </a:solidFill>
                <a:latin typeface="Arial" pitchFamily="-65" charset="0"/>
              </a:rPr>
              <a:t>32 bits</a:t>
            </a:r>
          </a:p>
        </p:txBody>
      </p:sp>
      <p:sp>
        <p:nvSpPr>
          <p:cNvPr id="542759" name="Text Box 39"/>
          <p:cNvSpPr txBox="1">
            <a:spLocks noChangeArrowheads="1"/>
          </p:cNvSpPr>
          <p:nvPr/>
        </p:nvSpPr>
        <p:spPr bwMode="auto">
          <a:xfrm>
            <a:off x="4800601" y="3308351"/>
            <a:ext cx="1273175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  <a:spAutoFit/>
          </a:bodyPr>
          <a:lstStyle/>
          <a:p>
            <a:pPr defTabSz="457200">
              <a:spcBef>
                <a:spcPct val="50000"/>
              </a:spcBef>
              <a:defRPr/>
            </a:pPr>
            <a:r>
              <a:rPr lang="en-US" altLang="ja-JP">
                <a:solidFill>
                  <a:prstClr val="black"/>
                </a:solidFill>
                <a:latin typeface="Candara" panose="020E0502030303020204"/>
              </a:rPr>
              <a:t>Mangler function</a:t>
            </a:r>
          </a:p>
        </p:txBody>
      </p:sp>
    </p:spTree>
    <p:extLst>
      <p:ext uri="{BB962C8B-B14F-4D97-AF65-F5344CB8AC3E}">
        <p14:creationId xmlns:p14="http://schemas.microsoft.com/office/powerpoint/2010/main" val="310304406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Substitution Boxes in 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8 different S-Boxes   (48 bits input)</a:t>
            </a:r>
          </a:p>
          <a:p>
            <a:r>
              <a:rPr lang="en-US" dirty="0"/>
              <a:t>6-bit input to 4-bit output  (48 to 32 bits)</a:t>
            </a:r>
          </a:p>
          <a:p>
            <a:r>
              <a:rPr lang="en-US" dirty="0"/>
              <a:t>Not invertible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1981200" y="6356351"/>
            <a:ext cx="2133600" cy="365125"/>
          </a:xfrm>
        </p:spPr>
        <p:txBody>
          <a:bodyPr/>
          <a:lstStyle/>
          <a:p>
            <a:pPr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fld id="{A7DE4472-E95E-430B-AA46-2D76F67E4D17}" type="datetime1">
              <a:rPr lang="en-US">
                <a:solidFill>
                  <a:prstClr val="black">
                    <a:tint val="75000"/>
                  </a:prstClr>
                </a:solidFill>
                <a:latin typeface="Arial" charset="0"/>
              </a:rPr>
              <a:pPr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defRPr/>
              </a:pPr>
              <a:t>9/21/26</a:t>
            </a:fld>
            <a:endParaRPr lang="en-GB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4648200" y="6356351"/>
            <a:ext cx="2895600" cy="365125"/>
          </a:xfrm>
        </p:spPr>
        <p:txBody>
          <a:bodyPr/>
          <a:lstStyle/>
          <a:p>
            <a:pPr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r>
              <a:rPr lang="en-GB">
                <a:solidFill>
                  <a:prstClr val="black">
                    <a:tint val="75000"/>
                  </a:prstClr>
                </a:solidFill>
                <a:latin typeface="Arial" charset="0"/>
              </a:rPr>
              <a:t>Cryptography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077200" y="6356351"/>
            <a:ext cx="2133600" cy="365125"/>
          </a:xfrm>
        </p:spPr>
        <p:txBody>
          <a:bodyPr/>
          <a:lstStyle/>
          <a:p>
            <a:pPr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fld id="{40430D0A-94E0-4A9E-8011-005B3BE16F20}" type="slidenum">
              <a:rPr lang="en-GB">
                <a:solidFill>
                  <a:prstClr val="black">
                    <a:tint val="75000"/>
                  </a:prstClr>
                </a:solidFill>
                <a:latin typeface="Arial" charset="0"/>
              </a:rPr>
              <a:pPr defTabSz="457200" eaLnBrk="0" fontAlgn="base" hangingPunct="0">
                <a:lnSpc>
                  <a:spcPct val="93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defRPr/>
              </a:pPr>
              <a:t>27</a:t>
            </a:fld>
            <a:endParaRPr lang="en-GB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76600" y="5943600"/>
            <a:ext cx="6781800" cy="381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 eaLnBrk="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defRPr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84891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 </a:t>
            </a:r>
            <a:r>
              <a:rPr lang="en-US" dirty="0" err="1"/>
              <a:t>mangler</a:t>
            </a:r>
            <a:r>
              <a:rPr lang="en-US" dirty="0"/>
              <a:t>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S-boxes</a:t>
            </a:r>
          </a:p>
          <a:p>
            <a:pPr lvl="1"/>
            <a:r>
              <a:rPr lang="en-US" dirty="0"/>
              <a:t>Changing 1 bit of input changes at least 2 bits of output</a:t>
            </a:r>
          </a:p>
          <a:p>
            <a:pPr lvl="1"/>
            <a:endParaRPr lang="en-US" dirty="0"/>
          </a:p>
          <a:p>
            <a:r>
              <a:rPr lang="en-US" dirty="0"/>
              <a:t>Mixing permutation</a:t>
            </a:r>
          </a:p>
          <a:p>
            <a:pPr lvl="1"/>
            <a:r>
              <a:rPr lang="en-US" dirty="0"/>
              <a:t>The 4 bits of output from any S-box affect the input to 6 S-boxes in the next round</a:t>
            </a:r>
          </a:p>
        </p:txBody>
      </p:sp>
    </p:spTree>
    <p:extLst>
      <p:ext uri="{BB962C8B-B14F-4D97-AF65-F5344CB8AC3E}">
        <p14:creationId xmlns:p14="http://schemas.microsoft.com/office/powerpoint/2010/main" val="7084469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Avalanche effect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1-bit difference in left half of input</a:t>
            </a:r>
          </a:p>
          <a:p>
            <a:pPr lvl="1"/>
            <a:r>
              <a:rPr lang="en-US" dirty="0"/>
              <a:t>After 1 round, 1-bit difference in right half</a:t>
            </a:r>
          </a:p>
          <a:p>
            <a:pPr lvl="1"/>
            <a:r>
              <a:rPr lang="en-US" dirty="0"/>
              <a:t>S-boxes cause a 2-bit difference, implying a 3-bit difference overall after 2 rounds</a:t>
            </a:r>
          </a:p>
          <a:p>
            <a:pPr lvl="1"/>
            <a:r>
              <a:rPr lang="en-US" dirty="0"/>
              <a:t>Mixing permutation spreads differences into different S-boxes</a:t>
            </a:r>
          </a:p>
          <a:p>
            <a:pPr lvl="1"/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7687132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of 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DES is extremely well-designed </a:t>
            </a:r>
          </a:p>
          <a:p>
            <a:pPr lvl="1"/>
            <a:r>
              <a:rPr lang="en-US" dirty="0"/>
              <a:t>Except for some attacks that require large amounts of plaintext, no attacks better than brute-force are known</a:t>
            </a:r>
          </a:p>
          <a:p>
            <a:endParaRPr lang="en-US" dirty="0"/>
          </a:p>
          <a:p>
            <a:r>
              <a:rPr lang="en-US" dirty="0"/>
              <a:t>But … parameters are too small!</a:t>
            </a:r>
          </a:p>
        </p:txBody>
      </p:sp>
    </p:spTree>
    <p:extLst>
      <p:ext uri="{BB962C8B-B14F-4D97-AF65-F5344CB8AC3E}">
        <p14:creationId xmlns:p14="http://schemas.microsoft.com/office/powerpoint/2010/main" val="22252420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56-bit key length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concern as soon as DES was released</a:t>
            </a:r>
          </a:p>
          <a:p>
            <a:endParaRPr lang="en-US" dirty="0"/>
          </a:p>
          <a:p>
            <a:r>
              <a:rPr lang="en-US" dirty="0"/>
              <a:t>Brute-force search over 2</a:t>
            </a:r>
            <a:r>
              <a:rPr lang="en-US" baseline="30000" dirty="0"/>
              <a:t>56</a:t>
            </a:r>
            <a:r>
              <a:rPr lang="en-US" dirty="0"/>
              <a:t> keys is possible</a:t>
            </a:r>
          </a:p>
          <a:p>
            <a:pPr lvl="1"/>
            <a:r>
              <a:rPr lang="en-US" dirty="0"/>
              <a:t>1997: 1000s of computers, 96 days</a:t>
            </a:r>
          </a:p>
          <a:p>
            <a:pPr lvl="1"/>
            <a:r>
              <a:rPr lang="en-US" dirty="0"/>
              <a:t>1998: distributed.net, 41 days</a:t>
            </a:r>
          </a:p>
          <a:p>
            <a:pPr lvl="1"/>
            <a:r>
              <a:rPr lang="en-US" dirty="0"/>
              <a:t>1999: Deep Crack ($250,000), 56 hours</a:t>
            </a:r>
          </a:p>
          <a:p>
            <a:pPr lvl="1"/>
            <a:r>
              <a:rPr lang="en-US" dirty="0"/>
              <a:t>Today: 48 FPGAs, ~1 day</a:t>
            </a:r>
          </a:p>
        </p:txBody>
      </p:sp>
    </p:spTree>
    <p:extLst>
      <p:ext uri="{BB962C8B-B14F-4D97-AF65-F5344CB8AC3E}">
        <p14:creationId xmlns:p14="http://schemas.microsoft.com/office/powerpoint/2010/main" val="29379708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9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Double DES</a:t>
            </a:r>
          </a:p>
        </p:txBody>
      </p:sp>
      <p:sp>
        <p:nvSpPr>
          <p:cNvPr id="553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sz="2400" dirty="0"/>
              <a:t>Simple extension to DES, using two 56-bit keys</a:t>
            </a:r>
          </a:p>
        </p:txBody>
      </p:sp>
      <p:sp>
        <p:nvSpPr>
          <p:cNvPr id="553988" name="Rectangle 4"/>
          <p:cNvSpPr>
            <a:spLocks noChangeArrowheads="1"/>
          </p:cNvSpPr>
          <p:nvPr/>
        </p:nvSpPr>
        <p:spPr bwMode="auto">
          <a:xfrm>
            <a:off x="1676400" y="3286125"/>
            <a:ext cx="1524000" cy="838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>
              <a:defRPr/>
            </a:pPr>
            <a:r>
              <a:rPr lang="en-US" altLang="ja-JP" sz="2000">
                <a:solidFill>
                  <a:prstClr val="black"/>
                </a:solidFill>
                <a:latin typeface="Arial" pitchFamily="-65" charset="0"/>
              </a:rPr>
              <a:t>Plaintext</a:t>
            </a:r>
          </a:p>
        </p:txBody>
      </p:sp>
      <p:sp>
        <p:nvSpPr>
          <p:cNvPr id="553990" name="Rectangle 6"/>
          <p:cNvSpPr>
            <a:spLocks noChangeArrowheads="1"/>
          </p:cNvSpPr>
          <p:nvPr/>
        </p:nvSpPr>
        <p:spPr bwMode="auto">
          <a:xfrm>
            <a:off x="7162800" y="3282843"/>
            <a:ext cx="1524000" cy="838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>
              <a:defRPr/>
            </a:pPr>
            <a:r>
              <a:rPr lang="en-US" altLang="ja-JP" sz="2000">
                <a:solidFill>
                  <a:prstClr val="black"/>
                </a:solidFill>
                <a:latin typeface="Arial" pitchFamily="-65" charset="0"/>
              </a:rPr>
              <a:t>Ciphertext</a:t>
            </a:r>
          </a:p>
        </p:txBody>
      </p:sp>
      <p:sp>
        <p:nvSpPr>
          <p:cNvPr id="553991" name="AutoShape 7"/>
          <p:cNvSpPr>
            <a:spLocks noChangeArrowheads="1"/>
          </p:cNvSpPr>
          <p:nvPr/>
        </p:nvSpPr>
        <p:spPr bwMode="auto">
          <a:xfrm>
            <a:off x="3429000" y="2974975"/>
            <a:ext cx="1600200" cy="1447800"/>
          </a:xfrm>
          <a:prstGeom prst="hexagon">
            <a:avLst>
              <a:gd name="adj" fmla="val 27632"/>
              <a:gd name="vf" fmla="val 115470"/>
            </a:avLst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 defTabSz="457200">
              <a:defRPr/>
            </a:pPr>
            <a:r>
              <a:rPr lang="en-US" altLang="ja-JP" sz="2000" dirty="0">
                <a:solidFill>
                  <a:prstClr val="black"/>
                </a:solidFill>
                <a:latin typeface="Arial" pitchFamily="-65" charset="0"/>
              </a:rPr>
              <a:t>DES </a:t>
            </a:r>
          </a:p>
          <a:p>
            <a:pPr algn="ctr" defTabSz="457200">
              <a:defRPr/>
            </a:pPr>
            <a:r>
              <a:rPr lang="en-US" altLang="ja-JP" sz="2000" dirty="0">
                <a:solidFill>
                  <a:prstClr val="black"/>
                </a:solidFill>
                <a:latin typeface="Arial" pitchFamily="-65" charset="0"/>
              </a:rPr>
              <a:t>Encryption</a:t>
            </a:r>
          </a:p>
        </p:txBody>
      </p:sp>
      <p:sp>
        <p:nvSpPr>
          <p:cNvPr id="553992" name="AutoShape 8"/>
          <p:cNvSpPr>
            <a:spLocks noChangeArrowheads="1"/>
          </p:cNvSpPr>
          <p:nvPr/>
        </p:nvSpPr>
        <p:spPr bwMode="auto">
          <a:xfrm>
            <a:off x="5334000" y="2978043"/>
            <a:ext cx="1600200" cy="1447800"/>
          </a:xfrm>
          <a:prstGeom prst="hexagon">
            <a:avLst>
              <a:gd name="adj" fmla="val 27632"/>
              <a:gd name="vf" fmla="val 115470"/>
            </a:avLst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 defTabSz="457200">
              <a:defRPr/>
            </a:pPr>
            <a:r>
              <a:rPr lang="en-US" altLang="ja-JP" sz="2000" dirty="0">
                <a:solidFill>
                  <a:prstClr val="black"/>
                </a:solidFill>
                <a:latin typeface="Arial" pitchFamily="-65" charset="0"/>
              </a:rPr>
              <a:t>DES</a:t>
            </a:r>
          </a:p>
          <a:p>
            <a:pPr algn="ctr" defTabSz="457200">
              <a:defRPr/>
            </a:pPr>
            <a:r>
              <a:rPr lang="en-US" altLang="ja-JP" sz="2000" dirty="0">
                <a:solidFill>
                  <a:prstClr val="black"/>
                </a:solidFill>
                <a:latin typeface="Arial" pitchFamily="-65" charset="0"/>
              </a:rPr>
              <a:t>Encryption</a:t>
            </a:r>
          </a:p>
        </p:txBody>
      </p:sp>
      <p:cxnSp>
        <p:nvCxnSpPr>
          <p:cNvPr id="553993" name="AutoShape 9"/>
          <p:cNvCxnSpPr>
            <a:cxnSpLocks noChangeShapeType="1"/>
            <a:stCxn id="553988" idx="3"/>
            <a:endCxn id="553991" idx="1"/>
          </p:cNvCxnSpPr>
          <p:nvPr/>
        </p:nvCxnSpPr>
        <p:spPr bwMode="auto">
          <a:xfrm flipV="1">
            <a:off x="3200400" y="3698875"/>
            <a:ext cx="228600" cy="63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53994" name="AutoShape 10"/>
          <p:cNvCxnSpPr>
            <a:cxnSpLocks noChangeShapeType="1"/>
            <a:stCxn id="553991" idx="3"/>
          </p:cNvCxnSpPr>
          <p:nvPr/>
        </p:nvCxnSpPr>
        <p:spPr bwMode="auto">
          <a:xfrm>
            <a:off x="5029200" y="3698875"/>
            <a:ext cx="3048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53996" name="AutoShape 12"/>
          <p:cNvCxnSpPr>
            <a:cxnSpLocks noChangeShapeType="1"/>
            <a:stCxn id="553992" idx="3"/>
            <a:endCxn id="553990" idx="1"/>
          </p:cNvCxnSpPr>
          <p:nvPr/>
        </p:nvCxnSpPr>
        <p:spPr bwMode="auto">
          <a:xfrm>
            <a:off x="6934200" y="3701943"/>
            <a:ext cx="2286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553997" name="Text Box 13"/>
          <p:cNvSpPr txBox="1">
            <a:spLocks noChangeArrowheads="1"/>
          </p:cNvSpPr>
          <p:nvPr/>
        </p:nvSpPr>
        <p:spPr bwMode="auto">
          <a:xfrm>
            <a:off x="3759201" y="2286000"/>
            <a:ext cx="954107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defTabSz="457200">
              <a:defRPr/>
            </a:pPr>
            <a:r>
              <a:rPr lang="en-US" altLang="ja-JP" sz="2000">
                <a:solidFill>
                  <a:prstClr val="black"/>
                </a:solidFill>
                <a:latin typeface="Arial" pitchFamily="-65" charset="0"/>
              </a:rPr>
              <a:t>Key </a:t>
            </a:r>
            <a:r>
              <a:rPr lang="en-US" altLang="ja-JP" sz="2000" i="1">
                <a:solidFill>
                  <a:prstClr val="black"/>
                </a:solidFill>
                <a:latin typeface="Times New Roman" pitchFamily="-65" charset="0"/>
              </a:rPr>
              <a:t>K</a:t>
            </a:r>
            <a:r>
              <a:rPr lang="en-US" altLang="ja-JP" sz="2000" i="1" baseline="-25000">
                <a:solidFill>
                  <a:prstClr val="black"/>
                </a:solidFill>
                <a:latin typeface="Times New Roman" pitchFamily="-65" charset="0"/>
              </a:rPr>
              <a:t>1</a:t>
            </a:r>
            <a:endParaRPr lang="en-US" altLang="ja-JP" sz="2000">
              <a:solidFill>
                <a:prstClr val="black"/>
              </a:solidFill>
              <a:latin typeface="Arial" pitchFamily="-65" charset="0"/>
            </a:endParaRPr>
          </a:p>
        </p:txBody>
      </p:sp>
      <p:sp>
        <p:nvSpPr>
          <p:cNvPr id="553998" name="Text Box 14"/>
          <p:cNvSpPr txBox="1">
            <a:spLocks noChangeArrowheads="1"/>
          </p:cNvSpPr>
          <p:nvPr/>
        </p:nvSpPr>
        <p:spPr bwMode="auto">
          <a:xfrm>
            <a:off x="5662614" y="2304943"/>
            <a:ext cx="954107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defTabSz="457200">
              <a:defRPr/>
            </a:pPr>
            <a:r>
              <a:rPr lang="en-US" altLang="ja-JP" sz="2000" dirty="0">
                <a:solidFill>
                  <a:prstClr val="black"/>
                </a:solidFill>
                <a:latin typeface="Arial" pitchFamily="-65" charset="0"/>
              </a:rPr>
              <a:t>Key </a:t>
            </a:r>
            <a:r>
              <a:rPr lang="en-US" altLang="ja-JP" sz="2000" i="1" dirty="0">
                <a:solidFill>
                  <a:prstClr val="black"/>
                </a:solidFill>
                <a:latin typeface="Times New Roman" pitchFamily="-65" charset="0"/>
              </a:rPr>
              <a:t>K</a:t>
            </a:r>
            <a:r>
              <a:rPr lang="en-US" altLang="ja-JP" sz="2000" i="1" baseline="-25000" dirty="0">
                <a:solidFill>
                  <a:prstClr val="black"/>
                </a:solidFill>
                <a:latin typeface="Times New Roman" pitchFamily="-65" charset="0"/>
              </a:rPr>
              <a:t>2</a:t>
            </a:r>
            <a:endParaRPr lang="en-US" altLang="ja-JP" sz="2000" dirty="0">
              <a:solidFill>
                <a:prstClr val="black"/>
              </a:solidFill>
              <a:latin typeface="Arial" pitchFamily="-65" charset="0"/>
            </a:endParaRPr>
          </a:p>
        </p:txBody>
      </p:sp>
      <p:cxnSp>
        <p:nvCxnSpPr>
          <p:cNvPr id="553999" name="AutoShape 15"/>
          <p:cNvCxnSpPr>
            <a:cxnSpLocks noChangeShapeType="1"/>
            <a:stCxn id="553997" idx="2"/>
            <a:endCxn id="553991" idx="0"/>
          </p:cNvCxnSpPr>
          <p:nvPr/>
        </p:nvCxnSpPr>
        <p:spPr bwMode="auto">
          <a:xfrm>
            <a:off x="4236254" y="2686111"/>
            <a:ext cx="792946" cy="101276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54000" name="AutoShape 16"/>
          <p:cNvCxnSpPr>
            <a:cxnSpLocks noChangeShapeType="1"/>
            <a:stCxn id="553998" idx="2"/>
            <a:endCxn id="553992" idx="0"/>
          </p:cNvCxnSpPr>
          <p:nvPr/>
        </p:nvCxnSpPr>
        <p:spPr bwMode="auto">
          <a:xfrm>
            <a:off x="6139668" y="2705053"/>
            <a:ext cx="794532" cy="99689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490112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Meet-in-the-middle attack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No! There is an attack taking 2</a:t>
            </a:r>
            <a:r>
              <a:rPr lang="en-US" baseline="30000" dirty="0"/>
              <a:t>n</a:t>
            </a:r>
            <a:r>
              <a:rPr lang="en-US" dirty="0"/>
              <a:t> time…</a:t>
            </a:r>
          </a:p>
          <a:p>
            <a:pPr lvl="1"/>
            <a:r>
              <a:rPr lang="en-US" dirty="0"/>
              <a:t>(And 2</a:t>
            </a:r>
            <a:r>
              <a:rPr lang="en-US" baseline="30000" dirty="0"/>
              <a:t>n</a:t>
            </a:r>
            <a:r>
              <a:rPr lang="en-US" dirty="0"/>
              <a:t> memory)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attack applies any time a block cipher can be “factored” into 2 independent components</a:t>
            </a:r>
          </a:p>
        </p:txBody>
      </p:sp>
    </p:spTree>
    <p:extLst>
      <p:ext uri="{BB962C8B-B14F-4D97-AF65-F5344CB8AC3E}">
        <p14:creationId xmlns:p14="http://schemas.microsoft.com/office/powerpoint/2010/main" val="2680765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9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ja-JP" dirty="0"/>
              <a:t>Triple DES</a:t>
            </a:r>
          </a:p>
        </p:txBody>
      </p:sp>
      <p:sp>
        <p:nvSpPr>
          <p:cNvPr id="553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sz="2400" dirty="0"/>
              <a:t>Simple extension to DES, using or three 56-bit keys</a:t>
            </a:r>
          </a:p>
        </p:txBody>
      </p:sp>
      <p:sp>
        <p:nvSpPr>
          <p:cNvPr id="553988" name="Rectangle 4"/>
          <p:cNvSpPr>
            <a:spLocks noChangeArrowheads="1"/>
          </p:cNvSpPr>
          <p:nvPr/>
        </p:nvSpPr>
        <p:spPr bwMode="auto">
          <a:xfrm>
            <a:off x="1676400" y="3286125"/>
            <a:ext cx="1524000" cy="838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>
              <a:defRPr/>
            </a:pPr>
            <a:r>
              <a:rPr lang="en-US" altLang="ja-JP" sz="2000">
                <a:solidFill>
                  <a:prstClr val="black"/>
                </a:solidFill>
                <a:latin typeface="Arial" pitchFamily="-65" charset="0"/>
              </a:rPr>
              <a:t>Plaintext</a:t>
            </a:r>
          </a:p>
        </p:txBody>
      </p:sp>
      <p:sp>
        <p:nvSpPr>
          <p:cNvPr id="553990" name="Rectangle 6"/>
          <p:cNvSpPr>
            <a:spLocks noChangeArrowheads="1"/>
          </p:cNvSpPr>
          <p:nvPr/>
        </p:nvSpPr>
        <p:spPr bwMode="auto">
          <a:xfrm>
            <a:off x="8991600" y="3279775"/>
            <a:ext cx="1524000" cy="838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defTabSz="457200">
              <a:defRPr/>
            </a:pPr>
            <a:r>
              <a:rPr lang="en-US" altLang="ja-JP" sz="2000">
                <a:solidFill>
                  <a:prstClr val="black"/>
                </a:solidFill>
                <a:latin typeface="Arial" pitchFamily="-65" charset="0"/>
              </a:rPr>
              <a:t>Ciphertext</a:t>
            </a:r>
          </a:p>
        </p:txBody>
      </p:sp>
      <p:sp>
        <p:nvSpPr>
          <p:cNvPr id="553991" name="AutoShape 7"/>
          <p:cNvSpPr>
            <a:spLocks noChangeArrowheads="1"/>
          </p:cNvSpPr>
          <p:nvPr/>
        </p:nvSpPr>
        <p:spPr bwMode="auto">
          <a:xfrm>
            <a:off x="3429000" y="2974975"/>
            <a:ext cx="1600200" cy="1447800"/>
          </a:xfrm>
          <a:prstGeom prst="hexagon">
            <a:avLst>
              <a:gd name="adj" fmla="val 27632"/>
              <a:gd name="vf" fmla="val 115470"/>
            </a:avLst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 defTabSz="457200">
              <a:defRPr/>
            </a:pPr>
            <a:r>
              <a:rPr lang="en-US" altLang="ja-JP" sz="2000" dirty="0">
                <a:solidFill>
                  <a:prstClr val="black"/>
                </a:solidFill>
                <a:latin typeface="Arial" pitchFamily="-65" charset="0"/>
              </a:rPr>
              <a:t>DES </a:t>
            </a:r>
          </a:p>
          <a:p>
            <a:pPr algn="ctr" defTabSz="457200">
              <a:defRPr/>
            </a:pPr>
            <a:r>
              <a:rPr lang="en-US" altLang="ja-JP" sz="2000" dirty="0">
                <a:solidFill>
                  <a:prstClr val="black"/>
                </a:solidFill>
                <a:latin typeface="Arial" pitchFamily="-65" charset="0"/>
              </a:rPr>
              <a:t>Encryption</a:t>
            </a:r>
          </a:p>
        </p:txBody>
      </p:sp>
      <p:sp>
        <p:nvSpPr>
          <p:cNvPr id="553992" name="AutoShape 8"/>
          <p:cNvSpPr>
            <a:spLocks noChangeArrowheads="1"/>
          </p:cNvSpPr>
          <p:nvPr/>
        </p:nvSpPr>
        <p:spPr bwMode="auto">
          <a:xfrm>
            <a:off x="7162800" y="2974975"/>
            <a:ext cx="1600200" cy="1447800"/>
          </a:xfrm>
          <a:prstGeom prst="hexagon">
            <a:avLst>
              <a:gd name="adj" fmla="val 27632"/>
              <a:gd name="vf" fmla="val 115470"/>
            </a:avLst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 defTabSz="457200">
              <a:defRPr/>
            </a:pPr>
            <a:r>
              <a:rPr lang="en-US" altLang="ja-JP" sz="2000" dirty="0">
                <a:solidFill>
                  <a:prstClr val="black"/>
                </a:solidFill>
                <a:latin typeface="Arial" pitchFamily="-65" charset="0"/>
              </a:rPr>
              <a:t>DES</a:t>
            </a:r>
          </a:p>
          <a:p>
            <a:pPr algn="ctr" defTabSz="457200">
              <a:defRPr/>
            </a:pPr>
            <a:r>
              <a:rPr lang="en-US" altLang="ja-JP" sz="2000" dirty="0">
                <a:solidFill>
                  <a:prstClr val="black"/>
                </a:solidFill>
                <a:latin typeface="Arial" pitchFamily="-65" charset="0"/>
              </a:rPr>
              <a:t>Encryption</a:t>
            </a:r>
          </a:p>
        </p:txBody>
      </p:sp>
      <p:cxnSp>
        <p:nvCxnSpPr>
          <p:cNvPr id="553993" name="AutoShape 9"/>
          <p:cNvCxnSpPr>
            <a:cxnSpLocks noChangeShapeType="1"/>
            <a:stCxn id="553988" idx="3"/>
            <a:endCxn id="553991" idx="1"/>
          </p:cNvCxnSpPr>
          <p:nvPr/>
        </p:nvCxnSpPr>
        <p:spPr bwMode="auto">
          <a:xfrm flipV="1">
            <a:off x="3200400" y="3698875"/>
            <a:ext cx="228600" cy="635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53994" name="AutoShape 10"/>
          <p:cNvCxnSpPr>
            <a:cxnSpLocks noChangeShapeType="1"/>
            <a:stCxn id="553991" idx="3"/>
          </p:cNvCxnSpPr>
          <p:nvPr/>
        </p:nvCxnSpPr>
        <p:spPr bwMode="auto">
          <a:xfrm>
            <a:off x="5029200" y="3698875"/>
            <a:ext cx="3048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53995" name="AutoShape 11"/>
          <p:cNvCxnSpPr>
            <a:cxnSpLocks noChangeShapeType="1"/>
            <a:endCxn id="553992" idx="1"/>
          </p:cNvCxnSpPr>
          <p:nvPr/>
        </p:nvCxnSpPr>
        <p:spPr bwMode="auto">
          <a:xfrm>
            <a:off x="6858000" y="3698875"/>
            <a:ext cx="3048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53996" name="AutoShape 12"/>
          <p:cNvCxnSpPr>
            <a:cxnSpLocks noChangeShapeType="1"/>
            <a:stCxn id="553992" idx="3"/>
            <a:endCxn id="553990" idx="1"/>
          </p:cNvCxnSpPr>
          <p:nvPr/>
        </p:nvCxnSpPr>
        <p:spPr bwMode="auto">
          <a:xfrm>
            <a:off x="8763000" y="3698875"/>
            <a:ext cx="228600" cy="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553997" name="Text Box 13"/>
          <p:cNvSpPr txBox="1">
            <a:spLocks noChangeArrowheads="1"/>
          </p:cNvSpPr>
          <p:nvPr/>
        </p:nvSpPr>
        <p:spPr bwMode="auto">
          <a:xfrm>
            <a:off x="3759201" y="2286000"/>
            <a:ext cx="954107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defTabSz="457200">
              <a:defRPr/>
            </a:pPr>
            <a:r>
              <a:rPr lang="en-US" altLang="ja-JP" sz="2000">
                <a:solidFill>
                  <a:prstClr val="black"/>
                </a:solidFill>
                <a:latin typeface="Arial" pitchFamily="-65" charset="0"/>
              </a:rPr>
              <a:t>Key </a:t>
            </a:r>
            <a:r>
              <a:rPr lang="en-US" altLang="ja-JP" sz="2000" i="1">
                <a:solidFill>
                  <a:prstClr val="black"/>
                </a:solidFill>
                <a:latin typeface="Times New Roman" pitchFamily="-65" charset="0"/>
              </a:rPr>
              <a:t>K</a:t>
            </a:r>
            <a:r>
              <a:rPr lang="en-US" altLang="ja-JP" sz="2000" i="1" baseline="-25000">
                <a:solidFill>
                  <a:prstClr val="black"/>
                </a:solidFill>
                <a:latin typeface="Times New Roman" pitchFamily="-65" charset="0"/>
              </a:rPr>
              <a:t>1</a:t>
            </a:r>
            <a:endParaRPr lang="en-US" altLang="ja-JP" sz="2000">
              <a:solidFill>
                <a:prstClr val="black"/>
              </a:solidFill>
              <a:latin typeface="Arial" pitchFamily="-65" charset="0"/>
            </a:endParaRPr>
          </a:p>
        </p:txBody>
      </p:sp>
      <p:sp>
        <p:nvSpPr>
          <p:cNvPr id="553998" name="Text Box 14"/>
          <p:cNvSpPr txBox="1">
            <a:spLocks noChangeArrowheads="1"/>
          </p:cNvSpPr>
          <p:nvPr/>
        </p:nvSpPr>
        <p:spPr bwMode="auto">
          <a:xfrm>
            <a:off x="7491414" y="2301875"/>
            <a:ext cx="954107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defTabSz="457200">
              <a:defRPr/>
            </a:pPr>
            <a:r>
              <a:rPr lang="en-US" altLang="ja-JP" sz="2000" dirty="0">
                <a:solidFill>
                  <a:prstClr val="black"/>
                </a:solidFill>
                <a:latin typeface="Arial" pitchFamily="-65" charset="0"/>
              </a:rPr>
              <a:t>Key </a:t>
            </a:r>
            <a:r>
              <a:rPr lang="en-US" altLang="ja-JP" sz="2000" i="1" dirty="0">
                <a:solidFill>
                  <a:prstClr val="black"/>
                </a:solidFill>
                <a:latin typeface="Times New Roman" pitchFamily="-65" charset="0"/>
              </a:rPr>
              <a:t>K</a:t>
            </a:r>
            <a:r>
              <a:rPr lang="en-US" altLang="ja-JP" sz="2000" i="1" baseline="-25000" dirty="0">
                <a:solidFill>
                  <a:prstClr val="black"/>
                </a:solidFill>
                <a:latin typeface="Times New Roman" pitchFamily="-65" charset="0"/>
              </a:rPr>
              <a:t>3</a:t>
            </a:r>
            <a:endParaRPr lang="en-US" altLang="ja-JP" sz="2000" dirty="0">
              <a:solidFill>
                <a:prstClr val="black"/>
              </a:solidFill>
              <a:latin typeface="Arial" pitchFamily="-65" charset="0"/>
            </a:endParaRPr>
          </a:p>
        </p:txBody>
      </p:sp>
      <p:cxnSp>
        <p:nvCxnSpPr>
          <p:cNvPr id="553999" name="AutoShape 15"/>
          <p:cNvCxnSpPr>
            <a:cxnSpLocks noChangeShapeType="1"/>
            <a:stCxn id="553997" idx="2"/>
            <a:endCxn id="553991" idx="0"/>
          </p:cNvCxnSpPr>
          <p:nvPr/>
        </p:nvCxnSpPr>
        <p:spPr bwMode="auto">
          <a:xfrm>
            <a:off x="4236254" y="2686111"/>
            <a:ext cx="792946" cy="1012765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cxnSp>
        <p:nvCxnSpPr>
          <p:cNvPr id="554000" name="AutoShape 16"/>
          <p:cNvCxnSpPr>
            <a:cxnSpLocks noChangeShapeType="1"/>
            <a:stCxn id="553998" idx="2"/>
            <a:endCxn id="553992" idx="0"/>
          </p:cNvCxnSpPr>
          <p:nvPr/>
        </p:nvCxnSpPr>
        <p:spPr bwMode="auto">
          <a:xfrm>
            <a:off x="7968468" y="2701985"/>
            <a:ext cx="794532" cy="99689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554001" name="AutoShape 17"/>
          <p:cNvSpPr>
            <a:spLocks noChangeArrowheads="1"/>
          </p:cNvSpPr>
          <p:nvPr/>
        </p:nvSpPr>
        <p:spPr bwMode="auto">
          <a:xfrm>
            <a:off x="5322888" y="2981325"/>
            <a:ext cx="1600200" cy="1447800"/>
          </a:xfrm>
          <a:prstGeom prst="hexagon">
            <a:avLst>
              <a:gd name="adj" fmla="val 27632"/>
              <a:gd name="vf" fmla="val 115470"/>
            </a:avLst>
          </a:prstGeom>
          <a:solidFill>
            <a:srgbClr val="FFCC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 algn="ctr" defTabSz="457200">
              <a:defRPr/>
            </a:pPr>
            <a:r>
              <a:rPr lang="en-US" altLang="ja-JP" sz="2000" dirty="0">
                <a:solidFill>
                  <a:prstClr val="black"/>
                </a:solidFill>
                <a:latin typeface="Arial" pitchFamily="-65" charset="0"/>
              </a:rPr>
              <a:t>DES </a:t>
            </a:r>
          </a:p>
          <a:p>
            <a:pPr algn="ctr" defTabSz="457200">
              <a:defRPr/>
            </a:pPr>
            <a:r>
              <a:rPr lang="en-US" altLang="ja-JP" sz="2000" dirty="0">
                <a:solidFill>
                  <a:prstClr val="black"/>
                </a:solidFill>
                <a:latin typeface="Arial" pitchFamily="-65" charset="0"/>
              </a:rPr>
              <a:t>Decryption</a:t>
            </a:r>
          </a:p>
        </p:txBody>
      </p:sp>
      <p:sp>
        <p:nvSpPr>
          <p:cNvPr id="554004" name="Text Box 20"/>
          <p:cNvSpPr txBox="1">
            <a:spLocks noChangeArrowheads="1"/>
          </p:cNvSpPr>
          <p:nvPr/>
        </p:nvSpPr>
        <p:spPr bwMode="auto">
          <a:xfrm>
            <a:off x="5651501" y="2308225"/>
            <a:ext cx="954107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defTabSz="457200">
              <a:defRPr/>
            </a:pPr>
            <a:r>
              <a:rPr lang="en-US" altLang="ja-JP" sz="2000">
                <a:solidFill>
                  <a:prstClr val="black"/>
                </a:solidFill>
                <a:latin typeface="Arial" pitchFamily="-65" charset="0"/>
              </a:rPr>
              <a:t>Key </a:t>
            </a:r>
            <a:r>
              <a:rPr lang="en-US" altLang="ja-JP" sz="2000" i="1">
                <a:solidFill>
                  <a:prstClr val="black"/>
                </a:solidFill>
                <a:latin typeface="Times New Roman" pitchFamily="-65" charset="0"/>
              </a:rPr>
              <a:t>K</a:t>
            </a:r>
            <a:r>
              <a:rPr lang="en-US" altLang="ja-JP" sz="2000" i="1" baseline="-25000">
                <a:solidFill>
                  <a:prstClr val="black"/>
                </a:solidFill>
                <a:latin typeface="Times New Roman" pitchFamily="-65" charset="0"/>
              </a:rPr>
              <a:t>2</a:t>
            </a:r>
            <a:endParaRPr lang="en-US" altLang="ja-JP" sz="2000">
              <a:solidFill>
                <a:prstClr val="black"/>
              </a:solidFill>
              <a:latin typeface="Arial" pitchFamily="-65" charset="0"/>
            </a:endParaRPr>
          </a:p>
        </p:txBody>
      </p:sp>
      <p:cxnSp>
        <p:nvCxnSpPr>
          <p:cNvPr id="554005" name="AutoShape 21"/>
          <p:cNvCxnSpPr>
            <a:cxnSpLocks noChangeShapeType="1"/>
            <a:stCxn id="554004" idx="2"/>
            <a:endCxn id="554001" idx="0"/>
          </p:cNvCxnSpPr>
          <p:nvPr/>
        </p:nvCxnSpPr>
        <p:spPr bwMode="auto">
          <a:xfrm>
            <a:off x="6128554" y="2708335"/>
            <a:ext cx="794534" cy="996890"/>
          </a:xfrm>
          <a:prstGeom prst="straightConnector1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med" len="med"/>
          </a:ln>
          <a:effectLst/>
        </p:spPr>
      </p:cxnSp>
      <p:sp>
        <p:nvSpPr>
          <p:cNvPr id="554006" name="Rectangle 22"/>
          <p:cNvSpPr>
            <a:spLocks noChangeArrowheads="1"/>
          </p:cNvSpPr>
          <p:nvPr/>
        </p:nvSpPr>
        <p:spPr bwMode="auto">
          <a:xfrm>
            <a:off x="1981200" y="4724400"/>
            <a:ext cx="8229600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prstTxWarp prst="textNoShape">
              <a:avLst/>
            </a:prstTxWarp>
          </a:bodyPr>
          <a:lstStyle/>
          <a:p>
            <a:pPr marL="342900" indent="-342900" defTabSz="457200">
              <a:spcBef>
                <a:spcPct val="20000"/>
              </a:spcBef>
              <a:buFontTx/>
              <a:buChar char="•"/>
              <a:defRPr/>
            </a:pPr>
            <a:r>
              <a:rPr lang="en-US" altLang="ja-JP" sz="2000" dirty="0">
                <a:solidFill>
                  <a:srgbClr val="333333"/>
                </a:solidFill>
                <a:latin typeface="Arial" pitchFamily="-65" charset="0"/>
              </a:rPr>
              <a:t>Security level of 2</a:t>
            </a:r>
            <a:r>
              <a:rPr lang="en-US" altLang="ja-JP" sz="2000" baseline="30000" dirty="0">
                <a:solidFill>
                  <a:srgbClr val="333333"/>
                </a:solidFill>
                <a:latin typeface="Arial" pitchFamily="-65" charset="0"/>
              </a:rPr>
              <a:t>112</a:t>
            </a:r>
            <a:r>
              <a:rPr lang="en-US" altLang="ja-JP" sz="2000" dirty="0">
                <a:solidFill>
                  <a:srgbClr val="333333"/>
                </a:solidFill>
                <a:latin typeface="Arial" pitchFamily="-65" charset="0"/>
              </a:rPr>
              <a:t>, currently thought to be enough</a:t>
            </a:r>
          </a:p>
          <a:p>
            <a:pPr marL="800100" lvl="1" indent="-342900" defTabSz="457200">
              <a:spcBef>
                <a:spcPct val="20000"/>
              </a:spcBef>
              <a:buFontTx/>
              <a:buChar char="•"/>
              <a:defRPr/>
            </a:pPr>
            <a:r>
              <a:rPr lang="en-US" altLang="ja-JP" sz="2000" dirty="0">
                <a:solidFill>
                  <a:srgbClr val="333333"/>
                </a:solidFill>
                <a:latin typeface="Arial" pitchFamily="-65" charset="0"/>
              </a:rPr>
              <a:t>Can also use K</a:t>
            </a:r>
            <a:r>
              <a:rPr lang="en-US" altLang="ja-JP" sz="2000" baseline="-25000" dirty="0">
                <a:solidFill>
                  <a:srgbClr val="333333"/>
                </a:solidFill>
                <a:latin typeface="Arial" pitchFamily="-65" charset="0"/>
              </a:rPr>
              <a:t>1</a:t>
            </a:r>
            <a:r>
              <a:rPr lang="en-US" altLang="ja-JP" sz="2000" dirty="0">
                <a:solidFill>
                  <a:srgbClr val="333333"/>
                </a:solidFill>
                <a:latin typeface="Arial" pitchFamily="-65" charset="0"/>
              </a:rPr>
              <a:t>, K</a:t>
            </a:r>
            <a:r>
              <a:rPr lang="en-US" altLang="ja-JP" sz="2000" baseline="-25000" dirty="0">
                <a:solidFill>
                  <a:srgbClr val="333333"/>
                </a:solidFill>
                <a:latin typeface="Arial" pitchFamily="-65" charset="0"/>
              </a:rPr>
              <a:t>2</a:t>
            </a:r>
            <a:r>
              <a:rPr lang="en-US" altLang="ja-JP" sz="2000" dirty="0">
                <a:solidFill>
                  <a:srgbClr val="333333"/>
                </a:solidFill>
                <a:latin typeface="Arial" pitchFamily="-65" charset="0"/>
              </a:rPr>
              <a:t>, K</a:t>
            </a:r>
            <a:r>
              <a:rPr lang="en-US" altLang="ja-JP" sz="2000" baseline="-25000" dirty="0">
                <a:solidFill>
                  <a:srgbClr val="333333"/>
                </a:solidFill>
                <a:latin typeface="Arial" pitchFamily="-65" charset="0"/>
              </a:rPr>
              <a:t>1</a:t>
            </a:r>
            <a:r>
              <a:rPr lang="en-US" altLang="ja-JP" sz="2000" dirty="0">
                <a:solidFill>
                  <a:srgbClr val="333333"/>
                </a:solidFill>
                <a:latin typeface="Arial" pitchFamily="-65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743446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Block Cipher Modes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7809" y="2234484"/>
            <a:ext cx="9391406" cy="4013915"/>
          </a:xfrm>
        </p:spPr>
        <p:txBody>
          <a:bodyPr>
            <a:normAutofit/>
          </a:bodyPr>
          <a:lstStyle/>
          <a:p>
            <a:pPr eaLnBrk="1" hangingPunct="1">
              <a:lnSpc>
                <a:spcPct val="120000"/>
              </a:lnSpc>
              <a:defRPr/>
            </a:pPr>
            <a:r>
              <a:rPr lang="en-US" dirty="0"/>
              <a:t>A block cipher mode describes the way a block cipher encrypts and decrypts a sequence of message blocks.</a:t>
            </a:r>
          </a:p>
          <a:p>
            <a:pPr lvl="1">
              <a:lnSpc>
                <a:spcPct val="120000"/>
              </a:lnSpc>
              <a:defRPr/>
            </a:pPr>
            <a:r>
              <a:rPr lang="en-US" dirty="0"/>
              <a:t>ECB mode: Electronic Codebook</a:t>
            </a:r>
          </a:p>
          <a:p>
            <a:pPr lvl="1">
              <a:lnSpc>
                <a:spcPct val="120000"/>
              </a:lnSpc>
              <a:defRPr/>
            </a:pPr>
            <a:r>
              <a:rPr lang="en-US" dirty="0"/>
              <a:t>CBC mode: Cipher Block Chaining</a:t>
            </a:r>
          </a:p>
          <a:p>
            <a:pPr lvl="1">
              <a:lnSpc>
                <a:spcPct val="120000"/>
              </a:lnSpc>
              <a:defRPr/>
            </a:pPr>
            <a:r>
              <a:rPr lang="en-US" dirty="0"/>
              <a:t>OFB mode: Output Feedback</a:t>
            </a:r>
          </a:p>
          <a:p>
            <a:pPr lvl="1">
              <a:lnSpc>
                <a:spcPct val="120000"/>
              </a:lnSpc>
              <a:defRPr/>
            </a:pPr>
            <a:r>
              <a:rPr lang="en-US" dirty="0"/>
              <a:t>CTR mode: Counter mode</a:t>
            </a:r>
          </a:p>
        </p:txBody>
      </p:sp>
      <p:sp>
        <p:nvSpPr>
          <p:cNvPr id="8196" name="Date Placeholder 3"/>
          <p:cNvSpPr>
            <a:spLocks noGrp="1"/>
          </p:cNvSpPr>
          <p:nvPr>
            <p:ph type="dt" sz="half" idx="4294967295"/>
          </p:nvPr>
        </p:nvSpPr>
        <p:spPr>
          <a:xfrm>
            <a:off x="1981200" y="6356351"/>
            <a:ext cx="2133600" cy="365125"/>
          </a:xfrm>
          <a:noFill/>
        </p:spPr>
        <p:txBody>
          <a:bodyPr/>
          <a:lstStyle/>
          <a:p>
            <a:fld id="{3E43B9DB-4CCB-4C08-8EE1-ADC0FBFA74FE}" type="datetime1">
              <a:rPr lang="en-US" smtClean="0"/>
              <a:pPr/>
              <a:t>9/22/26</a:t>
            </a:fld>
            <a:endParaRPr lang="en-GB"/>
          </a:p>
        </p:txBody>
      </p:sp>
      <p:sp>
        <p:nvSpPr>
          <p:cNvPr id="8197" name="Footer Placeholder 4"/>
          <p:cNvSpPr>
            <a:spLocks noGrp="1"/>
          </p:cNvSpPr>
          <p:nvPr>
            <p:ph type="ftr" sz="quarter" idx="4294967295"/>
          </p:nvPr>
        </p:nvSpPr>
        <p:spPr>
          <a:xfrm>
            <a:off x="4648200" y="6356351"/>
            <a:ext cx="2895600" cy="365125"/>
          </a:xfrm>
          <a:noFill/>
        </p:spPr>
        <p:txBody>
          <a:bodyPr/>
          <a:lstStyle/>
          <a:p>
            <a:r>
              <a:rPr lang="en-GB" dirty="0"/>
              <a:t>Cryptography</a:t>
            </a:r>
          </a:p>
        </p:txBody>
      </p:sp>
      <p:sp>
        <p:nvSpPr>
          <p:cNvPr id="8198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077200" y="6356351"/>
            <a:ext cx="2133600" cy="365125"/>
          </a:xfrm>
          <a:noFill/>
        </p:spPr>
        <p:txBody>
          <a:bodyPr/>
          <a:lstStyle/>
          <a:p>
            <a:fld id="{A3E3D489-F848-4C5B-9BC7-8CC113B64D14}" type="slidenum">
              <a:rPr lang="en-GB" smtClean="0"/>
              <a:pPr/>
              <a:t>35</a:t>
            </a:fld>
            <a:endParaRPr lang="en-GB" dirty="0"/>
          </a:p>
        </p:txBody>
      </p:sp>
      <p:sp>
        <p:nvSpPr>
          <p:cNvPr id="2" name="TextBox 1"/>
          <p:cNvSpPr txBox="1"/>
          <p:nvPr/>
        </p:nvSpPr>
        <p:spPr>
          <a:xfrm>
            <a:off x="3140875" y="6635909"/>
            <a:ext cx="66575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chemeClr val="bg1">
                    <a:lumMod val="75000"/>
                  </a:schemeClr>
                </a:solidFill>
              </a:rPr>
              <a:t>Public domain images from http://en.wikipedia.org/wiki/File:Ecb_encryption.png and http://en.wikipedia.org/wiki/File:Ecb_decryption.png</a:t>
            </a:r>
          </a:p>
        </p:txBody>
      </p:sp>
    </p:spTree>
    <p:extLst>
      <p:ext uri="{BB962C8B-B14F-4D97-AF65-F5344CB8AC3E}">
        <p14:creationId xmlns:p14="http://schemas.microsoft.com/office/powerpoint/2010/main" val="5474964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451917" y="76559"/>
            <a:ext cx="10515600" cy="1325563"/>
          </a:xfrm>
        </p:spPr>
        <p:txBody>
          <a:bodyPr/>
          <a:lstStyle/>
          <a:p>
            <a:pPr eaLnBrk="1" hangingPunct="1"/>
            <a:r>
              <a:rPr lang="en-US" dirty="0"/>
              <a:t>ECB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143000"/>
            <a:ext cx="8382000" cy="990600"/>
          </a:xfrm>
        </p:spPr>
        <p:txBody>
          <a:bodyPr>
            <a:normAutofit fontScale="85000" lnSpcReduction="20000"/>
          </a:bodyPr>
          <a:lstStyle/>
          <a:p>
            <a:pPr marL="57150" indent="0">
              <a:lnSpc>
                <a:spcPct val="120000"/>
              </a:lnSpc>
              <a:buNone/>
              <a:defRPr/>
            </a:pPr>
            <a:r>
              <a:rPr lang="en-US" dirty="0"/>
              <a:t>Block P[i] encrypted into ciphertext block C[i] = </a:t>
            </a:r>
            <a:r>
              <a:rPr lang="en-US" dirty="0" err="1"/>
              <a:t>Enc</a:t>
            </a:r>
            <a:r>
              <a:rPr lang="en-US" baseline="-25000" dirty="0" err="1"/>
              <a:t>k</a:t>
            </a:r>
            <a:r>
              <a:rPr lang="en-US" dirty="0"/>
              <a:t>(M[i])</a:t>
            </a:r>
          </a:p>
          <a:p>
            <a:pPr marL="57150" indent="0">
              <a:lnSpc>
                <a:spcPct val="120000"/>
              </a:lnSpc>
              <a:buNone/>
              <a:defRPr/>
            </a:pPr>
            <a:r>
              <a:rPr lang="en-US" dirty="0"/>
              <a:t>Block C[i] decrypted into plaintext block M[i] = Dec</a:t>
            </a:r>
            <a:r>
              <a:rPr lang="en-US" baseline="-25000" dirty="0"/>
              <a:t>k</a:t>
            </a:r>
            <a:r>
              <a:rPr lang="en-US" dirty="0"/>
              <a:t>(C[i])</a:t>
            </a:r>
          </a:p>
        </p:txBody>
      </p:sp>
      <p:sp>
        <p:nvSpPr>
          <p:cNvPr id="8198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8077200" y="6356351"/>
            <a:ext cx="2133600" cy="365125"/>
          </a:xfrm>
          <a:noFill/>
        </p:spPr>
        <p:txBody>
          <a:bodyPr/>
          <a:lstStyle/>
          <a:p>
            <a:fld id="{A3E3D489-F848-4C5B-9BC7-8CC113B64D14}" type="slidenum">
              <a:rPr lang="en-GB" smtClean="0"/>
              <a:pPr/>
              <a:t>36</a:t>
            </a:fld>
            <a:endParaRPr lang="en-GB" dirty="0"/>
          </a:p>
        </p:txBody>
      </p:sp>
      <p:pic>
        <p:nvPicPr>
          <p:cNvPr id="71684" name="Picture 4" descr="ECB decryption.svg">
            <a:extLst>
              <a:ext uri="{FF2B5EF4-FFF2-40B4-BE49-F238E27FC236}">
                <a16:creationId xmlns:a16="http://schemas.microsoft.com/office/drawing/2014/main" id="{EA88F888-2FB9-4308-AE6D-53AC7D96B7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4489" y="4341284"/>
            <a:ext cx="6248400" cy="2516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686" name="Picture 6" descr="ECB encryption.svg">
            <a:extLst>
              <a:ext uri="{FF2B5EF4-FFF2-40B4-BE49-F238E27FC236}">
                <a16:creationId xmlns:a16="http://schemas.microsoft.com/office/drawing/2014/main" id="{E51FFAD0-B7E0-4A5B-9040-EC435187C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1923180"/>
            <a:ext cx="6400800" cy="2578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B7E18F8-96E7-4CEF-9568-6EF4098D1EF4}"/>
              </a:ext>
            </a:extLst>
          </p:cNvPr>
          <p:cNvCxnSpPr/>
          <p:nvPr/>
        </p:nvCxnSpPr>
        <p:spPr>
          <a:xfrm>
            <a:off x="1524000" y="4501280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4183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Insecurity of ECB</a:t>
            </a:r>
          </a:p>
        </p:txBody>
      </p:sp>
      <p:sp>
        <p:nvSpPr>
          <p:cNvPr id="9220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09D57208-9F70-4046-9840-F3F6EDE0F403}" type="datetime1">
              <a:rPr lang="en-US" smtClean="0"/>
              <a:pPr/>
              <a:t>9/22/26</a:t>
            </a:fld>
            <a:endParaRPr lang="en-GB"/>
          </a:p>
        </p:txBody>
      </p:sp>
      <p:sp>
        <p:nvSpPr>
          <p:cNvPr id="922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GB"/>
              <a:t>Cryptography</a:t>
            </a:r>
          </a:p>
        </p:txBody>
      </p:sp>
      <p:sp>
        <p:nvSpPr>
          <p:cNvPr id="92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665992E-EFF8-4D78-9243-AA711BF3E8C5}" type="slidenum">
              <a:rPr lang="en-GB" smtClean="0"/>
              <a:pPr/>
              <a:t>37</a:t>
            </a:fld>
            <a:endParaRPr lang="en-GB"/>
          </a:p>
        </p:txBody>
      </p:sp>
      <p:pic>
        <p:nvPicPr>
          <p:cNvPr id="74754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0860" y="2652912"/>
            <a:ext cx="5678227" cy="40492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Content Placeholder 10"/>
          <p:cNvSpPr>
            <a:spLocks noGrp="1"/>
          </p:cNvSpPr>
          <p:nvPr>
            <p:ph sz="quarter" idx="14"/>
          </p:nvPr>
        </p:nvSpPr>
        <p:spPr>
          <a:xfrm>
            <a:off x="547352" y="1705692"/>
            <a:ext cx="5624848" cy="46482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Weakness:</a:t>
            </a:r>
          </a:p>
          <a:p>
            <a:pPr lvl="1">
              <a:lnSpc>
                <a:spcPct val="120000"/>
              </a:lnSpc>
            </a:pPr>
            <a:r>
              <a:rPr lang="en-US" sz="1800" dirty="0"/>
              <a:t>Documents and images are not suitable for ECB encryption since patters in the plaintext are repeated in the </a:t>
            </a:r>
            <a:r>
              <a:rPr lang="en-US" sz="1800" dirty="0" err="1"/>
              <a:t>ciphertext</a:t>
            </a:r>
            <a:r>
              <a:rPr lang="en-US" sz="1800" dirty="0"/>
              <a:t>: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55808" y="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Cipher Block Chaining (CBC) Mode</a:t>
            </a:r>
          </a:p>
        </p:txBody>
      </p:sp>
      <p:pic>
        <p:nvPicPr>
          <p:cNvPr id="72706" name="Picture 2" descr="CBC encryption.svg">
            <a:extLst>
              <a:ext uri="{FF2B5EF4-FFF2-40B4-BE49-F238E27FC236}">
                <a16:creationId xmlns:a16="http://schemas.microsoft.com/office/drawing/2014/main" id="{5C7F5A33-500E-4F6F-B2EE-67C544735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048000"/>
            <a:ext cx="851338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11605D-C31B-DDC5-A6F6-136982A06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863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004BF-8F24-40B1-AC8C-AC3F0565E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BB45404C-83B6-4411-3A85-16A69A195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08" y="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Cipher Block Chaining (CBC) Mode</a:t>
            </a:r>
          </a:p>
        </p:txBody>
      </p:sp>
      <p:pic>
        <p:nvPicPr>
          <p:cNvPr id="72706" name="Picture 2" descr="CBC encryption.svg">
            <a:extLst>
              <a:ext uri="{FF2B5EF4-FFF2-40B4-BE49-F238E27FC236}">
                <a16:creationId xmlns:a16="http://schemas.microsoft.com/office/drawing/2014/main" id="{B9B28F08-9DA5-BCAB-65F8-B557104DD2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048000"/>
            <a:ext cx="851338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91BF2EF-462F-60CE-E0B8-A9B0A72A993E}"/>
              </a:ext>
            </a:extLst>
          </p:cNvPr>
          <p:cNvSpPr/>
          <p:nvPr/>
        </p:nvSpPr>
        <p:spPr>
          <a:xfrm>
            <a:off x="1600200" y="3810000"/>
            <a:ext cx="2286000" cy="533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E9CB685-F7F0-9F15-5C6F-8EE6E387D6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3040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55808" y="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Cipher Block Chaining (CBC)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1" y="1066800"/>
            <a:ext cx="8228013" cy="1903660"/>
          </a:xfrm>
        </p:spPr>
        <p:txBody>
          <a:bodyPr>
            <a:normAutofit fontScale="85000" lnSpcReduction="10000"/>
          </a:bodyPr>
          <a:lstStyle/>
          <a:p>
            <a:pPr lvl="1" eaLnBrk="1" hangingPunct="1">
              <a:lnSpc>
                <a:spcPct val="120000"/>
              </a:lnSpc>
              <a:defRPr/>
            </a:pPr>
            <a:r>
              <a:rPr lang="en-US" dirty="0"/>
              <a:t>The previous ciphertext block is combined with the current plaintext block </a:t>
            </a:r>
            <a:r>
              <a:rPr lang="en-US" dirty="0">
                <a:solidFill>
                  <a:srgbClr val="0070C0"/>
                </a:solidFill>
              </a:rPr>
              <a:t>C[</a:t>
            </a:r>
            <a:r>
              <a:rPr lang="en-US" dirty="0" err="1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</a:rPr>
              <a:t>] = </a:t>
            </a:r>
            <a:r>
              <a:rPr lang="en-US" dirty="0" err="1">
                <a:solidFill>
                  <a:srgbClr val="0070C0"/>
                </a:solidFill>
              </a:rPr>
              <a:t>Enc</a:t>
            </a:r>
            <a:r>
              <a:rPr lang="en-US" baseline="-25000" dirty="0" err="1">
                <a:solidFill>
                  <a:srgbClr val="0070C0"/>
                </a:solidFill>
              </a:rPr>
              <a:t>K</a:t>
            </a:r>
            <a:r>
              <a:rPr lang="en-US" baseline="-25000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(C[</a:t>
            </a:r>
            <a:r>
              <a:rPr lang="en-US" dirty="0" err="1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  <a:sym typeface="Symbol"/>
              </a:rPr>
              <a:t> 1]  M</a:t>
            </a:r>
            <a:r>
              <a:rPr lang="en-US" dirty="0">
                <a:solidFill>
                  <a:srgbClr val="0070C0"/>
                </a:solidFill>
              </a:rPr>
              <a:t>[</a:t>
            </a:r>
            <a:r>
              <a:rPr lang="en-US" dirty="0" err="1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</a:rPr>
              <a:t>])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dirty="0"/>
              <a:t>C[</a:t>
            </a:r>
            <a:r>
              <a:rPr lang="en-US" dirty="0">
                <a:sym typeface="Symbol"/>
              </a:rPr>
              <a:t></a:t>
            </a:r>
            <a:r>
              <a:rPr lang="en-US" dirty="0"/>
              <a:t>1] = IV, a random block separately transmitted encrypted (known as the initialization vector, randomly chose every time)</a:t>
            </a:r>
          </a:p>
          <a:p>
            <a:pPr lvl="1">
              <a:lnSpc>
                <a:spcPct val="120000"/>
              </a:lnSpc>
              <a:defRPr/>
            </a:pPr>
            <a:r>
              <a:rPr lang="en-US" dirty="0"/>
              <a:t>Decryption: </a:t>
            </a:r>
            <a:r>
              <a:rPr lang="en-US" dirty="0">
                <a:solidFill>
                  <a:srgbClr val="0070C0"/>
                </a:solidFill>
              </a:rPr>
              <a:t>M[</a:t>
            </a:r>
            <a:r>
              <a:rPr lang="en-US" dirty="0" err="1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</a:rPr>
              <a:t>] = C[</a:t>
            </a:r>
            <a:r>
              <a:rPr lang="en-US" dirty="0" err="1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  <a:sym typeface="Symbol"/>
              </a:rPr>
              <a:t> 1]  </a:t>
            </a:r>
            <a:r>
              <a:rPr lang="en-US" dirty="0" err="1">
                <a:solidFill>
                  <a:srgbClr val="0070C0"/>
                </a:solidFill>
              </a:rPr>
              <a:t>Dec</a:t>
            </a:r>
            <a:r>
              <a:rPr lang="en-US" baseline="-25000" dirty="0" err="1">
                <a:solidFill>
                  <a:srgbClr val="0070C0"/>
                </a:solidFill>
              </a:rPr>
              <a:t>K</a:t>
            </a:r>
            <a:r>
              <a:rPr lang="en-US" baseline="-25000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(C[</a:t>
            </a:r>
            <a:r>
              <a:rPr lang="en-US" dirty="0" err="1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</a:rPr>
              <a:t>])</a:t>
            </a:r>
          </a:p>
          <a:p>
            <a:pPr lvl="1" eaLnBrk="1" hangingPunct="1">
              <a:lnSpc>
                <a:spcPct val="120000"/>
              </a:lnSpc>
              <a:defRPr/>
            </a:pPr>
            <a:endParaRPr lang="en-US" dirty="0"/>
          </a:p>
        </p:txBody>
      </p:sp>
      <p:pic>
        <p:nvPicPr>
          <p:cNvPr id="72706" name="Picture 2" descr="CBC encryption.svg">
            <a:extLst>
              <a:ext uri="{FF2B5EF4-FFF2-40B4-BE49-F238E27FC236}">
                <a16:creationId xmlns:a16="http://schemas.microsoft.com/office/drawing/2014/main" id="{5C7F5A33-500E-4F6F-B2EE-67C544735D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048000"/>
            <a:ext cx="851338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9207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109A0-ADD0-F5BA-5CBC-99BCDDC16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30CAD392-B571-44C8-AE68-4F5109106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08" y="0"/>
            <a:ext cx="82296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Cipher Block Chaining (CBC) Mode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01E70A-9A42-1896-84DF-BD184743E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1" y="1066800"/>
            <a:ext cx="8228013" cy="1903660"/>
          </a:xfrm>
        </p:spPr>
        <p:txBody>
          <a:bodyPr>
            <a:normAutofit fontScale="85000" lnSpcReduction="10000"/>
          </a:bodyPr>
          <a:lstStyle/>
          <a:p>
            <a:pPr lvl="1" eaLnBrk="1" hangingPunct="1">
              <a:lnSpc>
                <a:spcPct val="120000"/>
              </a:lnSpc>
              <a:defRPr/>
            </a:pPr>
            <a:r>
              <a:rPr lang="en-US" dirty="0"/>
              <a:t>The previous ciphertext block is combined with the current plaintext block </a:t>
            </a:r>
            <a:r>
              <a:rPr lang="en-US" dirty="0">
                <a:solidFill>
                  <a:srgbClr val="0070C0"/>
                </a:solidFill>
              </a:rPr>
              <a:t>C[</a:t>
            </a:r>
            <a:r>
              <a:rPr lang="en-US" dirty="0" err="1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</a:rPr>
              <a:t>] = </a:t>
            </a:r>
            <a:r>
              <a:rPr lang="en-US" dirty="0" err="1">
                <a:solidFill>
                  <a:srgbClr val="0070C0"/>
                </a:solidFill>
              </a:rPr>
              <a:t>Enc</a:t>
            </a:r>
            <a:r>
              <a:rPr lang="en-US" baseline="-25000" dirty="0" err="1">
                <a:solidFill>
                  <a:srgbClr val="0070C0"/>
                </a:solidFill>
              </a:rPr>
              <a:t>K</a:t>
            </a:r>
            <a:r>
              <a:rPr lang="en-US" baseline="-25000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(C[</a:t>
            </a:r>
            <a:r>
              <a:rPr lang="en-US" dirty="0" err="1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  <a:sym typeface="Symbol"/>
              </a:rPr>
              <a:t> 1]  M</a:t>
            </a:r>
            <a:r>
              <a:rPr lang="en-US" dirty="0">
                <a:solidFill>
                  <a:srgbClr val="0070C0"/>
                </a:solidFill>
              </a:rPr>
              <a:t>[</a:t>
            </a:r>
            <a:r>
              <a:rPr lang="en-US" dirty="0" err="1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</a:rPr>
              <a:t>])</a:t>
            </a:r>
          </a:p>
          <a:p>
            <a:pPr lvl="1" eaLnBrk="1" hangingPunct="1">
              <a:lnSpc>
                <a:spcPct val="120000"/>
              </a:lnSpc>
              <a:defRPr/>
            </a:pPr>
            <a:r>
              <a:rPr lang="en-US" dirty="0"/>
              <a:t>C[</a:t>
            </a:r>
            <a:r>
              <a:rPr lang="en-US" dirty="0">
                <a:sym typeface="Symbol"/>
              </a:rPr>
              <a:t></a:t>
            </a:r>
            <a:r>
              <a:rPr lang="en-US" dirty="0"/>
              <a:t>1] = IV, a random block separately transmitted encrypted (known as the initialization vector, randomly chose every time)</a:t>
            </a:r>
          </a:p>
          <a:p>
            <a:pPr lvl="1">
              <a:lnSpc>
                <a:spcPct val="120000"/>
              </a:lnSpc>
              <a:defRPr/>
            </a:pPr>
            <a:r>
              <a:rPr lang="en-US" dirty="0"/>
              <a:t>Decryption: </a:t>
            </a:r>
            <a:r>
              <a:rPr lang="en-US" dirty="0">
                <a:solidFill>
                  <a:srgbClr val="0070C0"/>
                </a:solidFill>
              </a:rPr>
              <a:t>M[</a:t>
            </a:r>
            <a:r>
              <a:rPr lang="en-US" dirty="0" err="1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</a:rPr>
              <a:t>] = C[</a:t>
            </a:r>
            <a:r>
              <a:rPr lang="en-US" dirty="0" err="1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  <a:sym typeface="Symbol"/>
              </a:rPr>
              <a:t> 1]  </a:t>
            </a:r>
            <a:r>
              <a:rPr lang="en-US" dirty="0" err="1">
                <a:solidFill>
                  <a:srgbClr val="0070C0"/>
                </a:solidFill>
              </a:rPr>
              <a:t>Dec</a:t>
            </a:r>
            <a:r>
              <a:rPr lang="en-US" baseline="-25000" dirty="0" err="1">
                <a:solidFill>
                  <a:srgbClr val="0070C0"/>
                </a:solidFill>
              </a:rPr>
              <a:t>K</a:t>
            </a:r>
            <a:r>
              <a:rPr lang="en-US" baseline="-25000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(C[</a:t>
            </a:r>
            <a:r>
              <a:rPr lang="en-US" dirty="0" err="1">
                <a:solidFill>
                  <a:srgbClr val="0070C0"/>
                </a:solidFill>
              </a:rPr>
              <a:t>i</a:t>
            </a:r>
            <a:r>
              <a:rPr lang="en-US" dirty="0">
                <a:solidFill>
                  <a:srgbClr val="0070C0"/>
                </a:solidFill>
              </a:rPr>
              <a:t>])</a:t>
            </a:r>
          </a:p>
          <a:p>
            <a:pPr lvl="1" eaLnBrk="1" hangingPunct="1">
              <a:lnSpc>
                <a:spcPct val="120000"/>
              </a:lnSpc>
              <a:defRPr/>
            </a:pPr>
            <a:endParaRPr lang="en-US" dirty="0"/>
          </a:p>
        </p:txBody>
      </p:sp>
      <p:pic>
        <p:nvPicPr>
          <p:cNvPr id="72706" name="Picture 2" descr="CBC encryption.svg">
            <a:extLst>
              <a:ext uri="{FF2B5EF4-FFF2-40B4-BE49-F238E27FC236}">
                <a16:creationId xmlns:a16="http://schemas.microsoft.com/office/drawing/2014/main" id="{012E5E48-D713-7236-8606-036D6363A2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048000"/>
            <a:ext cx="851338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893583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3B936-467A-485A-8B02-6986E7FA9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77081"/>
            <a:ext cx="8229600" cy="1143000"/>
          </a:xfrm>
        </p:spPr>
        <p:txBody>
          <a:bodyPr/>
          <a:lstStyle/>
          <a:p>
            <a:r>
              <a:rPr lang="en-US" dirty="0"/>
              <a:t>CBC Mode</a:t>
            </a:r>
          </a:p>
        </p:txBody>
      </p:sp>
      <p:pic>
        <p:nvPicPr>
          <p:cNvPr id="73730" name="Picture 2" descr="CBC decryption.svg">
            <a:extLst>
              <a:ext uri="{FF2B5EF4-FFF2-40B4-BE49-F238E27FC236}">
                <a16:creationId xmlns:a16="http://schemas.microsoft.com/office/drawing/2014/main" id="{B8D0B8D4-9787-4C14-BB1A-868499A43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3763434"/>
            <a:ext cx="7620000" cy="3069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CBC encryption.svg">
            <a:extLst>
              <a:ext uri="{FF2B5EF4-FFF2-40B4-BE49-F238E27FC236}">
                <a16:creationId xmlns:a16="http://schemas.microsoft.com/office/drawing/2014/main" id="{224BF019-9EBD-4D8E-90BD-84C1E53C52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0844" y="838201"/>
            <a:ext cx="7391400" cy="2977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1CE9A6-86E3-4D03-835E-00655D2D15DA}"/>
              </a:ext>
            </a:extLst>
          </p:cNvPr>
          <p:cNvCxnSpPr/>
          <p:nvPr/>
        </p:nvCxnSpPr>
        <p:spPr>
          <a:xfrm>
            <a:off x="1447800" y="3733800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04072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0652C-D13B-4B22-8ED5-77214F967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Reduction of block cipher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C376D-EBED-4E5E-8704-4E9104548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Assumption: Pseudo-Random Permutation</a:t>
            </a:r>
          </a:p>
          <a:p>
            <a:endParaRPr lang="en-US" sz="2000" dirty="0"/>
          </a:p>
          <a:p>
            <a:r>
              <a:rPr lang="en-US" dirty="0"/>
              <a:t>Prove security of block cipher modes</a:t>
            </a:r>
          </a:p>
          <a:p>
            <a:pPr lvl="1"/>
            <a:r>
              <a:rPr lang="en-US" dirty="0"/>
              <a:t>Very non-trivial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76084-33CE-4D6A-87ED-E4C79C6D5C3D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1981200" y="6356351"/>
            <a:ext cx="2133600" cy="365125"/>
          </a:xfrm>
        </p:spPr>
        <p:txBody>
          <a:bodyPr/>
          <a:lstStyle/>
          <a:p>
            <a:pPr>
              <a:defRPr/>
            </a:pPr>
            <a:fld id="{A7DE4472-E95E-430B-AA46-2D76F67E4D17}" type="datetime1">
              <a:rPr lang="en-US" smtClean="0"/>
              <a:pPr>
                <a:defRPr/>
              </a:pPr>
              <a:t>9/22/26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F3ADB-3613-4752-B211-095022EDC99A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4648200" y="6356351"/>
            <a:ext cx="2895600" cy="365125"/>
          </a:xfrm>
        </p:spPr>
        <p:txBody>
          <a:bodyPr/>
          <a:lstStyle/>
          <a:p>
            <a:pPr>
              <a:defRPr/>
            </a:pPr>
            <a:r>
              <a:rPr lang="en-GB"/>
              <a:t>Cryptography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262EA-4F13-4D10-8703-B21C47087EC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077200" y="6356351"/>
            <a:ext cx="2133600" cy="365125"/>
          </a:xfrm>
        </p:spPr>
        <p:txBody>
          <a:bodyPr/>
          <a:lstStyle/>
          <a:p>
            <a:pPr>
              <a:defRPr/>
            </a:pPr>
            <a:fld id="{40430D0A-94E0-4A9E-8011-005B3BE16F20}" type="slidenum">
              <a:rPr lang="en-GB" smtClean="0"/>
              <a:pPr>
                <a:defRPr/>
              </a:pPr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008347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0580E-DE24-40BD-802B-E1E504A0F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CRYPTO 2019 Best Paper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B5969-5C8B-40F6-B386-8BD7DA37C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b="1" dirty="0">
                <a:latin typeface="Roboto" panose="02000000000000000000" pitchFamily="2" charset="0"/>
              </a:rPr>
              <a:t>Cryptanalysis of OCB2: Attacks on Authenticity and Confidentiality</a:t>
            </a:r>
            <a:r>
              <a:rPr lang="en-US" sz="2400" dirty="0">
                <a:latin typeface="Roboto" panose="02000000000000000000" pitchFamily="2" charset="0"/>
              </a:rPr>
              <a:t>, </a:t>
            </a:r>
            <a:r>
              <a:rPr lang="nn-NO" sz="2400" dirty="0">
                <a:latin typeface="Roboto" panose="02000000000000000000" pitchFamily="2" charset="0"/>
              </a:rPr>
              <a:t>Akiko Inoue, Tetsu Iwata, Kazuhiko Minematsu, Bertram Poettering</a:t>
            </a:r>
            <a:endParaRPr lang="en-US" sz="2400" dirty="0">
              <a:latin typeface="Roboto" panose="02000000000000000000" pitchFamily="2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9884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Strengths and Weaknesses of CBC</a:t>
            </a:r>
          </a:p>
        </p:txBody>
      </p:sp>
      <p:sp>
        <p:nvSpPr>
          <p:cNvPr id="9220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09D57208-9F70-4046-9840-F3F6EDE0F403}" type="datetime1">
              <a:rPr lang="en-US" smtClean="0"/>
              <a:pPr/>
              <a:t>9/22/26</a:t>
            </a:fld>
            <a:endParaRPr lang="en-GB"/>
          </a:p>
        </p:txBody>
      </p:sp>
      <p:sp>
        <p:nvSpPr>
          <p:cNvPr id="9221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GB"/>
              <a:t>Cryptography</a:t>
            </a:r>
          </a:p>
        </p:txBody>
      </p:sp>
      <p:sp>
        <p:nvSpPr>
          <p:cNvPr id="92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665992E-EFF8-4D78-9243-AA711BF3E8C5}" type="slidenum">
              <a:rPr lang="en-GB" smtClean="0"/>
              <a:pPr/>
              <a:t>45</a:t>
            </a:fld>
            <a:endParaRPr lang="en-GB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172200" y="1600200"/>
            <a:ext cx="4819918" cy="464820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en-US" dirty="0"/>
              <a:t>Weaknesses: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CBC requires the reliable transmission of all the blocks sequentially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CBC is not suitable for applications that allow packet losses (e.g., music and video streaming)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dirty="0"/>
              <a:t>Strengths:</a:t>
            </a:r>
          </a:p>
          <a:p>
            <a:pPr lvl="1"/>
            <a:r>
              <a:rPr lang="en-US" dirty="0"/>
              <a:t>CPA-secure</a:t>
            </a:r>
          </a:p>
          <a:p>
            <a:pPr lvl="1"/>
            <a:r>
              <a:rPr lang="en-US" dirty="0"/>
              <a:t>Is fast and relatively simple</a:t>
            </a:r>
          </a:p>
        </p:txBody>
      </p:sp>
    </p:spTree>
    <p:extLst>
      <p:ext uri="{BB962C8B-B14F-4D97-AF65-F5344CB8AC3E}">
        <p14:creationId xmlns:p14="http://schemas.microsoft.com/office/powerpoint/2010/main" val="24998085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E51E0-E2EC-438E-AB62-7299924D4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Output Feedback (OFB)</a:t>
            </a:r>
          </a:p>
        </p:txBody>
      </p:sp>
      <p:pic>
        <p:nvPicPr>
          <p:cNvPr id="74754" name="Picture 2" descr="OFB encryption.svg">
            <a:extLst>
              <a:ext uri="{FF2B5EF4-FFF2-40B4-BE49-F238E27FC236}">
                <a16:creationId xmlns:a16="http://schemas.microsoft.com/office/drawing/2014/main" id="{875B247F-1D4F-452F-94AB-911FBE150D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990600"/>
            <a:ext cx="7696200" cy="3099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6B0F66E-B79F-41A5-8D83-81320CBCEF60}"/>
              </a:ext>
            </a:extLst>
          </p:cNvPr>
          <p:cNvCxnSpPr/>
          <p:nvPr/>
        </p:nvCxnSpPr>
        <p:spPr>
          <a:xfrm>
            <a:off x="1524000" y="4090458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74756" name="Picture 4" descr="OFB decryption.svg">
            <a:extLst>
              <a:ext uri="{FF2B5EF4-FFF2-40B4-BE49-F238E27FC236}">
                <a16:creationId xmlns:a16="http://schemas.microsoft.com/office/drawing/2014/main" id="{839727BB-25B5-46E5-BCEE-615C6F2B2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8211" y="3962400"/>
            <a:ext cx="7315200" cy="294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6133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1737F1E-67E6-DB4A-BC3F-A09F02D0280D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b071b981-36d1-486e-9dfd-0e3a4200770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923</TotalTime>
  <Words>1708</Words>
  <Application>Microsoft Macintosh PowerPoint</Application>
  <PresentationFormat>Widescreen</PresentationFormat>
  <Paragraphs>263</Paragraphs>
  <Slides>46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46</vt:i4>
      </vt:variant>
    </vt:vector>
  </HeadingPairs>
  <TitlesOfParts>
    <vt:vector size="58" baseType="lpstr">
      <vt:lpstr>system-ui</vt:lpstr>
      <vt:lpstr>Aptos</vt:lpstr>
      <vt:lpstr>Aptos Display</vt:lpstr>
      <vt:lpstr>Arial</vt:lpstr>
      <vt:lpstr>Calibri</vt:lpstr>
      <vt:lpstr>Cambria Math</vt:lpstr>
      <vt:lpstr>Candara</vt:lpstr>
      <vt:lpstr>Roboto</vt:lpstr>
      <vt:lpstr>Symbol</vt:lpstr>
      <vt:lpstr>Times New Roman</vt:lpstr>
      <vt:lpstr>Office Theme</vt:lpstr>
      <vt:lpstr>Office Theme</vt:lpstr>
      <vt:lpstr>PowerPoint Presentation</vt:lpstr>
      <vt:lpstr>Designing block ciphers</vt:lpstr>
      <vt:lpstr>Confusion-diffusion paradigm</vt:lpstr>
      <vt:lpstr>Substitution-Permutation Networks (SPN)</vt:lpstr>
      <vt:lpstr>Multi-round design</vt:lpstr>
      <vt:lpstr>Avalanche effect</vt:lpstr>
      <vt:lpstr>Avalanche effect</vt:lpstr>
      <vt:lpstr>Avalanche effect</vt:lpstr>
      <vt:lpstr>Sub-keys and master key</vt:lpstr>
      <vt:lpstr>AES</vt:lpstr>
      <vt:lpstr>AES</vt:lpstr>
      <vt:lpstr>AES substitution boxes</vt:lpstr>
      <vt:lpstr>ShiftRows and MixColumns</vt:lpstr>
      <vt:lpstr>Multi-round</vt:lpstr>
      <vt:lpstr>Open design principle</vt:lpstr>
      <vt:lpstr>Assumptions</vt:lpstr>
      <vt:lpstr>PowerPoint Presentation</vt:lpstr>
      <vt:lpstr>AES is invertible given k</vt:lpstr>
      <vt:lpstr>Activity: build a cipher, then break the next team’s</vt:lpstr>
      <vt:lpstr>Permutations vs functions</vt:lpstr>
      <vt:lpstr>Pseudorandom Permutations</vt:lpstr>
      <vt:lpstr>Feistel network</vt:lpstr>
      <vt:lpstr>Feistel network</vt:lpstr>
      <vt:lpstr>Inverting Feistel network</vt:lpstr>
      <vt:lpstr>DES overview</vt:lpstr>
      <vt:lpstr>Feistel network in DES</vt:lpstr>
      <vt:lpstr>Substitution Boxes in DES</vt:lpstr>
      <vt:lpstr>DES mangler function</vt:lpstr>
      <vt:lpstr>Avalanche effect</vt:lpstr>
      <vt:lpstr>Security of DES</vt:lpstr>
      <vt:lpstr>56-bit key length</vt:lpstr>
      <vt:lpstr>Double DES</vt:lpstr>
      <vt:lpstr>Meet-in-the-middle attack</vt:lpstr>
      <vt:lpstr>Triple DES</vt:lpstr>
      <vt:lpstr>Block Cipher Modes</vt:lpstr>
      <vt:lpstr>ECB mode</vt:lpstr>
      <vt:lpstr>Insecurity of ECB</vt:lpstr>
      <vt:lpstr>Cipher Block Chaining (CBC) Mode</vt:lpstr>
      <vt:lpstr>Cipher Block Chaining (CBC) Mode</vt:lpstr>
      <vt:lpstr>Cipher Block Chaining (CBC) Mode</vt:lpstr>
      <vt:lpstr>Cipher Block Chaining (CBC) Mode</vt:lpstr>
      <vt:lpstr>CBC Mode</vt:lpstr>
      <vt:lpstr>Reduction of block cipher</vt:lpstr>
      <vt:lpstr>CRYPTO 2019 Best Paper</vt:lpstr>
      <vt:lpstr>Strengths and Weaknesses of CBC</vt:lpstr>
      <vt:lpstr>Output Feedback (OFB)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Luo, Ning</dc:creator>
  <cp:lastModifiedBy>Luo, Ning</cp:lastModifiedBy>
  <cp:revision>1</cp:revision>
  <dcterms:created xsi:type="dcterms:W3CDTF">2026-09-22T04:21:55Z</dcterms:created>
  <dcterms:modified xsi:type="dcterms:W3CDTF">2026-09-22T19:45:26Z</dcterms:modified>
</cp:coreProperties>
</file>