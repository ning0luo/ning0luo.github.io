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669" r:id="rId2"/>
    <p:sldId id="648" r:id="rId3"/>
    <p:sldId id="670" r:id="rId4"/>
    <p:sldId id="671" r:id="rId5"/>
    <p:sldId id="681" r:id="rId6"/>
    <p:sldId id="660" r:id="rId7"/>
    <p:sldId id="672" r:id="rId8"/>
    <p:sldId id="673" r:id="rId9"/>
    <p:sldId id="656" r:id="rId10"/>
    <p:sldId id="274" r:id="rId11"/>
    <p:sldId id="526" r:id="rId12"/>
    <p:sldId id="570" r:id="rId13"/>
    <p:sldId id="662" r:id="rId14"/>
    <p:sldId id="664" r:id="rId15"/>
    <p:sldId id="674" r:id="rId16"/>
    <p:sldId id="553" r:id="rId17"/>
    <p:sldId id="666" r:id="rId18"/>
    <p:sldId id="675" r:id="rId19"/>
    <p:sldId id="668" r:id="rId20"/>
    <p:sldId id="667" r:id="rId21"/>
    <p:sldId id="571" r:id="rId22"/>
    <p:sldId id="663" r:id="rId23"/>
    <p:sldId id="6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53"/>
    <p:restoredTop sz="94730"/>
  </p:normalViewPr>
  <p:slideViewPr>
    <p:cSldViewPr snapToGrid="0" showGuides="1">
      <p:cViewPr varScale="1">
        <p:scale>
          <a:sx n="94" d="100"/>
          <a:sy n="94" d="100"/>
        </p:scale>
        <p:origin x="208" y="72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18B71-9C39-4889-8E2C-9225BA8B3F5D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E8587-C61B-49BA-BD3C-A9EE353D7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29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62BE-4293-4D7E-8FED-EFA019AFC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D1A74-AF1E-46A8-969C-64685C193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18083-291B-495C-BAB6-1CA89DC9E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0355C-5445-4237-B262-A23164E3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A2EEC-5F5F-4D03-9F61-C3898D1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0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29EA-3388-4D23-82A9-4F3003AA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867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F7303-1971-4CD2-8B0B-FF115F236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77" y="1743197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7884B-6D89-405B-909F-A90DE069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ACC1C-249F-4FDD-B428-EC207B74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F98E7-51DE-4E2D-9482-7B25C0E3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3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596D-914D-4E6D-AF46-B4998729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A2592-3A41-4778-8643-4E85E4F5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B768F-D2C9-4B4F-AD4B-7D3CCBB6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628A7-FD4F-4564-86A5-14569CF8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6873D-EE02-40CB-82E5-FC355595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17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B8E9-3028-45FF-BFA0-3F576C75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49A6-FAF9-4467-A916-761573389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ED86A-1D75-4C06-BDAE-5667877AB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CF083-8A8C-4A9F-B603-0A0C30D60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B6354-55B3-4E64-8ECD-95536532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5BA3-E82B-4150-AFEE-B8046EC2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5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58BD-5C91-4255-BA0D-911276E3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20BD4-8880-45D0-90D9-071C791C8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C337D-B29A-4D93-9190-4AFBFD982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818BC-1713-4BB0-BD29-BBEECC746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446D4E-AEA1-4FE7-B3D8-EEFEA3CD1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4582CE-8BAA-46FF-8D36-0E537530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989E11-F3B3-415D-B5A9-522C5813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781E5-8EB7-4610-AA29-ECAFECA5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2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36C9-CDE4-4879-BA7D-0F985BF1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54AB7-2FEF-4B47-87EE-D334C5CA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88316-D12F-426A-B8C8-3F85CF52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91593-3F56-4498-9268-88BD0507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39C03-0146-4658-B780-5A2D1237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726FC-EEC0-465F-9312-6B7A9CBC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46D91-3676-4D69-8E5F-267FDD22A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8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473F-09B7-4427-84BA-9F7D9421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E777A-4377-4824-9580-5CD50236F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31D50-2E89-437B-B7A5-D525C9CA3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8A116-4E7B-4FBF-B5D3-C5A227E0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7E17E-6360-44B3-A9FC-43E4C2A8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564C6-9C35-4475-AC5F-A9E2A18F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58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4457-2EBD-4422-ACE5-EB4635EB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E365B-1F69-4E89-BF0A-AE9ABA04F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04F95-09E7-4B54-92F7-919F84BE1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BB4A7-1713-41A4-A987-82B25812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E5D9B-5A82-484F-A772-B349921A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961B1-2F65-46C3-993A-E03DDB04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0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35D5E-1D09-4AA5-802D-4F59776F6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208FA-35A6-4EFB-8F48-9862886D3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C12DB-EB1D-4551-99AC-22EB9BA8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1BBAA-94B5-4ED9-AF79-CE399893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75956-F933-4CB8-B481-AECB03FE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16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19A50-C4E4-4F1B-8E62-D99CDF398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6962F-B4A1-4859-A12C-67016FF82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15B0A-81A5-479B-ADAA-456B1427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594D5-082C-4ACF-940E-4A01DCAB5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540E-0F1D-4EDA-A305-C1C4D643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4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FBC14-1125-4876-92E8-1B0877571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7" y="1558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D414D-3C83-413A-81E2-B045C68BC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077" y="17431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9B5CF-C149-4249-940C-9F0BD416C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E43A1-61F1-46D0-835A-ADB57988AB43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6E08F-5D25-486D-BA81-889A52131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4A894-9BA9-41D9-AE9D-7132C3E9D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61EA2-66F2-D6FB-7FB4-47AB66D5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F343A-C645-4F01-002D-160A860D6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 random generator (PRG)</a:t>
            </a:r>
          </a:p>
          <a:p>
            <a:endParaRPr lang="en-US" dirty="0"/>
          </a:p>
          <a:p>
            <a:r>
              <a:rPr lang="en-US" dirty="0"/>
              <a:t>Encryption scheme using PRG that is EAV-secure</a:t>
            </a:r>
          </a:p>
          <a:p>
            <a:endParaRPr lang="en-US" dirty="0"/>
          </a:p>
          <a:p>
            <a:r>
              <a:rPr lang="en-US" dirty="0"/>
              <a:t>Proof by reduction</a:t>
            </a:r>
          </a:p>
        </p:txBody>
      </p:sp>
    </p:spTree>
    <p:extLst>
      <p:ext uri="{BB962C8B-B14F-4D97-AF65-F5344CB8AC3E}">
        <p14:creationId xmlns:p14="http://schemas.microsoft.com/office/powerpoint/2010/main" val="4065443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5029-4DC8-7A3B-167F-E9A3DCD3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EAV-security from PRG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14B15-9DB0-D455-81D8-8D65C2EB42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506071"/>
                <a:ext cx="10515600" cy="519056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: choose uniform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output it as the key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on input a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dirty="0"/>
                  <a:t>: on input a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14B15-9DB0-D455-81D8-8D65C2EB42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506071"/>
                <a:ext cx="10515600" cy="5190564"/>
              </a:xfrm>
              <a:blipFill>
                <a:blip r:embed="rId2"/>
                <a:stretch>
                  <a:fillRect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533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A942-7A57-4D7B-B065-D05C03B5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RC4 (Ron Rivest 1987)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C115-70B3-4E02-9764-A986EF7FEF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  <p:pic>
        <p:nvPicPr>
          <p:cNvPr id="70658" name="Picture 2" descr="https://upload.wikimedia.org/wikipedia/commons/thumb/e/e9/RC4.svg/2560px-RC4.svg.png">
            <a:extLst>
              <a:ext uri="{FF2B5EF4-FFF2-40B4-BE49-F238E27FC236}">
                <a16:creationId xmlns:a16="http://schemas.microsoft.com/office/drawing/2014/main" id="{A82F9138-2825-4913-B012-D37F14392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257" y="1348629"/>
            <a:ext cx="6324600" cy="282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30CDBA-E1DE-4FAD-9FE0-311BDB740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84" y="4481107"/>
            <a:ext cx="5633340" cy="2240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BF4762-47BE-4361-92B6-A91830679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031" y="4481109"/>
            <a:ext cx="3725937" cy="2376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532175-7A24-4485-8BE8-F116E24E588D}"/>
              </a:ext>
            </a:extLst>
          </p:cNvPr>
          <p:cNvSpPr txBox="1"/>
          <p:nvPr/>
        </p:nvSpPr>
        <p:spPr>
          <a:xfrm>
            <a:off x="1943867" y="4111776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scheduling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D8C007-5E78-4D22-81F5-582A0CA60F6E}"/>
              </a:ext>
            </a:extLst>
          </p:cNvPr>
          <p:cNvSpPr txBox="1"/>
          <p:nvPr/>
        </p:nvSpPr>
        <p:spPr>
          <a:xfrm>
            <a:off x="8793174" y="4111776"/>
            <a:ext cx="205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BE6973-60E8-0D52-D54B-D4521DB043FE}"/>
              </a:ext>
            </a:extLst>
          </p:cNvPr>
          <p:cNvSpPr txBox="1"/>
          <p:nvPr/>
        </p:nvSpPr>
        <p:spPr>
          <a:xfrm>
            <a:off x="7479819" y="1394946"/>
            <a:ext cx="3481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linear-feedback shift register</a:t>
            </a:r>
          </a:p>
        </p:txBody>
      </p:sp>
    </p:spTree>
    <p:extLst>
      <p:ext uri="{BB962C8B-B14F-4D97-AF65-F5344CB8AC3E}">
        <p14:creationId xmlns:p14="http://schemas.microsoft.com/office/powerpoint/2010/main" val="1048313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A942-7A57-4D7B-B065-D05C03B5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of RC4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15E6F-4F1F-E644-D3F3-80146E550DCB}"/>
              </a:ext>
            </a:extLst>
          </p:cNvPr>
          <p:cNvSpPr txBox="1"/>
          <p:nvPr/>
        </p:nvSpPr>
        <p:spPr>
          <a:xfrm>
            <a:off x="742566" y="1546502"/>
            <a:ext cx="1040820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Output not uniform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Handling IV is not secure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Replacement: ChaCha20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800" dirty="0"/>
              <a:t>See more in Chapter 7.1*</a:t>
            </a:r>
          </a:p>
        </p:txBody>
      </p:sp>
    </p:spTree>
    <p:extLst>
      <p:ext uri="{BB962C8B-B14F-4D97-AF65-F5344CB8AC3E}">
        <p14:creationId xmlns:p14="http://schemas.microsoft.com/office/powerpoint/2010/main" val="755473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7117-86FA-39B9-951B-6CB3E537C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 Two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AB968-7C0A-AD5F-F385-554CF392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778000"/>
            <a:ext cx="11176000" cy="4699000"/>
          </a:xfrm>
        </p:spPr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400" b="1" dirty="0"/>
              <a:t>EAV-indistinguishability.</a:t>
            </a:r>
            <a:r>
              <a:rPr lang="en-US" sz="2400" dirty="0"/>
              <a:t> For every PPT A and every pair m₀, m₁ with |m₀| = |m₁| that A outputs: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en-US" sz="2400" i="1" dirty="0">
                <a:latin typeface="Cambria Math"/>
              </a:rPr>
              <a:t>| Pr[A(Encₖ(m₀)) = 1] − Pr[A(Encₖ(m₁)) = 1] | ≤ negl(n)</a:t>
            </a:r>
          </a:p>
          <a:p>
            <a:pPr marL="0" indent="0">
              <a:lnSpc>
                <a:spcPct val="105000"/>
              </a:lnSpc>
              <a:spcBef>
                <a:spcPts val="3200"/>
              </a:spcBef>
              <a:buNone/>
            </a:pPr>
            <a:r>
              <a:rPr lang="en-US" sz="2400" b="1" dirty="0"/>
              <a:t>Semantic security.</a:t>
            </a:r>
            <a:r>
              <a:rPr lang="en-US" sz="2400" dirty="0"/>
              <a:t> For every PPT A there is a PPT A′ such that for every efficiently sampleable Samp, every poly-time target f, and every auxiliary info h: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en-US" sz="2400" i="1" dirty="0">
                <a:latin typeface="Cambria Math"/>
              </a:rPr>
              <a:t>| Pr[A(1ⁿ, Encₖ(m), h(m)) = f(m)] − Pr[A′(1ⁿ, |m|, h(m)) = f(m)] | ≤ negl(n)</a:t>
            </a:r>
          </a:p>
          <a:p>
            <a:pPr marL="0" indent="0">
              <a:lnSpc>
                <a:spcPct val="105000"/>
              </a:lnSpc>
              <a:spcBef>
                <a:spcPts val="2800"/>
              </a:spcBef>
              <a:buNone/>
            </a:pPr>
            <a:r>
              <a:rPr lang="en-US" sz="2400" dirty="0"/>
              <a:t>The simulator A′ sees no ciphertext — only the length and the side information.</a:t>
            </a:r>
          </a:p>
        </p:txBody>
      </p:sp>
    </p:spTree>
    <p:extLst>
      <p:ext uri="{BB962C8B-B14F-4D97-AF65-F5344CB8AC3E}">
        <p14:creationId xmlns:p14="http://schemas.microsoft.com/office/powerpoint/2010/main" val="232621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2C0DD-93E3-5E77-18BF-0B598B02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86726"/>
            <a:ext cx="11509702" cy="1325563"/>
          </a:xfrm>
        </p:spPr>
        <p:txBody>
          <a:bodyPr/>
          <a:lstStyle/>
          <a:p>
            <a:r>
              <a:rPr lang="en-US" dirty="0"/>
              <a:t>Indistinguishability for multiple encryptions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8688A2-D751-362C-3268-635A42B0F8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6821" y="1497407"/>
                <a:ext cx="11570599" cy="5302292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Experiment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PrivK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Adversary </a:t>
                </a:r>
                <a:r>
                  <a:rPr lang="en-US" sz="2200" i="1" dirty="0"/>
                  <a:t>A </a:t>
                </a:r>
                <a:r>
                  <a:rPr lang="en-US" sz="2200" dirty="0"/>
                  <a:t>is given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dirty="0"/>
                  <a:t>, and outputs two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lists</a:t>
                </a:r>
                <a:r>
                  <a:rPr lang="en-US" sz="2200" dirty="0"/>
                  <a:t> of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},</m:t>
                    </m:r>
                  </m:oMath>
                </a14:m>
                <a:r>
                  <a:rPr lang="en-US" sz="2200" b="1" dirty="0">
                    <a:solidFill>
                      <a:srgbClr val="0070C0"/>
                    </a:solidFill>
                    <a:latin typeface="+mj-lt"/>
                  </a:rPr>
                  <a:t> </a:t>
                </a:r>
                <a:r>
                  <a:rPr lang="en-US" sz="2200" dirty="0" err="1">
                    <a:latin typeface="+mj-lt"/>
                  </a:rPr>
                  <a:t>s.t.</a:t>
                </a:r>
                <a:r>
                  <a:rPr lang="en-US" sz="22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|=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∀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200" dirty="0">
                  <a:latin typeface="Monotype Corsiva" panose="03010101010201010101" pitchFamily="66" charset="0"/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 key </a:t>
                </a:r>
                <a:r>
                  <a:rPr lang="en-US" sz="2200" i="1" dirty="0"/>
                  <a:t>k</a:t>
                </a:r>
                <a:r>
                  <a:rPr lang="en-US" sz="2200" dirty="0"/>
                  <a:t> is generated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, a random bit </a:t>
                </a:r>
                <a:r>
                  <a:rPr lang="en-US" sz="2200" i="1" dirty="0"/>
                  <a:t>b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200" dirty="0"/>
                  <a:t> is chosen. A list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is given to </a:t>
                </a:r>
                <a:r>
                  <a:rPr lang="en-US" sz="2200" i="1" dirty="0"/>
                  <a:t>A</a:t>
                </a:r>
                <a:r>
                  <a:rPr lang="en-US" sz="22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2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𝑬𝒏𝒄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2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200" b="1" dirty="0">
                    <a:solidFill>
                      <a:srgbClr val="0070C0"/>
                    </a:solidFill>
                  </a:rPr>
                  <a:t> </a:t>
                </a:r>
                <a:endParaRPr lang="en-US" sz="2200" b="1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i="1" dirty="0"/>
                  <a:t>A </a:t>
                </a:r>
                <a:r>
                  <a:rPr lang="en-US" sz="2200" dirty="0"/>
                  <a:t>outputs</a:t>
                </a:r>
                <a:r>
                  <a:rPr lang="en-US" sz="2200" i="1" dirty="0"/>
                  <a:t> 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Experiment outputs 1 if </a:t>
                </a:r>
                <a:r>
                  <a:rPr lang="en-US" sz="2200" i="1" dirty="0"/>
                  <a:t>b=b’, </a:t>
                </a:r>
                <a:r>
                  <a:rPr lang="en-US" sz="2200" dirty="0"/>
                  <a:t>and 0 otherwise</a:t>
                </a:r>
                <a:r>
                  <a:rPr lang="en-US" sz="2200" i="1" dirty="0"/>
                  <a:t>.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0">
                  <a:buNone/>
                </a:pPr>
                <a:endParaRPr lang="en-US" sz="2600" i="1" dirty="0"/>
              </a:p>
              <a:p>
                <a:pPr marL="0" indent="0">
                  <a:buNone/>
                </a:pPr>
                <a:r>
                  <a:rPr lang="en-US" sz="2400" dirty="0"/>
                  <a:t>Definition: a private-key encryption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secure, if for all probabilistic polynomial time adversaries </a:t>
                </a:r>
                <a:r>
                  <a:rPr lang="en-US" sz="2400" i="1" dirty="0"/>
                  <a:t>A</a:t>
                </a:r>
                <a:r>
                  <a:rPr lang="en-US" sz="2400" dirty="0"/>
                  <a:t>, there is a negligible function </a:t>
                </a:r>
                <a:r>
                  <a:rPr lang="en-US" sz="2400" dirty="0" err="1"/>
                  <a:t>negl</a:t>
                </a:r>
                <a:r>
                  <a:rPr lang="en-US" sz="2400" dirty="0"/>
                  <a:t> such that for all </a:t>
                </a:r>
                <a:r>
                  <a:rPr lang="en-US" sz="2400" i="1" dirty="0"/>
                  <a:t>n</a:t>
                </a:r>
                <a:r>
                  <a:rPr lang="en-US" sz="2400" dirty="0"/>
                  <a:t>,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𝐏𝐫𝐢𝐯𝐊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𝜫</m:t>
                              </m:r>
                            </m:sub>
                            <m:sup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]≤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𝐧𝐞𝐠𝐥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8688A2-D751-362C-3268-635A42B0F8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6821" y="1497407"/>
                <a:ext cx="11570599" cy="5302292"/>
              </a:xfrm>
              <a:blipFill>
                <a:blip r:embed="rId2"/>
                <a:stretch>
                  <a:fillRect l="-948" t="-1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29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E138-BFF2-7DF6-CD64-6E2A7D2C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150355"/>
            <a:ext cx="11644241" cy="1325563"/>
          </a:xfrm>
        </p:spPr>
        <p:txBody>
          <a:bodyPr/>
          <a:lstStyle/>
          <a:p>
            <a:r>
              <a:rPr lang="en-US" b="1" dirty="0"/>
              <a:t>Chosen-plaintext attack (CPA) 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90C3658-5EBE-0864-7799-C7A78C035B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0684" y="1405353"/>
                <a:ext cx="11570599" cy="530229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Experiment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PrivK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CPA</m:t>
                        </m:r>
                      </m:sup>
                    </m:sSub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 key </a:t>
                </a:r>
                <a:r>
                  <a:rPr lang="en-US" sz="2200" i="1" dirty="0"/>
                  <a:t>k</a:t>
                </a:r>
                <a:r>
                  <a:rPr lang="en-US" sz="2200" dirty="0"/>
                  <a:t> is generated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Adversary </a:t>
                </a:r>
                <a:r>
                  <a:rPr lang="en-US" sz="2200" i="1" dirty="0"/>
                  <a:t>A </a:t>
                </a:r>
                <a:r>
                  <a:rPr lang="en-US" sz="2200" dirty="0"/>
                  <a:t>is given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dirty="0"/>
                  <a:t>, and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oracle access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𝐄𝐧𝐜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2200" b="1" dirty="0">
                    <a:latin typeface="Monotype Corsiva" panose="03010101010201010101" pitchFamily="66" charset="0"/>
                  </a:rPr>
                  <a:t>. </a:t>
                </a:r>
                <a:r>
                  <a:rPr lang="en-US" sz="2200" i="1" dirty="0"/>
                  <a:t>A</a:t>
                </a:r>
                <a:r>
                  <a:rPr lang="en-US" sz="2200" dirty="0"/>
                  <a:t> outputs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Monotype Corsiva" panose="03010101010201010101" pitchFamily="66" charset="0"/>
                  </a:rPr>
                  <a:t> M </a:t>
                </a:r>
                <a:r>
                  <a:rPr lang="en-US" sz="2200" dirty="0" err="1"/>
                  <a:t>s.t.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|=|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200" dirty="0">
                  <a:latin typeface="Monotype Corsiva" panose="03010101010201010101" pitchFamily="66" charset="0"/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 random bit </a:t>
                </a:r>
                <a:r>
                  <a:rPr lang="en-US" sz="2200" i="1" dirty="0"/>
                  <a:t>b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200" dirty="0"/>
                  <a:t> is chosen.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is given to </a:t>
                </a:r>
                <a:r>
                  <a:rPr lang="en-US" sz="2200" i="1" dirty="0"/>
                  <a:t>A. </a:t>
                </a: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b="1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i="1" dirty="0"/>
                  <a:t>A </a:t>
                </a:r>
                <a:r>
                  <a:rPr lang="en-US" sz="2200" dirty="0"/>
                  <a:t>continues to have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oracle access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𝐄𝐧𝐜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and outputs</a:t>
                </a:r>
                <a:r>
                  <a:rPr lang="en-US" sz="2200" i="1" dirty="0"/>
                  <a:t> 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Experiment outputs 1 if </a:t>
                </a:r>
                <a:r>
                  <a:rPr lang="en-US" sz="2200" i="1" dirty="0"/>
                  <a:t>b=b’, </a:t>
                </a:r>
                <a:r>
                  <a:rPr lang="en-US" sz="2200" dirty="0"/>
                  <a:t>and 0 otherwise</a:t>
                </a:r>
                <a:r>
                  <a:rPr lang="en-US" sz="2200" i="1" dirty="0"/>
                  <a:t>.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0">
                  <a:buNone/>
                </a:pPr>
                <a:endParaRPr lang="en-US" sz="2600" i="1" dirty="0"/>
              </a:p>
              <a:p>
                <a:pPr marL="0" indent="0">
                  <a:buNone/>
                </a:pPr>
                <a:r>
                  <a:rPr lang="en-US" sz="2400" dirty="0"/>
                  <a:t>Definition: a private-key encryption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CPA-secure, if for all probabilistic polynomial time adversaries </a:t>
                </a:r>
                <a:r>
                  <a:rPr lang="en-US" sz="2400" i="1" dirty="0"/>
                  <a:t>A</a:t>
                </a:r>
                <a:r>
                  <a:rPr lang="en-US" sz="2400" dirty="0"/>
                  <a:t>, there is a negligible function </a:t>
                </a:r>
                <a:r>
                  <a:rPr lang="en-US" sz="2400" dirty="0" err="1"/>
                  <a:t>negl</a:t>
                </a:r>
                <a:r>
                  <a:rPr lang="en-US" sz="2400" dirty="0"/>
                  <a:t> such that for all </a:t>
                </a:r>
                <a:r>
                  <a:rPr lang="en-US" sz="2400" i="1" dirty="0"/>
                  <a:t>n</a:t>
                </a:r>
                <a:r>
                  <a:rPr lang="en-US" sz="2400" dirty="0"/>
                  <a:t>,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𝐏𝐫𝐢𝐯𝐊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𝜫</m:t>
                              </m:r>
                            </m:sub>
                            <m:sup>
                              <m:r>
                                <a:rPr lang="en-US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𝐂𝐏𝐀</m:t>
                              </m:r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]≤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𝐧𝐞𝐠𝐥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90C3658-5EBE-0864-7799-C7A78C035B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0684" y="1405353"/>
                <a:ext cx="11570599" cy="5302292"/>
              </a:xfrm>
              <a:blipFill>
                <a:blip r:embed="rId2"/>
                <a:stretch>
                  <a:fillRect l="-948" t="-1956" r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989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B7AC7-203F-2DA7-4010-12262BCFF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Theorem:</a:t>
            </a:r>
            <a:r>
              <a:rPr lang="en-US" dirty="0"/>
              <a:t> any private-key encryption scheme that is CPA-secure, is also CPA-secure for </a:t>
            </a:r>
            <a:r>
              <a:rPr lang="en-US" b="1" dirty="0"/>
              <a:t>multiple</a:t>
            </a:r>
            <a:r>
              <a:rPr lang="en-US" dirty="0"/>
              <a:t> encryptions.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C40435-B1A6-5163-0AED-1CDA20FB6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4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FF8C-7C70-AE7A-7B0F-790BE28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86726"/>
            <a:ext cx="11245342" cy="1325563"/>
          </a:xfrm>
        </p:spPr>
        <p:txBody>
          <a:bodyPr/>
          <a:lstStyle/>
          <a:p>
            <a:r>
              <a:rPr lang="en-US" dirty="0"/>
              <a:t>Stream cipher with Initialization Vector (IV)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540A30-CD7E-9834-02B5-26FA7ACF60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PRG with IV: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on input a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dirty="0"/>
                  <a:t>, sample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𝑰𝑽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𝑰𝑽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dirty="0"/>
                  <a:t>: on input a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𝐼𝑉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540A30-CD7E-9834-02B5-26FA7ACF6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0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576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7696200" y="5563599"/>
            <a:ext cx="3810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Block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565" y="1521241"/>
            <a:ext cx="9595523" cy="2895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dirty="0"/>
              <a:t>In a </a:t>
            </a:r>
            <a:r>
              <a:rPr lang="en-US" b="1" dirty="0"/>
              <a:t>block cipher: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dirty="0"/>
              <a:t>Plaintext and ciphertext have fixed length b (e.g., 128 bits)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dirty="0"/>
              <a:t>A plaintext of length n is partitioned into a sequence of m </a:t>
            </a:r>
            <a:r>
              <a:rPr lang="en-US" b="1" dirty="0"/>
              <a:t>blocks</a:t>
            </a:r>
            <a:r>
              <a:rPr lang="en-US" dirty="0"/>
              <a:t>, P[0], …, P[m</a:t>
            </a:r>
            <a:r>
              <a:rPr lang="en-US" dirty="0">
                <a:sym typeface="Symbol"/>
              </a:rPr>
              <a:t>1</a:t>
            </a:r>
            <a:r>
              <a:rPr lang="en-US" dirty="0"/>
              <a:t>], where n </a:t>
            </a:r>
            <a:r>
              <a:rPr lang="en-US" dirty="0">
                <a:sym typeface="Symbol"/>
              </a:rPr>
              <a:t></a:t>
            </a:r>
            <a:r>
              <a:rPr lang="en-US" dirty="0"/>
              <a:t> </a:t>
            </a:r>
            <a:r>
              <a:rPr lang="en-US" dirty="0" err="1"/>
              <a:t>bm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 </a:t>
            </a:r>
            <a:r>
              <a:rPr lang="en-US" dirty="0"/>
              <a:t>n + b</a:t>
            </a:r>
          </a:p>
          <a:p>
            <a:pPr>
              <a:lnSpc>
                <a:spcPct val="120000"/>
              </a:lnSpc>
              <a:defRPr/>
            </a:pPr>
            <a:r>
              <a:rPr lang="en-US" dirty="0"/>
              <a:t>Each message is divided into a sequence of blocks and encrypted or decrypted in terms of its blocks.</a:t>
            </a:r>
          </a:p>
        </p:txBody>
      </p:sp>
      <p:sp>
        <p:nvSpPr>
          <p:cNvPr id="8196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1981200" y="6356351"/>
            <a:ext cx="2133600" cy="365125"/>
          </a:xfrm>
          <a:noFill/>
        </p:spPr>
        <p:txBody>
          <a:bodyPr/>
          <a:lstStyle/>
          <a:p>
            <a:fld id="{3E43B9DB-4CCB-4C08-8EE1-ADC0FBFA74FE}" type="datetime1">
              <a:rPr lang="en-US" smtClean="0"/>
              <a:pPr/>
              <a:t>9/9/26</a:t>
            </a:fld>
            <a:endParaRPr lang="en-GB"/>
          </a:p>
        </p:txBody>
      </p:sp>
      <p:sp>
        <p:nvSpPr>
          <p:cNvPr id="8197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4648200" y="6356351"/>
            <a:ext cx="2895600" cy="365125"/>
          </a:xfrm>
          <a:noFill/>
        </p:spPr>
        <p:txBody>
          <a:bodyPr/>
          <a:lstStyle/>
          <a:p>
            <a:r>
              <a:rPr lang="en-GB"/>
              <a:t>Cryptography</a:t>
            </a:r>
          </a:p>
        </p:txBody>
      </p:sp>
      <p:sp>
        <p:nvSpPr>
          <p:cNvPr id="819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  <a:noFill/>
        </p:spPr>
        <p:txBody>
          <a:bodyPr/>
          <a:lstStyle/>
          <a:p>
            <a:fld id="{A3E3D489-F848-4C5B-9BC7-8CC113B64D14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2971800" y="5563599"/>
            <a:ext cx="1143000" cy="22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3" name="Rectangle 42"/>
          <p:cNvSpPr/>
          <p:nvPr/>
        </p:nvSpPr>
        <p:spPr>
          <a:xfrm>
            <a:off x="4294327" y="5563599"/>
            <a:ext cx="1143000" cy="22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5638800" y="5562380"/>
            <a:ext cx="1143000" cy="22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6934200" y="5563599"/>
            <a:ext cx="1143000" cy="228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2971190" y="4953999"/>
            <a:ext cx="4420210" cy="22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endCxn id="2" idx="0"/>
          </p:cNvCxnSpPr>
          <p:nvPr/>
        </p:nvCxnSpPr>
        <p:spPr>
          <a:xfrm flipH="1">
            <a:off x="3543300" y="5182599"/>
            <a:ext cx="114300" cy="381000"/>
          </a:xfrm>
          <a:prstGeom prst="straightConnector1">
            <a:avLst/>
          </a:prstGeom>
          <a:ln w="1905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43" idx="0"/>
          </p:cNvCxnSpPr>
          <p:nvPr/>
        </p:nvCxnSpPr>
        <p:spPr>
          <a:xfrm>
            <a:off x="4648201" y="5182599"/>
            <a:ext cx="217627" cy="381000"/>
          </a:xfrm>
          <a:prstGeom prst="straightConnector1">
            <a:avLst/>
          </a:prstGeom>
          <a:ln w="1905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44" idx="0"/>
          </p:cNvCxnSpPr>
          <p:nvPr/>
        </p:nvCxnSpPr>
        <p:spPr>
          <a:xfrm>
            <a:off x="6019800" y="5182600"/>
            <a:ext cx="190500" cy="379781"/>
          </a:xfrm>
          <a:prstGeom prst="straightConnector1">
            <a:avLst/>
          </a:prstGeom>
          <a:ln w="1905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45" idx="0"/>
          </p:cNvCxnSpPr>
          <p:nvPr/>
        </p:nvCxnSpPr>
        <p:spPr>
          <a:xfrm>
            <a:off x="7162800" y="5182599"/>
            <a:ext cx="342900" cy="381000"/>
          </a:xfrm>
          <a:prstGeom prst="straightConnector1">
            <a:avLst/>
          </a:prstGeom>
          <a:ln w="1905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14468" y="4893315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0371" y="5488399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Blocks of</a:t>
            </a:r>
          </a:p>
          <a:p>
            <a:r>
              <a:rPr lang="en-US" dirty="0"/>
              <a:t>plaintext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4503" y="4317363"/>
            <a:ext cx="1986441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Requires padding</a:t>
            </a:r>
          </a:p>
          <a:p>
            <a:r>
              <a:rPr lang="en-US" dirty="0"/>
              <a:t>with extra bits.</a:t>
            </a:r>
          </a:p>
        </p:txBody>
      </p:sp>
      <p:cxnSp>
        <p:nvCxnSpPr>
          <p:cNvPr id="17" name="Straight Arrow Connector 16"/>
          <p:cNvCxnSpPr>
            <a:stCxn id="15" idx="2"/>
            <a:endCxn id="45" idx="3"/>
          </p:cNvCxnSpPr>
          <p:nvPr/>
        </p:nvCxnSpPr>
        <p:spPr>
          <a:xfrm flipH="1">
            <a:off x="8077201" y="4963693"/>
            <a:ext cx="1050523" cy="7142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FA15C7-F88E-04FF-39CC-76E100706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769" y="42526"/>
            <a:ext cx="9087298" cy="681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55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6572-2D8B-4F7C-855A-083FCF00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Pseudorandom Function (PRF)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9E264-367D-4A3F-999D-C972625696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>
                    <a:latin typeface="+mj-lt"/>
                  </a:rPr>
                  <a:t>A random function instead of a random string in PRG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Or 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r>
                  <a:rPr lang="en-US" dirty="0"/>
                  <a:t>An efficient attacker cannot differentiate it from a random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9E264-367D-4A3F-999D-C97262569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C0ACB-E1E6-4B9C-8918-FA3FD496819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981200" y="6356351"/>
            <a:ext cx="2133600" cy="365125"/>
          </a:xfrm>
        </p:spPr>
        <p:txBody>
          <a:bodyPr/>
          <a:lstStyle/>
          <a:p>
            <a:pPr>
              <a:defRPr/>
            </a:pPr>
            <a:fld id="{A7DE4472-E95E-430B-AA46-2D76F67E4D17}" type="datetime1">
              <a:rPr lang="en-US" smtClean="0"/>
              <a:pPr>
                <a:defRPr/>
              </a:pPr>
              <a:t>9/9/26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38EF-B666-4F8D-B18A-AA1FC1155E1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GB"/>
              <a:t>Cryptography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DA0AB-4E7B-4F10-B950-C2BCF992D9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667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3A1D-2BEB-A880-DED2-88CABF22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0152" y="1617654"/>
                <a:ext cx="11663599" cy="4482246"/>
              </a:xfrm>
            </p:spPr>
            <p:txBody>
              <a:bodyPr/>
              <a:lstStyle/>
              <a:p>
                <a:r>
                  <a:rPr lang="en-US" dirty="0"/>
                  <a:t>How many functions with n bits of input and output?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big lookup table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entries</a:t>
                </a:r>
              </a:p>
              <a:p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possibilities each,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strings of size n.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bits in total to represent a table.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dirty="0"/>
                  <a:t> different tables.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152" y="1617654"/>
                <a:ext cx="11663599" cy="4482246"/>
              </a:xfrm>
              <a:blipFill>
                <a:blip r:embed="rId2"/>
                <a:stretch>
                  <a:fillRect l="-940" t="-2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34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E531-AE77-382F-4589-807746D1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PRF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C5D55-568D-4B9C-E882-2813FAD99F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743197"/>
                <a:ext cx="11078652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PRF is a function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such that for any PPT distinguishers </a:t>
                </a:r>
                <a:r>
                  <a:rPr lang="en-US" i="1" dirty="0"/>
                  <a:t>D</a:t>
                </a:r>
                <a:r>
                  <a:rPr lang="en-US" dirty="0"/>
                  <a:t>, there is a negligible function </a:t>
                </a:r>
                <a:r>
                  <a:rPr lang="en-US" dirty="0" err="1"/>
                  <a:t>negl</a:t>
                </a:r>
                <a:r>
                  <a:rPr lang="en-US" dirty="0"/>
                  <a:t> such that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(⋅)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(⋅)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negl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uniformly random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a random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un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C5D55-568D-4B9C-E882-2813FAD99F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743197"/>
                <a:ext cx="11078652" cy="4351338"/>
              </a:xfrm>
              <a:blipFill>
                <a:blip r:embed="rId2"/>
                <a:stretch>
                  <a:fillRect l="-1101" t="-2521" r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2075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71790-2438-1AFF-CA3C-237DFB58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PRF vs PRG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3BF5D-5556-6C84-8E00-36DF38DCE5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Key space size: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              # of random strings: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𝑃𝑅𝐹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Key space size: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	      # of random functions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3BF5D-5556-6C84-8E00-36DF38DCE5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242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PRF vs PRG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9886" y="1612289"/>
            <a:ext cx="6769474" cy="9412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PRF F immediately implies a PRG G:</a:t>
            </a:r>
          </a:p>
          <a:p>
            <a:pPr marL="457200" lvl="1" indent="0" algn="ctr">
              <a:buNone/>
            </a:pPr>
            <a:r>
              <a:rPr lang="en-US" dirty="0"/>
              <a:t>Define PRG(k) =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(1) |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(2) |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(3) | …</a:t>
            </a:r>
          </a:p>
          <a:p>
            <a:pPr marL="57150" indent="0" algn="ctr">
              <a:buNone/>
            </a:pPr>
            <a:endParaRPr lang="en-US" dirty="0"/>
          </a:p>
          <a:p>
            <a:pPr marL="57150" indent="0" algn="ctr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29EAF2-0AB5-2E33-5347-108EEB5EBD8E}"/>
              </a:ext>
            </a:extLst>
          </p:cNvPr>
          <p:cNvSpPr txBox="1"/>
          <p:nvPr/>
        </p:nvSpPr>
        <p:spPr>
          <a:xfrm>
            <a:off x="1956548" y="3355926"/>
            <a:ext cx="974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PRF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14417-413C-8C8A-2C79-83977D8316B0}"/>
              </a:ext>
            </a:extLst>
          </p:cNvPr>
          <p:cNvSpPr txBox="1"/>
          <p:nvPr/>
        </p:nvSpPr>
        <p:spPr>
          <a:xfrm>
            <a:off x="8276666" y="3355926"/>
            <a:ext cx="974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PRG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A962BE6-22B1-C9D9-1910-2A6E086A3D6F}"/>
              </a:ext>
            </a:extLst>
          </p:cNvPr>
          <p:cNvSpPr/>
          <p:nvPr/>
        </p:nvSpPr>
        <p:spPr>
          <a:xfrm>
            <a:off x="4123247" y="3018864"/>
            <a:ext cx="3160059" cy="337061"/>
          </a:xfrm>
          <a:prstGeom prst="rightArrow">
            <a:avLst>
              <a:gd name="adj1" fmla="val 50000"/>
              <a:gd name="adj2" fmla="val 3013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09F0547-0FF8-2437-0C3D-68E9DDC91D79}"/>
              </a:ext>
            </a:extLst>
          </p:cNvPr>
          <p:cNvSpPr/>
          <p:nvPr/>
        </p:nvSpPr>
        <p:spPr>
          <a:xfrm rot="10800000">
            <a:off x="4024593" y="4271242"/>
            <a:ext cx="3160059" cy="337061"/>
          </a:xfrm>
          <a:prstGeom prst="rightArrow">
            <a:avLst>
              <a:gd name="adj1" fmla="val 50000"/>
              <a:gd name="adj2" fmla="val 3013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BC832-335C-0D02-B5AB-7826B689FC90}"/>
              </a:ext>
            </a:extLst>
          </p:cNvPr>
          <p:cNvSpPr txBox="1"/>
          <p:nvPr/>
        </p:nvSpPr>
        <p:spPr>
          <a:xfrm>
            <a:off x="3383618" y="5323566"/>
            <a:ext cx="5926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 err="1">
                <a:latin typeface="+mj-lt"/>
              </a:rPr>
              <a:t>Goldreich</a:t>
            </a:r>
            <a:r>
              <a:rPr lang="en-US" sz="2000" b="0" i="0" u="none" strike="noStrike" baseline="0" dirty="0">
                <a:latin typeface="+mj-lt"/>
              </a:rPr>
              <a:t>-Goldwasser-</a:t>
            </a:r>
            <a:r>
              <a:rPr lang="en-US" sz="2000" b="0" i="0" u="none" strike="noStrike" baseline="0" dirty="0" err="1">
                <a:latin typeface="+mj-lt"/>
              </a:rPr>
              <a:t>Micali</a:t>
            </a:r>
            <a:r>
              <a:rPr lang="en-US" sz="2000" b="0" i="0" u="none" strike="noStrike" baseline="0" dirty="0">
                <a:latin typeface="+mj-lt"/>
              </a:rPr>
              <a:t> construction 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60007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00A1-90B7-5C0E-D093-513DB202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CPA-security from PRF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326C9-3ACD-971B-DA3B-55D1EC6FCE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Construction: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: choose uniform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output it as the key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on input a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sample uniform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dirty="0"/>
                  <a:t>: on input a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326C9-3ACD-971B-DA3B-55D1EC6FCE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052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FA15C7-F88E-04FF-39CC-76E100706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769" y="42526"/>
            <a:ext cx="9087298" cy="681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95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E138-BFF2-7DF6-CD64-6E2A7D2C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150355"/>
            <a:ext cx="11570599" cy="1325563"/>
          </a:xfrm>
        </p:spPr>
        <p:txBody>
          <a:bodyPr/>
          <a:lstStyle/>
          <a:p>
            <a:r>
              <a:rPr lang="en-US" dirty="0"/>
              <a:t>Chosen-plaintext attack (CPA) 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90C3658-5EBE-0864-7799-C7A78C035B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0684" y="1405353"/>
                <a:ext cx="11570599" cy="530229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Experiment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PrivK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CPA</m:t>
                        </m:r>
                      </m:sup>
                    </m:sSub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 key </a:t>
                </a:r>
                <a:r>
                  <a:rPr lang="en-US" sz="2200" i="1" dirty="0"/>
                  <a:t>k</a:t>
                </a:r>
                <a:r>
                  <a:rPr lang="en-US" sz="2200" dirty="0"/>
                  <a:t> is generated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Adversary </a:t>
                </a:r>
                <a:r>
                  <a:rPr lang="en-US" sz="2200" i="1" dirty="0"/>
                  <a:t>A </a:t>
                </a:r>
                <a:r>
                  <a:rPr lang="en-US" sz="2200" dirty="0"/>
                  <a:t>is given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dirty="0"/>
                  <a:t>, and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oracle access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𝐄𝐧𝐜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2200" b="1" dirty="0">
                    <a:latin typeface="Monotype Corsiva" panose="03010101010201010101" pitchFamily="66" charset="0"/>
                  </a:rPr>
                  <a:t>. </a:t>
                </a:r>
                <a:r>
                  <a:rPr lang="en-US" sz="2200" i="1" dirty="0"/>
                  <a:t>A</a:t>
                </a:r>
                <a:r>
                  <a:rPr lang="en-US" sz="2200" dirty="0"/>
                  <a:t> outputs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Monotype Corsiva" panose="03010101010201010101" pitchFamily="66" charset="0"/>
                  </a:rPr>
                  <a:t> M </a:t>
                </a:r>
                <a:r>
                  <a:rPr lang="en-US" sz="2200" dirty="0" err="1"/>
                  <a:t>s.t.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|=|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200" dirty="0">
                  <a:latin typeface="Monotype Corsiva" panose="03010101010201010101" pitchFamily="66" charset="0"/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 random bit </a:t>
                </a:r>
                <a:r>
                  <a:rPr lang="en-US" sz="2200" i="1" dirty="0"/>
                  <a:t>b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200" dirty="0"/>
                  <a:t> is chosen.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is given to </a:t>
                </a:r>
                <a:r>
                  <a:rPr lang="en-US" sz="2200" i="1" dirty="0"/>
                  <a:t>A. </a:t>
                </a: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b="1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i="1" dirty="0"/>
                  <a:t>A </a:t>
                </a:r>
                <a:r>
                  <a:rPr lang="en-US" sz="2200" dirty="0"/>
                  <a:t>continues to have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oracle access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𝐄𝐧𝐜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and outputs</a:t>
                </a:r>
                <a:r>
                  <a:rPr lang="en-US" sz="2200" i="1" dirty="0"/>
                  <a:t> 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Experiment outputs 1 if </a:t>
                </a:r>
                <a:r>
                  <a:rPr lang="en-US" sz="2200" i="1" dirty="0"/>
                  <a:t>b=b’, </a:t>
                </a:r>
                <a:r>
                  <a:rPr lang="en-US" sz="2200" dirty="0"/>
                  <a:t>and 0 otherwise</a:t>
                </a:r>
                <a:r>
                  <a:rPr lang="en-US" sz="2200" i="1" dirty="0"/>
                  <a:t>.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0">
                  <a:buNone/>
                </a:pPr>
                <a:endParaRPr lang="en-US" sz="2600" i="1" dirty="0"/>
              </a:p>
              <a:p>
                <a:pPr marL="0" indent="0">
                  <a:buNone/>
                </a:pPr>
                <a:r>
                  <a:rPr lang="en-US" sz="2400" dirty="0"/>
                  <a:t>Definition: a private-key encryption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CPA-secure, if for all probabilistic polynomial time adversaries </a:t>
                </a:r>
                <a:r>
                  <a:rPr lang="en-US" sz="2400" i="1" dirty="0"/>
                  <a:t>A</a:t>
                </a:r>
                <a:r>
                  <a:rPr lang="en-US" sz="2400" dirty="0"/>
                  <a:t>, there is a negligible function </a:t>
                </a:r>
                <a:r>
                  <a:rPr lang="en-US" sz="2400" dirty="0" err="1"/>
                  <a:t>negl</a:t>
                </a:r>
                <a:r>
                  <a:rPr lang="en-US" sz="2400" dirty="0"/>
                  <a:t> such that for all </a:t>
                </a:r>
                <a:r>
                  <a:rPr lang="en-US" sz="2400" i="1" dirty="0"/>
                  <a:t>n</a:t>
                </a:r>
                <a:r>
                  <a:rPr lang="en-US" sz="2400" dirty="0"/>
                  <a:t>,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𝐏𝐫𝐢𝐯𝐊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𝜫</m:t>
                              </m:r>
                            </m:sub>
                            <m:sup>
                              <m:r>
                                <a:rPr lang="en-US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𝐂𝐏𝐀</m:t>
                              </m:r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]≤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𝐧𝐞𝐠𝐥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90C3658-5EBE-0864-7799-C7A78C035B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0684" y="1405353"/>
                <a:ext cx="11570599" cy="5302292"/>
              </a:xfrm>
              <a:blipFill>
                <a:blip r:embed="rId2"/>
                <a:stretch>
                  <a:fillRect l="-948" t="-1956" r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196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F4BF2-F763-B2DF-AE88-C36E63F8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idea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5E380-B362-AA2C-7524-5805B89226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612290"/>
                <a:ext cx="10823158" cy="513141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Reduction, build a </a:t>
                </a:r>
                <a:r>
                  <a:rPr lang="en-US" dirty="0">
                    <a:solidFill>
                      <a:srgbClr val="0070C0"/>
                    </a:solidFill>
                  </a:rPr>
                  <a:t>distinguisher</a:t>
                </a:r>
                <a:r>
                  <a:rPr lang="en-US" dirty="0"/>
                  <a:t> for PRF</a:t>
                </a:r>
              </a:p>
              <a:p>
                <a:r>
                  <a:rPr lang="en-US" dirty="0"/>
                  <a:t>Build the big lookup table for function f. Give random output for the random function f,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dirty="0"/>
                  <a:t> for PRF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Two cases: </a:t>
                </a:r>
                <a:r>
                  <a:rPr lang="en-US" dirty="0">
                    <a:solidFill>
                      <a:srgbClr val="0070C0"/>
                    </a:solidFill>
                  </a:rPr>
                  <a:t>(1) r has been queried by the adversary </a:t>
                </a: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some gain of success;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(2) </a:t>
                </a:r>
                <a:r>
                  <a:rPr lang="en-US" dirty="0">
                    <a:solidFill>
                      <a:srgbClr val="00B050"/>
                    </a:solidFill>
                  </a:rPr>
                  <a:t>r has not been queried by the adversary </a:t>
                </a:r>
                <a:r>
                  <a:rPr lang="en-US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negl</a:t>
                </a:r>
                <a:r>
                  <a:rPr lang="en-US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PRF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probability: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negl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5E380-B362-AA2C-7524-5805B89226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612290"/>
                <a:ext cx="10823158" cy="5131410"/>
              </a:xfrm>
              <a:blipFill>
                <a:blip r:embed="rId2"/>
                <a:stretch>
                  <a:fillRect l="-1126" t="-2019" r="-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189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E841-AFCE-4143-998D-9FD868FBB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Output Feedback (OFB) mode</a:t>
            </a:r>
            <a:endParaRPr lang="en-US" dirty="0"/>
          </a:p>
        </p:txBody>
      </p:sp>
      <p:pic>
        <p:nvPicPr>
          <p:cNvPr id="4" name="Picture 2" descr="OFB encryption.svg">
            <a:extLst>
              <a:ext uri="{FF2B5EF4-FFF2-40B4-BE49-F238E27FC236}">
                <a16:creationId xmlns:a16="http://schemas.microsoft.com/office/drawing/2014/main" id="{79EA0319-9AF4-456C-A1DC-AC50BD678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295400"/>
            <a:ext cx="8891753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954166-9BC4-4DD7-A410-56C6374665A2}"/>
              </a:ext>
            </a:extLst>
          </p:cNvPr>
          <p:cNvSpPr txBox="1"/>
          <p:nvPr/>
        </p:nvSpPr>
        <p:spPr>
          <a:xfrm>
            <a:off x="1410467" y="5343435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+mj-lt"/>
              </a:rPr>
              <a:t>Block cipher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+mj-lt"/>
              </a:rPr>
              <a:t>Mode of encryption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+mj-lt"/>
              </a:rPr>
              <a:t>Padding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FE02A0-0612-47B3-BA98-3761C2D67BD3}"/>
              </a:ext>
            </a:extLst>
          </p:cNvPr>
          <p:cNvCxnSpPr>
            <a:cxnSpLocks/>
          </p:cNvCxnSpPr>
          <p:nvPr/>
        </p:nvCxnSpPr>
        <p:spPr>
          <a:xfrm flipV="1">
            <a:off x="2475732" y="2927307"/>
            <a:ext cx="1304606" cy="24614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39B032D-AE83-4C46-9282-F76EDC70EB8D}"/>
              </a:ext>
            </a:extLst>
          </p:cNvPr>
          <p:cNvCxnSpPr>
            <a:cxnSpLocks/>
          </p:cNvCxnSpPr>
          <p:nvPr/>
        </p:nvCxnSpPr>
        <p:spPr>
          <a:xfrm flipV="1">
            <a:off x="3668537" y="3522588"/>
            <a:ext cx="4996784" cy="27815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46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3A1D-2BEB-A880-DED2-88CABF22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permutations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0152" y="1617654"/>
                <a:ext cx="11663599" cy="4482246"/>
              </a:xfrm>
            </p:spPr>
            <p:txBody>
              <a:bodyPr/>
              <a:lstStyle/>
              <a:p>
                <a:r>
                  <a:rPr lang="en-US" dirty="0"/>
                  <a:t>How many one-to-one functions with n bits of input and output?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Stirling’s approximation: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!≈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152" y="1617654"/>
                <a:ext cx="11663599" cy="4482246"/>
              </a:xfrm>
              <a:blipFill>
                <a:blip r:embed="rId2"/>
                <a:stretch>
                  <a:fillRect l="-940" t="-2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352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82EC-118D-A04A-62C6-D9AB0224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Pseudorandom Permutations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D94A4-8D3C-37ED-89A1-A584ABD3BB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One-to-one, a subset of PRF</a:t>
                </a:r>
              </a:p>
              <a:p>
                <a:endParaRPr lang="en-US" dirty="0"/>
              </a:p>
              <a:p>
                <a:r>
                  <a:rPr lang="en-US" dirty="0"/>
                  <a:t>Invertible.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 efficiently computable.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D94A4-8D3C-37ED-89A1-A584ABD3BB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BCFE6B-80A2-5AE7-7F70-3F45FA7D7329}"/>
                  </a:ext>
                </a:extLst>
              </p:cNvPr>
              <p:cNvSpPr txBox="1"/>
              <p:nvPr/>
            </p:nvSpPr>
            <p:spPr>
              <a:xfrm>
                <a:off x="620245" y="5048585"/>
                <a:ext cx="11126278" cy="734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(⋅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negl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BCFE6B-80A2-5AE7-7F70-3F45FA7D7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45" y="5048585"/>
                <a:ext cx="11126278" cy="7340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238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5636CD0-EA4C-B44F-B728-F3BF321DE35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9fc0379-f8bc-472f-a0bc-31f208dc73a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11077</TotalTime>
  <Words>1310</Words>
  <Application>Microsoft Macintosh PowerPoint</Application>
  <PresentationFormat>Widescreen</PresentationFormat>
  <Paragraphs>174</Paragraphs>
  <Slides>23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Cambria Math</vt:lpstr>
      <vt:lpstr>Georgia</vt:lpstr>
      <vt:lpstr>Monotype Corsiva</vt:lpstr>
      <vt:lpstr>Symbol</vt:lpstr>
      <vt:lpstr>Times New Roman</vt:lpstr>
      <vt:lpstr>Office Theme</vt:lpstr>
      <vt:lpstr>Last time</vt:lpstr>
      <vt:lpstr>EAV-security from PRG</vt:lpstr>
      <vt:lpstr>RC4 (Ron Rivest 1987)</vt:lpstr>
      <vt:lpstr>Vulnerability of RC4</vt:lpstr>
      <vt:lpstr>The Two Definitions</vt:lpstr>
      <vt:lpstr>Indistinguishability for multiple encryptions</vt:lpstr>
      <vt:lpstr>Chosen-plaintext attack (CPA) security</vt:lpstr>
      <vt:lpstr>PowerPoint Presentation</vt:lpstr>
      <vt:lpstr>Stream cipher with Initialization Vector (IV)</vt:lpstr>
      <vt:lpstr>Block Cipher</vt:lpstr>
      <vt:lpstr>PowerPoint Presentation</vt:lpstr>
      <vt:lpstr>Pseudorandom Function (PRF)</vt:lpstr>
      <vt:lpstr>Number of functions</vt:lpstr>
      <vt:lpstr>Definition of PRF</vt:lpstr>
      <vt:lpstr>PRF vs PRG</vt:lpstr>
      <vt:lpstr>PRF vs PRG</vt:lpstr>
      <vt:lpstr>CPA-security from PRF</vt:lpstr>
      <vt:lpstr>PowerPoint Presentation</vt:lpstr>
      <vt:lpstr>Chosen-plaintext attack (CPA) security</vt:lpstr>
      <vt:lpstr>Proof idea </vt:lpstr>
      <vt:lpstr>Output Feedback (OFB) mode</vt:lpstr>
      <vt:lpstr>Number of permutations</vt:lpstr>
      <vt:lpstr>Pseudorandom Permutations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CSCE 689 Section 602 Techniques in Applied Cryptography</dc:title>
  <dc:creator>Yupeng Zhang</dc:creator>
  <cp:lastModifiedBy>Luo, Ning</cp:lastModifiedBy>
  <cp:revision>152</cp:revision>
  <dcterms:created xsi:type="dcterms:W3CDTF">2019-08-25T21:23:20Z</dcterms:created>
  <dcterms:modified xsi:type="dcterms:W3CDTF">2026-09-15T20:34:19Z</dcterms:modified>
</cp:coreProperties>
</file>