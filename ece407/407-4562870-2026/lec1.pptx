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553" r:id="rId2"/>
    <p:sldId id="554" r:id="rId3"/>
    <p:sldId id="555" r:id="rId4"/>
    <p:sldId id="556" r:id="rId5"/>
    <p:sldId id="557" r:id="rId6"/>
    <p:sldId id="558" r:id="rId7"/>
    <p:sldId id="261" r:id="rId8"/>
    <p:sldId id="523" r:id="rId9"/>
    <p:sldId id="544" r:id="rId10"/>
    <p:sldId id="545" r:id="rId11"/>
    <p:sldId id="562" r:id="rId12"/>
    <p:sldId id="563" r:id="rId13"/>
    <p:sldId id="551" r:id="rId14"/>
    <p:sldId id="547" r:id="rId15"/>
    <p:sldId id="564" r:id="rId16"/>
    <p:sldId id="540" r:id="rId17"/>
    <p:sldId id="549" r:id="rId18"/>
    <p:sldId id="550" r:id="rId19"/>
    <p:sldId id="561" r:id="rId20"/>
    <p:sldId id="273" r:id="rId21"/>
    <p:sldId id="535" r:id="rId22"/>
    <p:sldId id="409" r:id="rId23"/>
    <p:sldId id="411" r:id="rId24"/>
    <p:sldId id="536" r:id="rId25"/>
    <p:sldId id="537" r:id="rId26"/>
    <p:sldId id="566" r:id="rId27"/>
    <p:sldId id="265" r:id="rId28"/>
    <p:sldId id="568" r:id="rId29"/>
    <p:sldId id="381" r:id="rId30"/>
    <p:sldId id="38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68"/>
    <p:restoredTop sz="94730"/>
  </p:normalViewPr>
  <p:slideViewPr>
    <p:cSldViewPr snapToGrid="0">
      <p:cViewPr varScale="1">
        <p:scale>
          <a:sx n="89" d="100"/>
          <a:sy n="89" d="100"/>
        </p:scale>
        <p:origin x="192" y="808"/>
      </p:cViewPr>
      <p:guideLst/>
    </p:cSldViewPr>
  </p:slideViewPr>
  <p:outlineViewPr>
    <p:cViewPr>
      <p:scale>
        <a:sx n="33" d="100"/>
        <a:sy n="33" d="100"/>
      </p:scale>
      <p:origin x="0" y="-352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55FF5-7124-694A-A660-6D23DB922C18}" type="datetimeFigureOut">
              <a:rPr lang="en-US" smtClean="0"/>
              <a:t>8/25/26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7409B2-D19D-154D-8FCE-B29D1C1795CC}" type="slidenum">
              <a:rPr lang="en-US" smtClean="0"/>
              <a:t>‹#›</a:t>
            </a:fld>
            <a:endParaRPr lang="en-US"/>
          </a:p>
        </p:txBody>
      </p:sp>
    </p:spTree>
    <p:extLst>
      <p:ext uri="{BB962C8B-B14F-4D97-AF65-F5344CB8AC3E}">
        <p14:creationId xmlns:p14="http://schemas.microsoft.com/office/powerpoint/2010/main" val="1381129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[~1 min] Welcome to ECE/CS 407, Cryptography. I'm Ning Luo.</a:t>
            </a:r>
          </a:p>
          <a:p>
            <a:r>
              <a:rPr lang="en-US" dirty="0"/>
              <a:t>Today has two halves. First, the logistics: how the course runs, how you're graded, and what I expect from you. Second, the fun part: what cryptography actually is, what this course is and is not about, and a refresher on the math we'll lean on all semester.</a:t>
            </a:r>
          </a:p>
          <a:p>
            <a:r>
              <a:rPr lang="en-US" dirty="0"/>
              <a:t>Opening hook: cryptography is the only field where we routinely prove that an attacker with a supercomputer still cannot do something. By the end of this course you'll be able to write those proofs yourself.</a:t>
            </a:r>
          </a:p>
          <a:p>
            <a:r>
              <a:rPr lang="en-US" dirty="0"/>
              <a:t>Housekeeping: ask questions at any point — do not wait until the end.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 min] Quick introduction so you know who you're spending the semester with.</a:t>
            </a:r>
          </a:p>
          <a:p>
            <a:r>
              <a:rPr lang="en-US" dirty="0"/>
              <a:t>I'm an assistant professor here at UIUC since 2024. Before that I was a postdoc at Northwestern, and I did my PhD at Yale, finishing in 2022.</a:t>
            </a:r>
          </a:p>
          <a:p>
            <a:r>
              <a:rPr lang="en-US" dirty="0"/>
              <a:t>My research sits at the intersection of cryptography, formal methods, and automated reasoning — essentially, using machine-checkable reasoning to make privacy and security guarantees hold up in real deployed systems, not just on paper.</a:t>
            </a:r>
          </a:p>
          <a:p>
            <a:r>
              <a:rPr lang="en-US" dirty="0"/>
              <a:t>My office is CSL 457. Email is on the slide; please put ECE407 in the subject line. If you're curious about research or looking for a project, come to office hours — that's the easiest way to start a conversation.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[~1 min] Logistics. We meet Tuesdays and Thursdays, 5:00 to 6:20 pm, in ECEB 1013. Please come on time — I tend to put the key definition of the day in the first ten minutes.</a:t>
            </a:r>
          </a:p>
          <a:p>
            <a:r>
              <a:rPr lang="en-US" dirty="0"/>
              <a:t>My office hours are still TBD; I'll post them on the course page and announce them on Canvas within the first week. Same for our TA, Pranav Rajpal.</a:t>
            </a:r>
          </a:p>
          <a:p>
            <a:r>
              <a:rPr lang="en-US" dirty="0"/>
              <a:t>Between the two of us you'll have coverage most days of the week. If neither slot works for you, email me and we'll find a time — I'd much rather meet you than have you stuck on a problem set for three hours.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 min] Four places you need to bookmark today.</a:t>
            </a:r>
          </a:p>
          <a:p>
            <a:r>
              <a:rPr lang="en-US" dirty="0"/>
              <a:t>The course webpage is the syllabus of record — schedule, readings, policies. Canvas is where slides, assignments, grades, and announcements live, and where in-class quizzes happen, so bring a device you can submit from.</a:t>
            </a:r>
          </a:p>
          <a:p>
            <a:r>
              <a:rPr lang="en-US" dirty="0"/>
              <a:t>Piazza is for questions. Post there rather than emailing me individually — if one of you is confused, usually five others are too, and everyone benefits from the answer.</a:t>
            </a:r>
          </a:p>
          <a:p>
            <a:r>
              <a:rPr lang="en-US" dirty="0"/>
              <a:t>And yes, the Piazza access code is the MD5 hash of 'I love cryptography'. That's your first exercise: go compute it. If you don't know what MD5 is yet — you will by week four, and by then you'll also know why nobody should still be using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 min] Prerequisites. Formally, CS 225 and CS/ECE 374. If you don't have both, talk to me — I consider overrides case by case, but I want to be honest with you about what you'll be walking into.</a:t>
            </a:r>
          </a:p>
          <a:p>
            <a:r>
              <a:rPr lang="en-US" dirty="0"/>
              <a:t>What actually matters is not the course numbers, it's three habits of mind. One: you're comfortable reading and writing a proof, especially a reduction. Two: basic discrete probability — conditional probability, independence, expectation. Three: modular arithmetic and logarithms.</a:t>
            </a:r>
          </a:p>
          <a:p>
            <a:r>
              <a:rPr lang="en-US" dirty="0"/>
              <a:t>374 matters most because this course is fundamentally about reductions: 'if you could break my scheme, you could solve this problem nobody knows how to solve.' That is the same move as an NP-hardness reduction, pointed in a different direction.</a:t>
            </a:r>
          </a:p>
          <a:p>
            <a:r>
              <a:rPr lang="en-US" dirty="0"/>
              <a:t>The last third of today's lecture is a refresher on exactly this math, so use it as a self-assessment. If most of it feels new rather than rusty, come talk to me after class.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1E8587-C61B-49BA-BD3C-A9EE353D70EB}" type="slidenum">
              <a:rPr lang="en-US" smtClean="0"/>
              <a:t>6</a:t>
            </a:fld>
            <a:endParaRPr lang="en-US"/>
          </a:p>
        </p:txBody>
      </p:sp>
    </p:spTree>
    <p:extLst>
      <p:ext uri="{BB962C8B-B14F-4D97-AF65-F5344CB8AC3E}">
        <p14:creationId xmlns:p14="http://schemas.microsoft.com/office/powerpoint/2010/main" val="3346692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7409B2-D19D-154D-8FCE-B29D1C1795CC}" type="slidenum">
              <a:rPr lang="en-US" smtClean="0"/>
              <a:t>10</a:t>
            </a:fld>
            <a:endParaRPr lang="en-US"/>
          </a:p>
        </p:txBody>
      </p:sp>
    </p:spTree>
    <p:extLst>
      <p:ext uri="{BB962C8B-B14F-4D97-AF65-F5344CB8AC3E}">
        <p14:creationId xmlns:p14="http://schemas.microsoft.com/office/powerpoint/2010/main" val="4237432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7409B2-D19D-154D-8FCE-B29D1C1795CC}" type="slidenum">
              <a:rPr lang="en-US" smtClean="0"/>
              <a:t>17</a:t>
            </a:fld>
            <a:endParaRPr lang="en-US"/>
          </a:p>
        </p:txBody>
      </p:sp>
    </p:spTree>
    <p:extLst>
      <p:ext uri="{BB962C8B-B14F-4D97-AF65-F5344CB8AC3E}">
        <p14:creationId xmlns:p14="http://schemas.microsoft.com/office/powerpoint/2010/main" val="3893164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0ECC2-A56B-2FC3-C99A-6A661CBEA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E8A74-DE90-9685-4968-5D8D9635F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E358C-FD88-097D-7713-8C8B39BD46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7E6379-3A55-9799-DE16-F30A77EE15CF}"/>
              </a:ext>
            </a:extLst>
          </p:cNvPr>
          <p:cNvSpPr>
            <a:spLocks noGrp="1"/>
          </p:cNvSpPr>
          <p:nvPr>
            <p:ph type="sldNum" sz="quarter" idx="5"/>
          </p:nvPr>
        </p:nvSpPr>
        <p:spPr/>
        <p:txBody>
          <a:bodyPr/>
          <a:lstStyle/>
          <a:p>
            <a:fld id="{BD7409B2-D19D-154D-8FCE-B29D1C1795CC}" type="slidenum">
              <a:rPr lang="en-US" smtClean="0"/>
              <a:t>18</a:t>
            </a:fld>
            <a:endParaRPr lang="en-US"/>
          </a:p>
        </p:txBody>
      </p:sp>
    </p:spTree>
    <p:extLst>
      <p:ext uri="{BB962C8B-B14F-4D97-AF65-F5344CB8AC3E}">
        <p14:creationId xmlns:p14="http://schemas.microsoft.com/office/powerpoint/2010/main" val="3732807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F391D-50BE-65B7-ED30-7BA452F574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F9D2B0-AFE9-5EB3-5BC8-D35D91D616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2CDD2B-E955-E713-6894-103236CF870D}"/>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5" name="Footer Placeholder 4">
            <a:extLst>
              <a:ext uri="{FF2B5EF4-FFF2-40B4-BE49-F238E27FC236}">
                <a16:creationId xmlns:a16="http://schemas.microsoft.com/office/drawing/2014/main" id="{382E74AE-174C-3055-3700-5D49E09BE7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CE8C9-152A-8AFC-3E25-04B55A84FF7D}"/>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389001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D3272-062F-20E0-7098-9A23F5D63B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1BBCB1-3D39-BA9D-489A-1E032FFA6E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128D26-CBA4-2137-45B2-00D3DB883C5A}"/>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5" name="Footer Placeholder 4">
            <a:extLst>
              <a:ext uri="{FF2B5EF4-FFF2-40B4-BE49-F238E27FC236}">
                <a16:creationId xmlns:a16="http://schemas.microsoft.com/office/drawing/2014/main" id="{FF7151B0-3EF9-B4CE-075C-B1A0C6E1E2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3222FB-B142-0CD9-1F0A-9BB39DE4C778}"/>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4266026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660F9-3C3F-AD88-54DC-69231F1B36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873861-753A-77E0-D018-5211CB76A7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58E539-9772-803C-7956-5BA95DEAFE45}"/>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5" name="Footer Placeholder 4">
            <a:extLst>
              <a:ext uri="{FF2B5EF4-FFF2-40B4-BE49-F238E27FC236}">
                <a16:creationId xmlns:a16="http://schemas.microsoft.com/office/drawing/2014/main" id="{0B102462-42AF-B08B-B30C-60E504B93C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43AE7-104A-17BA-AF2D-255C6721A9EF}"/>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2000583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37260-0998-150D-DD8B-D0F4675B11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0251A0-5126-1205-31C7-21C638A27C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A098B3-7C21-66E3-3084-DA2F4D2DA8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BBF9A-9828-64F3-B7D0-99CE63E09F75}"/>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6" name="Footer Placeholder 5">
            <a:extLst>
              <a:ext uri="{FF2B5EF4-FFF2-40B4-BE49-F238E27FC236}">
                <a16:creationId xmlns:a16="http://schemas.microsoft.com/office/drawing/2014/main" id="{670A8D9B-799F-D4A7-1F42-B6E99D2065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78E471-5373-5DA7-9788-8162F5E4F835}"/>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176232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11600-88FE-B480-9E0F-3DE9838F89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583997-1479-3B98-2365-F4F2B4C004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6622A0-F27D-EE1D-0371-F3052C9DC4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23D274-47A7-E821-267D-DAD7073D7A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892028-54FD-B5A5-64E5-F753614887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4A50E3-398D-DD5B-CC00-8A5A320556F1}"/>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8" name="Footer Placeholder 7">
            <a:extLst>
              <a:ext uri="{FF2B5EF4-FFF2-40B4-BE49-F238E27FC236}">
                <a16:creationId xmlns:a16="http://schemas.microsoft.com/office/drawing/2014/main" id="{8CDA2713-9019-3FFF-0146-1A16673DFC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65EE47-7C74-9298-B015-90A33AEAA1C7}"/>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3824750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E9B09-751E-9686-A108-EE19718013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18F969-A570-BA74-5F49-3D0E07813E7F}"/>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4" name="Footer Placeholder 3">
            <a:extLst>
              <a:ext uri="{FF2B5EF4-FFF2-40B4-BE49-F238E27FC236}">
                <a16:creationId xmlns:a16="http://schemas.microsoft.com/office/drawing/2014/main" id="{B504C682-FB91-9BCE-124E-33E0146DED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A6519F-7D61-901E-706D-126386EB155F}"/>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95460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66D3A2-9EA0-BD13-AA7C-05DFEAA9DEAA}"/>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3" name="Footer Placeholder 2">
            <a:extLst>
              <a:ext uri="{FF2B5EF4-FFF2-40B4-BE49-F238E27FC236}">
                <a16:creationId xmlns:a16="http://schemas.microsoft.com/office/drawing/2014/main" id="{CB9E1A4B-1274-7CEE-A6AA-9482271D25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215AA0-C610-A5E3-17FA-8998C09A987F}"/>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3246996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5A2A5-A048-4E7B-D866-998BAE74DE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A98B06-137F-B448-FB07-7C32888FC3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CC0B53-910E-61F9-AF19-32DEB4C80F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8DA24-0606-67C8-06D9-1C291F269E85}"/>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6" name="Footer Placeholder 5">
            <a:extLst>
              <a:ext uri="{FF2B5EF4-FFF2-40B4-BE49-F238E27FC236}">
                <a16:creationId xmlns:a16="http://schemas.microsoft.com/office/drawing/2014/main" id="{ADC65F3C-961A-7AAF-70E0-3533D321F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040A87-DEA1-528F-240B-E334E26598C5}"/>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2785326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279A0-891F-DE79-F7E5-DBFC6F98C6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53B882-9F32-7DFB-AF37-4007938F9C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415047-13C3-3FD0-6C8A-B98257052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ED1672-5200-73AF-3549-DF4E6E102C48}"/>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6" name="Footer Placeholder 5">
            <a:extLst>
              <a:ext uri="{FF2B5EF4-FFF2-40B4-BE49-F238E27FC236}">
                <a16:creationId xmlns:a16="http://schemas.microsoft.com/office/drawing/2014/main" id="{4565349C-64F8-E43E-2889-A3EC33DC08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A536EA-2C09-CD19-4EA4-E217BDB021DA}"/>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2767472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1AE91-5D2A-F57B-F2AF-1AF17BF439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6AF6C6-295E-798C-E362-2EA9C20261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F625D-2EB1-E2F0-2CD7-F5D1EC256DCD}"/>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5" name="Footer Placeholder 4">
            <a:extLst>
              <a:ext uri="{FF2B5EF4-FFF2-40B4-BE49-F238E27FC236}">
                <a16:creationId xmlns:a16="http://schemas.microsoft.com/office/drawing/2014/main" id="{5C921972-2D29-C5B7-7401-2B8528DA8A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D6DC4E-C781-5B65-B983-0C2D1CE898C1}"/>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416468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BBD062-0519-0674-76CD-74CAE578A0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46739B-86CC-2D60-8EB3-B15F3728FC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BF910B-B0DB-5BF6-7238-058B3FCDCE86}"/>
              </a:ext>
            </a:extLst>
          </p:cNvPr>
          <p:cNvSpPr>
            <a:spLocks noGrp="1"/>
          </p:cNvSpPr>
          <p:nvPr>
            <p:ph type="dt" sz="half" idx="10"/>
          </p:nvPr>
        </p:nvSpPr>
        <p:spPr/>
        <p:txBody>
          <a:bodyPr/>
          <a:lstStyle/>
          <a:p>
            <a:fld id="{F95C2319-EA73-404D-B671-5D095DF8A582}" type="datetimeFigureOut">
              <a:rPr lang="en-US" smtClean="0"/>
              <a:t>8/25/26</a:t>
            </a:fld>
            <a:endParaRPr lang="en-US"/>
          </a:p>
        </p:txBody>
      </p:sp>
      <p:sp>
        <p:nvSpPr>
          <p:cNvPr id="5" name="Footer Placeholder 4">
            <a:extLst>
              <a:ext uri="{FF2B5EF4-FFF2-40B4-BE49-F238E27FC236}">
                <a16:creationId xmlns:a16="http://schemas.microsoft.com/office/drawing/2014/main" id="{CE8653DC-84E7-499D-E586-ADE20E005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1CDF0A-29E5-2C95-B934-6994256D3F8D}"/>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3320425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82C568-F082-F69F-1ADF-EA7F6531C9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98F448-9C1F-0E80-760F-27D77D48AE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E7E61-4DB5-6E10-E1A7-64AF65255D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5C2319-EA73-404D-B671-5D095DF8A582}" type="datetimeFigureOut">
              <a:rPr lang="en-US" smtClean="0"/>
              <a:t>8/25/26</a:t>
            </a:fld>
            <a:endParaRPr lang="en-US"/>
          </a:p>
        </p:txBody>
      </p:sp>
      <p:sp>
        <p:nvSpPr>
          <p:cNvPr id="5" name="Footer Placeholder 4">
            <a:extLst>
              <a:ext uri="{FF2B5EF4-FFF2-40B4-BE49-F238E27FC236}">
                <a16:creationId xmlns:a16="http://schemas.microsoft.com/office/drawing/2014/main" id="{205DAC7D-2353-34B0-C24C-FFF1525369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3DBF84-0F42-BD90-CBDC-12CBEA208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836814-425F-F642-8328-F2808FA3D1CC}" type="slidenum">
              <a:rPr lang="en-US" smtClean="0"/>
              <a:t>‹#›</a:t>
            </a:fld>
            <a:endParaRPr lang="en-US"/>
          </a:p>
        </p:txBody>
      </p:sp>
    </p:spTree>
    <p:extLst>
      <p:ext uri="{BB962C8B-B14F-4D97-AF65-F5344CB8AC3E}">
        <p14:creationId xmlns:p14="http://schemas.microsoft.com/office/powerpoint/2010/main" val="1826993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ning0luo.github.io/"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mailto:zhangyp@illinois.edu"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ourses.grainger.illinois.edu/ece407/fa2026/"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piazza.com/illinois/fall2026/csece407"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registrar.illinois.edu/registration/registration-process/variable-credit-hour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studentcode.illinois.edu/"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emergency.illinois.edu/" TargetMode="External"/><Relationship Id="rId2" Type="http://schemas.openxmlformats.org/officeDocument/2006/relationships/hyperlink" Target="https://police.illinois.edu/saf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joyofcryptography.com/pdf/chap0.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19E1B-77E5-4FC6-8282-59CDD70DEFDD}"/>
              </a:ext>
            </a:extLst>
          </p:cNvPr>
          <p:cNvSpPr>
            <a:spLocks noGrp="1"/>
          </p:cNvSpPr>
          <p:nvPr>
            <p:ph type="ctrTitle"/>
          </p:nvPr>
        </p:nvSpPr>
        <p:spPr>
          <a:xfrm>
            <a:off x="1524000" y="1626281"/>
            <a:ext cx="9144000" cy="2103178"/>
          </a:xfrm>
        </p:spPr>
        <p:txBody>
          <a:bodyPr>
            <a:normAutofit/>
          </a:bodyPr>
          <a:lstStyle/>
          <a:p>
            <a:r>
              <a:rPr lang="en-US" sz="4800" b="1" dirty="0"/>
              <a:t>ECE/CS 407 </a:t>
            </a:r>
            <a:br>
              <a:rPr lang="en-US" sz="4800" b="1" dirty="0"/>
            </a:br>
            <a:r>
              <a:rPr lang="en-US" sz="4800" b="1" dirty="0"/>
              <a:t>Cryptography</a:t>
            </a:r>
            <a:endParaRPr lang="en-US" sz="2800" dirty="0"/>
          </a:p>
        </p:txBody>
      </p:sp>
    </p:spTree>
    <p:extLst>
      <p:ext uri="{BB962C8B-B14F-4D97-AF65-F5344CB8AC3E}">
        <p14:creationId xmlns:p14="http://schemas.microsoft.com/office/powerpoint/2010/main" val="636360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7535-88DA-2896-8564-2B0E9FB4AEF3}"/>
              </a:ext>
            </a:extLst>
          </p:cNvPr>
          <p:cNvSpPr>
            <a:spLocks noGrp="1"/>
          </p:cNvSpPr>
          <p:nvPr>
            <p:ph type="title"/>
          </p:nvPr>
        </p:nvSpPr>
        <p:spPr/>
        <p:txBody>
          <a:bodyPr>
            <a:normAutofit/>
          </a:bodyPr>
          <a:lstStyle/>
          <a:p>
            <a:r>
              <a:rPr lang="en-US" altLang="zh-CN" b="1" dirty="0">
                <a:latin typeface="Georgia" panose="02040502050405020303" pitchFamily="18" charset="0"/>
              </a:rPr>
              <a:t>About</a:t>
            </a:r>
            <a:r>
              <a:rPr lang="zh-CN" altLang="en-US" b="1" dirty="0">
                <a:latin typeface="Georgia" panose="02040502050405020303" pitchFamily="18" charset="0"/>
              </a:rPr>
              <a:t> </a:t>
            </a:r>
            <a:r>
              <a:rPr lang="en-US" altLang="zh-CN" b="1" dirty="0">
                <a:latin typeface="Georgia" panose="02040502050405020303" pitchFamily="18" charset="0"/>
              </a:rPr>
              <a:t>Me</a:t>
            </a:r>
            <a:r>
              <a:rPr lang="zh-CN" altLang="en-US" dirty="0"/>
              <a:t> </a:t>
            </a:r>
            <a:endParaRPr lang="en-US" dirty="0"/>
          </a:p>
        </p:txBody>
      </p:sp>
      <p:sp>
        <p:nvSpPr>
          <p:cNvPr id="3" name="Content Placeholder 2">
            <a:extLst>
              <a:ext uri="{FF2B5EF4-FFF2-40B4-BE49-F238E27FC236}">
                <a16:creationId xmlns:a16="http://schemas.microsoft.com/office/drawing/2014/main" id="{3940FB19-4A9F-DFE1-4021-75B3FEF9B35E}"/>
              </a:ext>
            </a:extLst>
          </p:cNvPr>
          <p:cNvSpPr>
            <a:spLocks noGrp="1"/>
          </p:cNvSpPr>
          <p:nvPr>
            <p:ph idx="1"/>
          </p:nvPr>
        </p:nvSpPr>
        <p:spPr>
          <a:xfrm>
            <a:off x="655320" y="2609396"/>
            <a:ext cx="10515600" cy="3451770"/>
          </a:xfrm>
        </p:spPr>
        <p:txBody>
          <a:bodyPr>
            <a:normAutofit/>
          </a:bodyPr>
          <a:lstStyle/>
          <a:p>
            <a:r>
              <a:rPr lang="en-US" altLang="zh-CN" sz="2400" dirty="0">
                <a:latin typeface="Georgia" panose="02040502050405020303" pitchFamily="18" charset="0"/>
              </a:rPr>
              <a:t>Assistant</a:t>
            </a:r>
            <a:r>
              <a:rPr lang="zh-CN" altLang="en-US" sz="2400" dirty="0">
                <a:latin typeface="Georgia" panose="02040502050405020303" pitchFamily="18" charset="0"/>
              </a:rPr>
              <a:t> </a:t>
            </a:r>
            <a:r>
              <a:rPr lang="en-US" altLang="zh-CN" sz="2400" dirty="0">
                <a:latin typeface="Georgia" panose="02040502050405020303" pitchFamily="18" charset="0"/>
              </a:rPr>
              <a:t>Professor,</a:t>
            </a:r>
            <a:r>
              <a:rPr lang="zh-CN" altLang="en-US" sz="2400" dirty="0">
                <a:latin typeface="Georgia" panose="02040502050405020303" pitchFamily="18" charset="0"/>
              </a:rPr>
              <a:t> </a:t>
            </a:r>
            <a:r>
              <a:rPr lang="en-US" sz="2400" dirty="0">
                <a:latin typeface="Georgia" panose="02040502050405020303" pitchFamily="18" charset="0"/>
              </a:rPr>
              <a:t> UIUC			</a:t>
            </a:r>
            <a:r>
              <a:rPr lang="en-US" altLang="zh-CN" sz="2400" dirty="0">
                <a:latin typeface="Georgia" panose="02040502050405020303" pitchFamily="18" charset="0"/>
              </a:rPr>
              <a:t>2024-now</a:t>
            </a:r>
            <a:endParaRPr lang="en-US" sz="2400" dirty="0">
              <a:latin typeface="Georgia" panose="02040502050405020303" pitchFamily="18" charset="0"/>
            </a:endParaRPr>
          </a:p>
          <a:p>
            <a:r>
              <a:rPr lang="en-US" sz="2400" dirty="0">
                <a:latin typeface="Georgia" panose="02040502050405020303" pitchFamily="18" charset="0"/>
              </a:rPr>
              <a:t>Postdoc</a:t>
            </a:r>
            <a:r>
              <a:rPr lang="en-US" altLang="zh-CN" sz="2400" dirty="0">
                <a:latin typeface="Georgia" panose="02040502050405020303" pitchFamily="18" charset="0"/>
              </a:rPr>
              <a:t>,</a:t>
            </a:r>
            <a:r>
              <a:rPr lang="zh-CN" altLang="en-US" sz="2400" dirty="0">
                <a:latin typeface="Georgia" panose="02040502050405020303" pitchFamily="18" charset="0"/>
              </a:rPr>
              <a:t> </a:t>
            </a:r>
            <a:r>
              <a:rPr lang="en-US" sz="2400" dirty="0">
                <a:latin typeface="Georgia" panose="02040502050405020303" pitchFamily="18" charset="0"/>
              </a:rPr>
              <a:t> Northwestern University		</a:t>
            </a:r>
            <a:r>
              <a:rPr lang="en-US" altLang="zh-CN" sz="2400" dirty="0">
                <a:latin typeface="Georgia" panose="02040502050405020303" pitchFamily="18" charset="0"/>
              </a:rPr>
              <a:t>2023-2024</a:t>
            </a:r>
            <a:endParaRPr lang="en-US" sz="2400" dirty="0">
              <a:latin typeface="Georgia" panose="02040502050405020303" pitchFamily="18" charset="0"/>
            </a:endParaRPr>
          </a:p>
          <a:p>
            <a:r>
              <a:rPr lang="en-US" sz="2400" dirty="0">
                <a:latin typeface="Georgia" panose="02040502050405020303" pitchFamily="18" charset="0"/>
              </a:rPr>
              <a:t>PhD</a:t>
            </a:r>
            <a:r>
              <a:rPr lang="en-US" altLang="zh-CN" sz="2400" dirty="0">
                <a:latin typeface="Georgia" panose="02040502050405020303" pitchFamily="18" charset="0"/>
              </a:rPr>
              <a:t>,</a:t>
            </a:r>
            <a:r>
              <a:rPr lang="zh-CN" altLang="en-US" sz="2400" dirty="0">
                <a:latin typeface="Georgia" panose="02040502050405020303" pitchFamily="18" charset="0"/>
              </a:rPr>
              <a:t> </a:t>
            </a:r>
            <a:r>
              <a:rPr lang="en-US" sz="2400" dirty="0">
                <a:latin typeface="Georgia" panose="02040502050405020303" pitchFamily="18" charset="0"/>
              </a:rPr>
              <a:t> Yale University				</a:t>
            </a:r>
            <a:r>
              <a:rPr lang="en-US" altLang="zh-CN" sz="2400" dirty="0">
                <a:latin typeface="Georgia" panose="02040502050405020303" pitchFamily="18" charset="0"/>
              </a:rPr>
              <a:t>2017-2022</a:t>
            </a:r>
            <a:endParaRPr lang="en-US" sz="2400" dirty="0">
              <a:latin typeface="Georgia" panose="02040502050405020303" pitchFamily="18" charset="0"/>
            </a:endParaRPr>
          </a:p>
          <a:p>
            <a:endParaRPr lang="en-US" sz="2400" dirty="0">
              <a:latin typeface="Georgia" panose="02040502050405020303" pitchFamily="18" charset="0"/>
            </a:endParaRPr>
          </a:p>
          <a:p>
            <a:pPr marL="0" indent="0">
              <a:buNone/>
            </a:pPr>
            <a:r>
              <a:rPr lang="en-US" altLang="zh-CN" sz="2400" b="1" dirty="0">
                <a:latin typeface="Georgia" panose="02040502050405020303" pitchFamily="18" charset="0"/>
              </a:rPr>
              <a:t>Research</a:t>
            </a:r>
            <a:r>
              <a:rPr lang="en-US" altLang="zh-CN" sz="2400" dirty="0">
                <a:latin typeface="Georgia" panose="02040502050405020303" pitchFamily="18" charset="0"/>
              </a:rPr>
              <a:t>:</a:t>
            </a:r>
            <a:r>
              <a:rPr lang="zh-CN" altLang="en-US" sz="2400" dirty="0">
                <a:latin typeface="Georgia" panose="02040502050405020303" pitchFamily="18" charset="0"/>
              </a:rPr>
              <a:t> </a:t>
            </a:r>
            <a:r>
              <a:rPr lang="en-US" sz="2400" dirty="0">
                <a:latin typeface="Georgia" panose="02040502050405020303" pitchFamily="18" charset="0"/>
              </a:rPr>
              <a:t>Cryptography, Formal Methods, Automated Reasoning</a:t>
            </a:r>
            <a:r>
              <a:rPr lang="en-US" altLang="zh-CN" sz="2400" dirty="0">
                <a:latin typeface="Georgia" panose="02040502050405020303" pitchFamily="18" charset="0"/>
              </a:rPr>
              <a:t>,</a:t>
            </a:r>
            <a:r>
              <a:rPr lang="zh-CN" altLang="en-US" sz="2400" dirty="0">
                <a:latin typeface="Georgia" panose="02040502050405020303" pitchFamily="18" charset="0"/>
              </a:rPr>
              <a:t> </a:t>
            </a:r>
            <a:r>
              <a:rPr lang="en-US" sz="2400" dirty="0">
                <a:latin typeface="Georgia" panose="02040502050405020303" pitchFamily="18" charset="0"/>
              </a:rPr>
              <a:t>Achieve privacy and security in practical settings</a:t>
            </a:r>
          </a:p>
        </p:txBody>
      </p:sp>
      <p:sp>
        <p:nvSpPr>
          <p:cNvPr id="5" name="TextBox 4">
            <a:extLst>
              <a:ext uri="{FF2B5EF4-FFF2-40B4-BE49-F238E27FC236}">
                <a16:creationId xmlns:a16="http://schemas.microsoft.com/office/drawing/2014/main" id="{D8B972F1-6489-57B5-0F5C-8351DCF827DD}"/>
              </a:ext>
            </a:extLst>
          </p:cNvPr>
          <p:cNvSpPr txBox="1"/>
          <p:nvPr/>
        </p:nvSpPr>
        <p:spPr>
          <a:xfrm>
            <a:off x="751113" y="1480457"/>
            <a:ext cx="11066418" cy="1200329"/>
          </a:xfrm>
          <a:prstGeom prst="rect">
            <a:avLst/>
          </a:prstGeom>
          <a:noFill/>
        </p:spPr>
        <p:txBody>
          <a:bodyPr wrap="square" rtlCol="0">
            <a:spAutoFit/>
          </a:bodyPr>
          <a:lstStyle/>
          <a:p>
            <a:pPr marL="0" indent="0">
              <a:buNone/>
            </a:pPr>
            <a:r>
              <a:rPr lang="en-US" altLang="zh-CN" sz="2400" dirty="0">
                <a:latin typeface="Georgia" panose="02040502050405020303" pitchFamily="18" charset="0"/>
              </a:rPr>
              <a:t>Ning</a:t>
            </a:r>
            <a:r>
              <a:rPr lang="zh-CN" altLang="en-US" sz="2400" dirty="0">
                <a:latin typeface="Georgia" panose="02040502050405020303" pitchFamily="18" charset="0"/>
              </a:rPr>
              <a:t> </a:t>
            </a:r>
            <a:r>
              <a:rPr lang="en-US" altLang="zh-CN" sz="2400" dirty="0">
                <a:latin typeface="Georgia" panose="02040502050405020303" pitchFamily="18" charset="0"/>
              </a:rPr>
              <a:t>Luo</a:t>
            </a:r>
            <a:r>
              <a:rPr lang="en-US" sz="2400" dirty="0">
                <a:latin typeface="Georgia" panose="02040502050405020303" pitchFamily="18" charset="0"/>
              </a:rPr>
              <a:t>, CSL </a:t>
            </a:r>
            <a:r>
              <a:rPr lang="en-US" altLang="zh-CN" sz="2400" dirty="0">
                <a:latin typeface="Georgia" panose="02040502050405020303" pitchFamily="18" charset="0"/>
              </a:rPr>
              <a:t>457</a:t>
            </a:r>
            <a:r>
              <a:rPr lang="en-US" sz="2400" dirty="0">
                <a:latin typeface="Georgia" panose="02040502050405020303" pitchFamily="18" charset="0"/>
              </a:rPr>
              <a:t>, </a:t>
            </a:r>
            <a:r>
              <a:rPr lang="en-US" sz="2400" dirty="0">
                <a:latin typeface="Georgia" panose="02040502050405020303" pitchFamily="18" charset="0"/>
                <a:hlinkClick r:id="rId3"/>
              </a:rPr>
              <a:t>https://ning0luo.github.io/</a:t>
            </a:r>
            <a:endParaRPr lang="en-US" sz="2400" dirty="0">
              <a:latin typeface="Georgia" panose="02040502050405020303" pitchFamily="18" charset="0"/>
            </a:endParaRPr>
          </a:p>
          <a:p>
            <a:pPr marL="0" indent="0">
              <a:buNone/>
            </a:pPr>
            <a:r>
              <a:rPr lang="en-US" sz="2400" dirty="0">
                <a:latin typeface="Georgia" panose="02040502050405020303" pitchFamily="18" charset="0"/>
              </a:rPr>
              <a:t>Email</a:t>
            </a:r>
            <a:r>
              <a:rPr lang="en-US" sz="2400" dirty="0"/>
              <a:t>: </a:t>
            </a:r>
            <a:r>
              <a:rPr lang="en-US" sz="2400" dirty="0">
                <a:hlinkClick r:id="rId4"/>
              </a:rPr>
              <a:t>nl27@illinois.edu</a:t>
            </a:r>
            <a:endParaRPr lang="en-US" sz="2400" dirty="0"/>
          </a:p>
          <a:p>
            <a:endParaRPr lang="en-US" sz="2400" dirty="0"/>
          </a:p>
        </p:txBody>
      </p:sp>
    </p:spTree>
    <p:extLst>
      <p:ext uri="{BB962C8B-B14F-4D97-AF65-F5344CB8AC3E}">
        <p14:creationId xmlns:p14="http://schemas.microsoft.com/office/powerpoint/2010/main" val="2101397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948EE-4A0C-06A9-4D63-B78D50454EA2}"/>
              </a:ext>
            </a:extLst>
          </p:cNvPr>
          <p:cNvSpPr>
            <a:spLocks noGrp="1"/>
          </p:cNvSpPr>
          <p:nvPr>
            <p:ph type="title"/>
          </p:nvPr>
        </p:nvSpPr>
        <p:spPr/>
        <p:txBody>
          <a:bodyPr/>
          <a:lstStyle/>
          <a:p>
            <a:r>
              <a:rPr lang="en-US" b="1" dirty="0">
                <a:latin typeface="Georgia" panose="02040502050405020303" pitchFamily="18" charset="0"/>
              </a:rPr>
              <a:t>Course Information</a:t>
            </a:r>
          </a:p>
        </p:txBody>
      </p:sp>
      <p:sp>
        <p:nvSpPr>
          <p:cNvPr id="3" name="Content Placeholder 2">
            <a:extLst>
              <a:ext uri="{FF2B5EF4-FFF2-40B4-BE49-F238E27FC236}">
                <a16:creationId xmlns:a16="http://schemas.microsoft.com/office/drawing/2014/main" id="{3D30F7B6-FA13-5506-FA1E-A76B285F8638}"/>
              </a:ext>
            </a:extLst>
          </p:cNvPr>
          <p:cNvSpPr>
            <a:spLocks noGrp="1"/>
          </p:cNvSpPr>
          <p:nvPr>
            <p:ph idx="1"/>
          </p:nvPr>
        </p:nvSpPr>
        <p:spPr/>
        <p:txBody>
          <a:bodyPr>
            <a:normAutofit/>
          </a:bodyPr>
          <a:lstStyle/>
          <a:p>
            <a:pPr marL="0" indent="0">
              <a:buNone/>
            </a:pPr>
            <a:r>
              <a:rPr lang="en-US" b="1" dirty="0">
                <a:latin typeface="Georgia" panose="02040502050405020303" pitchFamily="18" charset="0"/>
              </a:rPr>
              <a:t>Time and Location: </a:t>
            </a:r>
          </a:p>
          <a:p>
            <a:pPr marL="0" indent="0">
              <a:buNone/>
            </a:pPr>
            <a:r>
              <a:rPr lang="en-US" dirty="0" err="1">
                <a:latin typeface="Georgia" panose="02040502050405020303" pitchFamily="18" charset="0"/>
              </a:rPr>
              <a:t>TTh</a:t>
            </a:r>
            <a:r>
              <a:rPr lang="en-US" dirty="0">
                <a:latin typeface="Georgia" panose="02040502050405020303" pitchFamily="18" charset="0"/>
              </a:rPr>
              <a:t> 5:00-6:20 pm, ECEB 3013</a:t>
            </a:r>
          </a:p>
          <a:p>
            <a:pPr marL="0" indent="0">
              <a:buNone/>
            </a:pPr>
            <a:r>
              <a:rPr lang="en-US" b="1" dirty="0">
                <a:latin typeface="Georgia" panose="02040502050405020303" pitchFamily="18" charset="0"/>
              </a:rPr>
              <a:t>My office hour: </a:t>
            </a:r>
            <a:r>
              <a:rPr lang="en-US" altLang="zh-CN" dirty="0">
                <a:latin typeface="Georgia" panose="02040502050405020303" pitchFamily="18" charset="0"/>
              </a:rPr>
              <a:t>Upon on request</a:t>
            </a:r>
            <a:endParaRPr lang="en-US" dirty="0">
              <a:latin typeface="Georgia" panose="02040502050405020303" pitchFamily="18" charset="0"/>
            </a:endParaRPr>
          </a:p>
          <a:p>
            <a:pPr marL="0" indent="0">
              <a:buNone/>
            </a:pPr>
            <a:endParaRPr lang="en-US" dirty="0">
              <a:latin typeface="Georgia" panose="02040502050405020303" pitchFamily="18" charset="0"/>
            </a:endParaRPr>
          </a:p>
          <a:p>
            <a:pPr marL="0" indent="0">
              <a:buNone/>
            </a:pPr>
            <a:r>
              <a:rPr lang="en-US" b="1" dirty="0">
                <a:latin typeface="Georgia" panose="02040502050405020303" pitchFamily="18" charset="0"/>
              </a:rPr>
              <a:t>TA:</a:t>
            </a:r>
            <a:r>
              <a:rPr lang="en-US" dirty="0">
                <a:latin typeface="Georgia" panose="02040502050405020303" pitchFamily="18" charset="0"/>
              </a:rPr>
              <a:t> </a:t>
            </a:r>
            <a:r>
              <a:rPr lang="en-US" altLang="zh-CN" dirty="0">
                <a:latin typeface="Georgia" panose="02040502050405020303" pitchFamily="18" charset="0"/>
              </a:rPr>
              <a:t> Pranav Rajpal</a:t>
            </a:r>
            <a:r>
              <a:rPr lang="zh-CN" altLang="en-US" dirty="0">
                <a:latin typeface="Georgia" panose="02040502050405020303" pitchFamily="18" charset="0"/>
              </a:rPr>
              <a:t> </a:t>
            </a:r>
            <a:endParaRPr lang="en-US" dirty="0">
              <a:latin typeface="Georgia" panose="02040502050405020303" pitchFamily="18" charset="0"/>
            </a:endParaRPr>
          </a:p>
          <a:p>
            <a:pPr marL="0" indent="0">
              <a:buNone/>
            </a:pPr>
            <a:r>
              <a:rPr lang="en-US" dirty="0">
                <a:latin typeface="Georgia" panose="02040502050405020303" pitchFamily="18" charset="0"/>
              </a:rPr>
              <a:t>Office hour:</a:t>
            </a:r>
            <a:r>
              <a:rPr lang="zh-CN" altLang="en-US" dirty="0">
                <a:solidFill>
                  <a:srgbClr val="000000"/>
                </a:solidFill>
                <a:latin typeface="Georgia" panose="02040502050405020303" pitchFamily="18" charset="0"/>
              </a:rPr>
              <a:t> </a:t>
            </a:r>
            <a:r>
              <a:rPr lang="en-US" altLang="zh-CN" dirty="0">
                <a:solidFill>
                  <a:srgbClr val="000000"/>
                </a:solidFill>
                <a:latin typeface="Georgia" panose="02040502050405020303" pitchFamily="18" charset="0"/>
              </a:rPr>
              <a:t>TBD</a:t>
            </a:r>
            <a:r>
              <a:rPr lang="en-US" dirty="0">
                <a:latin typeface="Georgia" panose="02040502050405020303" pitchFamily="18" charset="0"/>
              </a:rPr>
              <a:t> </a:t>
            </a:r>
          </a:p>
          <a:p>
            <a:pPr marL="0" indent="0">
              <a:buNone/>
            </a:pPr>
            <a:endParaRPr lang="en-US" dirty="0">
              <a:latin typeface="Georgia" panose="02040502050405020303" pitchFamily="18" charset="0"/>
            </a:endParaRPr>
          </a:p>
          <a:p>
            <a:pPr marL="0" indent="0">
              <a:buNone/>
            </a:pPr>
            <a:endParaRPr lang="en-US" dirty="0">
              <a:latin typeface="Georgia" panose="02040502050405020303" pitchFamily="18" charset="0"/>
            </a:endParaRPr>
          </a:p>
          <a:p>
            <a:endParaRPr lang="en-US" dirty="0">
              <a:latin typeface="Georgia" panose="02040502050405020303" pitchFamily="18" charset="0"/>
            </a:endParaRPr>
          </a:p>
        </p:txBody>
      </p:sp>
    </p:spTree>
    <p:extLst>
      <p:ext uri="{BB962C8B-B14F-4D97-AF65-F5344CB8AC3E}">
        <p14:creationId xmlns:p14="http://schemas.microsoft.com/office/powerpoint/2010/main" val="1555687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B1DFA-B065-4BF0-84AE-88797F44B4C3}"/>
              </a:ext>
            </a:extLst>
          </p:cNvPr>
          <p:cNvSpPr>
            <a:spLocks noGrp="1"/>
          </p:cNvSpPr>
          <p:nvPr>
            <p:ph type="title"/>
          </p:nvPr>
        </p:nvSpPr>
        <p:spPr>
          <a:xfrm>
            <a:off x="445476" y="194673"/>
            <a:ext cx="10515600" cy="1325563"/>
          </a:xfrm>
        </p:spPr>
        <p:txBody>
          <a:bodyPr/>
          <a:lstStyle/>
          <a:p>
            <a:r>
              <a:rPr lang="en-US" b="1" dirty="0">
                <a:latin typeface="Georgia" panose="02040502050405020303" pitchFamily="18" charset="0"/>
              </a:rPr>
              <a:t>Resources</a:t>
            </a:r>
          </a:p>
        </p:txBody>
      </p:sp>
      <p:sp>
        <p:nvSpPr>
          <p:cNvPr id="3" name="Content Placeholder 2">
            <a:extLst>
              <a:ext uri="{FF2B5EF4-FFF2-40B4-BE49-F238E27FC236}">
                <a16:creationId xmlns:a16="http://schemas.microsoft.com/office/drawing/2014/main" id="{BA9B8843-C06C-4DEB-A825-DEB7BE142E90}"/>
              </a:ext>
            </a:extLst>
          </p:cNvPr>
          <p:cNvSpPr>
            <a:spLocks noGrp="1"/>
          </p:cNvSpPr>
          <p:nvPr>
            <p:ph idx="1"/>
          </p:nvPr>
        </p:nvSpPr>
        <p:spPr>
          <a:xfrm>
            <a:off x="445476" y="1393080"/>
            <a:ext cx="11214657" cy="4701456"/>
          </a:xfrm>
        </p:spPr>
        <p:txBody>
          <a:bodyPr>
            <a:normAutofit lnSpcReduction="10000"/>
          </a:bodyPr>
          <a:lstStyle/>
          <a:p>
            <a:r>
              <a:rPr lang="en-US" b="1" dirty="0">
                <a:latin typeface="Georgia" panose="02040502050405020303" pitchFamily="18" charset="0"/>
              </a:rPr>
              <a:t>Webpage</a:t>
            </a:r>
            <a:r>
              <a:rPr lang="en-US" dirty="0">
                <a:latin typeface="Georgia" panose="02040502050405020303" pitchFamily="18" charset="0"/>
              </a:rPr>
              <a:t>:</a:t>
            </a:r>
          </a:p>
          <a:p>
            <a:pPr marL="0" indent="0">
              <a:buNone/>
            </a:pPr>
            <a:endParaRPr lang="en-US" dirty="0">
              <a:latin typeface="Georgia" panose="02040502050405020303" pitchFamily="18" charset="0"/>
            </a:endParaRPr>
          </a:p>
          <a:p>
            <a:r>
              <a:rPr lang="en-US" b="1" dirty="0">
                <a:latin typeface="Georgia" panose="02040502050405020303" pitchFamily="18" charset="0"/>
              </a:rPr>
              <a:t>Canvas</a:t>
            </a:r>
            <a:r>
              <a:rPr lang="en-US" dirty="0">
                <a:latin typeface="Georgia" panose="02040502050405020303" pitchFamily="18" charset="0"/>
              </a:rPr>
              <a:t> </a:t>
            </a:r>
            <a:r>
              <a:rPr lang="en-US" dirty="0">
                <a:latin typeface="Georgia" panose="02040502050405020303" pitchFamily="18" charset="0"/>
                <a:hlinkClick r:id="rId3"/>
              </a:rPr>
              <a:t>https://courses.grainger.illinois.edu/ece407/fa2026/</a:t>
            </a:r>
            <a:endParaRPr lang="en-US" dirty="0">
              <a:latin typeface="Georgia" panose="02040502050405020303" pitchFamily="18" charset="0"/>
            </a:endParaRPr>
          </a:p>
          <a:p>
            <a:pPr lvl="1"/>
            <a:r>
              <a:rPr lang="en-US" dirty="0">
                <a:latin typeface="Georgia" panose="02040502050405020303" pitchFamily="18" charset="0"/>
              </a:rPr>
              <a:t> Slides and files</a:t>
            </a:r>
          </a:p>
          <a:p>
            <a:pPr lvl="1"/>
            <a:r>
              <a:rPr lang="en-US" dirty="0">
                <a:latin typeface="Georgia" panose="02040502050405020303" pitchFamily="18" charset="0"/>
              </a:rPr>
              <a:t>Assignment submission and grading</a:t>
            </a:r>
          </a:p>
          <a:p>
            <a:pPr lvl="1"/>
            <a:r>
              <a:rPr lang="en-US" dirty="0">
                <a:latin typeface="Georgia" panose="02040502050405020303" pitchFamily="18" charset="0"/>
              </a:rPr>
              <a:t>Announcements</a:t>
            </a:r>
          </a:p>
          <a:p>
            <a:pPr lvl="1"/>
            <a:r>
              <a:rPr lang="en-US" dirty="0">
                <a:latin typeface="Georgia" panose="02040502050405020303" pitchFamily="18" charset="0"/>
              </a:rPr>
              <a:t>In</a:t>
            </a:r>
            <a:r>
              <a:rPr lang="en-US" altLang="zh-CN" dirty="0">
                <a:latin typeface="Georgia" panose="02040502050405020303" pitchFamily="18" charset="0"/>
              </a:rPr>
              <a:t>-class</a:t>
            </a:r>
            <a:r>
              <a:rPr lang="zh-CN" altLang="en-US" dirty="0">
                <a:latin typeface="Georgia" panose="02040502050405020303" pitchFamily="18" charset="0"/>
              </a:rPr>
              <a:t> </a:t>
            </a:r>
            <a:r>
              <a:rPr lang="en-US" altLang="zh-CN" dirty="0">
                <a:latin typeface="Georgia" panose="02040502050405020303" pitchFamily="18" charset="0"/>
              </a:rPr>
              <a:t>quizzes</a:t>
            </a:r>
            <a:r>
              <a:rPr lang="zh-CN" altLang="en-US" dirty="0">
                <a:latin typeface="Georgia" panose="02040502050405020303" pitchFamily="18" charset="0"/>
              </a:rPr>
              <a:t> </a:t>
            </a:r>
            <a:endParaRPr lang="en-US" dirty="0">
              <a:latin typeface="Georgia" panose="02040502050405020303" pitchFamily="18" charset="0"/>
            </a:endParaRPr>
          </a:p>
          <a:p>
            <a:pPr marL="457200" lvl="1" indent="0">
              <a:buNone/>
            </a:pPr>
            <a:endParaRPr lang="en-US" dirty="0">
              <a:latin typeface="Georgia" panose="02040502050405020303" pitchFamily="18" charset="0"/>
            </a:endParaRPr>
          </a:p>
          <a:p>
            <a:r>
              <a:rPr lang="en-US" b="1" dirty="0">
                <a:latin typeface="Georgia" panose="02040502050405020303" pitchFamily="18" charset="0"/>
              </a:rPr>
              <a:t>Piazza</a:t>
            </a:r>
            <a:r>
              <a:rPr lang="en-US" dirty="0">
                <a:latin typeface="Georgia" panose="02040502050405020303" pitchFamily="18" charset="0"/>
              </a:rPr>
              <a:t> </a:t>
            </a:r>
          </a:p>
          <a:p>
            <a:pPr lvl="1"/>
            <a:r>
              <a:rPr lang="en-US" altLang="zh-CN" dirty="0">
                <a:latin typeface="Georgia" panose="02040502050405020303" pitchFamily="18" charset="0"/>
                <a:hlinkClick r:id="rId4"/>
              </a:rPr>
              <a:t>https://piazza.com/illinois/fall2026/csece407</a:t>
            </a:r>
            <a:endParaRPr lang="en-US" altLang="zh-CN" dirty="0">
              <a:latin typeface="Georgia" panose="02040502050405020303" pitchFamily="18" charset="0"/>
            </a:endParaRPr>
          </a:p>
          <a:p>
            <a:pPr lvl="1"/>
            <a:r>
              <a:rPr lang="en-US" dirty="0">
                <a:latin typeface="Georgia" panose="02040502050405020303" pitchFamily="18" charset="0"/>
              </a:rPr>
              <a:t>Access Code:</a:t>
            </a:r>
            <a:r>
              <a:rPr lang="zh-CN" altLang="en-US" dirty="0">
                <a:solidFill>
                  <a:srgbClr val="484A4C"/>
                </a:solidFill>
                <a:latin typeface="Georgia" panose="02040502050405020303" pitchFamily="18" charset="0"/>
              </a:rPr>
              <a:t> </a:t>
            </a:r>
            <a:r>
              <a:rPr lang="en-US" altLang="zh-CN" dirty="0">
                <a:latin typeface="Georgia" panose="02040502050405020303" pitchFamily="18" charset="0"/>
              </a:rPr>
              <a:t>MD5</a:t>
            </a:r>
            <a:r>
              <a:rPr lang="zh-CN" altLang="en-US" dirty="0">
                <a:latin typeface="Georgia" panose="02040502050405020303" pitchFamily="18" charset="0"/>
              </a:rPr>
              <a:t> </a:t>
            </a:r>
            <a:r>
              <a:rPr lang="en-US" altLang="zh-CN" dirty="0">
                <a:latin typeface="Georgia" panose="02040502050405020303" pitchFamily="18" charset="0"/>
              </a:rPr>
              <a:t>of</a:t>
            </a:r>
            <a:r>
              <a:rPr lang="zh-CN" altLang="en-US" dirty="0">
                <a:latin typeface="Georgia" panose="02040502050405020303" pitchFamily="18" charset="0"/>
              </a:rPr>
              <a:t>  </a:t>
            </a:r>
            <a:r>
              <a:rPr lang="en-US" altLang="zh-CN" dirty="0">
                <a:latin typeface="Georgia" panose="02040502050405020303" pitchFamily="18" charset="0"/>
              </a:rPr>
              <a:t>“I</a:t>
            </a:r>
            <a:r>
              <a:rPr lang="zh-CN" altLang="en-US" dirty="0">
                <a:latin typeface="Georgia" panose="02040502050405020303" pitchFamily="18" charset="0"/>
              </a:rPr>
              <a:t> </a:t>
            </a:r>
            <a:r>
              <a:rPr lang="en-US" altLang="zh-CN" dirty="0">
                <a:latin typeface="Georgia" panose="02040502050405020303" pitchFamily="18" charset="0"/>
              </a:rPr>
              <a:t>love</a:t>
            </a:r>
            <a:r>
              <a:rPr lang="zh-CN" altLang="en-US" dirty="0">
                <a:latin typeface="Georgia" panose="02040502050405020303" pitchFamily="18" charset="0"/>
              </a:rPr>
              <a:t> </a:t>
            </a:r>
            <a:r>
              <a:rPr lang="en-US" altLang="zh-CN" dirty="0">
                <a:latin typeface="Georgia" panose="02040502050405020303" pitchFamily="18" charset="0"/>
              </a:rPr>
              <a:t>cryptography”</a:t>
            </a:r>
          </a:p>
          <a:p>
            <a:pPr lvl="1"/>
            <a:r>
              <a:rPr lang="en-US" altLang="zh-CN" dirty="0">
                <a:latin typeface="Georgia" panose="02040502050405020303" pitchFamily="18" charset="0"/>
              </a:rPr>
              <a:t>Do</a:t>
            </a:r>
            <a:r>
              <a:rPr lang="zh-CN" altLang="en-US" dirty="0">
                <a:latin typeface="Georgia" panose="02040502050405020303" pitchFamily="18" charset="0"/>
              </a:rPr>
              <a:t> </a:t>
            </a:r>
            <a:r>
              <a:rPr lang="en-US" altLang="zh-CN" dirty="0">
                <a:latin typeface="Georgia" panose="02040502050405020303" pitchFamily="18" charset="0"/>
              </a:rPr>
              <a:t>not</a:t>
            </a:r>
            <a:r>
              <a:rPr lang="zh-CN" altLang="en-US" dirty="0">
                <a:latin typeface="Georgia" panose="02040502050405020303" pitchFamily="18" charset="0"/>
              </a:rPr>
              <a:t> </a:t>
            </a:r>
            <a:r>
              <a:rPr lang="en-US" altLang="zh-CN" dirty="0">
                <a:latin typeface="Georgia" panose="02040502050405020303" pitchFamily="18" charset="0"/>
              </a:rPr>
              <a:t>know</a:t>
            </a:r>
            <a:r>
              <a:rPr lang="zh-CN" altLang="en-US" dirty="0">
                <a:latin typeface="Georgia" panose="02040502050405020303" pitchFamily="18" charset="0"/>
              </a:rPr>
              <a:t> </a:t>
            </a:r>
            <a:r>
              <a:rPr lang="en-US" altLang="zh-CN" dirty="0">
                <a:latin typeface="Georgia" panose="02040502050405020303" pitchFamily="18" charset="0"/>
              </a:rPr>
              <a:t>MD5?</a:t>
            </a:r>
            <a:r>
              <a:rPr lang="zh-CN" altLang="en-US" dirty="0">
                <a:latin typeface="Georgia" panose="02040502050405020303" pitchFamily="18" charset="0"/>
              </a:rPr>
              <a:t>  </a:t>
            </a:r>
            <a:r>
              <a:rPr lang="en-US" altLang="zh-CN" dirty="0">
                <a:latin typeface="Georgia" panose="02040502050405020303" pitchFamily="18" charset="0"/>
              </a:rPr>
              <a:t>Shame</a:t>
            </a:r>
            <a:r>
              <a:rPr lang="zh-CN" altLang="en-US" dirty="0">
                <a:latin typeface="Georgia" panose="02040502050405020303" pitchFamily="18" charset="0"/>
              </a:rPr>
              <a:t> </a:t>
            </a:r>
            <a:r>
              <a:rPr lang="en-US" altLang="zh-CN" dirty="0">
                <a:latin typeface="Georgia" panose="02040502050405020303" pitchFamily="18" charset="0"/>
              </a:rPr>
              <a:t>on</a:t>
            </a:r>
            <a:r>
              <a:rPr lang="zh-CN" altLang="en-US" dirty="0">
                <a:latin typeface="Georgia" panose="02040502050405020303" pitchFamily="18" charset="0"/>
              </a:rPr>
              <a:t> </a:t>
            </a:r>
            <a:r>
              <a:rPr lang="en-US" altLang="zh-CN" dirty="0">
                <a:latin typeface="Georgia" panose="02040502050405020303" pitchFamily="18" charset="0"/>
              </a:rPr>
              <a:t>you!</a:t>
            </a:r>
          </a:p>
          <a:p>
            <a:pPr lvl="1"/>
            <a:endParaRPr lang="en-US" altLang="zh-CN" dirty="0">
              <a:latin typeface="Georgia" panose="02040502050405020303" pitchFamily="18" charset="0"/>
            </a:endParaRPr>
          </a:p>
          <a:p>
            <a:pPr lvl="1"/>
            <a:endParaRPr lang="en-US" dirty="0">
              <a:latin typeface="Georgia" panose="02040502050405020303" pitchFamily="18" charset="0"/>
            </a:endParaRPr>
          </a:p>
        </p:txBody>
      </p:sp>
    </p:spTree>
    <p:extLst>
      <p:ext uri="{BB962C8B-B14F-4D97-AF65-F5344CB8AC3E}">
        <p14:creationId xmlns:p14="http://schemas.microsoft.com/office/powerpoint/2010/main" val="2788530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196DB-A0C9-9D61-E6D1-0B192867D045}"/>
              </a:ext>
            </a:extLst>
          </p:cNvPr>
          <p:cNvSpPr>
            <a:spLocks noGrp="1"/>
          </p:cNvSpPr>
          <p:nvPr>
            <p:ph type="title"/>
          </p:nvPr>
        </p:nvSpPr>
        <p:spPr>
          <a:xfrm>
            <a:off x="445476" y="286726"/>
            <a:ext cx="10515600" cy="1325563"/>
          </a:xfrm>
        </p:spPr>
        <p:txBody>
          <a:bodyPr/>
          <a:lstStyle/>
          <a:p>
            <a:r>
              <a:rPr lang="en-US" b="1" dirty="0">
                <a:latin typeface="Georgia" panose="02040502050405020303" pitchFamily="18" charset="0"/>
              </a:rPr>
              <a:t>Prerequisites</a:t>
            </a:r>
          </a:p>
        </p:txBody>
      </p:sp>
      <p:sp>
        <p:nvSpPr>
          <p:cNvPr id="3" name="Content Placeholder 2">
            <a:extLst>
              <a:ext uri="{FF2B5EF4-FFF2-40B4-BE49-F238E27FC236}">
                <a16:creationId xmlns:a16="http://schemas.microsoft.com/office/drawing/2014/main" id="{E8850845-4CD6-044D-BCB6-212DE822B70D}"/>
              </a:ext>
            </a:extLst>
          </p:cNvPr>
          <p:cNvSpPr>
            <a:spLocks noGrp="1"/>
          </p:cNvSpPr>
          <p:nvPr>
            <p:ph idx="1"/>
          </p:nvPr>
        </p:nvSpPr>
        <p:spPr>
          <a:xfrm>
            <a:off x="445476" y="1490472"/>
            <a:ext cx="10975379" cy="5080802"/>
          </a:xfrm>
        </p:spPr>
        <p:txBody>
          <a:bodyPr/>
          <a:lstStyle/>
          <a:p>
            <a:r>
              <a:rPr lang="en-US" b="1" dirty="0">
                <a:latin typeface="Georgia" panose="02040502050405020303" pitchFamily="18" charset="0"/>
              </a:rPr>
              <a:t>CS 225</a:t>
            </a:r>
            <a:r>
              <a:rPr lang="en-US" dirty="0">
                <a:latin typeface="Georgia" panose="02040502050405020303" pitchFamily="18" charset="0"/>
              </a:rPr>
              <a:t>: Introduction to Data Structures and Algorithms</a:t>
            </a:r>
          </a:p>
          <a:p>
            <a:r>
              <a:rPr lang="en-US" b="1" dirty="0">
                <a:latin typeface="Georgia" panose="02040502050405020303" pitchFamily="18" charset="0"/>
              </a:rPr>
              <a:t>CS/ECE 374</a:t>
            </a:r>
            <a:r>
              <a:rPr lang="en-US" dirty="0">
                <a:latin typeface="Georgia" panose="02040502050405020303" pitchFamily="18" charset="0"/>
              </a:rPr>
              <a:t>: Introduction to Algorithms and Models of Computation</a:t>
            </a:r>
          </a:p>
          <a:p>
            <a:endParaRPr lang="en-US" dirty="0">
              <a:latin typeface="Georgia" panose="02040502050405020303" pitchFamily="18" charset="0"/>
            </a:endParaRPr>
          </a:p>
          <a:p>
            <a:endParaRPr lang="en-US" dirty="0">
              <a:latin typeface="Georgia" panose="02040502050405020303" pitchFamily="18" charset="0"/>
            </a:endParaRPr>
          </a:p>
          <a:p>
            <a:pPr marL="0" indent="0">
              <a:buNone/>
            </a:pPr>
            <a:r>
              <a:rPr lang="en-US" dirty="0">
                <a:latin typeface="Georgia" panose="02040502050405020303" pitchFamily="18" charset="0"/>
              </a:rPr>
              <a:t>Prerequisite overrides will be considered on a case-by-case basis. We expect that you are familiar with basic probability, modular arithmetic.</a:t>
            </a:r>
          </a:p>
        </p:txBody>
      </p:sp>
    </p:spTree>
    <p:extLst>
      <p:ext uri="{BB962C8B-B14F-4D97-AF65-F5344CB8AC3E}">
        <p14:creationId xmlns:p14="http://schemas.microsoft.com/office/powerpoint/2010/main" val="4257667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AA872-3C46-400A-AA01-C5903D1DF17F}"/>
              </a:ext>
            </a:extLst>
          </p:cNvPr>
          <p:cNvSpPr>
            <a:spLocks noGrp="1"/>
          </p:cNvSpPr>
          <p:nvPr>
            <p:ph type="title"/>
          </p:nvPr>
        </p:nvSpPr>
        <p:spPr>
          <a:xfrm>
            <a:off x="445477" y="0"/>
            <a:ext cx="10515600" cy="1325563"/>
          </a:xfrm>
        </p:spPr>
        <p:txBody>
          <a:bodyPr/>
          <a:lstStyle/>
          <a:p>
            <a:r>
              <a:rPr lang="en-US" b="1" dirty="0">
                <a:latin typeface="Georgia" panose="02040502050405020303" pitchFamily="18" charset="0"/>
              </a:rPr>
              <a:t>Grading Policy</a:t>
            </a:r>
          </a:p>
        </p:txBody>
      </p:sp>
      <p:sp>
        <p:nvSpPr>
          <p:cNvPr id="3" name="Content Placeholder 2">
            <a:extLst>
              <a:ext uri="{FF2B5EF4-FFF2-40B4-BE49-F238E27FC236}">
                <a16:creationId xmlns:a16="http://schemas.microsoft.com/office/drawing/2014/main" id="{D4CD07E4-A709-4662-A614-20881C56E582}"/>
              </a:ext>
            </a:extLst>
          </p:cNvPr>
          <p:cNvSpPr>
            <a:spLocks noGrp="1"/>
          </p:cNvSpPr>
          <p:nvPr>
            <p:ph idx="1"/>
          </p:nvPr>
        </p:nvSpPr>
        <p:spPr>
          <a:xfrm>
            <a:off x="838200" y="1422400"/>
            <a:ext cx="10795000" cy="5080000"/>
          </a:xfrm>
        </p:spPr>
        <p:txBody>
          <a:bodyPr>
            <a:normAutofit/>
          </a:bodyPr>
          <a:lstStyle/>
          <a:p>
            <a:r>
              <a:rPr lang="en-US" sz="1800" b="1" dirty="0">
                <a:latin typeface="Georgia" panose="02040502050405020303" pitchFamily="18" charset="0"/>
              </a:rPr>
              <a:t>In-Class Quizzes (10%)</a:t>
            </a:r>
          </a:p>
          <a:p>
            <a:pPr lvl="1"/>
            <a:r>
              <a:rPr lang="en-US" sz="1600" dirty="0">
                <a:latin typeface="Georgia" panose="02040502050405020303" pitchFamily="18" charset="0"/>
              </a:rPr>
              <a:t>Average of all quiz scores, scaled to 100</a:t>
            </a:r>
          </a:p>
          <a:p>
            <a:r>
              <a:rPr lang="en-US" sz="1800" b="1" dirty="0">
                <a:latin typeface="Georgia" panose="02040502050405020303" pitchFamily="18" charset="0"/>
              </a:rPr>
              <a:t>Homework (20%)</a:t>
            </a:r>
          </a:p>
          <a:p>
            <a:pPr lvl="1"/>
            <a:r>
              <a:rPr lang="en-US" sz="1600" dirty="0">
                <a:latin typeface="Georgia" panose="02040502050405020303" pitchFamily="18" charset="0"/>
              </a:rPr>
              <a:t>5 assignments</a:t>
            </a:r>
          </a:p>
          <a:p>
            <a:pPr lvl="1"/>
            <a:r>
              <a:rPr lang="en-US" sz="1600" dirty="0">
                <a:latin typeface="Georgia" panose="02040502050405020303" pitchFamily="18" charset="0"/>
              </a:rPr>
              <a:t>Submit a single PDF compiled from LaTeX — no Word, Google Docs, or photos</a:t>
            </a:r>
          </a:p>
          <a:p>
            <a:pPr lvl="1"/>
            <a:r>
              <a:rPr lang="en-US" sz="1600" dirty="0">
                <a:latin typeface="Georgia" panose="02040502050405020303" pitchFamily="18" charset="0"/>
              </a:rPr>
              <a:t>No late submissions</a:t>
            </a:r>
          </a:p>
          <a:p>
            <a:pPr lvl="1"/>
            <a:r>
              <a:rPr lang="en-US" sz="1600" b="1" dirty="0">
                <a:solidFill>
                  <a:srgbClr val="C00000"/>
                </a:solidFill>
                <a:latin typeface="Georgia" panose="02040502050405020303" pitchFamily="18" charset="0"/>
              </a:rPr>
              <a:t>AI tools are NOT allowed unless stated otherwise</a:t>
            </a:r>
          </a:p>
          <a:p>
            <a:r>
              <a:rPr lang="en-US" sz="1800" b="1" dirty="0">
                <a:latin typeface="Georgia" panose="02040502050405020303" pitchFamily="18" charset="0"/>
              </a:rPr>
              <a:t>Midterm Exam (20%)</a:t>
            </a:r>
          </a:p>
          <a:p>
            <a:pPr lvl="1"/>
            <a:r>
              <a:rPr lang="en-US" sz="1600" dirty="0">
                <a:latin typeface="Georgia" panose="02040502050405020303" pitchFamily="18" charset="0"/>
              </a:rPr>
              <a:t>In class</a:t>
            </a:r>
          </a:p>
          <a:p>
            <a:pPr lvl="1"/>
            <a:r>
              <a:rPr lang="en-US" sz="1600" dirty="0">
                <a:latin typeface="Georgia" panose="02040502050405020303" pitchFamily="18" charset="0"/>
              </a:rPr>
              <a:t>You must pass the midterm to pass the course</a:t>
            </a:r>
          </a:p>
          <a:p>
            <a:r>
              <a:rPr lang="en-US" sz="1800" b="1" dirty="0">
                <a:latin typeface="Georgia" panose="02040502050405020303" pitchFamily="18" charset="0"/>
              </a:rPr>
              <a:t>Final Exam (30%)</a:t>
            </a:r>
          </a:p>
          <a:p>
            <a:pPr lvl="1"/>
            <a:r>
              <a:rPr lang="en-US" sz="1600" dirty="0">
                <a:latin typeface="Georgia" panose="02040502050405020303" pitchFamily="18" charset="0"/>
              </a:rPr>
              <a:t>Cumulative</a:t>
            </a:r>
          </a:p>
          <a:p>
            <a:r>
              <a:rPr lang="en-US" sz="1800" b="1" dirty="0">
                <a:latin typeface="Georgia" panose="02040502050405020303" pitchFamily="18" charset="0"/>
              </a:rPr>
              <a:t>Final Project (20%)</a:t>
            </a:r>
          </a:p>
          <a:p>
            <a:pPr lvl="1"/>
            <a:r>
              <a:rPr lang="en-US" sz="1600" dirty="0">
                <a:latin typeface="Georgia" panose="02040502050405020303" pitchFamily="18" charset="0"/>
              </a:rPr>
              <a:t>Design a cryptographic application of the course content</a:t>
            </a:r>
          </a:p>
          <a:p>
            <a:pPr lvl="1"/>
            <a:r>
              <a:rPr lang="en-US" sz="1600" b="1" dirty="0">
                <a:solidFill>
                  <a:srgbClr val="C00000"/>
                </a:solidFill>
                <a:latin typeface="Georgia" panose="02040502050405020303" pitchFamily="18" charset="0"/>
              </a:rPr>
              <a:t>AI tools ARE allowed</a:t>
            </a:r>
          </a:p>
        </p:txBody>
      </p:sp>
      <p:cxnSp>
        <p:nvCxnSpPr>
          <p:cNvPr id="5" name="Straight Connector 4">
            <a:extLst>
              <a:ext uri="{FF2B5EF4-FFF2-40B4-BE49-F238E27FC236}">
                <a16:creationId xmlns:a16="http://schemas.microsoft.com/office/drawing/2014/main" id="{CD28967C-CB7E-F40D-71E1-A34C5B60C5A5}"/>
              </a:ext>
            </a:extLst>
          </p:cNvPr>
          <p:cNvCxnSpPr/>
          <p:nvPr/>
        </p:nvCxnSpPr>
        <p:spPr>
          <a:xfrm>
            <a:off x="1085738" y="1226412"/>
            <a:ext cx="4297680" cy="0"/>
          </a:xfrm>
          <a:prstGeom prst="line">
            <a:avLst/>
          </a:prstGeom>
          <a:ln w="44450">
            <a:solidFill>
              <a:schemeClr val="accent2"/>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104098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25FE6-4610-4E7E-B384-A310F52C1E6F}"/>
              </a:ext>
            </a:extLst>
          </p:cNvPr>
          <p:cNvSpPr>
            <a:spLocks noGrp="1"/>
          </p:cNvSpPr>
          <p:nvPr>
            <p:ph type="title"/>
          </p:nvPr>
        </p:nvSpPr>
        <p:spPr/>
        <p:txBody>
          <a:bodyPr/>
          <a:lstStyle/>
          <a:p>
            <a:r>
              <a:rPr lang="en-US" b="1" i="0" dirty="0">
                <a:solidFill>
                  <a:srgbClr val="000000"/>
                </a:solidFill>
                <a:effectLst/>
                <a:latin typeface="Times New Roman" panose="02020603050405020304" pitchFamily="18" charset="0"/>
              </a:rPr>
              <a:t>4 credit hours project</a:t>
            </a:r>
            <a:endParaRPr lang="en-US" dirty="0"/>
          </a:p>
        </p:txBody>
      </p:sp>
      <p:sp>
        <p:nvSpPr>
          <p:cNvPr id="3" name="Content Placeholder 2">
            <a:extLst>
              <a:ext uri="{FF2B5EF4-FFF2-40B4-BE49-F238E27FC236}">
                <a16:creationId xmlns:a16="http://schemas.microsoft.com/office/drawing/2014/main" id="{4AFD0921-D6E9-4B77-A5A3-A58814788B5A}"/>
              </a:ext>
            </a:extLst>
          </p:cNvPr>
          <p:cNvSpPr>
            <a:spLocks noGrp="1"/>
          </p:cNvSpPr>
          <p:nvPr>
            <p:ph idx="1"/>
          </p:nvPr>
        </p:nvSpPr>
        <p:spPr>
          <a:xfrm>
            <a:off x="838199" y="1940311"/>
            <a:ext cx="11115907" cy="4236651"/>
          </a:xfrm>
        </p:spPr>
        <p:txBody>
          <a:bodyPr/>
          <a:lstStyle/>
          <a:p>
            <a:pPr marL="0" indent="0">
              <a:buNone/>
            </a:pPr>
            <a:r>
              <a:rPr lang="en-US" b="1" dirty="0">
                <a:latin typeface="Georgia" panose="02040502050405020303" pitchFamily="18" charset="0"/>
              </a:rPr>
              <a:t>Paper review and report:</a:t>
            </a:r>
            <a:r>
              <a:rPr lang="en-US" dirty="0">
                <a:latin typeface="Georgia" panose="02040502050405020303" pitchFamily="18" charset="0"/>
              </a:rPr>
              <a:t> </a:t>
            </a:r>
          </a:p>
          <a:p>
            <a:pPr marL="0" indent="0">
              <a:buNone/>
            </a:pPr>
            <a:r>
              <a:rPr lang="en-US" dirty="0">
                <a:latin typeface="Georgia" panose="02040502050405020303" pitchFamily="18" charset="0"/>
              </a:rPr>
              <a:t>You will read and write reviews of papers in the cryptography literature.</a:t>
            </a:r>
          </a:p>
          <a:p>
            <a:pPr marL="0" indent="0">
              <a:buNone/>
            </a:pPr>
            <a:r>
              <a:rPr lang="en-US" altLang="zh-CN" dirty="0">
                <a:latin typeface="Georgia" panose="02040502050405020303" pitchFamily="18" charset="0"/>
              </a:rPr>
              <a:t>Please</a:t>
            </a:r>
            <a:r>
              <a:rPr lang="zh-CN" altLang="en-US" dirty="0">
                <a:latin typeface="Georgia" panose="02040502050405020303" pitchFamily="18" charset="0"/>
              </a:rPr>
              <a:t> </a:t>
            </a:r>
            <a:r>
              <a:rPr lang="en-US" altLang="zh-CN" dirty="0">
                <a:latin typeface="Georgia" panose="02040502050405020303" pitchFamily="18" charset="0"/>
              </a:rPr>
              <a:t>make</a:t>
            </a:r>
            <a:r>
              <a:rPr lang="zh-CN" altLang="en-US" dirty="0">
                <a:latin typeface="Georgia" panose="02040502050405020303" pitchFamily="18" charset="0"/>
              </a:rPr>
              <a:t> </a:t>
            </a:r>
            <a:r>
              <a:rPr lang="en-US" altLang="zh-CN" dirty="0">
                <a:latin typeface="Georgia" panose="02040502050405020303" pitchFamily="18" charset="0"/>
              </a:rPr>
              <a:t>an</a:t>
            </a:r>
            <a:r>
              <a:rPr lang="zh-CN" altLang="en-US" dirty="0">
                <a:latin typeface="Georgia" panose="02040502050405020303" pitchFamily="18" charset="0"/>
              </a:rPr>
              <a:t> </a:t>
            </a:r>
            <a:r>
              <a:rPr lang="en-US" altLang="zh-CN" dirty="0">
                <a:latin typeface="Georgia" panose="02040502050405020303" pitchFamily="18" charset="0"/>
              </a:rPr>
              <a:t>appointment</a:t>
            </a:r>
            <a:r>
              <a:rPr lang="zh-CN" altLang="en-US" dirty="0">
                <a:latin typeface="Georgia" panose="02040502050405020303" pitchFamily="18" charset="0"/>
              </a:rPr>
              <a:t> </a:t>
            </a:r>
            <a:r>
              <a:rPr lang="en-US" altLang="zh-CN" dirty="0">
                <a:latin typeface="Georgia" panose="02040502050405020303" pitchFamily="18" charset="0"/>
              </a:rPr>
              <a:t>with</a:t>
            </a:r>
            <a:r>
              <a:rPr lang="zh-CN" altLang="en-US" dirty="0">
                <a:latin typeface="Georgia" panose="02040502050405020303" pitchFamily="18" charset="0"/>
              </a:rPr>
              <a:t> </a:t>
            </a:r>
            <a:r>
              <a:rPr lang="en-US" altLang="zh-CN" dirty="0">
                <a:latin typeface="Georgia" panose="02040502050405020303" pitchFamily="18" charset="0"/>
              </a:rPr>
              <a:t>me</a:t>
            </a:r>
            <a:r>
              <a:rPr lang="zh-CN" altLang="en-US" dirty="0">
                <a:latin typeface="Georgia" panose="02040502050405020303" pitchFamily="18" charset="0"/>
              </a:rPr>
              <a:t> </a:t>
            </a:r>
            <a:r>
              <a:rPr lang="en-US" altLang="zh-CN" dirty="0">
                <a:latin typeface="Georgia" panose="02040502050405020303" pitchFamily="18" charset="0"/>
              </a:rPr>
              <a:t>on</a:t>
            </a:r>
            <a:r>
              <a:rPr lang="zh-CN" altLang="en-US" dirty="0">
                <a:latin typeface="Georgia" panose="02040502050405020303" pitchFamily="18" charset="0"/>
              </a:rPr>
              <a:t> </a:t>
            </a:r>
            <a:r>
              <a:rPr lang="en-US" altLang="zh-CN" dirty="0">
                <a:latin typeface="Georgia" panose="02040502050405020303" pitchFamily="18" charset="0"/>
              </a:rPr>
              <a:t>your</a:t>
            </a:r>
            <a:r>
              <a:rPr lang="zh-CN" altLang="en-US" dirty="0">
                <a:latin typeface="Georgia" panose="02040502050405020303" pitchFamily="18" charset="0"/>
              </a:rPr>
              <a:t> </a:t>
            </a:r>
            <a:r>
              <a:rPr lang="en-US" altLang="zh-CN" dirty="0">
                <a:latin typeface="Georgia" panose="02040502050405020303" pitchFamily="18" charset="0"/>
              </a:rPr>
              <a:t>paper</a:t>
            </a:r>
            <a:r>
              <a:rPr lang="zh-CN" altLang="en-US" dirty="0">
                <a:latin typeface="Georgia" panose="02040502050405020303" pitchFamily="18" charset="0"/>
              </a:rPr>
              <a:t> </a:t>
            </a:r>
            <a:r>
              <a:rPr lang="en-US" altLang="zh-CN" dirty="0">
                <a:latin typeface="Georgia" panose="02040502050405020303" pitchFamily="18" charset="0"/>
              </a:rPr>
              <a:t>selection.</a:t>
            </a:r>
            <a:endParaRPr lang="en-US" dirty="0">
              <a:latin typeface="Georgia" panose="02040502050405020303" pitchFamily="18" charset="0"/>
            </a:endParaRPr>
          </a:p>
          <a:p>
            <a:pPr marL="0" indent="0">
              <a:buNone/>
            </a:pPr>
            <a:endParaRPr lang="en-US" dirty="0">
              <a:latin typeface="Georgia" panose="02040502050405020303" pitchFamily="18" charset="0"/>
            </a:endParaRPr>
          </a:p>
          <a:p>
            <a:pPr marL="0" indent="0">
              <a:buNone/>
            </a:pPr>
            <a:r>
              <a:rPr lang="en-US" dirty="0">
                <a:latin typeface="Georgia" panose="02040502050405020303" pitchFamily="18" charset="0"/>
                <a:hlinkClick r:id="rId2"/>
              </a:rPr>
              <a:t>https://registrar.illinois.edu/registration/registration-process/variable-credit-hours/</a:t>
            </a:r>
            <a:endParaRPr lang="en-US" dirty="0">
              <a:latin typeface="Georgia" panose="02040502050405020303" pitchFamily="18" charset="0"/>
            </a:endParaRPr>
          </a:p>
          <a:p>
            <a:pPr marL="0" indent="0">
              <a:buNone/>
            </a:pPr>
            <a:endParaRPr lang="en-US" dirty="0">
              <a:latin typeface="Georgia" panose="02040502050405020303" pitchFamily="18" charset="0"/>
            </a:endParaRPr>
          </a:p>
        </p:txBody>
      </p:sp>
    </p:spTree>
    <p:extLst>
      <p:ext uri="{BB962C8B-B14F-4D97-AF65-F5344CB8AC3E}">
        <p14:creationId xmlns:p14="http://schemas.microsoft.com/office/powerpoint/2010/main" val="2297490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DADB-95D7-43D3-BA8C-D206981FD014}"/>
              </a:ext>
            </a:extLst>
          </p:cNvPr>
          <p:cNvSpPr>
            <a:spLocks noGrp="1"/>
          </p:cNvSpPr>
          <p:nvPr>
            <p:ph type="title"/>
          </p:nvPr>
        </p:nvSpPr>
        <p:spPr/>
        <p:txBody>
          <a:bodyPr/>
          <a:lstStyle/>
          <a:p>
            <a:r>
              <a:rPr lang="en-US" dirty="0"/>
              <a:t>Ethics &amp; Academic Integrity</a:t>
            </a:r>
          </a:p>
        </p:txBody>
      </p:sp>
      <p:sp>
        <p:nvSpPr>
          <p:cNvPr id="3" name="Content Placeholder 2">
            <a:extLst>
              <a:ext uri="{FF2B5EF4-FFF2-40B4-BE49-F238E27FC236}">
                <a16:creationId xmlns:a16="http://schemas.microsoft.com/office/drawing/2014/main" id="{02FD32C9-787F-49FA-AB2C-B06485B82D89}"/>
              </a:ext>
            </a:extLst>
          </p:cNvPr>
          <p:cNvSpPr>
            <a:spLocks noGrp="1"/>
          </p:cNvSpPr>
          <p:nvPr>
            <p:ph idx="1"/>
          </p:nvPr>
        </p:nvSpPr>
        <p:spPr>
          <a:xfrm>
            <a:off x="583864" y="1580518"/>
            <a:ext cx="10515600" cy="4783947"/>
          </a:xfrm>
        </p:spPr>
        <p:txBody>
          <a:bodyPr>
            <a:normAutofit/>
          </a:bodyPr>
          <a:lstStyle/>
          <a:p>
            <a:pPr marL="0" indent="0" algn="just">
              <a:buNone/>
            </a:pPr>
            <a:r>
              <a:rPr lang="en-US" b="1" i="0" dirty="0">
                <a:solidFill>
                  <a:srgbClr val="000000"/>
                </a:solidFill>
                <a:effectLst/>
                <a:latin typeface="Times New Roman" panose="02020603050405020304" pitchFamily="18" charset="0"/>
              </a:rPr>
              <a:t>Collaboration.</a:t>
            </a:r>
            <a:r>
              <a:rPr lang="en-US" b="0" i="0" dirty="0">
                <a:solidFill>
                  <a:srgbClr val="000000"/>
                </a:solidFill>
                <a:effectLst/>
                <a:latin typeface="Times New Roman" panose="02020603050405020304" pitchFamily="18" charset="0"/>
              </a:rPr>
              <a:t> </a:t>
            </a:r>
            <a:r>
              <a:rPr lang="en-US" b="0" i="0" dirty="0" err="1">
                <a:solidFill>
                  <a:srgbClr val="000000"/>
                </a:solidFill>
                <a:effectLst/>
                <a:latin typeface="Times New Roman" panose="02020603050405020304" pitchFamily="18" charset="0"/>
              </a:rPr>
              <a:t>Homeworks</a:t>
            </a:r>
            <a:r>
              <a:rPr lang="en-US" b="0" i="0" dirty="0">
                <a:solidFill>
                  <a:srgbClr val="000000"/>
                </a:solidFill>
                <a:effectLst/>
                <a:latin typeface="Times New Roman" panose="02020603050405020304" pitchFamily="18" charset="0"/>
              </a:rPr>
              <a:t> are to be submitted individually. However, you may collaborate with up to </a:t>
            </a:r>
            <a:r>
              <a:rPr lang="en-US" b="1" i="0" dirty="0">
                <a:solidFill>
                  <a:srgbClr val="000000"/>
                </a:solidFill>
                <a:effectLst/>
                <a:latin typeface="Times New Roman" panose="02020603050405020304" pitchFamily="18" charset="0"/>
              </a:rPr>
              <a:t>one</a:t>
            </a:r>
            <a:r>
              <a:rPr lang="en-US" b="0" i="0" dirty="0">
                <a:solidFill>
                  <a:srgbClr val="000000"/>
                </a:solidFill>
                <a:effectLst/>
                <a:latin typeface="Times New Roman" panose="02020603050405020304" pitchFamily="18" charset="0"/>
              </a:rPr>
              <a:t> other student on homework assignments. On each homework submission, </a:t>
            </a:r>
            <a:r>
              <a:rPr lang="en-US" b="1" i="0" dirty="0">
                <a:solidFill>
                  <a:srgbClr val="000000"/>
                </a:solidFill>
                <a:effectLst/>
                <a:latin typeface="Times New Roman" panose="02020603050405020304" pitchFamily="18" charset="0"/>
              </a:rPr>
              <a:t>declare your collaborator </a:t>
            </a:r>
            <a:r>
              <a:rPr lang="en-US" b="0" i="0" dirty="0">
                <a:solidFill>
                  <a:srgbClr val="000000"/>
                </a:solidFill>
                <a:effectLst/>
                <a:latin typeface="Times New Roman" panose="02020603050405020304" pitchFamily="18" charset="0"/>
              </a:rPr>
              <a:t>(if any). In your collaboration you are expected to discuss the homework, not merely copy answers. Plagiarism will not be tolerated</a:t>
            </a:r>
            <a:endParaRPr lang="en-US" dirty="0">
              <a:solidFill>
                <a:srgbClr val="000000"/>
              </a:solidFill>
              <a:latin typeface="Times New Roman" panose="02020603050405020304" pitchFamily="18" charset="0"/>
            </a:endParaRPr>
          </a:p>
          <a:p>
            <a:pPr marL="0" indent="0" algn="just">
              <a:buNone/>
            </a:pPr>
            <a:r>
              <a:rPr lang="en-US" dirty="0">
                <a:hlinkClick r:id="rId2"/>
              </a:rPr>
              <a:t>https://studentcode.illinois.edu/</a:t>
            </a:r>
            <a:endParaRPr lang="en-US" dirty="0">
              <a:solidFill>
                <a:srgbClr val="000000"/>
              </a:solidFill>
              <a:latin typeface="Times New Roman" panose="02020603050405020304" pitchFamily="18" charset="0"/>
            </a:endParaRPr>
          </a:p>
          <a:p>
            <a:pPr marL="0" indent="0" algn="just">
              <a:buNone/>
            </a:pPr>
            <a:endParaRPr lang="en-US" dirty="0"/>
          </a:p>
        </p:txBody>
      </p:sp>
    </p:spTree>
    <p:extLst>
      <p:ext uri="{BB962C8B-B14F-4D97-AF65-F5344CB8AC3E}">
        <p14:creationId xmlns:p14="http://schemas.microsoft.com/office/powerpoint/2010/main" val="2976930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D5401-A032-1F8A-FCB4-E91904B386EA}"/>
              </a:ext>
            </a:extLst>
          </p:cNvPr>
          <p:cNvSpPr>
            <a:spLocks noGrp="1"/>
          </p:cNvSpPr>
          <p:nvPr>
            <p:ph type="title"/>
          </p:nvPr>
        </p:nvSpPr>
        <p:spPr/>
        <p:txBody>
          <a:bodyPr/>
          <a:lstStyle/>
          <a:p>
            <a:r>
              <a:rPr lang="en-US" dirty="0"/>
              <a:t>Emergencies</a:t>
            </a:r>
          </a:p>
        </p:txBody>
      </p:sp>
      <p:sp>
        <p:nvSpPr>
          <p:cNvPr id="3" name="Content Placeholder 2">
            <a:extLst>
              <a:ext uri="{FF2B5EF4-FFF2-40B4-BE49-F238E27FC236}">
                <a16:creationId xmlns:a16="http://schemas.microsoft.com/office/drawing/2014/main" id="{19786D45-D5C2-1890-184F-C809304AA05D}"/>
              </a:ext>
            </a:extLst>
          </p:cNvPr>
          <p:cNvSpPr>
            <a:spLocks noGrp="1"/>
          </p:cNvSpPr>
          <p:nvPr>
            <p:ph idx="1"/>
          </p:nvPr>
        </p:nvSpPr>
        <p:spPr/>
        <p:txBody>
          <a:bodyPr>
            <a:normAutofit fontScale="92500" lnSpcReduction="20000"/>
          </a:bodyPr>
          <a:lstStyle/>
          <a:p>
            <a:pPr marL="0" indent="0">
              <a:buNone/>
            </a:pPr>
            <a:r>
              <a:rPr lang="en-US" b="0" i="1" dirty="0">
                <a:solidFill>
                  <a:srgbClr val="252525"/>
                </a:solidFill>
                <a:effectLst/>
                <a:latin typeface="Source Sans Variable"/>
              </a:rPr>
              <a:t>Emergencies can happen anywhere and at any time, so it’s important that we take a minute to prepare for a situation in which our safety could depend on our ability to react quickly. Take a moment to learn the different ways to leave this building. If there’s ever a fire alarm or something like that, you’ll know how to get out and you’ll be able to help others get out. Next, figure out the best place to go in case of severe weather – we’ll need to go to a low-level in the middle of the building, away from windows. And finally, if there’s ever someone trying to hurt us, our best option is to run out of the building. If we cannot do that safely, we’ll want to hide somewhere we can’t be seen, and we’ll have to lock or barricade the door if possible and be as quiet as we can. We will not leave that safe area until we get an Illini-Alert confirming that it’s safe to do so. If we can’t run or hide, we’ll fight back with whatever we can get our hands on. If you want to better prepare yourself for any of these situations, visit </a:t>
            </a:r>
            <a:r>
              <a:rPr lang="en-US" b="0" i="1" u="sng" dirty="0">
                <a:solidFill>
                  <a:srgbClr val="252525"/>
                </a:solidFill>
                <a:effectLst/>
                <a:latin typeface="Source Sans Variable"/>
                <a:hlinkClick r:id="rId2"/>
              </a:rPr>
              <a:t>police.illinois.edu/safe</a:t>
            </a:r>
            <a:r>
              <a:rPr lang="en-US" b="0" i="1" dirty="0">
                <a:solidFill>
                  <a:srgbClr val="252525"/>
                </a:solidFill>
                <a:effectLst/>
                <a:latin typeface="Source Sans Variable"/>
              </a:rPr>
              <a:t>. Remember you can sign up for emergency text messages at </a:t>
            </a:r>
            <a:r>
              <a:rPr lang="en-US" b="0" i="1" u="sng" dirty="0">
                <a:solidFill>
                  <a:srgbClr val="252525"/>
                </a:solidFill>
                <a:effectLst/>
                <a:latin typeface="Source Sans Variable"/>
                <a:hlinkClick r:id="rId3"/>
              </a:rPr>
              <a:t>emergency.illinois.edu</a:t>
            </a:r>
            <a:r>
              <a:rPr lang="en-US" b="0" i="1" dirty="0">
                <a:solidFill>
                  <a:srgbClr val="252525"/>
                </a:solidFill>
                <a:effectLst/>
                <a:latin typeface="Source Sans Variable"/>
              </a:rPr>
              <a:t>.</a:t>
            </a:r>
            <a:endParaRPr lang="en-US" dirty="0"/>
          </a:p>
        </p:txBody>
      </p:sp>
    </p:spTree>
    <p:extLst>
      <p:ext uri="{BB962C8B-B14F-4D97-AF65-F5344CB8AC3E}">
        <p14:creationId xmlns:p14="http://schemas.microsoft.com/office/powerpoint/2010/main" val="3170222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91016-2B07-F9A1-DBE2-5971E02FF328}"/>
              </a:ext>
            </a:extLst>
          </p:cNvPr>
          <p:cNvSpPr>
            <a:spLocks noGrp="1"/>
          </p:cNvSpPr>
          <p:nvPr>
            <p:ph type="title"/>
          </p:nvPr>
        </p:nvSpPr>
        <p:spPr/>
        <p:txBody>
          <a:bodyPr/>
          <a:lstStyle/>
          <a:p>
            <a:r>
              <a:rPr lang="en-US" dirty="0"/>
              <a:t>Diversity, Equity, and Inclusion</a:t>
            </a:r>
          </a:p>
        </p:txBody>
      </p:sp>
      <p:sp>
        <p:nvSpPr>
          <p:cNvPr id="3" name="Content Placeholder 2">
            <a:extLst>
              <a:ext uri="{FF2B5EF4-FFF2-40B4-BE49-F238E27FC236}">
                <a16:creationId xmlns:a16="http://schemas.microsoft.com/office/drawing/2014/main" id="{92C52FB9-AD68-86AE-D6BD-96CA168A03D9}"/>
              </a:ext>
            </a:extLst>
          </p:cNvPr>
          <p:cNvSpPr>
            <a:spLocks noGrp="1"/>
          </p:cNvSpPr>
          <p:nvPr>
            <p:ph idx="1"/>
          </p:nvPr>
        </p:nvSpPr>
        <p:spPr/>
        <p:txBody>
          <a:bodyPr/>
          <a:lstStyle/>
          <a:p>
            <a:pPr marL="0" indent="0">
              <a:buNone/>
            </a:pPr>
            <a:r>
              <a:rPr lang="en-US" dirty="0"/>
              <a:t>We in the Illinois ECE community are committed to understanding, empathizing with, and respecting each other, embracing the many differences among us.</a:t>
            </a:r>
          </a:p>
        </p:txBody>
      </p:sp>
    </p:spTree>
    <p:extLst>
      <p:ext uri="{BB962C8B-B14F-4D97-AF65-F5344CB8AC3E}">
        <p14:creationId xmlns:p14="http://schemas.microsoft.com/office/powerpoint/2010/main" val="549064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D83A4-7424-C739-5FE3-3A6E911D051F}"/>
              </a:ext>
            </a:extLst>
          </p:cNvPr>
          <p:cNvSpPr>
            <a:spLocks noGrp="1"/>
          </p:cNvSpPr>
          <p:nvPr>
            <p:ph type="title"/>
          </p:nvPr>
        </p:nvSpPr>
        <p:spPr/>
        <p:txBody>
          <a:bodyPr/>
          <a:lstStyle/>
          <a:p>
            <a:r>
              <a:rPr lang="en-US" dirty="0"/>
              <a:t>What is this course </a:t>
            </a:r>
            <a:r>
              <a:rPr lang="en-US" b="1" dirty="0"/>
              <a:t>not</a:t>
            </a:r>
            <a:r>
              <a:rPr lang="en-US" dirty="0"/>
              <a:t> about?</a:t>
            </a:r>
          </a:p>
        </p:txBody>
      </p:sp>
      <p:pic>
        <p:nvPicPr>
          <p:cNvPr id="5" name="Picture 4" descr="Cover of a cryptocurrency textbook, crossed out with a red X: this course is not about cryptocurrency or blockchain.">
            <a:extLst>
              <a:ext uri="{FF2B5EF4-FFF2-40B4-BE49-F238E27FC236}">
                <a16:creationId xmlns:a16="http://schemas.microsoft.com/office/drawing/2014/main" id="{DF119B94-1D41-EA3B-8569-79ECDB402405}"/>
              </a:ext>
            </a:extLst>
          </p:cNvPr>
          <p:cNvPicPr>
            <a:picLocks noChangeAspect="1"/>
          </p:cNvPicPr>
          <p:nvPr/>
        </p:nvPicPr>
        <p:blipFill>
          <a:blip r:embed="rId2"/>
          <a:stretch>
            <a:fillRect/>
          </a:stretch>
        </p:blipFill>
        <p:spPr>
          <a:xfrm>
            <a:off x="1331811" y="1572524"/>
            <a:ext cx="3286194" cy="4692684"/>
          </a:xfrm>
          <a:prstGeom prst="rect">
            <a:avLst/>
          </a:prstGeom>
        </p:spPr>
      </p:pic>
      <p:pic>
        <p:nvPicPr>
          <p:cNvPr id="7" name="Picture 6" descr="Stock photo of a hooded figure typing at a laptop in a dark room, crossed out with a red X: this course is not about hacking or breaking into systems.">
            <a:extLst>
              <a:ext uri="{FF2B5EF4-FFF2-40B4-BE49-F238E27FC236}">
                <a16:creationId xmlns:a16="http://schemas.microsoft.com/office/drawing/2014/main" id="{3173FFD4-CF6E-2416-6ECB-663A2E21C757}"/>
              </a:ext>
            </a:extLst>
          </p:cNvPr>
          <p:cNvPicPr>
            <a:picLocks noChangeAspect="1"/>
          </p:cNvPicPr>
          <p:nvPr/>
        </p:nvPicPr>
        <p:blipFill>
          <a:blip r:embed="rId3"/>
          <a:stretch>
            <a:fillRect/>
          </a:stretch>
        </p:blipFill>
        <p:spPr>
          <a:xfrm>
            <a:off x="5352132" y="2031224"/>
            <a:ext cx="5766261" cy="3791078"/>
          </a:xfrm>
          <a:prstGeom prst="rect">
            <a:avLst/>
          </a:prstGeom>
        </p:spPr>
      </p:pic>
      <p:pic>
        <p:nvPicPr>
          <p:cNvPr id="11" name="Picture 10" descr="Large red X mark, meaning 'not this topic'.">
            <a:extLst>
              <a:ext uri="{FF2B5EF4-FFF2-40B4-BE49-F238E27FC236}">
                <a16:creationId xmlns:a16="http://schemas.microsoft.com/office/drawing/2014/main" id="{D7623A8E-0329-99A6-E14C-8277E9D4C1B0}"/>
              </a:ext>
            </a:extLst>
          </p:cNvPr>
          <p:cNvPicPr>
            <a:picLocks noChangeAspect="1"/>
          </p:cNvPicPr>
          <p:nvPr/>
        </p:nvPicPr>
        <p:blipFill>
          <a:blip r:embed="rId4"/>
          <a:stretch>
            <a:fillRect/>
          </a:stretch>
        </p:blipFill>
        <p:spPr>
          <a:xfrm>
            <a:off x="663695" y="1345070"/>
            <a:ext cx="1730497" cy="1730497"/>
          </a:xfrm>
          <a:prstGeom prst="rect">
            <a:avLst/>
          </a:prstGeom>
        </p:spPr>
      </p:pic>
      <p:pic>
        <p:nvPicPr>
          <p:cNvPr id="12" name="Picture 11" descr="Large red X mark, meaning 'not this topic'.">
            <a:extLst>
              <a:ext uri="{FF2B5EF4-FFF2-40B4-BE49-F238E27FC236}">
                <a16:creationId xmlns:a16="http://schemas.microsoft.com/office/drawing/2014/main" id="{A0D5F136-9AB4-4B58-D8D4-2CA1CB50B06B}"/>
              </a:ext>
            </a:extLst>
          </p:cNvPr>
          <p:cNvPicPr>
            <a:picLocks noChangeAspect="1"/>
          </p:cNvPicPr>
          <p:nvPr/>
        </p:nvPicPr>
        <p:blipFill>
          <a:blip r:embed="rId4"/>
          <a:stretch>
            <a:fillRect/>
          </a:stretch>
        </p:blipFill>
        <p:spPr>
          <a:xfrm>
            <a:off x="4838028" y="1282248"/>
            <a:ext cx="1730497" cy="1730497"/>
          </a:xfrm>
          <a:prstGeom prst="rect">
            <a:avLst/>
          </a:prstGeom>
        </p:spPr>
      </p:pic>
    </p:spTree>
    <p:extLst>
      <p:ext uri="{BB962C8B-B14F-4D97-AF65-F5344CB8AC3E}">
        <p14:creationId xmlns:p14="http://schemas.microsoft.com/office/powerpoint/2010/main" val="58234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483F1-C472-4E29-B114-0D76B5783EB7}"/>
              </a:ext>
            </a:extLst>
          </p:cNvPr>
          <p:cNvSpPr>
            <a:spLocks noGrp="1"/>
          </p:cNvSpPr>
          <p:nvPr>
            <p:ph type="title"/>
          </p:nvPr>
        </p:nvSpPr>
        <p:spPr/>
        <p:txBody>
          <a:bodyPr/>
          <a:lstStyle/>
          <a:p>
            <a:r>
              <a:rPr lang="en-US" dirty="0"/>
              <a:t>Why cryptography?</a:t>
            </a:r>
          </a:p>
        </p:txBody>
      </p:sp>
      <p:pic>
        <p:nvPicPr>
          <p:cNvPr id="4" name="Picture 3" descr="News article screenshot reporting that personal data on roughly 200 million voters was left exposed online.">
            <a:extLst>
              <a:ext uri="{FF2B5EF4-FFF2-40B4-BE49-F238E27FC236}">
                <a16:creationId xmlns:a16="http://schemas.microsoft.com/office/drawing/2014/main" id="{BE352BC8-8605-43BC-A6EE-B9958CD54BB8}"/>
              </a:ext>
            </a:extLst>
          </p:cNvPr>
          <p:cNvPicPr>
            <a:picLocks noChangeAspect="1"/>
          </p:cNvPicPr>
          <p:nvPr/>
        </p:nvPicPr>
        <p:blipFill>
          <a:blip r:embed="rId2"/>
          <a:stretch>
            <a:fillRect/>
          </a:stretch>
        </p:blipFill>
        <p:spPr>
          <a:xfrm>
            <a:off x="789584" y="1932332"/>
            <a:ext cx="5267401" cy="4785775"/>
          </a:xfrm>
          <a:prstGeom prst="rect">
            <a:avLst/>
          </a:prstGeom>
        </p:spPr>
      </p:pic>
      <p:pic>
        <p:nvPicPr>
          <p:cNvPr id="5" name="Picture 4" descr="News article screenshot: FedEx customer data left publicly exposed, including about 119,000 scanned documents.">
            <a:extLst>
              <a:ext uri="{FF2B5EF4-FFF2-40B4-BE49-F238E27FC236}">
                <a16:creationId xmlns:a16="http://schemas.microsoft.com/office/drawing/2014/main" id="{10CA4ED3-77DF-4DC6-829B-A2D3EDBF85E1}"/>
              </a:ext>
            </a:extLst>
          </p:cNvPr>
          <p:cNvPicPr>
            <a:picLocks noChangeAspect="1"/>
          </p:cNvPicPr>
          <p:nvPr/>
        </p:nvPicPr>
        <p:blipFill>
          <a:blip r:embed="rId3"/>
          <a:stretch>
            <a:fillRect/>
          </a:stretch>
        </p:blipFill>
        <p:spPr>
          <a:xfrm>
            <a:off x="7044752" y="620845"/>
            <a:ext cx="4646506" cy="5052740"/>
          </a:xfrm>
          <a:prstGeom prst="rect">
            <a:avLst/>
          </a:prstGeom>
        </p:spPr>
      </p:pic>
      <p:pic>
        <p:nvPicPr>
          <p:cNvPr id="6" name="Picture 5" descr="Wall Street Journal article screenshot about political debate over restricting state-level AI laws and AI usage.">
            <a:extLst>
              <a:ext uri="{FF2B5EF4-FFF2-40B4-BE49-F238E27FC236}">
                <a16:creationId xmlns:a16="http://schemas.microsoft.com/office/drawing/2014/main" id="{39F9871E-5D62-421F-81F3-ACCCF52EAA82}"/>
              </a:ext>
            </a:extLst>
          </p:cNvPr>
          <p:cNvPicPr>
            <a:picLocks noChangeAspect="1"/>
          </p:cNvPicPr>
          <p:nvPr/>
        </p:nvPicPr>
        <p:blipFill>
          <a:blip r:embed="rId4"/>
          <a:stretch>
            <a:fillRect/>
          </a:stretch>
        </p:blipFill>
        <p:spPr>
          <a:xfrm>
            <a:off x="6689942" y="1768785"/>
            <a:ext cx="6419355" cy="4881344"/>
          </a:xfrm>
          <a:prstGeom prst="rect">
            <a:avLst/>
          </a:prstGeom>
        </p:spPr>
      </p:pic>
      <p:pic>
        <p:nvPicPr>
          <p:cNvPr id="8" name="Picture 7" descr="News article screenshot: Cloudflare secures sensitive customer data and restricts AI usage in its deployments.">
            <a:extLst>
              <a:ext uri="{FF2B5EF4-FFF2-40B4-BE49-F238E27FC236}">
                <a16:creationId xmlns:a16="http://schemas.microsoft.com/office/drawing/2014/main" id="{B03809ED-6993-552E-B647-17B59013FE20}"/>
              </a:ext>
            </a:extLst>
          </p:cNvPr>
          <p:cNvPicPr>
            <a:picLocks noChangeAspect="1"/>
          </p:cNvPicPr>
          <p:nvPr/>
        </p:nvPicPr>
        <p:blipFill>
          <a:blip r:embed="rId5"/>
          <a:stretch>
            <a:fillRect/>
          </a:stretch>
        </p:blipFill>
        <p:spPr>
          <a:xfrm>
            <a:off x="736958" y="1932332"/>
            <a:ext cx="6946378" cy="3161164"/>
          </a:xfrm>
          <a:prstGeom prst="rect">
            <a:avLst/>
          </a:prstGeom>
          <a:ln>
            <a:solidFill>
              <a:schemeClr val="tx1"/>
            </a:solidFill>
          </a:ln>
        </p:spPr>
      </p:pic>
      <p:pic>
        <p:nvPicPr>
          <p:cNvPr id="10" name="Picture 9" descr="Screenshot of a published list of organizations recently hit by cyberattacks and data breaches.">
            <a:extLst>
              <a:ext uri="{FF2B5EF4-FFF2-40B4-BE49-F238E27FC236}">
                <a16:creationId xmlns:a16="http://schemas.microsoft.com/office/drawing/2014/main" id="{4763386C-ADEF-538C-7972-A4A5994B86B2}"/>
              </a:ext>
            </a:extLst>
          </p:cNvPr>
          <p:cNvPicPr>
            <a:picLocks noChangeAspect="1"/>
          </p:cNvPicPr>
          <p:nvPr/>
        </p:nvPicPr>
        <p:blipFill>
          <a:blip r:embed="rId6"/>
          <a:stretch>
            <a:fillRect/>
          </a:stretch>
        </p:blipFill>
        <p:spPr>
          <a:xfrm>
            <a:off x="6308676" y="1646631"/>
            <a:ext cx="4061068" cy="4282674"/>
          </a:xfrm>
          <a:prstGeom prst="rect">
            <a:avLst/>
          </a:prstGeom>
        </p:spPr>
      </p:pic>
      <p:sp>
        <p:nvSpPr>
          <p:cNvPr id="12" name="TextBox 11">
            <a:extLst>
              <a:ext uri="{FF2B5EF4-FFF2-40B4-BE49-F238E27FC236}">
                <a16:creationId xmlns:a16="http://schemas.microsoft.com/office/drawing/2014/main" id="{C736B434-F35F-CBE4-62C0-37E00088C1F3}"/>
              </a:ext>
            </a:extLst>
          </p:cNvPr>
          <p:cNvSpPr txBox="1"/>
          <p:nvPr/>
        </p:nvSpPr>
        <p:spPr>
          <a:xfrm>
            <a:off x="3705101" y="1533434"/>
            <a:ext cx="184731" cy="369332"/>
          </a:xfrm>
          <a:prstGeom prst="rect">
            <a:avLst/>
          </a:prstGeom>
          <a:noFill/>
        </p:spPr>
        <p:txBody>
          <a:bodyPr wrap="none" rtlCol="0">
            <a:spAutoFit/>
          </a:bodyPr>
          <a:lstStyle/>
          <a:p>
            <a:endParaRPr lang="en-US" dirty="0"/>
          </a:p>
        </p:txBody>
      </p:sp>
      <p:sp>
        <p:nvSpPr>
          <p:cNvPr id="9" name="Content Placeholder 8">
            <a:extLst>
              <a:ext uri="{FF2B5EF4-FFF2-40B4-BE49-F238E27FC236}">
                <a16:creationId xmlns:a16="http://schemas.microsoft.com/office/drawing/2014/main" id="{0346DF75-9AFE-CFEC-7E81-E0687C23191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6799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483F1-C472-4E29-B114-0D76B5783EB7}"/>
              </a:ext>
            </a:extLst>
          </p:cNvPr>
          <p:cNvSpPr>
            <a:spLocks noGrp="1"/>
          </p:cNvSpPr>
          <p:nvPr>
            <p:ph type="title"/>
          </p:nvPr>
        </p:nvSpPr>
        <p:spPr/>
        <p:txBody>
          <a:bodyPr/>
          <a:lstStyle/>
          <a:p>
            <a:r>
              <a:rPr lang="en-US" dirty="0"/>
              <a:t>Why cryptography?</a:t>
            </a:r>
          </a:p>
        </p:txBody>
      </p:sp>
      <p:sp>
        <p:nvSpPr>
          <p:cNvPr id="3" name="Content Placeholder 2">
            <a:extLst>
              <a:ext uri="{FF2B5EF4-FFF2-40B4-BE49-F238E27FC236}">
                <a16:creationId xmlns:a16="http://schemas.microsoft.com/office/drawing/2014/main" id="{BED1B98B-5A16-447D-8565-2D4538499952}"/>
              </a:ext>
            </a:extLst>
          </p:cNvPr>
          <p:cNvSpPr>
            <a:spLocks noGrp="1"/>
          </p:cNvSpPr>
          <p:nvPr>
            <p:ph idx="1"/>
          </p:nvPr>
        </p:nvSpPr>
        <p:spPr/>
        <p:txBody>
          <a:bodyPr>
            <a:normAutofit/>
          </a:bodyPr>
          <a:lstStyle/>
          <a:p>
            <a:r>
              <a:rPr lang="en-US" dirty="0"/>
              <a:t>Confidentiality</a:t>
            </a:r>
          </a:p>
          <a:p>
            <a:pPr lvl="1"/>
            <a:r>
              <a:rPr lang="en-US" dirty="0"/>
              <a:t>Keeping data and resources hidden</a:t>
            </a:r>
          </a:p>
          <a:p>
            <a:pPr lvl="1"/>
            <a:endParaRPr lang="en-US" dirty="0"/>
          </a:p>
          <a:p>
            <a:r>
              <a:rPr lang="en-US" dirty="0"/>
              <a:t>Integrity</a:t>
            </a:r>
          </a:p>
          <a:p>
            <a:pPr lvl="1"/>
            <a:r>
              <a:rPr lang="en-US" dirty="0"/>
              <a:t>Data integrity (integrity)</a:t>
            </a:r>
          </a:p>
          <a:p>
            <a:pPr lvl="1"/>
            <a:r>
              <a:rPr lang="en-US" dirty="0"/>
              <a:t>Origin integrity (authentication)</a:t>
            </a:r>
          </a:p>
          <a:p>
            <a:pPr lvl="1"/>
            <a:endParaRPr lang="en-US" dirty="0"/>
          </a:p>
          <a:p>
            <a:r>
              <a:rPr lang="en-US" dirty="0"/>
              <a:t>Availability</a:t>
            </a:r>
          </a:p>
          <a:p>
            <a:pPr lvl="1"/>
            <a:r>
              <a:rPr lang="en-US" dirty="0"/>
              <a:t>Denial-of-service attacks</a:t>
            </a:r>
          </a:p>
          <a:p>
            <a:pPr marL="457200" lvl="1" indent="0">
              <a:buNone/>
            </a:pPr>
            <a:endParaRPr lang="en-US" dirty="0"/>
          </a:p>
        </p:txBody>
      </p:sp>
    </p:spTree>
    <p:extLst>
      <p:ext uri="{BB962C8B-B14F-4D97-AF65-F5344CB8AC3E}">
        <p14:creationId xmlns:p14="http://schemas.microsoft.com/office/powerpoint/2010/main" val="2370358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A4074-1225-4E5F-89FD-D3CECADF3C2F}"/>
              </a:ext>
            </a:extLst>
          </p:cNvPr>
          <p:cNvSpPr>
            <a:spLocks noGrp="1"/>
          </p:cNvSpPr>
          <p:nvPr>
            <p:ph type="title"/>
          </p:nvPr>
        </p:nvSpPr>
        <p:spPr>
          <a:xfrm>
            <a:off x="364475" y="254956"/>
            <a:ext cx="10515600" cy="1325563"/>
          </a:xfrm>
        </p:spPr>
        <p:txBody>
          <a:bodyPr/>
          <a:lstStyle/>
          <a:p>
            <a:r>
              <a:rPr lang="en-US" dirty="0"/>
              <a:t>Cryptography</a:t>
            </a:r>
          </a:p>
        </p:txBody>
      </p:sp>
      <p:sp>
        <p:nvSpPr>
          <p:cNvPr id="3" name="Content Placeholder 2">
            <a:extLst>
              <a:ext uri="{FF2B5EF4-FFF2-40B4-BE49-F238E27FC236}">
                <a16:creationId xmlns:a16="http://schemas.microsoft.com/office/drawing/2014/main" id="{525F4DE9-1978-4CBC-91F8-FD9074E5D09A}"/>
              </a:ext>
            </a:extLst>
          </p:cNvPr>
          <p:cNvSpPr>
            <a:spLocks noGrp="1"/>
          </p:cNvSpPr>
          <p:nvPr>
            <p:ph idx="1"/>
          </p:nvPr>
        </p:nvSpPr>
        <p:spPr>
          <a:xfrm>
            <a:off x="445477" y="1442175"/>
            <a:ext cx="10515600" cy="1110781"/>
          </a:xfrm>
        </p:spPr>
        <p:txBody>
          <a:bodyPr>
            <a:normAutofit/>
          </a:bodyPr>
          <a:lstStyle/>
          <a:p>
            <a:pPr marL="0" indent="0" algn="just">
              <a:buNone/>
            </a:pPr>
            <a:r>
              <a:rPr lang="en-US" sz="2400" b="1" dirty="0"/>
              <a:t>1.1 Definition </a:t>
            </a:r>
            <a:r>
              <a:rPr lang="en-US" sz="2400" i="1" dirty="0"/>
              <a:t>Cryptography </a:t>
            </a:r>
            <a:r>
              <a:rPr lang="en-US" sz="2400" dirty="0"/>
              <a:t>is the study of </a:t>
            </a:r>
            <a:r>
              <a:rPr lang="en-US" sz="2400" b="1" dirty="0"/>
              <a:t>mathematical</a:t>
            </a:r>
            <a:r>
              <a:rPr lang="en-US" sz="2400" dirty="0"/>
              <a:t> techniques related to aspects of information security such as confidentiality, data integrity, entity authentication, and data origin authentication.</a:t>
            </a:r>
          </a:p>
        </p:txBody>
      </p:sp>
      <p:sp>
        <p:nvSpPr>
          <p:cNvPr id="5" name="TextBox 4">
            <a:extLst>
              <a:ext uri="{FF2B5EF4-FFF2-40B4-BE49-F238E27FC236}">
                <a16:creationId xmlns:a16="http://schemas.microsoft.com/office/drawing/2014/main" id="{B97B7152-63BA-426F-5F4E-99E821F0B410}"/>
              </a:ext>
            </a:extLst>
          </p:cNvPr>
          <p:cNvSpPr txBox="1"/>
          <p:nvPr/>
        </p:nvSpPr>
        <p:spPr>
          <a:xfrm>
            <a:off x="445477" y="2767738"/>
            <a:ext cx="10755216" cy="2585323"/>
          </a:xfrm>
          <a:prstGeom prst="rect">
            <a:avLst/>
          </a:prstGeom>
          <a:noFill/>
        </p:spPr>
        <p:txBody>
          <a:bodyPr wrap="square">
            <a:spAutoFit/>
          </a:bodyPr>
          <a:lstStyle/>
          <a:p>
            <a:pPr marL="285750" indent="-285750">
              <a:buFont typeface="Arial" panose="020B0604020202020204" pitchFamily="34" charset="0"/>
              <a:buChar char="•"/>
            </a:pPr>
            <a:r>
              <a:rPr lang="en-US" b="1" dirty="0"/>
              <a:t>Encryption</a:t>
            </a:r>
            <a:r>
              <a:rPr lang="en-US" dirty="0"/>
              <a:t>: Converting plaintext into ciphertext using a secret key, so only authorized parties can recover the original message.</a:t>
            </a:r>
          </a:p>
          <a:p>
            <a:pPr marL="285750" indent="-285750">
              <a:buFont typeface="Arial" panose="020B0604020202020204" pitchFamily="34" charset="0"/>
              <a:buChar char="•"/>
            </a:pPr>
            <a:r>
              <a:rPr lang="en-US" b="1" dirty="0"/>
              <a:t>Decryption</a:t>
            </a:r>
            <a:r>
              <a:rPr lang="en-US" dirty="0"/>
              <a:t>: Reversing encryption to get back the plaintext, also requiring a secret key.</a:t>
            </a:r>
          </a:p>
          <a:p>
            <a:pPr marL="285750" indent="-285750">
              <a:buFont typeface="Arial" panose="020B0604020202020204" pitchFamily="34" charset="0"/>
              <a:buChar char="•"/>
            </a:pPr>
            <a:r>
              <a:rPr lang="en-US" b="1" dirty="0"/>
              <a:t>Digital Signatures</a:t>
            </a:r>
            <a:r>
              <a:rPr lang="en-US" dirty="0"/>
              <a:t>: Allowing a party to prove that a message truly came from them and has not been modified.</a:t>
            </a:r>
          </a:p>
          <a:p>
            <a:pPr marL="285750" indent="-285750">
              <a:buFont typeface="Arial" panose="020B0604020202020204" pitchFamily="34" charset="0"/>
              <a:buChar char="•"/>
            </a:pPr>
            <a:r>
              <a:rPr lang="en-US" b="1" dirty="0"/>
              <a:t>Hash Functions</a:t>
            </a:r>
            <a:r>
              <a:rPr lang="en-US" dirty="0"/>
              <a:t>: Mapping data of any size to a fixed-size value in a way that is hard to reverse or manipulate, often used for integrity checking.</a:t>
            </a:r>
          </a:p>
          <a:p>
            <a:pPr marL="285750" indent="-285750">
              <a:buFont typeface="Arial" panose="020B0604020202020204" pitchFamily="34" charset="0"/>
              <a:buChar char="•"/>
            </a:pPr>
            <a:r>
              <a:rPr lang="en-US" b="1" dirty="0"/>
              <a:t>Key Exchange</a:t>
            </a:r>
            <a:r>
              <a:rPr lang="en-US" dirty="0"/>
              <a:t>: Protocols that let two or more parties agree on a shared secret key over an insecure channel (e.g., Diffie–Hellman).</a:t>
            </a:r>
          </a:p>
        </p:txBody>
      </p:sp>
    </p:spTree>
    <p:extLst>
      <p:ext uri="{BB962C8B-B14F-4D97-AF65-F5344CB8AC3E}">
        <p14:creationId xmlns:p14="http://schemas.microsoft.com/office/powerpoint/2010/main" val="37078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ourse schedule table, 15 weeks, with Tuesday and Thursday topics. Weeks 1 to 6, symmetric key cryptography: Week 1, Aug 26, introduction and background on cryptography, then one-time pad and information-theoretic security. Week 2, Sep 2, stream ciphers, then PRG, pseudorandomness and CPA. Week 3, Sep 9, block ciphers, DES and attacks, then AES and block ciphers from PRG, PRP, PRF. Week 4, Sep 16, one-time key versus many-time key and modes of operation, then padding-oracle attacks. Week 5, Sep 23, Message Authentication Codes, then generic birthday attack and cryptographic hash. Week 6, Sep 30, Merkle-Damgard paradigm and Merkle hash tree, then HMAC and authenticated encryption. Week 7, Oct 7, midterm, then first presentation. Weeks 8 to 12, public key cryptography: Week 8, Oct 14, number theory, then Diffie-Hellman key exchange. Week 9, Oct 21, trapdoor permutations and public-key encryption, then RSA-based public-key encryption. Week 10, Oct 28, discrete-log-based public-key encryption, then digital signatures. Week 11, Nov 4, RSA signature and BLS signature, then one-way functions and Lamport signature. Week 12, Nov 11, blind signatures, then multi-party computation. Weeks 13 to 15, advanced topics: Week 13, Nov 18, zero-knowledge proof, then indistinguishability obfuscation. Week 14, Nov 25, Fall Break. Week 15, Dec 2, presentation, then final exam review.">
            <a:extLst>
              <a:ext uri="{FF2B5EF4-FFF2-40B4-BE49-F238E27FC236}">
                <a16:creationId xmlns:a16="http://schemas.microsoft.com/office/drawing/2014/main" id="{AF30286A-0DA3-DE60-6807-13F4079E9476}"/>
              </a:ext>
            </a:extLst>
          </p:cNvPr>
          <p:cNvPicPr>
            <a:picLocks noChangeAspect="1"/>
          </p:cNvPicPr>
          <p:nvPr/>
        </p:nvPicPr>
        <p:blipFill>
          <a:blip r:embed="rId2"/>
          <a:stretch>
            <a:fillRect/>
          </a:stretch>
        </p:blipFill>
        <p:spPr>
          <a:xfrm>
            <a:off x="171680" y="293021"/>
            <a:ext cx="7529111" cy="6271957"/>
          </a:xfrm>
          <a:prstGeom prst="rect">
            <a:avLst/>
          </a:prstGeom>
        </p:spPr>
      </p:pic>
      <p:sp>
        <p:nvSpPr>
          <p:cNvPr id="9" name="Right Brace 8">
            <a:extLst>
              <a:ext uri="{FF2B5EF4-FFF2-40B4-BE49-F238E27FC236}">
                <a16:creationId xmlns:a16="http://schemas.microsoft.com/office/drawing/2014/main" id="{07B673FA-7FB5-6EAA-48C9-DB9426C0DB56}"/>
              </a:ext>
            </a:extLst>
          </p:cNvPr>
          <p:cNvSpPr/>
          <p:nvPr/>
        </p:nvSpPr>
        <p:spPr>
          <a:xfrm>
            <a:off x="7832993" y="616945"/>
            <a:ext cx="550843" cy="253387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a:latin typeface="Georgia" panose="02040502050405020303" pitchFamily="18" charset="0"/>
            </a:endParaRPr>
          </a:p>
        </p:txBody>
      </p:sp>
      <p:sp>
        <p:nvSpPr>
          <p:cNvPr id="11" name="TextBox 10">
            <a:extLst>
              <a:ext uri="{FF2B5EF4-FFF2-40B4-BE49-F238E27FC236}">
                <a16:creationId xmlns:a16="http://schemas.microsoft.com/office/drawing/2014/main" id="{095EFB1F-6BD4-C249-19EB-354DC5905EF2}"/>
              </a:ext>
            </a:extLst>
          </p:cNvPr>
          <p:cNvSpPr txBox="1"/>
          <p:nvPr/>
        </p:nvSpPr>
        <p:spPr>
          <a:xfrm>
            <a:off x="8516038" y="1699218"/>
            <a:ext cx="6097836" cy="369332"/>
          </a:xfrm>
          <a:prstGeom prst="rect">
            <a:avLst/>
          </a:prstGeom>
          <a:noFill/>
        </p:spPr>
        <p:txBody>
          <a:bodyPr wrap="square">
            <a:spAutoFit/>
          </a:bodyPr>
          <a:lstStyle/>
          <a:p>
            <a:r>
              <a:rPr lang="en-US" sz="1800" b="1" dirty="0">
                <a:latin typeface="Georgia" panose="02040502050405020303" pitchFamily="18" charset="0"/>
              </a:rPr>
              <a:t>Symmetric key cryptography</a:t>
            </a:r>
          </a:p>
        </p:txBody>
      </p:sp>
      <p:sp>
        <p:nvSpPr>
          <p:cNvPr id="12" name="Right Brace 11">
            <a:extLst>
              <a:ext uri="{FF2B5EF4-FFF2-40B4-BE49-F238E27FC236}">
                <a16:creationId xmlns:a16="http://schemas.microsoft.com/office/drawing/2014/main" id="{889F9BBD-AE7C-1FD7-B8A2-06B5946C6019}"/>
              </a:ext>
            </a:extLst>
          </p:cNvPr>
          <p:cNvSpPr/>
          <p:nvPr/>
        </p:nvSpPr>
        <p:spPr>
          <a:xfrm>
            <a:off x="7832993" y="3707177"/>
            <a:ext cx="550843" cy="155521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a:latin typeface="Georgia" panose="02040502050405020303" pitchFamily="18" charset="0"/>
            </a:endParaRPr>
          </a:p>
        </p:txBody>
      </p:sp>
      <p:sp>
        <p:nvSpPr>
          <p:cNvPr id="14" name="TextBox 13">
            <a:extLst>
              <a:ext uri="{FF2B5EF4-FFF2-40B4-BE49-F238E27FC236}">
                <a16:creationId xmlns:a16="http://schemas.microsoft.com/office/drawing/2014/main" id="{1489AC2C-5856-D9F0-ED22-D38D4748499D}"/>
              </a:ext>
            </a:extLst>
          </p:cNvPr>
          <p:cNvSpPr txBox="1"/>
          <p:nvPr/>
        </p:nvSpPr>
        <p:spPr>
          <a:xfrm>
            <a:off x="8383836" y="4018050"/>
            <a:ext cx="3305060" cy="646331"/>
          </a:xfrm>
          <a:prstGeom prst="rect">
            <a:avLst/>
          </a:prstGeom>
          <a:noFill/>
        </p:spPr>
        <p:txBody>
          <a:bodyPr wrap="square">
            <a:spAutoFit/>
          </a:bodyPr>
          <a:lstStyle/>
          <a:p>
            <a:pPr algn="ctr"/>
            <a:endParaRPr lang="en-US" sz="1800" b="1" dirty="0">
              <a:latin typeface="Georgia" panose="02040502050405020303" pitchFamily="18" charset="0"/>
            </a:endParaRPr>
          </a:p>
          <a:p>
            <a:pPr algn="ctr"/>
            <a:r>
              <a:rPr lang="en-US" sz="1800" b="1" dirty="0">
                <a:latin typeface="Georgia" panose="02040502050405020303" pitchFamily="18" charset="0"/>
              </a:rPr>
              <a:t>Public key</a:t>
            </a:r>
            <a:r>
              <a:rPr lang="zh-CN" altLang="en-US" sz="1800" b="1" dirty="0">
                <a:latin typeface="Georgia" panose="02040502050405020303" pitchFamily="18" charset="0"/>
              </a:rPr>
              <a:t> </a:t>
            </a:r>
            <a:r>
              <a:rPr lang="en-US" sz="1800" b="1" dirty="0">
                <a:latin typeface="Georgia" panose="02040502050405020303" pitchFamily="18" charset="0"/>
              </a:rPr>
              <a:t>cryptography</a:t>
            </a:r>
          </a:p>
        </p:txBody>
      </p:sp>
      <p:sp>
        <p:nvSpPr>
          <p:cNvPr id="15" name="Right Brace 14">
            <a:extLst>
              <a:ext uri="{FF2B5EF4-FFF2-40B4-BE49-F238E27FC236}">
                <a16:creationId xmlns:a16="http://schemas.microsoft.com/office/drawing/2014/main" id="{23EF655B-71AB-860B-3048-5BEDE0CB8792}"/>
              </a:ext>
            </a:extLst>
          </p:cNvPr>
          <p:cNvSpPr/>
          <p:nvPr/>
        </p:nvSpPr>
        <p:spPr>
          <a:xfrm>
            <a:off x="7832993" y="5422699"/>
            <a:ext cx="550843" cy="6298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a:latin typeface="Georgia" panose="02040502050405020303" pitchFamily="18" charset="0"/>
            </a:endParaRPr>
          </a:p>
        </p:txBody>
      </p:sp>
      <p:sp>
        <p:nvSpPr>
          <p:cNvPr id="16" name="TextBox 15">
            <a:extLst>
              <a:ext uri="{FF2B5EF4-FFF2-40B4-BE49-F238E27FC236}">
                <a16:creationId xmlns:a16="http://schemas.microsoft.com/office/drawing/2014/main" id="{12EB9E6F-EDA4-8CFD-63D9-3854E5FAD1D6}"/>
              </a:ext>
            </a:extLst>
          </p:cNvPr>
          <p:cNvSpPr txBox="1"/>
          <p:nvPr/>
        </p:nvSpPr>
        <p:spPr>
          <a:xfrm>
            <a:off x="8383836" y="5299859"/>
            <a:ext cx="2754217" cy="646331"/>
          </a:xfrm>
          <a:prstGeom prst="rect">
            <a:avLst/>
          </a:prstGeom>
          <a:noFill/>
        </p:spPr>
        <p:txBody>
          <a:bodyPr wrap="square">
            <a:spAutoFit/>
          </a:bodyPr>
          <a:lstStyle/>
          <a:p>
            <a:pPr algn="ctr"/>
            <a:endParaRPr lang="en-US" sz="1800" b="1" dirty="0">
              <a:latin typeface="Georgia" panose="02040502050405020303" pitchFamily="18" charset="0"/>
            </a:endParaRPr>
          </a:p>
          <a:p>
            <a:pPr algn="ctr"/>
            <a:r>
              <a:rPr lang="en-US" sz="1800" b="1" dirty="0">
                <a:latin typeface="Georgia" panose="02040502050405020303" pitchFamily="18" charset="0"/>
              </a:rPr>
              <a:t>Advanced</a:t>
            </a:r>
            <a:r>
              <a:rPr lang="zh-CN" altLang="en-US" sz="1800" b="1" dirty="0">
                <a:latin typeface="Georgia" panose="02040502050405020303" pitchFamily="18" charset="0"/>
              </a:rPr>
              <a:t> </a:t>
            </a:r>
            <a:r>
              <a:rPr lang="en-US" altLang="zh-CN" b="1" dirty="0">
                <a:latin typeface="Georgia" panose="02040502050405020303" pitchFamily="18" charset="0"/>
              </a:rPr>
              <a:t>t</a:t>
            </a:r>
            <a:r>
              <a:rPr lang="en-US" altLang="zh-CN" sz="1800" b="1" dirty="0">
                <a:latin typeface="Georgia" panose="02040502050405020303" pitchFamily="18" charset="0"/>
              </a:rPr>
              <a:t>opics</a:t>
            </a:r>
            <a:endParaRPr lang="en-US" sz="1800" b="1" dirty="0">
              <a:latin typeface="Georgia" panose="02040502050405020303" pitchFamily="18" charset="0"/>
            </a:endParaRPr>
          </a:p>
        </p:txBody>
      </p:sp>
    </p:spTree>
    <p:extLst>
      <p:ext uri="{BB962C8B-B14F-4D97-AF65-F5344CB8AC3E}">
        <p14:creationId xmlns:p14="http://schemas.microsoft.com/office/powerpoint/2010/main" val="389750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A01B-DC5E-C7D8-3DAC-772DCC3097DD}"/>
              </a:ext>
            </a:extLst>
          </p:cNvPr>
          <p:cNvSpPr>
            <a:spLocks noGrp="1"/>
          </p:cNvSpPr>
          <p:nvPr>
            <p:ph type="title"/>
          </p:nvPr>
        </p:nvSpPr>
        <p:spPr>
          <a:xfrm>
            <a:off x="445477" y="347708"/>
            <a:ext cx="10515600" cy="1325563"/>
          </a:xfrm>
        </p:spPr>
        <p:txBody>
          <a:bodyPr/>
          <a:lstStyle/>
          <a:p>
            <a:r>
              <a:rPr lang="en-US" dirty="0">
                <a:latin typeface="Georgia" panose="02040502050405020303" pitchFamily="18" charset="0"/>
              </a:rPr>
              <a:t>Textbook</a:t>
            </a:r>
          </a:p>
        </p:txBody>
      </p:sp>
      <p:sp>
        <p:nvSpPr>
          <p:cNvPr id="3" name="Content Placeholder 2">
            <a:extLst>
              <a:ext uri="{FF2B5EF4-FFF2-40B4-BE49-F238E27FC236}">
                <a16:creationId xmlns:a16="http://schemas.microsoft.com/office/drawing/2014/main" id="{9ADBD999-809A-ACFC-2BD8-9137CDC0819B}"/>
              </a:ext>
            </a:extLst>
          </p:cNvPr>
          <p:cNvSpPr>
            <a:spLocks noGrp="1"/>
          </p:cNvSpPr>
          <p:nvPr>
            <p:ph idx="1"/>
          </p:nvPr>
        </p:nvSpPr>
        <p:spPr>
          <a:xfrm>
            <a:off x="445477" y="1612289"/>
            <a:ext cx="8942828" cy="4482246"/>
          </a:xfrm>
        </p:spPr>
        <p:txBody>
          <a:bodyPr>
            <a:normAutofit/>
          </a:bodyPr>
          <a:lstStyle/>
          <a:p>
            <a:r>
              <a:rPr lang="en-US" dirty="0">
                <a:latin typeface="Georgia" panose="02040502050405020303" pitchFamily="18" charset="0"/>
              </a:rPr>
              <a:t>Introduction to Modern Cryptography, </a:t>
            </a:r>
            <a:r>
              <a:rPr lang="en-US" b="1" dirty="0">
                <a:solidFill>
                  <a:srgbClr val="FF0000"/>
                </a:solidFill>
                <a:latin typeface="Georgia" panose="02040502050405020303" pitchFamily="18" charset="0"/>
              </a:rPr>
              <a:t>3rd edition</a:t>
            </a:r>
            <a:r>
              <a:rPr lang="en-US" dirty="0">
                <a:latin typeface="Georgia" panose="02040502050405020303" pitchFamily="18" charset="0"/>
              </a:rPr>
              <a:t>, Jonathan Katz and and Yehuda Lindell.</a:t>
            </a:r>
          </a:p>
          <a:p>
            <a:endParaRPr lang="en-US" dirty="0">
              <a:latin typeface="Georgia" panose="02040502050405020303" pitchFamily="18" charset="0"/>
            </a:endParaRPr>
          </a:p>
          <a:p>
            <a:r>
              <a:rPr lang="en-US" sz="2800" dirty="0">
                <a:latin typeface="Georgia" panose="02040502050405020303" pitchFamily="18" charset="0"/>
              </a:rPr>
              <a:t>A Graduate Course in Applied Cryptography, Dan </a:t>
            </a:r>
            <a:r>
              <a:rPr lang="en-US" sz="2800" dirty="0" err="1">
                <a:latin typeface="Georgia" panose="02040502050405020303" pitchFamily="18" charset="0"/>
              </a:rPr>
              <a:t>Boneh’s</a:t>
            </a:r>
            <a:r>
              <a:rPr lang="en-US" sz="2800" dirty="0">
                <a:latin typeface="Georgia" panose="02040502050405020303" pitchFamily="18" charset="0"/>
              </a:rPr>
              <a:t> and Victor Shoup</a:t>
            </a:r>
            <a:endParaRPr lang="en-US" dirty="0">
              <a:latin typeface="Georgia" panose="02040502050405020303" pitchFamily="18" charset="0"/>
            </a:endParaRPr>
          </a:p>
          <a:p>
            <a:pPr marL="0" indent="0">
              <a:buNone/>
            </a:pPr>
            <a:endParaRPr lang="en-US" dirty="0">
              <a:latin typeface="Georgia" panose="02040502050405020303" pitchFamily="18" charset="0"/>
            </a:endParaRPr>
          </a:p>
        </p:txBody>
      </p:sp>
    </p:spTree>
    <p:extLst>
      <p:ext uri="{BB962C8B-B14F-4D97-AF65-F5344CB8AC3E}">
        <p14:creationId xmlns:p14="http://schemas.microsoft.com/office/powerpoint/2010/main" val="859279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73697-8332-4275-96D7-B3DEA28C9CFC}"/>
              </a:ext>
            </a:extLst>
          </p:cNvPr>
          <p:cNvSpPr>
            <a:spLocks noGrp="1"/>
          </p:cNvSpPr>
          <p:nvPr>
            <p:ph type="title"/>
          </p:nvPr>
        </p:nvSpPr>
        <p:spPr/>
        <p:txBody>
          <a:bodyPr/>
          <a:lstStyle/>
          <a:p>
            <a:r>
              <a:rPr lang="en-US" b="1" dirty="0">
                <a:latin typeface="Georgia" panose="02040502050405020303" pitchFamily="18" charset="0"/>
              </a:rPr>
              <a:t>What is this course about?</a:t>
            </a:r>
            <a:r>
              <a:rPr lang="zh-CN" altLang="en-US" b="1" dirty="0">
                <a:latin typeface="Georgia" panose="02040502050405020303" pitchFamily="18" charset="0"/>
              </a:rPr>
              <a:t>   </a:t>
            </a:r>
            <a:r>
              <a:rPr lang="en-US" altLang="zh-CN" b="1" dirty="0">
                <a:solidFill>
                  <a:srgbClr val="FF0000"/>
                </a:solidFill>
                <a:latin typeface="Georgia" panose="02040502050405020303" pitchFamily="18" charset="0"/>
              </a:rPr>
              <a:t>Proof</a:t>
            </a:r>
            <a:r>
              <a:rPr lang="zh-CN" altLang="en-US" b="1" dirty="0">
                <a:latin typeface="Georgia" panose="02040502050405020303" pitchFamily="18" charset="0"/>
              </a:rPr>
              <a:t> </a:t>
            </a:r>
            <a:endParaRPr lang="en-US" b="1" dirty="0">
              <a:latin typeface="Georgia" panose="02040502050405020303" pitchFamily="18" charset="0"/>
            </a:endParaRPr>
          </a:p>
        </p:txBody>
      </p:sp>
      <p:sp>
        <p:nvSpPr>
          <p:cNvPr id="3" name="Content Placeholder 2">
            <a:extLst>
              <a:ext uri="{FF2B5EF4-FFF2-40B4-BE49-F238E27FC236}">
                <a16:creationId xmlns:a16="http://schemas.microsoft.com/office/drawing/2014/main" id="{EE8E17A3-814C-8BFB-2D2E-184F3481B7E0}"/>
              </a:ext>
            </a:extLst>
          </p:cNvPr>
          <p:cNvSpPr>
            <a:spLocks noGrp="1"/>
          </p:cNvSpPr>
          <p:nvPr>
            <p:ph idx="1"/>
          </p:nvPr>
        </p:nvSpPr>
        <p:spPr>
          <a:xfrm>
            <a:off x="838200" y="1690688"/>
            <a:ext cx="10515600" cy="638098"/>
          </a:xfrm>
        </p:spPr>
        <p:txBody>
          <a:bodyPr>
            <a:normAutofit fontScale="92500"/>
          </a:bodyPr>
          <a:lstStyle/>
          <a:p>
            <a:pPr marL="0" indent="0">
              <a:buNone/>
            </a:pPr>
            <a:r>
              <a:rPr lang="en-US" altLang="zh-CN" dirty="0">
                <a:latin typeface="Georgia" panose="02040502050405020303" pitchFamily="18" charset="0"/>
              </a:rPr>
              <a:t>Example:</a:t>
            </a:r>
            <a:r>
              <a:rPr lang="zh-CN" altLang="en-US" dirty="0">
                <a:latin typeface="Georgia" panose="02040502050405020303" pitchFamily="18" charset="0"/>
              </a:rPr>
              <a:t> </a:t>
            </a:r>
            <a:r>
              <a:rPr lang="en-US" b="0" i="0" dirty="0">
                <a:solidFill>
                  <a:srgbClr val="000000"/>
                </a:solidFill>
                <a:effectLst/>
                <a:latin typeface="Georgia" panose="02040502050405020303" pitchFamily="18" charset="0"/>
              </a:rPr>
              <a:t>The </a:t>
            </a:r>
            <a:r>
              <a:rPr lang="en-US" b="0" i="0" dirty="0" err="1">
                <a:solidFill>
                  <a:srgbClr val="000000"/>
                </a:solidFill>
                <a:effectLst/>
                <a:latin typeface="Georgia" panose="02040502050405020303" pitchFamily="18" charset="0"/>
              </a:rPr>
              <a:t>Goldreich</a:t>
            </a:r>
            <a:r>
              <a:rPr lang="en-US" b="0" i="0" dirty="0">
                <a:solidFill>
                  <a:srgbClr val="000000"/>
                </a:solidFill>
                <a:effectLst/>
                <a:latin typeface="Georgia" panose="02040502050405020303" pitchFamily="18" charset="0"/>
              </a:rPr>
              <a:t>-Goldwasser-</a:t>
            </a:r>
            <a:r>
              <a:rPr lang="en-US" b="0" i="0" dirty="0" err="1">
                <a:solidFill>
                  <a:srgbClr val="000000"/>
                </a:solidFill>
                <a:effectLst/>
                <a:latin typeface="Georgia" panose="02040502050405020303" pitchFamily="18" charset="0"/>
              </a:rPr>
              <a:t>Micali</a:t>
            </a:r>
            <a:r>
              <a:rPr lang="en-US" b="0" i="0" dirty="0">
                <a:solidFill>
                  <a:srgbClr val="000000"/>
                </a:solidFill>
                <a:effectLst/>
                <a:latin typeface="Georgia" panose="02040502050405020303" pitchFamily="18" charset="0"/>
              </a:rPr>
              <a:t> Construction</a:t>
            </a:r>
            <a:r>
              <a:rPr lang="zh-CN" altLang="en-US" b="0" i="0" dirty="0">
                <a:solidFill>
                  <a:srgbClr val="000000"/>
                </a:solidFill>
                <a:effectLst/>
                <a:latin typeface="Georgia" panose="02040502050405020303" pitchFamily="18" charset="0"/>
              </a:rPr>
              <a:t>  </a:t>
            </a:r>
            <a:r>
              <a:rPr lang="en-US" altLang="zh-CN" b="0" i="0" dirty="0">
                <a:solidFill>
                  <a:srgbClr val="000000"/>
                </a:solidFill>
                <a:effectLst/>
                <a:latin typeface="Georgia" panose="02040502050405020303" pitchFamily="18" charset="0"/>
              </a:rPr>
              <a:t>[GGM’84]</a:t>
            </a:r>
            <a:endParaRPr lang="en-US" b="0" i="0" dirty="0">
              <a:solidFill>
                <a:srgbClr val="000000"/>
              </a:solidFill>
              <a:effectLst/>
              <a:latin typeface="Georgia" panose="02040502050405020303" pitchFamily="18" charset="0"/>
            </a:endParaRPr>
          </a:p>
        </p:txBody>
      </p:sp>
      <p:pic>
        <p:nvPicPr>
          <p:cNvPr id="1028" name="Picture 4" descr="Fig. 1.">
            <a:extLst>
              <a:ext uri="{FF2B5EF4-FFF2-40B4-BE49-F238E27FC236}">
                <a16:creationId xmlns:a16="http://schemas.microsoft.com/office/drawing/2014/main" id="{75A9867F-5BF3-3580-50B6-614E152489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257" y="2397015"/>
            <a:ext cx="5324627" cy="164592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13A4021-5C2E-6CC7-A647-C089456BD5D9}"/>
                  </a:ext>
                </a:extLst>
              </p:cNvPr>
              <p:cNvSpPr txBox="1"/>
              <p:nvPr/>
            </p:nvSpPr>
            <p:spPr>
              <a:xfrm>
                <a:off x="658257" y="4420107"/>
                <a:ext cx="10127256" cy="2954463"/>
              </a:xfrm>
              <a:prstGeom prst="rect">
                <a:avLst/>
              </a:prstGeom>
              <a:noFill/>
            </p:spPr>
            <p:txBody>
              <a:bodyPr wrap="square">
                <a:spAutoFit/>
              </a:bodyPr>
              <a:lstStyle/>
              <a:p>
                <a:r>
                  <a:rPr lang="en-US" dirty="0">
                    <a:latin typeface="Georgia" panose="02040502050405020303" pitchFamily="18" charset="0"/>
                  </a:rPr>
                  <a:t>Lemma: Let G be a PRG. Then, for every polynomial </a:t>
                </a:r>
                <a14:m>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m:t>
                    </m:r>
                    <m:r>
                      <a:rPr lang="en-US" altLang="zh-CN" b="0" i="1" smtClean="0">
                        <a:latin typeface="Cambria Math" panose="02040503050406030204" pitchFamily="18" charset="0"/>
                      </a:rPr>
                      <m:t>𝐿</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en-US" dirty="0">
                    <a:latin typeface="Georgia" panose="02040502050405020303" pitchFamily="18" charset="0"/>
                  </a:rPr>
                  <a:t>, the following two distributions are computationally indistinguishable:</a:t>
                </a:r>
              </a:p>
              <a:p>
                <a:pPr algn="ctr"/>
                <a:endParaRPr lang="en-US" altLang="zh-CN" b="0" i="1" dirty="0">
                  <a:latin typeface="Georgia" panose="02040502050405020303" pitchFamily="18" charset="0"/>
                </a:endParaRPr>
              </a:p>
              <a:p>
                <a:pPr algn="ctr"/>
                <a14:m>
                  <m:oMath xmlns:m="http://schemas.openxmlformats.org/officeDocument/2006/math">
                    <m:r>
                      <a:rPr lang="en-US" altLang="zh-CN" b="0" i="1" smtClean="0">
                        <a:latin typeface="Cambria Math" panose="02040503050406030204" pitchFamily="18" charset="0"/>
                      </a:rPr>
                      <m:t>𝐺</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0</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𝐺</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𝐺</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𝐿</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𝒰</m:t>
                        </m:r>
                      </m:e>
                      <m:sub>
                        <m:r>
                          <a:rPr lang="en-US" altLang="zh-CN" b="0" i="1" smtClean="0">
                            <a:latin typeface="Cambria Math" panose="02040503050406030204" pitchFamily="18" charset="0"/>
                            <a:ea typeface="Cambria Math" panose="02040503050406030204" pitchFamily="18" charset="0"/>
                          </a:rPr>
                          <m:t>0</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𝒰</m:t>
                        </m:r>
                      </m:e>
                      <m:sub>
                        <m:r>
                          <a:rPr lang="en-US" altLang="zh-CN" b="0" i="1" smtClean="0">
                            <a:latin typeface="Cambria Math" panose="02040503050406030204" pitchFamily="18" charset="0"/>
                            <a:ea typeface="Cambria Math" panose="02040503050406030204" pitchFamily="18" charset="0"/>
                          </a:rPr>
                          <m:t>1</m:t>
                        </m:r>
                      </m:sub>
                    </m:sSub>
                  </m:oMath>
                </a14:m>
                <a:r>
                  <a:rPr lang="en-US" altLang="zh-CN" dirty="0">
                    <a:latin typeface="Georgia" panose="02040502050405020303" pitchFamily="18" charset="0"/>
                  </a:rPr>
                  <a:t>,</a:t>
                </a:r>
                <a:r>
                  <a:rPr lang="zh-CN" altLang="en-US" dirty="0">
                    <a:latin typeface="Georgia" panose="02040502050405020303" pitchFamily="18" charset="0"/>
                  </a:rPr>
                  <a:t> </a:t>
                </a:r>
                <a:r>
                  <a:rPr lang="en-US" altLang="zh-CN" dirty="0">
                    <a:latin typeface="Georgia" panose="02040502050405020303" pitchFamily="18" charset="0"/>
                  </a:rPr>
                  <a:t>…,</a:t>
                </a:r>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𝒰</m:t>
                        </m:r>
                      </m:e>
                      <m:sub>
                        <m:r>
                          <a:rPr lang="en-US" altLang="zh-CN" b="0" i="1" smtClean="0">
                            <a:latin typeface="Cambria Math" panose="02040503050406030204" pitchFamily="18" charset="0"/>
                            <a:ea typeface="Cambria Math" panose="02040503050406030204" pitchFamily="18" charset="0"/>
                          </a:rPr>
                          <m:t>𝐿</m:t>
                        </m:r>
                      </m:sub>
                    </m:sSub>
                  </m:oMath>
                </a14:m>
                <a:endParaRPr lang="en-US" dirty="0">
                  <a:latin typeface="Georgia" panose="02040502050405020303" pitchFamily="18" charset="0"/>
                </a:endParaRPr>
              </a:p>
              <a:p>
                <a:pPr algn="ctr"/>
                <a:endParaRPr lang="en-US" dirty="0">
                  <a:latin typeface="Georgia" panose="02040502050405020303" pitchFamily="18" charset="0"/>
                </a:endParaRPr>
              </a:p>
              <a:p>
                <a:r>
                  <a:rPr lang="en-US" altLang="zh-CN" dirty="0">
                    <a:latin typeface="Georgia" panose="02040502050405020303" pitchFamily="18" charset="0"/>
                  </a:rPr>
                  <a:t>Proof:</a:t>
                </a:r>
                <a:r>
                  <a:rPr lang="zh-CN" altLang="en-US" dirty="0">
                    <a:latin typeface="Georgia" panose="02040502050405020303" pitchFamily="18" charset="0"/>
                  </a:rPr>
                  <a:t>  </a:t>
                </a:r>
                <a:r>
                  <a:rPr lang="en-US" altLang="zh-CN" dirty="0">
                    <a:latin typeface="Georgia" panose="02040502050405020303" pitchFamily="18" charset="0"/>
                  </a:rPr>
                  <a:t>By</a:t>
                </a:r>
                <a:r>
                  <a:rPr lang="zh-CN" altLang="en-US" dirty="0">
                    <a:latin typeface="Georgia" panose="02040502050405020303" pitchFamily="18" charset="0"/>
                  </a:rPr>
                  <a:t> </a:t>
                </a:r>
                <a:r>
                  <a:rPr lang="en-US" altLang="zh-CN" dirty="0">
                    <a:latin typeface="Georgia" panose="02040502050405020303" pitchFamily="18" charset="0"/>
                  </a:rPr>
                  <a:t>Hybrid</a:t>
                </a:r>
                <a:r>
                  <a:rPr lang="zh-CN" altLang="en-US" dirty="0">
                    <a:latin typeface="Georgia" panose="02040502050405020303" pitchFamily="18" charset="0"/>
                  </a:rPr>
                  <a:t> </a:t>
                </a:r>
                <a:r>
                  <a:rPr lang="en-US" altLang="zh-CN" dirty="0">
                    <a:latin typeface="Georgia" panose="02040502050405020303" pitchFamily="18" charset="0"/>
                  </a:rPr>
                  <a:t>argument.</a:t>
                </a:r>
                <a:r>
                  <a:rPr lang="zh-CN" altLang="en-US" dirty="0">
                    <a:latin typeface="Georgia" panose="02040502050405020303" pitchFamily="18" charset="0"/>
                  </a:rPr>
                  <a:t>  </a:t>
                </a:r>
                <a:r>
                  <a:rPr lang="en-US" altLang="zh-CN" dirty="0">
                    <a:latin typeface="Georgia" panose="02040502050405020303" pitchFamily="18" charset="0"/>
                  </a:rPr>
                  <a:t>If there is a ppt distinguisher between the two distributions with</a:t>
                </a:r>
                <a:r>
                  <a:rPr lang="zh-CN" altLang="en-US" dirty="0">
                    <a:latin typeface="Georgia" panose="02040502050405020303" pitchFamily="18" charset="0"/>
                  </a:rPr>
                  <a:t> </a:t>
                </a:r>
                <a:r>
                  <a:rPr lang="en-US" altLang="zh-CN" dirty="0">
                    <a:latin typeface="Georgia" panose="02040502050405020303" pitchFamily="18" charset="0"/>
                  </a:rPr>
                  <a:t>distinguishing advantage</a:t>
                </a:r>
                <a:r>
                  <a:rPr lang="zh-CN" altLang="en-US" dirty="0">
                    <a:latin typeface="Georgia" panose="02040502050405020303" pitchFamily="18" charset="0"/>
                  </a:rPr>
                  <a:t> </a:t>
                </a:r>
                <a14:m>
                  <m:oMath xmlns:m="http://schemas.openxmlformats.org/officeDocument/2006/math">
                    <m:r>
                      <a:rPr lang="en-US" altLang="zh-CN" b="0" i="1" smtClean="0">
                        <a:latin typeface="Cambria Math" panose="02040503050406030204" pitchFamily="18" charset="0"/>
                      </a:rPr>
                      <m:t>𝜖</m:t>
                    </m:r>
                  </m:oMath>
                </a14:m>
                <a:r>
                  <a:rPr lang="en-US" altLang="zh-CN" dirty="0">
                    <a:latin typeface="Georgia" panose="02040502050405020303" pitchFamily="18" charset="0"/>
                  </a:rPr>
                  <a:t> , then there is a ppt distinguisher for</a:t>
                </a:r>
                <a:r>
                  <a:rPr lang="zh-CN" altLang="en-US" dirty="0">
                    <a:latin typeface="Georgia" panose="02040502050405020303" pitchFamily="18" charset="0"/>
                  </a:rPr>
                  <a:t> </a:t>
                </a:r>
                <a:r>
                  <a:rPr lang="en-US" altLang="zh-CN" dirty="0">
                    <a:latin typeface="Georgia" panose="02040502050405020303" pitchFamily="18" charset="0"/>
                  </a:rPr>
                  <a:t>G with advantage</a:t>
                </a:r>
                <a:r>
                  <a:rPr lang="zh-CN" altLang="en-US" dirty="0">
                    <a:latin typeface="Georgia" panose="02040502050405020303" pitchFamily="18" charset="0"/>
                  </a:rPr>
                  <a:t> </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𝜖</m:t>
                        </m:r>
                      </m:num>
                      <m:den>
                        <m:r>
                          <a:rPr lang="en-US" altLang="zh-CN" b="0" i="1" smtClean="0">
                            <a:latin typeface="Cambria Math" panose="02040503050406030204" pitchFamily="18" charset="0"/>
                          </a:rPr>
                          <m:t>𝐿</m:t>
                        </m:r>
                      </m:den>
                    </m:f>
                  </m:oMath>
                </a14:m>
                <a:r>
                  <a:rPr lang="en-US" altLang="zh-CN" dirty="0">
                    <a:latin typeface="Georgia" panose="02040502050405020303" pitchFamily="18" charset="0"/>
                  </a:rPr>
                  <a:t>.</a:t>
                </a:r>
                <a:r>
                  <a:rPr lang="zh-CN" altLang="en-US" dirty="0">
                    <a:latin typeface="Georgia" panose="02040502050405020303" pitchFamily="18" charset="0"/>
                  </a:rPr>
                  <a:t>   </a:t>
                </a:r>
                <a:endParaRPr lang="en-US" altLang="zh-CN" dirty="0">
                  <a:latin typeface="Georgia" panose="02040502050405020303" pitchFamily="18" charset="0"/>
                </a:endParaRPr>
              </a:p>
              <a:p>
                <a:r>
                  <a:rPr lang="en-US" altLang="zh-CN" dirty="0">
                    <a:latin typeface="Georgia" panose="02040502050405020303" pitchFamily="18" charset="0"/>
                  </a:rPr>
                  <a:t>	</a:t>
                </a:r>
              </a:p>
              <a:p>
                <a:endParaRPr lang="en-US" dirty="0">
                  <a:latin typeface="Georgia" panose="02040502050405020303" pitchFamily="18" charset="0"/>
                </a:endParaRPr>
              </a:p>
              <a:p>
                <a:endParaRPr lang="en-US" dirty="0">
                  <a:latin typeface="Georgia" panose="02040502050405020303" pitchFamily="18" charset="0"/>
                </a:endParaRPr>
              </a:p>
            </p:txBody>
          </p:sp>
        </mc:Choice>
        <mc:Fallback xmlns="">
          <p:sp>
            <p:nvSpPr>
              <p:cNvPr id="5" name="TextBox 4">
                <a:extLst>
                  <a:ext uri="{FF2B5EF4-FFF2-40B4-BE49-F238E27FC236}">
                    <a16:creationId xmlns:a16="http://schemas.microsoft.com/office/drawing/2014/main" id="{B13A4021-5C2E-6CC7-A647-C089456BD5D9}"/>
                  </a:ext>
                </a:extLst>
              </p:cNvPr>
              <p:cNvSpPr txBox="1">
                <a:spLocks noRot="1" noChangeAspect="1" noMove="1" noResize="1" noEditPoints="1" noAdjustHandles="1" noChangeArrowheads="1" noChangeShapeType="1" noTextEdit="1"/>
              </p:cNvSpPr>
              <p:nvPr/>
            </p:nvSpPr>
            <p:spPr>
              <a:xfrm>
                <a:off x="658257" y="4420107"/>
                <a:ext cx="10127256" cy="2954463"/>
              </a:xfrm>
              <a:prstGeom prst="rect">
                <a:avLst/>
              </a:prstGeom>
              <a:blipFill>
                <a:blip r:embed="rId4"/>
                <a:stretch>
                  <a:fillRect l="-375" t="-858"/>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6B353D66-3FB3-7A00-96A1-FCC1E4F9894C}"/>
              </a:ext>
            </a:extLst>
          </p:cNvPr>
          <p:cNvGrpSpPr/>
          <p:nvPr/>
        </p:nvGrpSpPr>
        <p:grpSpPr>
          <a:xfrm>
            <a:off x="6539596" y="2504030"/>
            <a:ext cx="5333178" cy="1645920"/>
            <a:chOff x="6539596" y="2504030"/>
            <a:chExt cx="5333178" cy="1645920"/>
          </a:xfrm>
        </p:grpSpPr>
        <p:grpSp>
          <p:nvGrpSpPr>
            <p:cNvPr id="13" name="Group 12">
              <a:extLst>
                <a:ext uri="{FF2B5EF4-FFF2-40B4-BE49-F238E27FC236}">
                  <a16:creationId xmlns:a16="http://schemas.microsoft.com/office/drawing/2014/main" id="{28320BF7-8F95-C697-EE23-9C4966A92AF3}"/>
                </a:ext>
              </a:extLst>
            </p:cNvPr>
            <p:cNvGrpSpPr/>
            <p:nvPr/>
          </p:nvGrpSpPr>
          <p:grpSpPr>
            <a:xfrm>
              <a:off x="6548149" y="2504030"/>
              <a:ext cx="5324625" cy="1645920"/>
              <a:chOff x="6510969" y="2397015"/>
              <a:chExt cx="5324625" cy="1645920"/>
            </a:xfrm>
          </p:grpSpPr>
          <p:pic>
            <p:nvPicPr>
              <p:cNvPr id="7" name="Picture 4" descr="Fig. 1.">
                <a:extLst>
                  <a:ext uri="{FF2B5EF4-FFF2-40B4-BE49-F238E27FC236}">
                    <a16:creationId xmlns:a16="http://schemas.microsoft.com/office/drawing/2014/main" id="{26AB42FB-F872-9603-844A-A99E247341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969" y="2397015"/>
                <a:ext cx="5324625" cy="164592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0614BD1-598C-D8C2-ED1C-713721DBCA98}"/>
                      </a:ext>
                    </a:extLst>
                  </p:cNvPr>
                  <p:cNvSpPr txBox="1"/>
                  <p:nvPr/>
                </p:nvSpPr>
                <p:spPr>
                  <a:xfrm>
                    <a:off x="7072829" y="2439580"/>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0</m:t>
                            </m:r>
                          </m:sub>
                        </m:sSub>
                      </m:oMath>
                    </a14:m>
                    <a:endParaRPr lang="en-US" dirty="0">
                      <a:latin typeface="Georgia" panose="02040502050405020303" pitchFamily="18" charset="0"/>
                    </a:endParaRPr>
                  </a:p>
                </p:txBody>
              </p:sp>
            </mc:Choice>
            <mc:Fallback xmlns="">
              <p:sp>
                <p:nvSpPr>
                  <p:cNvPr id="8" name="TextBox 7">
                    <a:extLst>
                      <a:ext uri="{FF2B5EF4-FFF2-40B4-BE49-F238E27FC236}">
                        <a16:creationId xmlns:a16="http://schemas.microsoft.com/office/drawing/2014/main" id="{10614BD1-598C-D8C2-ED1C-713721DBCA98}"/>
                      </a:ext>
                    </a:extLst>
                  </p:cNvPr>
                  <p:cNvSpPr txBox="1">
                    <a:spLocks noRot="1" noChangeAspect="1" noMove="1" noResize="1" noEditPoints="1" noAdjustHandles="1" noChangeArrowheads="1" noChangeShapeType="1" noTextEdit="1"/>
                  </p:cNvSpPr>
                  <p:nvPr/>
                </p:nvSpPr>
                <p:spPr>
                  <a:xfrm>
                    <a:off x="7072829" y="2439580"/>
                    <a:ext cx="363557" cy="6463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710E238-EEEF-8171-4B03-6051A6415342}"/>
                      </a:ext>
                    </a:extLst>
                  </p:cNvPr>
                  <p:cNvSpPr txBox="1"/>
                  <p:nvPr/>
                </p:nvSpPr>
                <p:spPr>
                  <a:xfrm>
                    <a:off x="9828132" y="2448219"/>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oMath>
                    </a14:m>
                    <a:endParaRPr lang="en-US" dirty="0">
                      <a:latin typeface="Georgia" panose="02040502050405020303" pitchFamily="18" charset="0"/>
                    </a:endParaRPr>
                  </a:p>
                </p:txBody>
              </p:sp>
            </mc:Choice>
            <mc:Fallback xmlns="">
              <p:sp>
                <p:nvSpPr>
                  <p:cNvPr id="10" name="TextBox 9">
                    <a:extLst>
                      <a:ext uri="{FF2B5EF4-FFF2-40B4-BE49-F238E27FC236}">
                        <a16:creationId xmlns:a16="http://schemas.microsoft.com/office/drawing/2014/main" id="{8710E238-EEEF-8171-4B03-6051A6415342}"/>
                      </a:ext>
                    </a:extLst>
                  </p:cNvPr>
                  <p:cNvSpPr txBox="1">
                    <a:spLocks noRot="1" noChangeAspect="1" noMove="1" noResize="1" noEditPoints="1" noAdjustHandles="1" noChangeArrowheads="1" noChangeShapeType="1" noTextEdit="1"/>
                  </p:cNvSpPr>
                  <p:nvPr/>
                </p:nvSpPr>
                <p:spPr>
                  <a:xfrm>
                    <a:off x="9828132" y="2448219"/>
                    <a:ext cx="363557" cy="646331"/>
                  </a:xfrm>
                  <a:prstGeom prst="rect">
                    <a:avLst/>
                  </a:prstGeom>
                  <a:blipFill>
                    <a:blip r:embed="rId6"/>
                    <a:stretch>
                      <a:fillRect/>
                    </a:stretch>
                  </a:blipFill>
                </p:spPr>
                <p:txBody>
                  <a:bodyPr/>
                  <a:lstStyle/>
                  <a:p>
                    <a:r>
                      <a:rPr lang="en-US">
                        <a:noFill/>
                      </a:rPr>
                      <a:t> </a:t>
                    </a:r>
                  </a:p>
                </p:txBody>
              </p:sp>
            </mc:Fallback>
          </mc:AlternateContent>
          <p:sp>
            <p:nvSpPr>
              <p:cNvPr id="11" name="Multiply 10">
                <a:extLst>
                  <a:ext uri="{FF2B5EF4-FFF2-40B4-BE49-F238E27FC236}">
                    <a16:creationId xmlns:a16="http://schemas.microsoft.com/office/drawing/2014/main" id="{B3E9C2B2-165F-98DE-B9BD-753494EC1DBC}"/>
                  </a:ext>
                </a:extLst>
              </p:cNvPr>
              <p:cNvSpPr/>
              <p:nvPr/>
            </p:nvSpPr>
            <p:spPr>
              <a:xfrm>
                <a:off x="7557571" y="2705958"/>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p:sp>
            <p:nvSpPr>
              <p:cNvPr id="12" name="Multiply 11">
                <a:extLst>
                  <a:ext uri="{FF2B5EF4-FFF2-40B4-BE49-F238E27FC236}">
                    <a16:creationId xmlns:a16="http://schemas.microsoft.com/office/drawing/2014/main" id="{69B56ABF-058E-34D4-2B77-422103CEDCBD}"/>
                  </a:ext>
                </a:extLst>
              </p:cNvPr>
              <p:cNvSpPr/>
              <p:nvPr/>
            </p:nvSpPr>
            <p:spPr>
              <a:xfrm>
                <a:off x="10273953" y="2705958"/>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p:grpSp>
        <p:sp>
          <p:nvSpPr>
            <p:cNvPr id="23" name="TextBox 22">
              <a:extLst>
                <a:ext uri="{FF2B5EF4-FFF2-40B4-BE49-F238E27FC236}">
                  <a16:creationId xmlns:a16="http://schemas.microsoft.com/office/drawing/2014/main" id="{DFC194EF-09EE-0826-C66F-304E9C1E6FFD}"/>
                </a:ext>
              </a:extLst>
            </p:cNvPr>
            <p:cNvSpPr txBox="1"/>
            <p:nvPr/>
          </p:nvSpPr>
          <p:spPr>
            <a:xfrm>
              <a:off x="6539596" y="2546887"/>
              <a:ext cx="1441544" cy="369332"/>
            </a:xfrm>
            <a:prstGeom prst="rect">
              <a:avLst/>
            </a:prstGeom>
            <a:noFill/>
          </p:spPr>
          <p:txBody>
            <a:bodyPr wrap="square" rtlCol="0">
              <a:spAutoFit/>
            </a:bodyPr>
            <a:lstStyle/>
            <a:p>
              <a:r>
                <a:rPr lang="en-US" altLang="zh-CN" dirty="0">
                  <a:latin typeface="Georgia" panose="02040502050405020303" pitchFamily="18" charset="0"/>
                </a:rPr>
                <a:t>Hybrid</a:t>
              </a:r>
              <a:r>
                <a:rPr lang="zh-CN" altLang="en-US" dirty="0">
                  <a:latin typeface="Georgia" panose="02040502050405020303" pitchFamily="18" charset="0"/>
                </a:rPr>
                <a:t> </a:t>
              </a:r>
              <a:r>
                <a:rPr lang="en-US" altLang="zh-CN" dirty="0">
                  <a:latin typeface="Georgia" panose="02040502050405020303" pitchFamily="18" charset="0"/>
                </a:rPr>
                <a:t>1</a:t>
              </a:r>
              <a:endParaRPr lang="en-US" dirty="0">
                <a:latin typeface="Georgia" panose="02040502050405020303" pitchFamily="18" charset="0"/>
              </a:endParaRPr>
            </a:p>
          </p:txBody>
        </p:sp>
      </p:grpSp>
      <p:grpSp>
        <p:nvGrpSpPr>
          <p:cNvPr id="27" name="Group 26">
            <a:extLst>
              <a:ext uri="{FF2B5EF4-FFF2-40B4-BE49-F238E27FC236}">
                <a16:creationId xmlns:a16="http://schemas.microsoft.com/office/drawing/2014/main" id="{12EEDD79-3EE4-CADB-1811-096E1AF94A7C}"/>
              </a:ext>
            </a:extLst>
          </p:cNvPr>
          <p:cNvGrpSpPr/>
          <p:nvPr/>
        </p:nvGrpSpPr>
        <p:grpSpPr>
          <a:xfrm>
            <a:off x="5863728" y="2960434"/>
            <a:ext cx="5498140" cy="763280"/>
            <a:chOff x="5863728" y="2960434"/>
            <a:chExt cx="5498140" cy="763280"/>
          </a:xfrm>
        </p:grpSpPr>
        <p:grpSp>
          <p:nvGrpSpPr>
            <p:cNvPr id="22" name="Group 21">
              <a:extLst>
                <a:ext uri="{FF2B5EF4-FFF2-40B4-BE49-F238E27FC236}">
                  <a16:creationId xmlns:a16="http://schemas.microsoft.com/office/drawing/2014/main" id="{C4D9047F-CF07-6C74-A031-329B29B34AF1}"/>
                </a:ext>
              </a:extLst>
            </p:cNvPr>
            <p:cNvGrpSpPr/>
            <p:nvPr/>
          </p:nvGrpSpPr>
          <p:grpSpPr>
            <a:xfrm>
              <a:off x="6346078" y="2960434"/>
              <a:ext cx="5015790" cy="763280"/>
              <a:chOff x="6346078" y="2960434"/>
              <a:chExt cx="5015790" cy="76328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4DD26B3-FC7F-2BE2-3E0B-6C5E3BB3A0FE}"/>
                      </a:ext>
                    </a:extLst>
                  </p:cNvPr>
                  <p:cNvSpPr txBox="1"/>
                  <p:nvPr/>
                </p:nvSpPr>
                <p:spPr>
                  <a:xfrm>
                    <a:off x="6346078" y="2960434"/>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00</m:t>
                            </m:r>
                          </m:sub>
                        </m:sSub>
                      </m:oMath>
                    </a14:m>
                    <a:endParaRPr lang="en-US" dirty="0">
                      <a:latin typeface="Georgia" panose="02040502050405020303" pitchFamily="18" charset="0"/>
                    </a:endParaRPr>
                  </a:p>
                </p:txBody>
              </p:sp>
            </mc:Choice>
            <mc:Fallback xmlns="">
              <p:sp>
                <p:nvSpPr>
                  <p:cNvPr id="14" name="TextBox 13">
                    <a:extLst>
                      <a:ext uri="{FF2B5EF4-FFF2-40B4-BE49-F238E27FC236}">
                        <a16:creationId xmlns:a16="http://schemas.microsoft.com/office/drawing/2014/main" id="{04DD26B3-FC7F-2BE2-3E0B-6C5E3BB3A0FE}"/>
                      </a:ext>
                    </a:extLst>
                  </p:cNvPr>
                  <p:cNvSpPr txBox="1">
                    <a:spLocks noRot="1" noChangeAspect="1" noMove="1" noResize="1" noEditPoints="1" noAdjustHandles="1" noChangeArrowheads="1" noChangeShapeType="1" noTextEdit="1"/>
                  </p:cNvSpPr>
                  <p:nvPr/>
                </p:nvSpPr>
                <p:spPr>
                  <a:xfrm>
                    <a:off x="6346078" y="2960434"/>
                    <a:ext cx="363557" cy="646331"/>
                  </a:xfrm>
                  <a:prstGeom prst="rect">
                    <a:avLst/>
                  </a:prstGeom>
                  <a:blipFill>
                    <a:blip r:embed="rId7"/>
                    <a:stretch>
                      <a:fillRect r="-20000"/>
                    </a:stretch>
                  </a:blipFill>
                </p:spPr>
                <p:txBody>
                  <a:bodyPr/>
                  <a:lstStyle/>
                  <a:p>
                    <a:r>
                      <a:rPr lang="en-US">
                        <a:noFill/>
                      </a:rPr>
                      <a:t> </a:t>
                    </a:r>
                  </a:p>
                </p:txBody>
              </p:sp>
            </mc:Fallback>
          </mc:AlternateContent>
          <p:sp>
            <p:nvSpPr>
              <p:cNvPr id="15" name="Multiply 14">
                <a:extLst>
                  <a:ext uri="{FF2B5EF4-FFF2-40B4-BE49-F238E27FC236}">
                    <a16:creationId xmlns:a16="http://schemas.microsoft.com/office/drawing/2014/main" id="{B6695444-1F48-608D-6252-AA5FA7B553DB}"/>
                  </a:ext>
                </a:extLst>
              </p:cNvPr>
              <p:cNvSpPr/>
              <p:nvPr/>
            </p:nvSpPr>
            <p:spPr>
              <a:xfrm>
                <a:off x="6830820" y="3226812"/>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82FCE4F-3CEF-6235-5A5E-090865D818C5}"/>
                      </a:ext>
                    </a:extLst>
                  </p:cNvPr>
                  <p:cNvSpPr txBox="1"/>
                  <p:nvPr/>
                </p:nvSpPr>
                <p:spPr>
                  <a:xfrm>
                    <a:off x="7687381" y="2984794"/>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01</m:t>
                            </m:r>
                          </m:sub>
                        </m:sSub>
                      </m:oMath>
                    </a14:m>
                    <a:endParaRPr lang="en-US" dirty="0">
                      <a:latin typeface="Georgia" panose="02040502050405020303" pitchFamily="18" charset="0"/>
                    </a:endParaRPr>
                  </a:p>
                </p:txBody>
              </p:sp>
            </mc:Choice>
            <mc:Fallback xmlns="">
              <p:sp>
                <p:nvSpPr>
                  <p:cNvPr id="16" name="TextBox 15">
                    <a:extLst>
                      <a:ext uri="{FF2B5EF4-FFF2-40B4-BE49-F238E27FC236}">
                        <a16:creationId xmlns:a16="http://schemas.microsoft.com/office/drawing/2014/main" id="{F82FCE4F-3CEF-6235-5A5E-090865D818C5}"/>
                      </a:ext>
                    </a:extLst>
                  </p:cNvPr>
                  <p:cNvSpPr txBox="1">
                    <a:spLocks noRot="1" noChangeAspect="1" noMove="1" noResize="1" noEditPoints="1" noAdjustHandles="1" noChangeArrowheads="1" noChangeShapeType="1" noTextEdit="1"/>
                  </p:cNvSpPr>
                  <p:nvPr/>
                </p:nvSpPr>
                <p:spPr>
                  <a:xfrm>
                    <a:off x="7687381" y="2984794"/>
                    <a:ext cx="363557" cy="646331"/>
                  </a:xfrm>
                  <a:prstGeom prst="rect">
                    <a:avLst/>
                  </a:prstGeom>
                  <a:blipFill>
                    <a:blip r:embed="rId8"/>
                    <a:stretch>
                      <a:fillRect r="-16667"/>
                    </a:stretch>
                  </a:blipFill>
                </p:spPr>
                <p:txBody>
                  <a:bodyPr/>
                  <a:lstStyle/>
                  <a:p>
                    <a:r>
                      <a:rPr lang="en-US">
                        <a:noFill/>
                      </a:rPr>
                      <a:t> </a:t>
                    </a:r>
                  </a:p>
                </p:txBody>
              </p:sp>
            </mc:Fallback>
          </mc:AlternateContent>
          <p:sp>
            <p:nvSpPr>
              <p:cNvPr id="17" name="Multiply 16">
                <a:extLst>
                  <a:ext uri="{FF2B5EF4-FFF2-40B4-BE49-F238E27FC236}">
                    <a16:creationId xmlns:a16="http://schemas.microsoft.com/office/drawing/2014/main" id="{17659F5E-CEF2-DA3B-9119-4D7B4BD4EFB3}"/>
                  </a:ext>
                </a:extLst>
              </p:cNvPr>
              <p:cNvSpPr/>
              <p:nvPr/>
            </p:nvSpPr>
            <p:spPr>
              <a:xfrm>
                <a:off x="8172123" y="3251172"/>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FE48E7A-4012-6E67-F6E6-C4B6EBA374ED}"/>
                      </a:ext>
                    </a:extLst>
                  </p:cNvPr>
                  <p:cNvSpPr txBox="1"/>
                  <p:nvPr/>
                </p:nvSpPr>
                <p:spPr>
                  <a:xfrm>
                    <a:off x="9028684" y="2960434"/>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10</m:t>
                            </m:r>
                          </m:sub>
                        </m:sSub>
                      </m:oMath>
                    </a14:m>
                    <a:endParaRPr lang="en-US" dirty="0">
                      <a:latin typeface="Georgia" panose="02040502050405020303" pitchFamily="18" charset="0"/>
                    </a:endParaRPr>
                  </a:p>
                </p:txBody>
              </p:sp>
            </mc:Choice>
            <mc:Fallback xmlns="">
              <p:sp>
                <p:nvSpPr>
                  <p:cNvPr id="18" name="TextBox 17">
                    <a:extLst>
                      <a:ext uri="{FF2B5EF4-FFF2-40B4-BE49-F238E27FC236}">
                        <a16:creationId xmlns:a16="http://schemas.microsoft.com/office/drawing/2014/main" id="{CFE48E7A-4012-6E67-F6E6-C4B6EBA374ED}"/>
                      </a:ext>
                    </a:extLst>
                  </p:cNvPr>
                  <p:cNvSpPr txBox="1">
                    <a:spLocks noRot="1" noChangeAspect="1" noMove="1" noResize="1" noEditPoints="1" noAdjustHandles="1" noChangeArrowheads="1" noChangeShapeType="1" noTextEdit="1"/>
                  </p:cNvSpPr>
                  <p:nvPr/>
                </p:nvSpPr>
                <p:spPr>
                  <a:xfrm>
                    <a:off x="9028684" y="2960434"/>
                    <a:ext cx="363557" cy="646331"/>
                  </a:xfrm>
                  <a:prstGeom prst="rect">
                    <a:avLst/>
                  </a:prstGeom>
                  <a:blipFill>
                    <a:blip r:embed="rId9"/>
                    <a:stretch>
                      <a:fillRect r="-16667"/>
                    </a:stretch>
                  </a:blipFill>
                </p:spPr>
                <p:txBody>
                  <a:bodyPr/>
                  <a:lstStyle/>
                  <a:p>
                    <a:r>
                      <a:rPr lang="en-US">
                        <a:noFill/>
                      </a:rPr>
                      <a:t> </a:t>
                    </a:r>
                  </a:p>
                </p:txBody>
              </p:sp>
            </mc:Fallback>
          </mc:AlternateContent>
          <p:sp>
            <p:nvSpPr>
              <p:cNvPr id="19" name="Multiply 18">
                <a:extLst>
                  <a:ext uri="{FF2B5EF4-FFF2-40B4-BE49-F238E27FC236}">
                    <a16:creationId xmlns:a16="http://schemas.microsoft.com/office/drawing/2014/main" id="{6534A2E1-C809-04FA-DB55-372ADF5FFF6D}"/>
                  </a:ext>
                </a:extLst>
              </p:cNvPr>
              <p:cNvSpPr/>
              <p:nvPr/>
            </p:nvSpPr>
            <p:spPr>
              <a:xfrm>
                <a:off x="9513426" y="3226812"/>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7FA42A2-580F-4625-FB2B-C872BA6E447D}"/>
                      </a:ext>
                    </a:extLst>
                  </p:cNvPr>
                  <p:cNvSpPr txBox="1"/>
                  <p:nvPr/>
                </p:nvSpPr>
                <p:spPr>
                  <a:xfrm>
                    <a:off x="10470226" y="3008018"/>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11</m:t>
                            </m:r>
                          </m:sub>
                        </m:sSub>
                      </m:oMath>
                    </a14:m>
                    <a:endParaRPr lang="en-US" dirty="0">
                      <a:latin typeface="Georgia" panose="02040502050405020303" pitchFamily="18" charset="0"/>
                    </a:endParaRPr>
                  </a:p>
                </p:txBody>
              </p:sp>
            </mc:Choice>
            <mc:Fallback xmlns="">
              <p:sp>
                <p:nvSpPr>
                  <p:cNvPr id="20" name="TextBox 19">
                    <a:extLst>
                      <a:ext uri="{FF2B5EF4-FFF2-40B4-BE49-F238E27FC236}">
                        <a16:creationId xmlns:a16="http://schemas.microsoft.com/office/drawing/2014/main" id="{17FA42A2-580F-4625-FB2B-C872BA6E447D}"/>
                      </a:ext>
                    </a:extLst>
                  </p:cNvPr>
                  <p:cNvSpPr txBox="1">
                    <a:spLocks noRot="1" noChangeAspect="1" noMove="1" noResize="1" noEditPoints="1" noAdjustHandles="1" noChangeArrowheads="1" noChangeShapeType="1" noTextEdit="1"/>
                  </p:cNvSpPr>
                  <p:nvPr/>
                </p:nvSpPr>
                <p:spPr>
                  <a:xfrm>
                    <a:off x="10470226" y="3008018"/>
                    <a:ext cx="363557" cy="646331"/>
                  </a:xfrm>
                  <a:prstGeom prst="rect">
                    <a:avLst/>
                  </a:prstGeom>
                  <a:blipFill>
                    <a:blip r:embed="rId10"/>
                    <a:stretch>
                      <a:fillRect r="-20690"/>
                    </a:stretch>
                  </a:blipFill>
                </p:spPr>
                <p:txBody>
                  <a:bodyPr/>
                  <a:lstStyle/>
                  <a:p>
                    <a:r>
                      <a:rPr lang="en-US">
                        <a:noFill/>
                      </a:rPr>
                      <a:t> </a:t>
                    </a:r>
                  </a:p>
                </p:txBody>
              </p:sp>
            </mc:Fallback>
          </mc:AlternateContent>
          <p:sp>
            <p:nvSpPr>
              <p:cNvPr id="21" name="Multiply 20">
                <a:extLst>
                  <a:ext uri="{FF2B5EF4-FFF2-40B4-BE49-F238E27FC236}">
                    <a16:creationId xmlns:a16="http://schemas.microsoft.com/office/drawing/2014/main" id="{C2A30F19-7E8C-F03E-1618-34EF7EA379CA}"/>
                  </a:ext>
                </a:extLst>
              </p:cNvPr>
              <p:cNvSpPr/>
              <p:nvPr/>
            </p:nvSpPr>
            <p:spPr>
              <a:xfrm>
                <a:off x="10921193" y="3226812"/>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p:grpSp>
        <p:sp>
          <p:nvSpPr>
            <p:cNvPr id="24" name="TextBox 23">
              <a:extLst>
                <a:ext uri="{FF2B5EF4-FFF2-40B4-BE49-F238E27FC236}">
                  <a16:creationId xmlns:a16="http://schemas.microsoft.com/office/drawing/2014/main" id="{539BB209-F3AC-B300-E1B1-EFBB77DB3685}"/>
                </a:ext>
              </a:extLst>
            </p:cNvPr>
            <p:cNvSpPr txBox="1"/>
            <p:nvPr/>
          </p:nvSpPr>
          <p:spPr>
            <a:xfrm>
              <a:off x="5863728" y="2986805"/>
              <a:ext cx="1441544" cy="369332"/>
            </a:xfrm>
            <a:prstGeom prst="rect">
              <a:avLst/>
            </a:prstGeom>
            <a:noFill/>
          </p:spPr>
          <p:txBody>
            <a:bodyPr wrap="square" rtlCol="0">
              <a:spAutoFit/>
            </a:bodyPr>
            <a:lstStyle/>
            <a:p>
              <a:r>
                <a:rPr lang="en-US" altLang="zh-CN" dirty="0">
                  <a:latin typeface="Georgia" panose="02040502050405020303" pitchFamily="18" charset="0"/>
                </a:rPr>
                <a:t>Hybrid</a:t>
              </a:r>
              <a:r>
                <a:rPr lang="zh-CN" altLang="en-US" dirty="0">
                  <a:latin typeface="Georgia" panose="02040502050405020303" pitchFamily="18" charset="0"/>
                </a:rPr>
                <a:t> </a:t>
              </a:r>
              <a:r>
                <a:rPr lang="en-US" altLang="zh-CN" dirty="0">
                  <a:latin typeface="Georgia" panose="02040502050405020303" pitchFamily="18" charset="0"/>
                </a:rPr>
                <a:t>2</a:t>
              </a:r>
              <a:r>
                <a:rPr lang="zh-CN" altLang="en-US" dirty="0">
                  <a:latin typeface="Georgia" panose="02040502050405020303" pitchFamily="18" charset="0"/>
                </a:rPr>
                <a:t> </a:t>
              </a:r>
              <a:endParaRPr lang="en-US" dirty="0">
                <a:latin typeface="Georgia" panose="02040502050405020303" pitchFamily="18" charset="0"/>
              </a:endParaRPr>
            </a:p>
          </p:txBody>
        </p:sp>
      </p:grpSp>
      <p:sp>
        <p:nvSpPr>
          <p:cNvPr id="31" name="Rectangle 30">
            <a:extLst>
              <a:ext uri="{FF2B5EF4-FFF2-40B4-BE49-F238E27FC236}">
                <a16:creationId xmlns:a16="http://schemas.microsoft.com/office/drawing/2014/main" id="{4C35166B-B060-9B05-D573-20F85A5B2FDC}"/>
              </a:ext>
            </a:extLst>
          </p:cNvPr>
          <p:cNvSpPr/>
          <p:nvPr/>
        </p:nvSpPr>
        <p:spPr>
          <a:xfrm>
            <a:off x="380010" y="1454727"/>
            <a:ext cx="11560629" cy="52251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CDEC251-E0C4-D3BB-87FD-8CB7B64A1CFB}"/>
              </a:ext>
            </a:extLst>
          </p:cNvPr>
          <p:cNvSpPr/>
          <p:nvPr/>
        </p:nvSpPr>
        <p:spPr>
          <a:xfrm>
            <a:off x="8612798" y="723977"/>
            <a:ext cx="2656916" cy="5544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839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32"/>
                                        </p:tgtEl>
                                        <p:attrNameLst>
                                          <p:attrName>style.opacity</p:attrName>
                                        </p:attrNameLst>
                                      </p:cBhvr>
                                      <p:to>
                                        <p:strVal val="0.5"/>
                                      </p:to>
                                    </p:set>
                                    <p:animEffect filter="image" prLst="opacity: 0.5">
                                      <p:cBhvr rctx="IE">
                                        <p:cTn id="7" dur="indefinite"/>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31"/>
                                        </p:tgtEl>
                                      </p:cBhvr>
                                    </p:animEffect>
                                    <p:set>
                                      <p:cBhvr>
                                        <p:cTn id="12" dur="1" fill="hold">
                                          <p:stCondLst>
                                            <p:cond delay="499"/>
                                          </p:stCondLst>
                                        </p:cTn>
                                        <p:tgtEl>
                                          <p:spTgt spid="3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grpId="1" nodeType="clickEffect">
                                  <p:stCondLst>
                                    <p:cond delay="0"/>
                                  </p:stCondLst>
                                  <p:childTnLst>
                                    <p:animEffect transition="out" filter="dissolve">
                                      <p:cBhvr>
                                        <p:cTn id="24" dur="500"/>
                                        <p:tgtEl>
                                          <p:spTgt spid="32"/>
                                        </p:tgtEl>
                                      </p:cBhvr>
                                    </p:animEffect>
                                    <p:set>
                                      <p:cBhvr>
                                        <p:cTn id="25"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2" grpId="1"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114F2A-1A29-0B15-D341-D5951344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AC4CF-BF18-CD17-EF1F-8DC780906DDD}"/>
              </a:ext>
            </a:extLst>
          </p:cNvPr>
          <p:cNvSpPr>
            <a:spLocks noGrp="1"/>
          </p:cNvSpPr>
          <p:nvPr>
            <p:ph type="title"/>
          </p:nvPr>
        </p:nvSpPr>
        <p:spPr/>
        <p:txBody>
          <a:bodyPr/>
          <a:lstStyle/>
          <a:p>
            <a:r>
              <a:rPr lang="en-US" b="1" dirty="0">
                <a:latin typeface="Georgia" panose="02040502050405020303" pitchFamily="18" charset="0"/>
              </a:rPr>
              <a:t>What is this course about?</a:t>
            </a:r>
            <a:r>
              <a:rPr lang="zh-CN" altLang="en-US" b="1" dirty="0">
                <a:latin typeface="Georgia" panose="02040502050405020303" pitchFamily="18" charset="0"/>
              </a:rPr>
              <a:t>   </a:t>
            </a:r>
            <a:r>
              <a:rPr lang="en-US" altLang="zh-CN" b="1" dirty="0">
                <a:solidFill>
                  <a:srgbClr val="FF0000"/>
                </a:solidFill>
                <a:latin typeface="Georgia" panose="02040502050405020303" pitchFamily="18" charset="0"/>
              </a:rPr>
              <a:t>Math</a:t>
            </a:r>
            <a:r>
              <a:rPr lang="zh-CN" altLang="en-US" b="1" dirty="0">
                <a:latin typeface="Georgia" panose="02040502050405020303" pitchFamily="18" charset="0"/>
              </a:rPr>
              <a:t> </a:t>
            </a:r>
            <a:endParaRPr lang="en-US" b="1" dirty="0">
              <a:latin typeface="Georgia" panose="02040502050405020303" pitchFamily="18" charset="0"/>
            </a:endParaRPr>
          </a:p>
        </p:txBody>
      </p:sp>
      <p:sp>
        <p:nvSpPr>
          <p:cNvPr id="3" name="Content Placeholder 2">
            <a:extLst>
              <a:ext uri="{FF2B5EF4-FFF2-40B4-BE49-F238E27FC236}">
                <a16:creationId xmlns:a16="http://schemas.microsoft.com/office/drawing/2014/main" id="{A7A2AF19-3BB3-0FF5-549D-766E3D24F0DB}"/>
              </a:ext>
            </a:extLst>
          </p:cNvPr>
          <p:cNvSpPr>
            <a:spLocks noGrp="1"/>
          </p:cNvSpPr>
          <p:nvPr>
            <p:ph idx="1"/>
          </p:nvPr>
        </p:nvSpPr>
        <p:spPr>
          <a:xfrm>
            <a:off x="838200" y="1690688"/>
            <a:ext cx="10515600" cy="638098"/>
          </a:xfrm>
        </p:spPr>
        <p:txBody>
          <a:bodyPr>
            <a:normAutofit/>
          </a:bodyPr>
          <a:lstStyle/>
          <a:p>
            <a:pPr marL="0" indent="0">
              <a:buNone/>
            </a:pPr>
            <a:r>
              <a:rPr lang="en-US" altLang="zh-CN" dirty="0">
                <a:latin typeface="Georgia" panose="02040502050405020303" pitchFamily="18" charset="0"/>
              </a:rPr>
              <a:t>Example:</a:t>
            </a:r>
            <a:r>
              <a:rPr lang="zh-CN" altLang="en-US" dirty="0">
                <a:latin typeface="Georgia" panose="02040502050405020303" pitchFamily="18" charset="0"/>
              </a:rPr>
              <a:t> </a:t>
            </a:r>
            <a:r>
              <a:rPr lang="en-US" altLang="zh-CN" dirty="0">
                <a:latin typeface="Georgia" panose="02040502050405020303" pitchFamily="18" charset="0"/>
              </a:rPr>
              <a:t>Baby</a:t>
            </a:r>
            <a:r>
              <a:rPr lang="zh-CN" altLang="en-US" dirty="0">
                <a:latin typeface="Georgia" panose="02040502050405020303" pitchFamily="18" charset="0"/>
              </a:rPr>
              <a:t> </a:t>
            </a:r>
            <a:r>
              <a:rPr lang="en-US" altLang="zh-CN" dirty="0">
                <a:latin typeface="Georgia" panose="02040502050405020303" pitchFamily="18" charset="0"/>
              </a:rPr>
              <a:t>step- Giant</a:t>
            </a:r>
            <a:r>
              <a:rPr lang="zh-CN" altLang="en-US" dirty="0">
                <a:latin typeface="Georgia" panose="02040502050405020303" pitchFamily="18" charset="0"/>
              </a:rPr>
              <a:t> </a:t>
            </a:r>
            <a:r>
              <a:rPr lang="en-US" altLang="zh-CN" dirty="0">
                <a:latin typeface="Georgia" panose="02040502050405020303" pitchFamily="18" charset="0"/>
              </a:rPr>
              <a:t>step</a:t>
            </a:r>
            <a:r>
              <a:rPr lang="zh-CN" altLang="en-US" dirty="0">
                <a:latin typeface="Georgia" panose="02040502050405020303" pitchFamily="18" charset="0"/>
              </a:rPr>
              <a:t> </a:t>
            </a:r>
            <a:r>
              <a:rPr lang="en-US" altLang="zh-CN" dirty="0">
                <a:latin typeface="Georgia" panose="02040502050405020303" pitchFamily="18" charset="0"/>
              </a:rPr>
              <a:t>algorithm</a:t>
            </a:r>
            <a:r>
              <a:rPr lang="zh-CN" altLang="en-US" dirty="0">
                <a:latin typeface="Georgia" panose="02040502050405020303" pitchFamily="18" charset="0"/>
              </a:rPr>
              <a:t> </a:t>
            </a:r>
            <a:endParaRPr lang="en-US" b="0" i="0" dirty="0">
              <a:solidFill>
                <a:srgbClr val="000000"/>
              </a:solidFill>
              <a:effectLst/>
              <a:latin typeface="Georgia" panose="02040502050405020303" pitchFamily="18" charset="0"/>
            </a:endParaRPr>
          </a:p>
        </p:txBody>
      </p:sp>
      <p:sp>
        <p:nvSpPr>
          <p:cNvPr id="5" name="TextBox 4">
            <a:extLst>
              <a:ext uri="{FF2B5EF4-FFF2-40B4-BE49-F238E27FC236}">
                <a16:creationId xmlns:a16="http://schemas.microsoft.com/office/drawing/2014/main" id="{238F16B7-CEC3-4F17-D797-BD67DE36EA09}"/>
              </a:ext>
            </a:extLst>
          </p:cNvPr>
          <p:cNvSpPr txBox="1"/>
          <p:nvPr/>
        </p:nvSpPr>
        <p:spPr>
          <a:xfrm>
            <a:off x="658257" y="4420107"/>
            <a:ext cx="10127256" cy="646331"/>
          </a:xfrm>
          <a:prstGeom prst="rect">
            <a:avLst/>
          </a:prstGeom>
          <a:noFill/>
        </p:spPr>
        <p:txBody>
          <a:bodyPr wrap="square">
            <a:spAutoFit/>
          </a:bodyPr>
          <a:lstStyle/>
          <a:p>
            <a:endParaRPr lang="en-US" dirty="0">
              <a:latin typeface="Georgia" panose="02040502050405020303" pitchFamily="18" charset="0"/>
            </a:endParaRPr>
          </a:p>
          <a:p>
            <a:endParaRPr lang="en-US" dirty="0">
              <a:latin typeface="Georgia" panose="02040502050405020303" pitchFamily="18"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F330F26-8315-09CF-FDF5-1A498BB7B68B}"/>
                  </a:ext>
                </a:extLst>
              </p:cNvPr>
              <p:cNvSpPr txBox="1"/>
              <p:nvPr/>
            </p:nvSpPr>
            <p:spPr>
              <a:xfrm>
                <a:off x="838199" y="2291409"/>
                <a:ext cx="10883538" cy="4213076"/>
              </a:xfrm>
              <a:prstGeom prst="rect">
                <a:avLst/>
              </a:prstGeom>
              <a:noFill/>
            </p:spPr>
            <p:txBody>
              <a:bodyPr wrap="square">
                <a:spAutoFit/>
              </a:bodyPr>
              <a:lstStyle/>
              <a:p>
                <a:r>
                  <a:rPr lang="en-US" dirty="0">
                    <a:latin typeface="Georgia" panose="02040502050405020303" pitchFamily="18" charset="0"/>
                  </a:rPr>
                  <a:t>Let </a:t>
                </a:r>
                <a14:m>
                  <m:oMath xmlns:m="http://schemas.openxmlformats.org/officeDocument/2006/math">
                    <m:r>
                      <a:rPr lang="en-US" i="1" dirty="0" smtClean="0">
                        <a:latin typeface="Cambria Math" panose="02040503050406030204" pitchFamily="18" charset="0"/>
                      </a:rPr>
                      <m:t>𝐺</m:t>
                    </m:r>
                    <m:r>
                      <a:rPr lang="en-US" i="1" dirty="0" smtClean="0">
                        <a:latin typeface="Cambria Math" panose="02040503050406030204" pitchFamily="18" charset="0"/>
                      </a:rPr>
                      <m:t> </m:t>
                    </m:r>
                  </m:oMath>
                </a14:m>
                <a:r>
                  <a:rPr lang="en-US" dirty="0">
                    <a:latin typeface="Georgia" panose="02040502050405020303" pitchFamily="18" charset="0"/>
                  </a:rPr>
                  <a:t>be a group and let </a:t>
                </a:r>
                <a14:m>
                  <m:oMath xmlns:m="http://schemas.openxmlformats.org/officeDocument/2006/math">
                    <m:r>
                      <a:rPr lang="en-US" i="1" dirty="0" smtClean="0">
                        <a:latin typeface="Cambria Math" panose="02040503050406030204" pitchFamily="18" charset="0"/>
                      </a:rPr>
                      <m:t>h</m:t>
                    </m:r>
                    <m:r>
                      <a:rPr lang="en-US" i="1" dirty="0" smtClean="0">
                        <a:latin typeface="Cambria Math" panose="02040503050406030204" pitchFamily="18" charset="0"/>
                      </a:rPr>
                      <m:t> ∈ </m:t>
                    </m:r>
                    <m:r>
                      <a:rPr lang="en-US" i="1" dirty="0" smtClean="0">
                        <a:latin typeface="Cambria Math" panose="02040503050406030204" pitchFamily="18" charset="0"/>
                      </a:rPr>
                      <m:t>𝐺</m:t>
                    </m:r>
                    <m:r>
                      <a:rPr lang="en-US" i="1" dirty="0" smtClean="0">
                        <a:latin typeface="Cambria Math" panose="02040503050406030204" pitchFamily="18" charset="0"/>
                      </a:rPr>
                      <m:t> </m:t>
                    </m:r>
                  </m:oMath>
                </a14:m>
                <a:r>
                  <a:rPr lang="en-US" dirty="0">
                    <a:latin typeface="Georgia" panose="02040502050405020303" pitchFamily="18" charset="0"/>
                  </a:rPr>
                  <a:t>be an element of order </a:t>
                </a:r>
                <a14:m>
                  <m:oMath xmlns:m="http://schemas.openxmlformats.org/officeDocument/2006/math">
                    <m:r>
                      <a:rPr lang="en-US" i="1" dirty="0" smtClean="0">
                        <a:latin typeface="Cambria Math" panose="02040503050406030204" pitchFamily="18" charset="0"/>
                      </a:rPr>
                      <m:t>𝑁</m:t>
                    </m:r>
                  </m:oMath>
                </a14:m>
                <a:r>
                  <a:rPr lang="en-US" dirty="0">
                    <a:latin typeface="Georgia" panose="02040502050405020303" pitchFamily="18" charset="0"/>
                  </a:rPr>
                  <a:t>, i.e., </a:t>
                </a:r>
                <a14:m>
                  <m:oMath xmlns:m="http://schemas.openxmlformats.org/officeDocument/2006/math">
                    <m:sSup>
                      <m:sSupPr>
                        <m:ctrlPr>
                          <a:rPr lang="en-US" altLang="zh-CN" b="0" i="1" dirty="0" smtClean="0">
                            <a:latin typeface="Cambria Math" panose="02040503050406030204" pitchFamily="18" charset="0"/>
                          </a:rPr>
                        </m:ctrlPr>
                      </m:sSupPr>
                      <m:e>
                        <m:r>
                          <a:rPr lang="en-US" i="1" dirty="0" smtClean="0">
                            <a:latin typeface="Cambria Math" panose="02040503050406030204" pitchFamily="18" charset="0"/>
                          </a:rPr>
                          <m:t>h</m:t>
                        </m:r>
                      </m:e>
                      <m:sup>
                        <m:r>
                          <a:rPr lang="en-US" altLang="zh-CN" b="0" i="1" dirty="0" smtClean="0">
                            <a:latin typeface="Cambria Math" panose="02040503050406030204" pitchFamily="18" charset="0"/>
                          </a:rPr>
                          <m:t>𝑁</m:t>
                        </m:r>
                      </m:sup>
                    </m:sSup>
                    <m:r>
                      <a:rPr lang="en-US" i="1" dirty="0" smtClean="0">
                        <a:latin typeface="Cambria Math" panose="02040503050406030204" pitchFamily="18" charset="0"/>
                      </a:rPr>
                      <m:t> </m:t>
                    </m:r>
                    <m:r>
                      <a:rPr lang="en-US" i="1" dirty="0">
                        <a:latin typeface="Cambria Math" panose="02040503050406030204" pitchFamily="18" charset="0"/>
                      </a:rPr>
                      <m:t>= </m:t>
                    </m:r>
                    <m:r>
                      <a:rPr lang="en-US" i="1" dirty="0">
                        <a:latin typeface="Cambria Math" panose="02040503050406030204" pitchFamily="18" charset="0"/>
                      </a:rPr>
                      <m:t>𝑒</m:t>
                    </m:r>
                    <m:r>
                      <a:rPr lang="en-US" i="1" dirty="0">
                        <a:latin typeface="Cambria Math" panose="02040503050406030204" pitchFamily="18" charset="0"/>
                      </a:rPr>
                      <m:t> </m:t>
                    </m:r>
                  </m:oMath>
                </a14:m>
                <a:r>
                  <a:rPr lang="en-US" dirty="0">
                    <a:latin typeface="Georgia" panose="02040502050405020303" pitchFamily="18" charset="0"/>
                  </a:rPr>
                  <a:t>and no smaller power of </a:t>
                </a:r>
                <a14:m>
                  <m:oMath xmlns:m="http://schemas.openxmlformats.org/officeDocument/2006/math">
                    <m:r>
                      <a:rPr lang="en-US" i="1" dirty="0" smtClean="0">
                        <a:latin typeface="Cambria Math" panose="02040503050406030204" pitchFamily="18" charset="0"/>
                      </a:rPr>
                      <m:t>h</m:t>
                    </m:r>
                  </m:oMath>
                </a14:m>
                <a:r>
                  <a:rPr lang="en-US" dirty="0">
                    <a:latin typeface="Georgia" panose="02040502050405020303" pitchFamily="18" charset="0"/>
                  </a:rPr>
                  <a:t> is equal to </a:t>
                </a:r>
                <a14:m>
                  <m:oMath xmlns:m="http://schemas.openxmlformats.org/officeDocument/2006/math">
                    <m:r>
                      <a:rPr lang="en-US" i="1" dirty="0" smtClean="0">
                        <a:latin typeface="Cambria Math" panose="02040503050406030204" pitchFamily="18" charset="0"/>
                      </a:rPr>
                      <m:t>𝑒</m:t>
                    </m:r>
                  </m:oMath>
                </a14:m>
                <a:r>
                  <a:rPr lang="en-US" dirty="0">
                    <a:latin typeface="Georgia" panose="02040502050405020303" pitchFamily="18" charset="0"/>
                  </a:rPr>
                  <a:t>. Then, assuming </a:t>
                </a:r>
                <a:r>
                  <a:rPr lang="zh-CN" altLang="en-US" dirty="0">
                    <a:latin typeface="Georgia" panose="02040502050405020303" pitchFamily="18" charset="0"/>
                  </a:rPr>
                  <a:t> </a:t>
                </a:r>
                <a:r>
                  <a:rPr lang="en-US" dirty="0">
                    <a:latin typeface="Georgia" panose="02040502050405020303" pitchFamily="18" charset="0"/>
                  </a:rPr>
                  <a:t>that the discrete logarithm problem</a:t>
                </a:r>
                <a:r>
                  <a:rPr lang="zh-CN" altLang="en-US"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r>
                          <a:rPr lang="en-US" i="1" dirty="0" smtClean="0">
                            <a:latin typeface="Cambria Math" panose="02040503050406030204" pitchFamily="18" charset="0"/>
                          </a:rPr>
                          <m:t>h</m:t>
                        </m:r>
                      </m:e>
                      <m:sup>
                        <m:r>
                          <a:rPr lang="en-US" altLang="zh-CN" b="0" i="1" dirty="0" smtClean="0">
                            <a:latin typeface="Cambria Math" panose="02040503050406030204" pitchFamily="18" charset="0"/>
                          </a:rPr>
                          <m:t>𝑥</m:t>
                        </m:r>
                      </m:sup>
                    </m:sSup>
                    <m:r>
                      <a:rPr lang="en-US" i="1" dirty="0" smtClean="0">
                        <a:latin typeface="Cambria Math" panose="02040503050406030204" pitchFamily="18" charset="0"/>
                      </a:rPr>
                      <m:t> = </m:t>
                    </m:r>
                    <m:r>
                      <a:rPr lang="en-US" i="1" dirty="0" smtClean="0">
                        <a:latin typeface="Cambria Math" panose="02040503050406030204" pitchFamily="18" charset="0"/>
                      </a:rPr>
                      <m:t>𝑏</m:t>
                    </m:r>
                  </m:oMath>
                </a14:m>
                <a:r>
                  <a:rPr lang="zh-CN" altLang="en-US" dirty="0">
                    <a:latin typeface="Georgia" panose="02040502050405020303" pitchFamily="18" charset="0"/>
                  </a:rPr>
                  <a:t> </a:t>
                </a:r>
                <a:r>
                  <a:rPr lang="en-US" altLang="zh-CN" dirty="0">
                    <a:latin typeface="Georgia" panose="02040502050405020303" pitchFamily="18" charset="0"/>
                  </a:rPr>
                  <a:t>has</a:t>
                </a:r>
                <a:r>
                  <a:rPr lang="zh-CN" altLang="en-US" dirty="0">
                    <a:latin typeface="Georgia" panose="02040502050405020303" pitchFamily="18" charset="0"/>
                  </a:rPr>
                  <a:t> </a:t>
                </a:r>
                <a:r>
                  <a:rPr lang="en-US" altLang="zh-CN" dirty="0">
                    <a:latin typeface="Georgia" panose="02040502050405020303" pitchFamily="18" charset="0"/>
                  </a:rPr>
                  <a:t>a</a:t>
                </a:r>
                <a:r>
                  <a:rPr lang="zh-CN" altLang="en-US" dirty="0">
                    <a:latin typeface="Georgia" panose="02040502050405020303" pitchFamily="18" charset="0"/>
                  </a:rPr>
                  <a:t> </a:t>
                </a:r>
                <a:r>
                  <a:rPr lang="en-US" altLang="zh-CN" dirty="0">
                    <a:latin typeface="Georgia" panose="02040502050405020303" pitchFamily="18" charset="0"/>
                  </a:rPr>
                  <a:t>solution.</a:t>
                </a:r>
                <a:r>
                  <a:rPr lang="zh-CN" altLang="en-US" dirty="0">
                    <a:latin typeface="Georgia" panose="02040502050405020303" pitchFamily="18" charset="0"/>
                  </a:rPr>
                  <a:t> </a:t>
                </a:r>
                <a:endParaRPr lang="en-US" altLang="zh-CN" dirty="0">
                  <a:latin typeface="Georgia" panose="02040502050405020303" pitchFamily="18" charset="0"/>
                </a:endParaRPr>
              </a:p>
              <a:p>
                <a:endParaRPr lang="en-US" dirty="0">
                  <a:latin typeface="Georgia" panose="02040502050405020303" pitchFamily="18" charset="0"/>
                </a:endParaRPr>
              </a:p>
              <a:p>
                <a:r>
                  <a:rPr lang="en-US" altLang="zh-CN" dirty="0">
                    <a:latin typeface="Georgia" panose="02040502050405020303" pitchFamily="18" charset="0"/>
                  </a:rPr>
                  <a:t>Let</a:t>
                </a:r>
                <a:r>
                  <a:rPr lang="zh-CN" altLang="en-US" dirty="0">
                    <a:latin typeface="Georgia" panose="02040502050405020303" pitchFamily="18" charset="0"/>
                  </a:rPr>
                  <a:t>  </a:t>
                </a:r>
                <a14:m>
                  <m:oMath xmlns:m="http://schemas.openxmlformats.org/officeDocument/2006/math">
                    <m:r>
                      <a:rPr lang="zh-CN" altLang="en-US" dirty="0">
                        <a:latin typeface="Cambria Math" panose="02040503050406030204" pitchFamily="18" charset="0"/>
                      </a:rPr>
                      <m:t> </m:t>
                    </m:r>
                    <m:r>
                      <a:rPr lang="zh-CN" altLang="en-US" b="0" i="0"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𝑥</m:t>
                        </m:r>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a:rPr lang="en-US" altLang="zh-CN" i="1" dirty="0" smtClean="0">
                            <a:latin typeface="Cambria Math" panose="02040503050406030204" pitchFamily="18" charset="0"/>
                          </a:rPr>
                          <m:t>𝑘</m:t>
                        </m:r>
                      </m:e>
                      <m:sub>
                        <m:r>
                          <a:rPr lang="en-US" altLang="zh-CN" i="1" dirty="0" smtClean="0">
                            <a:latin typeface="Cambria Math" panose="02040503050406030204" pitchFamily="18" charset="0"/>
                          </a:rPr>
                          <m:t>0</m:t>
                        </m:r>
                      </m:sub>
                    </m:sSub>
                    <m:r>
                      <a:rPr lang="zh-CN" altLang="en-US" b="0" i="1" dirty="0" smtClean="0">
                        <a:latin typeface="Cambria Math" panose="02040503050406030204" pitchFamily="18" charset="0"/>
                      </a:rPr>
                      <m:t> </m:t>
                    </m:r>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r>
                      <a:rPr lang="zh-CN" altLang="en-US" i="1" dirty="0" smtClean="0">
                        <a:latin typeface="Cambria Math" panose="02040503050406030204" pitchFamily="18" charset="0"/>
                      </a:rPr>
                      <m:t> </m:t>
                    </m:r>
                    <m:r>
                      <a:rPr lang="zh-CN" altLang="en-US" i="1" dirty="0">
                        <a:latin typeface="Cambria Math" panose="02040503050406030204" pitchFamily="18" charset="0"/>
                      </a:rPr>
                      <m:t> </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𝑘</m:t>
                        </m:r>
                      </m:e>
                      <m:sub>
                        <m:r>
                          <a:rPr lang="en-US" altLang="zh-CN" i="1" dirty="0" smtClean="0">
                            <a:latin typeface="Cambria Math" panose="02040503050406030204" pitchFamily="18" charset="0"/>
                          </a:rPr>
                          <m:t>1</m:t>
                        </m:r>
                      </m:sub>
                    </m:sSub>
                  </m:oMath>
                </a14:m>
                <a:r>
                  <a:rPr lang="en-US" dirty="0">
                    <a:latin typeface="Georgia" panose="02040502050405020303" pitchFamily="18" charset="0"/>
                  </a:rPr>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𝑘</m:t>
                        </m:r>
                      </m:e>
                      <m:sub>
                        <m:r>
                          <a:rPr lang="en-US" altLang="zh-CN" b="0" i="1" dirty="0" smtClean="0">
                            <a:latin typeface="Cambria Math" panose="02040503050406030204" pitchFamily="18" charset="0"/>
                          </a:rPr>
                          <m:t>0</m:t>
                        </m:r>
                      </m:sub>
                    </m:sSub>
                    <m:r>
                      <a:rPr lang="en-US" altLang="zh-CN" b="0" i="0"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𝑘</m:t>
                        </m:r>
                      </m:e>
                      <m:sub>
                        <m:r>
                          <a:rPr lang="en-US" altLang="zh-CN" i="1" dirty="0" smtClean="0">
                            <a:latin typeface="Cambria Math" panose="02040503050406030204" pitchFamily="18" charset="0"/>
                          </a:rPr>
                          <m:t>1</m:t>
                        </m:r>
                      </m:sub>
                    </m:sSub>
                    <m:r>
                      <m:rPr>
                        <m:nor/>
                      </m:rPr>
                      <a:rPr lang="en-US" altLang="zh-CN" b="0" i="0" dirty="0" smtClean="0">
                        <a:latin typeface="Cambria Math" panose="02040503050406030204" pitchFamily="18" charset="0"/>
                      </a:rPr>
                      <m:t> </m:t>
                    </m:r>
                    <m:r>
                      <a:rPr lang="en-US" altLang="zh-CN" b="0" i="1" dirty="0" smtClean="0">
                        <a:latin typeface="Cambria Math" panose="02040503050406030204" pitchFamily="18" charset="0"/>
                      </a:rPr>
                      <m:t>≤ </m:t>
                    </m:r>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oMath>
                </a14:m>
                <a:endParaRPr lang="en-US" altLang="zh-CN" b="0" dirty="0">
                  <a:latin typeface="Georgia" panose="02040502050405020303" pitchFamily="18" charset="0"/>
                </a:endParaRPr>
              </a:p>
              <a:p>
                <a:endParaRPr lang="en-US" dirty="0">
                  <a:latin typeface="Georgia" panose="02040502050405020303" pitchFamily="18" charset="0"/>
                </a:endParaRPr>
              </a:p>
              <a:p>
                <a:r>
                  <a:rPr lang="en-US" altLang="zh-CN" dirty="0">
                    <a:latin typeface="Georgia" panose="02040502050405020303" pitchFamily="18" charset="0"/>
                  </a:rPr>
                  <a:t>Baby</a:t>
                </a:r>
                <a:r>
                  <a:rPr lang="zh-CN" altLang="en-US" dirty="0">
                    <a:latin typeface="Georgia" panose="02040502050405020303" pitchFamily="18" charset="0"/>
                  </a:rPr>
                  <a:t> </a:t>
                </a:r>
                <a:r>
                  <a:rPr lang="en-US" altLang="zh-CN" dirty="0">
                    <a:latin typeface="Georgia" panose="02040502050405020303" pitchFamily="18" charset="0"/>
                  </a:rPr>
                  <a:t>step</a:t>
                </a:r>
                <a14:m>
                  <m:oMath xmlns:m="http://schemas.openxmlformats.org/officeDocument/2006/math">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sSup>
                      <m:sSupPr>
                        <m:ctrlPr>
                          <a:rPr lang="en-US" altLang="zh-CN" b="0" i="1" dirty="0" smtClean="0">
                            <a:latin typeface="Cambria Math" panose="02040503050406030204" pitchFamily="18" charset="0"/>
                          </a:rPr>
                        </m:ctrlPr>
                      </m:sSupPr>
                      <m:e>
                        <m:r>
                          <a:rPr lang="zh-CN" altLang="en-US"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m:rPr>
                            <m:lit/>
                          </m:rP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a:rPr lang="en-US" altLang="zh-CN" i="1" dirty="0" smtClean="0">
                            <a:latin typeface="Cambria Math" panose="02040503050406030204" pitchFamily="18" charset="0"/>
                          </a:rPr>
                          <m:t>h</m:t>
                        </m:r>
                      </m:e>
                      <m:sup>
                        <m:r>
                          <a:rPr lang="en-US" altLang="zh-CN" i="1" dirty="0" smtClean="0">
                            <a:latin typeface="Cambria Math" panose="02040503050406030204" pitchFamily="18" charset="0"/>
                          </a:rPr>
                          <m:t>1</m:t>
                        </m:r>
                      </m:sup>
                    </m:sSup>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h</m:t>
                        </m:r>
                      </m:e>
                      <m:sup>
                        <m:r>
                          <a:rPr lang="zh-CN" altLang="en-US" b="0" i="1" dirty="0" smtClean="0">
                            <a:latin typeface="Cambria Math" panose="02040503050406030204" pitchFamily="18" charset="0"/>
                          </a:rPr>
                          <m:t> </m:t>
                        </m:r>
                        <m:r>
                          <a:rPr lang="en-US" altLang="zh-CN" b="0" i="1" dirty="0" smtClean="0">
                            <a:latin typeface="Cambria Math" panose="02040503050406030204" pitchFamily="18" charset="0"/>
                          </a:rPr>
                          <m:t>2</m:t>
                        </m:r>
                      </m:sup>
                    </m:sSup>
                  </m:oMath>
                </a14:m>
                <a:r>
                  <a:rPr lang="en-US" altLang="zh-CN" dirty="0">
                    <a:latin typeface="Georgia" panose="02040502050405020303" pitchFamily="18" charset="0"/>
                  </a:rPr>
                  <a:t>,</a:t>
                </a:r>
                <a:r>
                  <a:rPr lang="en-US" altLang="zh-CN" b="0"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h</m:t>
                        </m:r>
                      </m:e>
                      <m:sup>
                        <m:r>
                          <a:rPr lang="en-US" altLang="zh-CN" b="0" i="1" dirty="0" smtClean="0">
                            <a:latin typeface="Cambria Math" panose="02040503050406030204" pitchFamily="18" charset="0"/>
                          </a:rPr>
                          <m:t>3</m:t>
                        </m:r>
                      </m:sup>
                    </m:sSup>
                    <m:r>
                      <a:rPr lang="en-US" altLang="zh-CN" b="0" i="0" dirty="0" smtClean="0">
                        <a:latin typeface="Cambria Math" panose="02040503050406030204" pitchFamily="18" charset="0"/>
                      </a:rPr>
                      <m:t>,</m:t>
                    </m:r>
                    <m:r>
                      <a:rPr lang="zh-CN" altLang="en-US" b="0" i="0" dirty="0" smtClean="0">
                        <a:latin typeface="Cambria Math" panose="02040503050406030204" pitchFamily="18" charset="0"/>
                      </a:rPr>
                      <m:t> </m:t>
                    </m:r>
                    <m:r>
                      <a:rPr lang="en-US" altLang="zh-CN" b="0" i="0"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h</m:t>
                        </m:r>
                      </m:e>
                      <m:sup>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sup>
                    </m:sSup>
                    <m:r>
                      <m:rPr>
                        <m:lit/>
                      </m:rPr>
                      <a:rPr lang="en-US" altLang="zh-CN" b="0" i="1" dirty="0" smtClean="0">
                        <a:latin typeface="Cambria Math" panose="02040503050406030204" pitchFamily="18" charset="0"/>
                      </a:rPr>
                      <m:t>}</m:t>
                    </m:r>
                  </m:oMath>
                </a14:m>
                <a:endParaRPr lang="en-US" altLang="zh-CN" b="0" dirty="0">
                  <a:latin typeface="Georgia" panose="02040502050405020303" pitchFamily="18" charset="0"/>
                </a:endParaRPr>
              </a:p>
              <a:p>
                <a:endParaRPr lang="en-US" altLang="zh-CN" b="0" dirty="0">
                  <a:latin typeface="Georgia" panose="02040502050405020303" pitchFamily="18" charset="0"/>
                </a:endParaRPr>
              </a:p>
              <a:p>
                <a:r>
                  <a:rPr lang="en-US" altLang="zh-CN" dirty="0">
                    <a:latin typeface="Georgia" panose="02040502050405020303" pitchFamily="18" charset="0"/>
                  </a:rPr>
                  <a:t>Giant</a:t>
                </a:r>
                <a:r>
                  <a:rPr lang="zh-CN" altLang="en-US" dirty="0">
                    <a:latin typeface="Georgia" panose="02040502050405020303" pitchFamily="18" charset="0"/>
                  </a:rPr>
                  <a:t> </a:t>
                </a:r>
                <a:r>
                  <a:rPr lang="en-US" altLang="zh-CN" dirty="0">
                    <a:latin typeface="Georgia" panose="02040502050405020303" pitchFamily="18" charset="0"/>
                  </a:rPr>
                  <a:t>step:</a:t>
                </a:r>
                <a:r>
                  <a:rPr lang="zh-CN" altLang="en-US"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m:rPr>
                            <m:lit/>
                          </m:rP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a:rPr lang="en-US" altLang="zh-CN" b="0" i="1" dirty="0" smtClean="0">
                            <a:latin typeface="Cambria Math" panose="02040503050406030204" pitchFamily="18" charset="0"/>
                          </a:rPr>
                          <m:t>𝑏𝑔</m:t>
                        </m:r>
                      </m:e>
                      <m:sup>
                        <m:r>
                          <a:rPr lang="en-US" altLang="zh-CN" b="0" i="1" dirty="0" smtClean="0">
                            <a:latin typeface="Cambria Math" panose="02040503050406030204" pitchFamily="18" charset="0"/>
                          </a:rPr>
                          <m:t>−</m:t>
                        </m:r>
                        <m:r>
                          <a:rPr lang="en-US" altLang="zh-CN" i="1" dirty="0" smtClean="0">
                            <a:latin typeface="Cambria Math" panose="02040503050406030204" pitchFamily="18" charset="0"/>
                          </a:rPr>
                          <m:t>1</m:t>
                        </m:r>
                      </m:sup>
                    </m:sSup>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𝑏𝑔</m:t>
                        </m:r>
                      </m:e>
                      <m:sup>
                        <m:r>
                          <a:rPr lang="zh-CN" altLang="en-US" b="0" i="1" dirty="0" smtClean="0">
                            <a:latin typeface="Cambria Math" panose="02040503050406030204" pitchFamily="18" charset="0"/>
                          </a:rPr>
                          <m:t> </m:t>
                        </m:r>
                        <m:r>
                          <a:rPr lang="en-US" altLang="zh-CN" b="0" i="1" dirty="0" smtClean="0">
                            <a:latin typeface="Cambria Math" panose="02040503050406030204" pitchFamily="18" charset="0"/>
                          </a:rPr>
                          <m:t>−2</m:t>
                        </m:r>
                      </m:sup>
                    </m:sSup>
                  </m:oMath>
                </a14:m>
                <a:r>
                  <a:rPr lang="en-US" altLang="zh-CN" dirty="0">
                    <a:latin typeface="Georgia" panose="02040502050405020303" pitchFamily="18" charset="0"/>
                  </a:rPr>
                  <a:t>,</a:t>
                </a:r>
                <a:r>
                  <a:rPr lang="en-US" altLang="zh-CN" b="0"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𝑏𝑔</m:t>
                        </m:r>
                      </m:e>
                      <m:sup>
                        <m:r>
                          <a:rPr lang="en-US" altLang="zh-CN" b="0" i="1" dirty="0" smtClean="0">
                            <a:latin typeface="Cambria Math" panose="02040503050406030204" pitchFamily="18" charset="0"/>
                          </a:rPr>
                          <m:t>−3</m:t>
                        </m:r>
                      </m:sup>
                    </m:sSup>
                    <m:r>
                      <a:rPr lang="en-US" altLang="zh-CN" b="0" i="0" dirty="0" smtClean="0">
                        <a:latin typeface="Cambria Math" panose="02040503050406030204" pitchFamily="18" charset="0"/>
                      </a:rPr>
                      <m:t>,</m:t>
                    </m:r>
                    <m:r>
                      <a:rPr lang="zh-CN" altLang="en-US" b="0" i="0" dirty="0" smtClean="0">
                        <a:latin typeface="Cambria Math" panose="02040503050406030204" pitchFamily="18" charset="0"/>
                      </a:rPr>
                      <m:t> </m:t>
                    </m:r>
                    <m:r>
                      <a:rPr lang="en-US" altLang="zh-CN" b="0" i="0"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𝑏𝑔</m:t>
                        </m:r>
                      </m:e>
                      <m:sup>
                        <m:r>
                          <a:rPr lang="en-US" altLang="zh-CN" b="0" i="1" dirty="0" smtClean="0">
                            <a:latin typeface="Cambria Math" panose="02040503050406030204" pitchFamily="18" charset="0"/>
                          </a:rPr>
                          <m:t>−</m:t>
                        </m:r>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r>
                          <a:rPr lang="zh-CN" altLang="en-US" b="0" i="1" dirty="0" smtClean="0">
                            <a:latin typeface="Cambria Math" panose="02040503050406030204" pitchFamily="18" charset="0"/>
                          </a:rPr>
                          <m:t> </m:t>
                        </m:r>
                      </m:sup>
                    </m:sSup>
                    <m:r>
                      <m:rPr>
                        <m:lit/>
                      </m:rPr>
                      <a:rPr lang="en-US" altLang="zh-CN" b="0" i="1" dirty="0" smtClean="0">
                        <a:latin typeface="Cambria Math" panose="02040503050406030204" pitchFamily="18" charset="0"/>
                      </a:rPr>
                      <m:t>}</m:t>
                    </m:r>
                    <m:r>
                      <a:rPr lang="en-US" altLang="zh-CN" b="0" i="0" dirty="0" smtClean="0">
                        <a:latin typeface="Cambria Math" panose="02040503050406030204" pitchFamily="18" charset="0"/>
                      </a:rPr>
                      <m:t>, </m:t>
                    </m:r>
                  </m:oMath>
                </a14:m>
                <a:r>
                  <a:rPr lang="en-US" altLang="zh-CN" dirty="0">
                    <a:latin typeface="Georgia" panose="02040502050405020303" pitchFamily="18" charset="0"/>
                  </a:rPr>
                  <a:t> where</a:t>
                </a:r>
                <a:r>
                  <a:rPr lang="zh-CN" altLang="en-US"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𝑔</m:t>
                        </m:r>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a:rPr lang="en-US" altLang="zh-CN" b="0" i="1" dirty="0" smtClean="0">
                            <a:latin typeface="Cambria Math" panose="02040503050406030204" pitchFamily="18" charset="0"/>
                          </a:rPr>
                          <m:t>h</m:t>
                        </m:r>
                      </m:e>
                      <m:sup>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sup>
                    </m:sSup>
                  </m:oMath>
                </a14:m>
                <a:endParaRPr lang="en-US" altLang="zh-CN" dirty="0">
                  <a:latin typeface="Georgia" panose="02040502050405020303" pitchFamily="18" charset="0"/>
                </a:endParaRPr>
              </a:p>
              <a:p>
                <a:endParaRPr lang="en-US" dirty="0">
                  <a:latin typeface="Georgia" panose="02040502050405020303" pitchFamily="18" charset="0"/>
                </a:endParaRPr>
              </a:p>
              <a:p>
                <a:r>
                  <a:rPr lang="en-US" altLang="zh-CN" dirty="0">
                    <a:latin typeface="Georgia" panose="02040502050405020303" pitchFamily="18" charset="0"/>
                  </a:rPr>
                  <a:t>Find</a:t>
                </a:r>
                <a:r>
                  <a:rPr lang="zh-CN" altLang="en-US" dirty="0">
                    <a:latin typeface="Georgia" panose="02040502050405020303" pitchFamily="18" charset="0"/>
                  </a:rPr>
                  <a:t> </a:t>
                </a:r>
                <a:r>
                  <a:rPr lang="en-US" altLang="zh-CN" dirty="0">
                    <a:latin typeface="Georgia" panose="02040502050405020303" pitchFamily="18" charset="0"/>
                  </a:rPr>
                  <a:t>two</a:t>
                </a:r>
                <a:r>
                  <a:rPr lang="zh-CN" altLang="en-US" dirty="0">
                    <a:latin typeface="Georgia" panose="02040502050405020303" pitchFamily="18" charset="0"/>
                  </a:rPr>
                  <a:t> </a:t>
                </a:r>
                <a:r>
                  <a:rPr lang="en-US" altLang="zh-CN" dirty="0">
                    <a:latin typeface="Georgia" panose="02040502050405020303" pitchFamily="18" charset="0"/>
                  </a:rPr>
                  <a:t>collided</a:t>
                </a:r>
                <a:r>
                  <a:rPr lang="zh-CN" altLang="en-US" dirty="0">
                    <a:latin typeface="Georgia" panose="02040502050405020303" pitchFamily="18" charset="0"/>
                  </a:rPr>
                  <a:t> </a:t>
                </a:r>
                <a:r>
                  <a:rPr lang="en-US" altLang="zh-CN" dirty="0">
                    <a:latin typeface="Georgia" panose="02040502050405020303" pitchFamily="18" charset="0"/>
                  </a:rPr>
                  <a:t>elements</a:t>
                </a:r>
                <a:r>
                  <a:rPr lang="zh-CN" altLang="en-US" dirty="0">
                    <a:latin typeface="Georgia" panose="02040502050405020303" pitchFamily="18" charset="0"/>
                  </a:rPr>
                  <a:t> </a:t>
                </a:r>
                <a:r>
                  <a:rPr lang="en-US" altLang="zh-CN" dirty="0">
                    <a:latin typeface="Georgia" panose="02040502050405020303" pitchFamily="18" charset="0"/>
                  </a:rPr>
                  <a:t>in</a:t>
                </a:r>
                <a:r>
                  <a:rPr lang="zh-CN" altLang="en-US" dirty="0">
                    <a:latin typeface="Georgia" panose="02040502050405020303" pitchFamily="18" charset="0"/>
                  </a:rPr>
                  <a:t>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𝐿</m:t>
                        </m:r>
                      </m:e>
                      <m:sub>
                        <m:r>
                          <a:rPr lang="en-US" altLang="zh-CN" i="1" dirty="0" smtClean="0">
                            <a:latin typeface="Cambria Math" panose="02040503050406030204" pitchFamily="18" charset="0"/>
                          </a:rPr>
                          <m:t>0</m:t>
                        </m:r>
                      </m:sub>
                    </m:sSub>
                    <m:r>
                      <a:rPr lang="zh-CN" altLang="en-US" b="0" i="1" dirty="0" smtClean="0">
                        <a:latin typeface="Cambria Math" panose="02040503050406030204" pitchFamily="18" charset="0"/>
                      </a:rPr>
                      <m:t> </m:t>
                    </m:r>
                    <m:r>
                      <a:rPr lang="zh-CN" altLang="en-US" i="1" dirty="0" smtClean="0">
                        <a:latin typeface="Cambria Math" panose="02040503050406030204" pitchFamily="18" charset="0"/>
                      </a:rPr>
                      <m:t> </m:t>
                    </m:r>
                  </m:oMath>
                </a14:m>
                <a:r>
                  <a:rPr lang="en-US" altLang="zh-CN" dirty="0">
                    <a:latin typeface="Georgia" panose="02040502050405020303" pitchFamily="18" charset="0"/>
                  </a:rPr>
                  <a:t>and</a:t>
                </a:r>
                <a:r>
                  <a:rPr lang="zh-CN" altLang="en-US" dirty="0">
                    <a:latin typeface="Georgia" panose="02040502050405020303" pitchFamily="18" charset="0"/>
                  </a:rPr>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𝐿</m:t>
                        </m:r>
                      </m:e>
                      <m:sub>
                        <m:r>
                          <a:rPr lang="en-US" altLang="zh-CN" b="0" i="1" dirty="0" smtClean="0">
                            <a:latin typeface="Cambria Math" panose="02040503050406030204" pitchFamily="18" charset="0"/>
                          </a:rPr>
                          <m:t>1</m:t>
                        </m:r>
                      </m:sub>
                    </m:sSub>
                  </m:oMath>
                </a14:m>
                <a:r>
                  <a:rPr lang="zh-CN" altLang="en-US" dirty="0">
                    <a:latin typeface="Georgia" panose="02040502050405020303" pitchFamily="18" charset="0"/>
                  </a:rPr>
                  <a:t> </a:t>
                </a:r>
                <a:r>
                  <a:rPr lang="en-US" altLang="zh-CN" dirty="0">
                    <a:latin typeface="Georgia" panose="02040502050405020303" pitchFamily="18" charset="0"/>
                  </a:rPr>
                  <a:t>,</a:t>
                </a:r>
                <a:r>
                  <a:rPr lang="zh-CN" altLang="en-US" dirty="0">
                    <a:latin typeface="Georgia" panose="02040502050405020303" pitchFamily="18" charset="0"/>
                  </a:rPr>
                  <a:t> </a:t>
                </a:r>
                <a:r>
                  <a:rPr lang="en-US" altLang="zh-CN" dirty="0">
                    <a:latin typeface="Georgia" panose="02040502050405020303" pitchFamily="18" charset="0"/>
                  </a:rPr>
                  <a:t>such</a:t>
                </a:r>
                <a:r>
                  <a:rPr lang="zh-CN" altLang="en-US" dirty="0">
                    <a:latin typeface="Georgia" panose="02040502050405020303" pitchFamily="18" charset="0"/>
                  </a:rPr>
                  <a:t> </a:t>
                </a:r>
                <a:r>
                  <a:rPr lang="en-US" altLang="zh-CN" dirty="0">
                    <a:latin typeface="Georgia" panose="02040502050405020303" pitchFamily="18" charset="0"/>
                  </a:rPr>
                  <a:t>that</a:t>
                </a:r>
                <a:r>
                  <a:rPr lang="zh-CN" altLang="en-US"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h</m:t>
                        </m:r>
                      </m:e>
                      <m:sup>
                        <m:r>
                          <a:rPr lang="en-US" altLang="zh-CN" b="0" i="1" dirty="0" smtClean="0">
                            <a:latin typeface="Cambria Math" panose="02040503050406030204" pitchFamily="18" charset="0"/>
                          </a:rPr>
                          <m:t>𝑖</m:t>
                        </m:r>
                      </m:sup>
                    </m:s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r>
                      <a:rPr lang="zh-CN" altLang="en-US" b="0" i="1" dirty="0" smtClean="0">
                        <a:latin typeface="Cambria Math" panose="02040503050406030204" pitchFamily="18" charset="0"/>
                      </a:rPr>
                      <m:t> </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𝑔</m:t>
                        </m:r>
                      </m:e>
                      <m: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𝑗</m:t>
                        </m:r>
                      </m:sup>
                    </m:sSup>
                  </m:oMath>
                </a14:m>
                <a:r>
                  <a:rPr lang="en-US" altLang="zh-CN" dirty="0">
                    <a:latin typeface="Georgia" panose="02040502050405020303" pitchFamily="18" charset="0"/>
                  </a:rPr>
                  <a:t>,</a:t>
                </a:r>
                <a:r>
                  <a:rPr lang="zh-CN" altLang="en-US" dirty="0">
                    <a:latin typeface="Georgia" panose="02040502050405020303" pitchFamily="18" charset="0"/>
                  </a:rPr>
                  <a:t> </a:t>
                </a:r>
                <a:r>
                  <a:rPr lang="en-US" altLang="zh-CN" dirty="0">
                    <a:latin typeface="Georgia" panose="02040502050405020303" pitchFamily="18" charset="0"/>
                  </a:rPr>
                  <a:t>then</a:t>
                </a:r>
                <a:r>
                  <a:rPr lang="zh-CN" altLang="en-US" dirty="0">
                    <a:latin typeface="Georgia" panose="02040502050405020303" pitchFamily="18" charset="0"/>
                  </a:rPr>
                  <a:t> </a:t>
                </a:r>
                <a14:m>
                  <m:oMath xmlns:m="http://schemas.openxmlformats.org/officeDocument/2006/math">
                    <m:r>
                      <a:rPr lang="en-US" altLang="zh-CN" i="1" dirty="0" smtClean="0">
                        <a:latin typeface="Cambria Math" panose="02040503050406030204" pitchFamily="18" charset="0"/>
                      </a:rPr>
                      <m:t>𝑥</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r>
                      <a:rPr lang="en-US" altLang="zh-CN" i="1" dirty="0" err="1" smtClean="0">
                        <a:latin typeface="Cambria Math" panose="02040503050406030204" pitchFamily="18" charset="0"/>
                      </a:rPr>
                      <m:t>𝑖</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m:t>
                    </m:r>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a:rPr lang="en-US" altLang="zh-CN" i="1" dirty="0" smtClean="0">
                        <a:latin typeface="Cambria Math" panose="02040503050406030204" pitchFamily="18" charset="0"/>
                      </a:rPr>
                      <m:t>𝑗</m:t>
                    </m:r>
                    <m:r>
                      <a:rPr lang="zh-CN" altLang="en-US" i="1" dirty="0" smtClean="0">
                        <a:latin typeface="Cambria Math" panose="02040503050406030204" pitchFamily="18" charset="0"/>
                      </a:rPr>
                      <m:t> </m:t>
                    </m:r>
                  </m:oMath>
                </a14:m>
                <a:endParaRPr lang="en-US" dirty="0">
                  <a:latin typeface="Georgia" panose="02040502050405020303" pitchFamily="18" charset="0"/>
                </a:endParaRPr>
              </a:p>
              <a:p>
                <a:endParaRPr lang="en-US" dirty="0">
                  <a:latin typeface="Georgia" panose="02040502050405020303" pitchFamily="18" charset="0"/>
                </a:endParaRPr>
              </a:p>
              <a:p>
                <a:r>
                  <a:rPr lang="en-US" altLang="zh-CN" sz="2000" b="1" dirty="0">
                    <a:solidFill>
                      <a:srgbClr val="FF0000"/>
                    </a:solidFill>
                    <a:latin typeface="Georgia" panose="02040502050405020303" pitchFamily="18" charset="0"/>
                  </a:rPr>
                  <a:t>In-Class</a:t>
                </a:r>
                <a:r>
                  <a:rPr lang="zh-CN" altLang="en-US" sz="2000" b="1" dirty="0">
                    <a:solidFill>
                      <a:srgbClr val="FF0000"/>
                    </a:solidFill>
                    <a:latin typeface="Georgia" panose="02040502050405020303" pitchFamily="18" charset="0"/>
                  </a:rPr>
                  <a:t> </a:t>
                </a:r>
                <a:r>
                  <a:rPr lang="en-US" altLang="zh-CN" sz="2000" b="1" dirty="0">
                    <a:solidFill>
                      <a:srgbClr val="FF0000"/>
                    </a:solidFill>
                    <a:latin typeface="Georgia" panose="02040502050405020303" pitchFamily="18" charset="0"/>
                  </a:rPr>
                  <a:t>Quiz</a:t>
                </a:r>
                <a:r>
                  <a:rPr lang="en-US" altLang="zh-CN" sz="2000" b="1" dirty="0">
                    <a:latin typeface="Georgia" panose="02040502050405020303" pitchFamily="18" charset="0"/>
                  </a:rPr>
                  <a:t>:</a:t>
                </a:r>
                <a:r>
                  <a:rPr lang="zh-CN" altLang="en-US" sz="2000" b="1" dirty="0">
                    <a:latin typeface="Georgia" panose="02040502050405020303" pitchFamily="18" charset="0"/>
                  </a:rPr>
                  <a:t> </a:t>
                </a:r>
                <a:r>
                  <a:rPr lang="en-US" altLang="zh-CN" sz="2000" b="1" dirty="0">
                    <a:latin typeface="Georgia" panose="02040502050405020303" pitchFamily="18" charset="0"/>
                  </a:rPr>
                  <a:t>P</a:t>
                </a:r>
                <a:r>
                  <a:rPr lang="en-US" sz="2000" b="1" dirty="0">
                    <a:latin typeface="Georgia" panose="02040502050405020303" pitchFamily="18" charset="0"/>
                  </a:rPr>
                  <a:t>rove that there always exists a collision between the two lists</a:t>
                </a:r>
              </a:p>
              <a:p>
                <a:endParaRPr lang="en-US" sz="2000" b="1" dirty="0">
                  <a:latin typeface="Georgia" panose="02040502050405020303" pitchFamily="18" charset="0"/>
                </a:endParaRPr>
              </a:p>
              <a:p>
                <a:r>
                  <a:rPr lang="en-US" sz="2000" b="1" dirty="0">
                    <a:latin typeface="Georgia" panose="02040502050405020303" pitchFamily="18" charset="0"/>
                  </a:rPr>
                  <a:t>Quiz Code: </a:t>
                </a:r>
                <a:r>
                  <a:rPr lang="en-US" sz="2000" b="1" i="0" dirty="0">
                    <a:solidFill>
                      <a:srgbClr val="273540"/>
                    </a:solidFill>
                    <a:effectLst/>
                    <a:latin typeface="Georgia" panose="02040502050405020303" pitchFamily="18" charset="0"/>
                  </a:rPr>
                  <a:t>Crypto57556</a:t>
                </a:r>
                <a:endParaRPr lang="en-US" sz="2000" b="1" dirty="0">
                  <a:latin typeface="Georgia" panose="02040502050405020303" pitchFamily="18" charset="0"/>
                </a:endParaRPr>
              </a:p>
            </p:txBody>
          </p:sp>
        </mc:Choice>
        <mc:Fallback xmlns="">
          <p:sp>
            <p:nvSpPr>
              <p:cNvPr id="25" name="TextBox 24">
                <a:extLst>
                  <a:ext uri="{FF2B5EF4-FFF2-40B4-BE49-F238E27FC236}">
                    <a16:creationId xmlns:a16="http://schemas.microsoft.com/office/drawing/2014/main" id="{EF330F26-8315-09CF-FDF5-1A498BB7B68B}"/>
                  </a:ext>
                </a:extLst>
              </p:cNvPr>
              <p:cNvSpPr txBox="1">
                <a:spLocks noRot="1" noChangeAspect="1" noMove="1" noResize="1" noEditPoints="1" noAdjustHandles="1" noChangeArrowheads="1" noChangeShapeType="1" noTextEdit="1"/>
              </p:cNvSpPr>
              <p:nvPr/>
            </p:nvSpPr>
            <p:spPr>
              <a:xfrm>
                <a:off x="838199" y="2291409"/>
                <a:ext cx="10883538" cy="4213076"/>
              </a:xfrm>
              <a:prstGeom prst="rect">
                <a:avLst/>
              </a:prstGeom>
              <a:blipFill>
                <a:blip r:embed="rId3"/>
                <a:stretch>
                  <a:fillRect l="-582" t="-601" b="-1802"/>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B9E85ECD-6E06-B1CC-639F-83D01D8C86AE}"/>
              </a:ext>
            </a:extLst>
          </p:cNvPr>
          <p:cNvSpPr/>
          <p:nvPr/>
        </p:nvSpPr>
        <p:spPr>
          <a:xfrm>
            <a:off x="470263" y="2328786"/>
            <a:ext cx="11560629" cy="29913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35C6C3E-F7F8-CE00-8BD3-83F37817DE55}"/>
              </a:ext>
            </a:extLst>
          </p:cNvPr>
          <p:cNvSpPr/>
          <p:nvPr/>
        </p:nvSpPr>
        <p:spPr>
          <a:xfrm>
            <a:off x="552994" y="5438600"/>
            <a:ext cx="11560629" cy="10542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918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6"/>
                                        </p:tgtEl>
                                      </p:cBhvr>
                                    </p:animEffect>
                                    <p:set>
                                      <p:cBhvr>
                                        <p:cTn id="7" dur="1" fill="hold">
                                          <p:stCondLst>
                                            <p:cond delay="499"/>
                                          </p:stCondLst>
                                        </p:cTn>
                                        <p:tgtEl>
                                          <p:spTgt spid="2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29"/>
                                        </p:tgtEl>
                                      </p:cBhvr>
                                    </p:animEffect>
                                    <p:set>
                                      <p:cBhvr>
                                        <p:cTn id="12"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A2872-7E2A-B6BD-7CD5-0171252EC0AA}"/>
              </a:ext>
            </a:extLst>
          </p:cNvPr>
          <p:cNvSpPr>
            <a:spLocks noGrp="1"/>
          </p:cNvSpPr>
          <p:nvPr>
            <p:ph type="title"/>
          </p:nvPr>
        </p:nvSpPr>
        <p:spPr/>
        <p:txBody>
          <a:bodyPr/>
          <a:lstStyle/>
          <a:p>
            <a:r>
              <a:rPr lang="en-US" b="1" dirty="0">
                <a:latin typeface="Georgia" panose="02040502050405020303" pitchFamily="18" charset="0"/>
              </a:rPr>
              <a:t>Example: Shamir Secret Sharing</a:t>
            </a:r>
          </a:p>
        </p:txBody>
      </p:sp>
      <p:sp>
        <p:nvSpPr>
          <p:cNvPr id="3" name="Content Placeholder 2">
            <a:extLst>
              <a:ext uri="{FF2B5EF4-FFF2-40B4-BE49-F238E27FC236}">
                <a16:creationId xmlns:a16="http://schemas.microsoft.com/office/drawing/2014/main" id="{F0BA7991-62E9-33BE-7EBF-2C8D68337A34}"/>
              </a:ext>
            </a:extLst>
          </p:cNvPr>
          <p:cNvSpPr>
            <a:spLocks noGrp="1"/>
          </p:cNvSpPr>
          <p:nvPr>
            <p:ph idx="1"/>
          </p:nvPr>
        </p:nvSpPr>
        <p:spPr/>
        <p:txBody>
          <a:bodyPr/>
          <a:lstStyle/>
          <a:p>
            <a:pPr>
              <a:spcBef>
                <a:spcPts val="1000"/>
              </a:spcBef>
            </a:pPr>
            <a:r>
              <a:rPr lang="en-US" sz="2000" b="1" dirty="0">
                <a:latin typeface="Georgia" panose="02040502050405020303" pitchFamily="18" charset="0"/>
              </a:rPr>
              <a:t>Setup: hide the secret in a random polynomial</a:t>
            </a:r>
          </a:p>
          <a:p>
            <a:pPr lvl="1">
              <a:spcBef>
                <a:spcPts val="500"/>
              </a:spcBef>
            </a:pPr>
            <a:r>
              <a:rPr lang="en-US" sz="1700" dirty="0">
                <a:latin typeface="Georgia" panose="02040502050405020303" pitchFamily="18" charset="0"/>
              </a:rPr>
              <a:t>Secret s = 5, prime p = 11; pick a random slope a = 3, set f(x) = 5 + 3x mod 11</a:t>
            </a:r>
          </a:p>
          <a:p>
            <a:pPr lvl="1">
              <a:spcBef>
                <a:spcPts val="500"/>
              </a:spcBef>
            </a:pPr>
            <a:r>
              <a:rPr lang="en-US" sz="1700" dirty="0">
                <a:latin typeface="Georgia" panose="02040502050405020303" pitchFamily="18" charset="0"/>
              </a:rPr>
              <a:t>Shares: f(1) = 8, f(2) = 0, f(3) = 3</a:t>
            </a:r>
          </a:p>
          <a:p>
            <a:pPr>
              <a:spcBef>
                <a:spcPts val="1000"/>
              </a:spcBef>
            </a:pPr>
            <a:r>
              <a:rPr lang="en-US" sz="2000" b="1" dirty="0">
                <a:latin typeface="Georgia" panose="02040502050405020303" pitchFamily="18" charset="0"/>
              </a:rPr>
              <a:t>Any 2 shares recover the secret</a:t>
            </a:r>
          </a:p>
          <a:p>
            <a:pPr lvl="1">
              <a:spcBef>
                <a:spcPts val="500"/>
              </a:spcBef>
            </a:pPr>
            <a:r>
              <a:rPr lang="en-US" sz="1700" dirty="0">
                <a:latin typeface="Georgia" panose="02040502050405020303" pitchFamily="18" charset="0"/>
              </a:rPr>
              <a:t>Lagrange on (1, 8) and (3, 3): f(0) = 8·7 + 3·5 = 71 = 5 mod 11</a:t>
            </a:r>
          </a:p>
          <a:p>
            <a:pPr lvl="1">
              <a:spcBef>
                <a:spcPts val="500"/>
              </a:spcBef>
            </a:pPr>
            <a:r>
              <a:rPr lang="en-US" sz="1700" dirty="0">
                <a:latin typeface="Georgia" panose="02040502050405020303" pitchFamily="18" charset="0"/>
              </a:rPr>
              <a:t>Two points determine a line, so the intercept f(0) is unique</a:t>
            </a:r>
          </a:p>
          <a:p>
            <a:pPr>
              <a:spcBef>
                <a:spcPts val="1000"/>
              </a:spcBef>
            </a:pPr>
            <a:r>
              <a:rPr lang="en-US" sz="2000" b="1" dirty="0">
                <a:latin typeface="Georgia" panose="02040502050405020303" pitchFamily="18" charset="0"/>
              </a:rPr>
              <a:t>Any 1 share reveals nothing</a:t>
            </a:r>
          </a:p>
          <a:p>
            <a:pPr lvl="1">
              <a:spcBef>
                <a:spcPts val="500"/>
              </a:spcBef>
            </a:pPr>
            <a:r>
              <a:rPr lang="en-US" sz="1700" dirty="0">
                <a:latin typeface="Georgia" panose="02040502050405020303" pitchFamily="18" charset="0"/>
              </a:rPr>
              <a:t>From (2, 0) alone: every candidate s admits exactly one slope with s + 2a = 0</a:t>
            </a:r>
          </a:p>
          <a:p>
            <a:pPr lvl="1">
              <a:spcBef>
                <a:spcPts val="500"/>
              </a:spcBef>
            </a:pPr>
            <a:r>
              <a:rPr lang="en-US" sz="1700" dirty="0">
                <a:latin typeface="Georgia" panose="02040502050405020303" pitchFamily="18" charset="0"/>
              </a:rPr>
              <a:t>All 11 secrets stay equally likely — perfect privacy, no assumptions needed</a:t>
            </a:r>
          </a:p>
          <a:p>
            <a:pPr marL="0" indent="0">
              <a:spcBef>
                <a:spcPts val="1400"/>
              </a:spcBef>
              <a:buNone/>
            </a:pPr>
            <a:r>
              <a:rPr lang="en-US" sz="1800" b="1" i="1" dirty="0">
                <a:solidFill>
                  <a:srgbClr val="C00000"/>
                </a:solidFill>
                <a:latin typeface="Georgia" panose="02040502050405020303" pitchFamily="18" charset="0"/>
              </a:rPr>
              <a:t>Security comes from counting consistent polynomials — the basis of  MPC.</a:t>
            </a:r>
          </a:p>
        </p:txBody>
      </p:sp>
    </p:spTree>
    <p:extLst>
      <p:ext uri="{BB962C8B-B14F-4D97-AF65-F5344CB8AC3E}">
        <p14:creationId xmlns:p14="http://schemas.microsoft.com/office/powerpoint/2010/main" val="205609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E9FB3-4A93-4CDB-84B7-E950CEB6ECB0}"/>
              </a:ext>
            </a:extLst>
          </p:cNvPr>
          <p:cNvSpPr>
            <a:spLocks noGrp="1"/>
          </p:cNvSpPr>
          <p:nvPr>
            <p:ph type="title"/>
          </p:nvPr>
        </p:nvSpPr>
        <p:spPr>
          <a:xfrm>
            <a:off x="589429" y="1179328"/>
            <a:ext cx="10971199" cy="1325563"/>
          </a:xfrm>
        </p:spPr>
        <p:txBody>
          <a:bodyPr/>
          <a:lstStyle/>
          <a:p>
            <a:pPr algn="ctr"/>
            <a:r>
              <a:rPr lang="en-US" dirty="0">
                <a:latin typeface="Georgia" panose="02040502050405020303" pitchFamily="18" charset="0"/>
              </a:rPr>
              <a:t> All Background You Need for This Course</a:t>
            </a:r>
          </a:p>
        </p:txBody>
      </p:sp>
      <p:sp>
        <p:nvSpPr>
          <p:cNvPr id="3" name="Content Placeholder 2">
            <a:extLst>
              <a:ext uri="{FF2B5EF4-FFF2-40B4-BE49-F238E27FC236}">
                <a16:creationId xmlns:a16="http://schemas.microsoft.com/office/drawing/2014/main" id="{0D89DB11-763D-B154-DFDC-75FE8F315883}"/>
              </a:ext>
            </a:extLst>
          </p:cNvPr>
          <p:cNvSpPr>
            <a:spLocks noGrp="1"/>
          </p:cNvSpPr>
          <p:nvPr>
            <p:ph idx="1"/>
          </p:nvPr>
        </p:nvSpPr>
        <p:spPr>
          <a:xfrm>
            <a:off x="889229" y="3072652"/>
            <a:ext cx="10515600" cy="2403317"/>
          </a:xfrm>
        </p:spPr>
        <p:txBody>
          <a:bodyPr/>
          <a:lstStyle/>
          <a:p>
            <a:pPr marL="0" indent="0" algn="ctr">
              <a:buNone/>
            </a:pPr>
            <a:r>
              <a:rPr lang="en-US" dirty="0">
                <a:hlinkClick r:id="rId2"/>
              </a:rPr>
              <a:t>https://joyofcryptography.com/pdf/chap0.pdf</a:t>
            </a:r>
            <a:endParaRPr lang="en-US" dirty="0"/>
          </a:p>
          <a:p>
            <a:pPr algn="ctr"/>
            <a:endParaRPr lang="en-US" dirty="0"/>
          </a:p>
        </p:txBody>
      </p:sp>
    </p:spTree>
    <p:extLst>
      <p:ext uri="{BB962C8B-B14F-4D97-AF65-F5344CB8AC3E}">
        <p14:creationId xmlns:p14="http://schemas.microsoft.com/office/powerpoint/2010/main" val="37626709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4FF7B-0EC5-466C-BC53-F09E4566CA4C}"/>
              </a:ext>
            </a:extLst>
          </p:cNvPr>
          <p:cNvSpPr>
            <a:spLocks noGrp="1"/>
          </p:cNvSpPr>
          <p:nvPr>
            <p:ph type="title"/>
          </p:nvPr>
        </p:nvSpPr>
        <p:spPr/>
        <p:txBody>
          <a:bodyPr/>
          <a:lstStyle/>
          <a:p>
            <a:r>
              <a:rPr lang="en-US" dirty="0">
                <a:latin typeface="Georgia" panose="02040502050405020303" pitchFamily="18" charset="0"/>
              </a:rPr>
              <a:t>Exponentiation and log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2AA891-18B8-AE5E-D12E-F36D5C2A22F5}"/>
                  </a:ext>
                </a:extLst>
              </p:cNvPr>
              <p:cNvSpPr>
                <a:spLocks noGrp="1"/>
              </p:cNvSpPr>
              <p:nvPr>
                <p:ph idx="1"/>
              </p:nvPr>
            </p:nvSpPr>
            <p:spPr/>
            <p:txBody>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sup>
                    </m:sSup>
                  </m:oMath>
                </a14:m>
                <a:endParaRPr lang="en-US" b="0" dirty="0">
                  <a:latin typeface="Georgia" panose="02040502050405020303" pitchFamily="18" charset="0"/>
                </a:endParaRP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endParaRPr lang="en-US" dirty="0">
                  <a:latin typeface="Georgia" panose="02040502050405020303" pitchFamily="18" charset="0"/>
                </a:endParaRPr>
              </a:p>
              <a:p>
                <a14:m>
                  <m:oMath xmlns:m="http://schemas.openxmlformats.org/officeDocument/2006/math">
                    <m:sSup>
                      <m:sSupPr>
                        <m:ctrlPr>
                          <a:rPr lang="en-US" b="0" i="1" smtClean="0">
                            <a:latin typeface="Cambria Math" panose="02040503050406030204" pitchFamily="18" charset="0"/>
                          </a:rPr>
                        </m:ctrlPr>
                      </m:sSup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𝑥</m:t>
                                </m:r>
                              </m:sub>
                            </m:sSub>
                          </m:fName>
                          <m:e>
                            <m:r>
                              <a:rPr lang="en-US" i="1">
                                <a:latin typeface="Cambria Math" panose="02040503050406030204" pitchFamily="18" charset="0"/>
                              </a:rPr>
                              <m:t>𝑎𝑏</m:t>
                            </m:r>
                            <m:r>
                              <a:rPr lang="en-US" i="1">
                                <a:latin typeface="Cambria Math" panose="02040503050406030204" pitchFamily="18" charset="0"/>
                              </a:rPr>
                              <m:t> </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𝑎</m:t>
                            </m:r>
                          </m:e>
                        </m:func>
                      </m:e>
                      <m:sup>
                        <m:r>
                          <a:rPr lang="en-US" b="0" i="1" smtClean="0">
                            <a:latin typeface="Cambria Math" panose="02040503050406030204" pitchFamily="18" charset="0"/>
                          </a:rPr>
                          <m:t> </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𝑏</m:t>
                        </m:r>
                      </m:e>
                    </m:func>
                  </m:oMath>
                </a14:m>
                <a:endParaRPr lang="en-US" b="0" dirty="0">
                  <a:latin typeface="Georgia" panose="02040502050405020303" pitchFamily="18" charset="0"/>
                </a:endParaRPr>
              </a:p>
              <a:p>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a:rPr lang="en-US" i="1">
                                <a:latin typeface="Cambria Math" panose="02040503050406030204" pitchFamily="18" charset="0"/>
                              </a:rPr>
                              <m:t>𝑎</m:t>
                            </m:r>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𝑏</m:t>
                        </m:r>
                        <m:r>
                          <a:rPr lang="en-US" b="0" i="1" smtClean="0">
                            <a:latin typeface="Cambria Math" panose="02040503050406030204" pitchFamily="18" charset="0"/>
                          </a:rPr>
                          <m:t> </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𝑎</m:t>
                            </m:r>
                          </m:sup>
                        </m:sSup>
                      </m:e>
                    </m:func>
                  </m:oMath>
                </a14:m>
                <a:endParaRPr lang="en-US" dirty="0">
                  <a:latin typeface="Georgia" panose="02040502050405020303" pitchFamily="18" charset="0"/>
                </a:endParaRPr>
              </a:p>
              <a:p>
                <a:endParaRPr lang="en-US" dirty="0">
                  <a:latin typeface="Georgia" panose="02040502050405020303" pitchFamily="18" charset="0"/>
                </a:endParaRPr>
              </a:p>
              <a:p>
                <a:endParaRPr lang="en-US" dirty="0">
                  <a:latin typeface="Georgia" panose="02040502050405020303" pitchFamily="18" charset="0"/>
                </a:endParaRP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oMath>
                </a14:m>
                <a:r>
                  <a:rPr lang="en-US" dirty="0">
                    <a:latin typeface="Georgia" panose="02040502050405020303" pitchFamily="18" charset="0"/>
                  </a:rPr>
                  <a:t> is </a:t>
                </a:r>
                <a:r>
                  <a:rPr lang="en-US" b="1" dirty="0">
                    <a:latin typeface="Georgia" panose="02040502050405020303" pitchFamily="18" charset="0"/>
                  </a:rPr>
                  <a:t>not</a:t>
                </a:r>
                <a:r>
                  <a:rPr lang="en-US" dirty="0">
                    <a:latin typeface="Georgia" panose="02040502050405020303" pitchFamily="18" charset="0"/>
                  </a:rPr>
                  <a:t> equal to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r>
                  <a:rPr lang="en-US" dirty="0">
                    <a:latin typeface="Georgia" panose="02040502050405020303" pitchFamily="18" charset="0"/>
                  </a:rPr>
                  <a:t> !!!</a:t>
                </a:r>
              </a:p>
              <a:p>
                <a:endParaRPr lang="en-US" dirty="0">
                  <a:latin typeface="Georgia" panose="02040502050405020303" pitchFamily="18" charset="0"/>
                </a:endParaRPr>
              </a:p>
            </p:txBody>
          </p:sp>
        </mc:Choice>
        <mc:Fallback xmlns="">
          <p:sp>
            <p:nvSpPr>
              <p:cNvPr id="3" name="Content Placeholder 2">
                <a:extLst>
                  <a:ext uri="{FF2B5EF4-FFF2-40B4-BE49-F238E27FC236}">
                    <a16:creationId xmlns:a16="http://schemas.microsoft.com/office/drawing/2014/main" id="{EC2AA891-18B8-AE5E-D12E-F36D5C2A22F5}"/>
                  </a:ext>
                </a:extLst>
              </p:cNvPr>
              <p:cNvSpPr>
                <a:spLocks noGrp="1" noRot="1" noChangeAspect="1" noMove="1" noResize="1" noEditPoints="1" noAdjustHandles="1" noChangeArrowheads="1" noChangeShapeType="1" noTextEdit="1"/>
              </p:cNvSpPr>
              <p:nvPr>
                <p:ph idx="1"/>
              </p:nvPr>
            </p:nvSpPr>
            <p:spPr>
              <a:blipFill>
                <a:blip r:embed="rId2"/>
                <a:stretch>
                  <a:fillRect l="-1086" t="-1453"/>
                </a:stretch>
              </a:blipFill>
            </p:spPr>
            <p:txBody>
              <a:bodyPr/>
              <a:lstStyle/>
              <a:p>
                <a:r>
                  <a:rPr lang="en-US">
                    <a:noFill/>
                  </a:rPr>
                  <a:t> </a:t>
                </a:r>
              </a:p>
            </p:txBody>
          </p:sp>
        </mc:Fallback>
      </mc:AlternateContent>
    </p:spTree>
    <p:extLst>
      <p:ext uri="{BB962C8B-B14F-4D97-AF65-F5344CB8AC3E}">
        <p14:creationId xmlns:p14="http://schemas.microsoft.com/office/powerpoint/2010/main" val="3190851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US" dirty="0">
                <a:latin typeface="Georgia" panose="02040502050405020303" pitchFamily="18" charset="0"/>
              </a:rPr>
              <a:t>Prime Number</a:t>
            </a:r>
          </a:p>
        </p:txBody>
      </p:sp>
      <p:sp>
        <p:nvSpPr>
          <p:cNvPr id="192515" name="Rectangle 3" descr="Rectangle: Click to edit Master text styles&#10;Second level&#10;Third level&#10;Fourth level&#10;Fifth level"/>
          <p:cNvSpPr>
            <a:spLocks noGrp="1" noChangeArrowheads="1"/>
          </p:cNvSpPr>
          <p:nvPr>
            <p:ph idx="1"/>
          </p:nvPr>
        </p:nvSpPr>
        <p:spPr>
          <a:xfrm>
            <a:off x="838200" y="1505239"/>
            <a:ext cx="10515600" cy="4987636"/>
          </a:xfrm>
        </p:spPr>
        <p:txBody>
          <a:bodyPr>
            <a:normAutofit lnSpcReduction="10000"/>
          </a:bodyPr>
          <a:lstStyle/>
          <a:p>
            <a:pPr>
              <a:lnSpc>
                <a:spcPct val="90000"/>
              </a:lnSpc>
            </a:pPr>
            <a:r>
              <a:rPr lang="en-US" sz="2400" dirty="0">
                <a:latin typeface="Georgia" panose="02040502050405020303" pitchFamily="18" charset="0"/>
              </a:rPr>
              <a:t>Prime number </a:t>
            </a:r>
            <a:r>
              <a:rPr lang="en-US" sz="2400" b="1" i="1" dirty="0">
                <a:latin typeface="Georgia" panose="02040502050405020303" pitchFamily="18" charset="0"/>
              </a:rPr>
              <a:t>p</a:t>
            </a:r>
            <a:r>
              <a:rPr lang="en-US" sz="2400" dirty="0">
                <a:latin typeface="Georgia" panose="02040502050405020303" pitchFamily="18" charset="0"/>
              </a:rPr>
              <a:t>:</a:t>
            </a:r>
          </a:p>
          <a:p>
            <a:pPr lvl="1">
              <a:lnSpc>
                <a:spcPct val="90000"/>
              </a:lnSpc>
            </a:pPr>
            <a:r>
              <a:rPr lang="en-US" sz="2000" b="1" i="1" dirty="0">
                <a:latin typeface="Georgia" panose="02040502050405020303" pitchFamily="18" charset="0"/>
              </a:rPr>
              <a:t>p</a:t>
            </a:r>
            <a:r>
              <a:rPr lang="en-US" sz="2000" dirty="0">
                <a:latin typeface="Georgia" panose="02040502050405020303" pitchFamily="18" charset="0"/>
              </a:rPr>
              <a:t> </a:t>
            </a:r>
            <a:r>
              <a:rPr lang="en-US" sz="2000" dirty="0">
                <a:latin typeface="Georgia" panose="02040502050405020303" pitchFamily="18" charset="0"/>
                <a:sym typeface="Symbol" pitchFamily="18" charset="2"/>
              </a:rPr>
              <a:t>is an integer</a:t>
            </a:r>
            <a:endParaRPr lang="en-US" sz="2000" b="1" i="1" dirty="0">
              <a:latin typeface="Georgia" panose="02040502050405020303" pitchFamily="18" charset="0"/>
            </a:endParaRPr>
          </a:p>
          <a:p>
            <a:pPr lvl="1">
              <a:lnSpc>
                <a:spcPct val="90000"/>
              </a:lnSpc>
            </a:pPr>
            <a:r>
              <a:rPr lang="en-US" sz="2000" b="1" i="1" dirty="0">
                <a:latin typeface="Georgia" panose="02040502050405020303" pitchFamily="18" charset="0"/>
              </a:rPr>
              <a:t>p</a:t>
            </a:r>
            <a:r>
              <a:rPr lang="en-US" sz="2000" dirty="0">
                <a:latin typeface="Georgia" panose="02040502050405020303" pitchFamily="18" charset="0"/>
              </a:rPr>
              <a:t> </a:t>
            </a:r>
            <a:r>
              <a:rPr lang="en-US" sz="2000" dirty="0">
                <a:latin typeface="Georgia" panose="02040502050405020303" pitchFamily="18" charset="0"/>
                <a:sym typeface="Symbol" pitchFamily="18" charset="2"/>
              </a:rPr>
              <a:t> 2</a:t>
            </a:r>
          </a:p>
          <a:p>
            <a:pPr lvl="1">
              <a:lnSpc>
                <a:spcPct val="90000"/>
              </a:lnSpc>
            </a:pPr>
            <a:r>
              <a:rPr lang="en-US" sz="2000" dirty="0">
                <a:latin typeface="Georgia" panose="02040502050405020303" pitchFamily="18" charset="0"/>
                <a:sym typeface="Symbol" pitchFamily="18" charset="2"/>
              </a:rPr>
              <a:t>The only divisors of </a:t>
            </a:r>
            <a:r>
              <a:rPr lang="en-US" sz="2000" b="1" i="1" dirty="0">
                <a:latin typeface="Georgia" panose="02040502050405020303" pitchFamily="18" charset="0"/>
                <a:sym typeface="Symbol" pitchFamily="18" charset="2"/>
              </a:rPr>
              <a:t>p</a:t>
            </a:r>
            <a:r>
              <a:rPr lang="en-US" sz="2000" dirty="0">
                <a:latin typeface="Georgia" panose="02040502050405020303" pitchFamily="18" charset="0"/>
                <a:sym typeface="Symbol" pitchFamily="18" charset="2"/>
              </a:rPr>
              <a:t> are 1 and </a:t>
            </a:r>
            <a:r>
              <a:rPr lang="en-US" sz="2000" b="1" i="1" dirty="0">
                <a:latin typeface="Georgia" panose="02040502050405020303" pitchFamily="18" charset="0"/>
                <a:sym typeface="Symbol" pitchFamily="18" charset="2"/>
              </a:rPr>
              <a:t>p</a:t>
            </a:r>
          </a:p>
          <a:p>
            <a:pPr>
              <a:lnSpc>
                <a:spcPct val="90000"/>
              </a:lnSpc>
            </a:pPr>
            <a:r>
              <a:rPr lang="en-US" sz="2400" dirty="0">
                <a:latin typeface="Georgia" panose="02040502050405020303" pitchFamily="18" charset="0"/>
                <a:sym typeface="Symbol" pitchFamily="18" charset="2"/>
              </a:rPr>
              <a:t>Examples</a:t>
            </a:r>
          </a:p>
          <a:p>
            <a:pPr lvl="1">
              <a:lnSpc>
                <a:spcPct val="90000"/>
              </a:lnSpc>
            </a:pPr>
            <a:r>
              <a:rPr lang="en-US" sz="2000" dirty="0">
                <a:latin typeface="Georgia" panose="02040502050405020303" pitchFamily="18" charset="0"/>
              </a:rPr>
              <a:t>2, 7, 19 </a:t>
            </a:r>
            <a:r>
              <a:rPr lang="en-US" sz="2000" dirty="0">
                <a:latin typeface="Georgia" panose="02040502050405020303" pitchFamily="18" charset="0"/>
                <a:sym typeface="Symbol" pitchFamily="18" charset="2"/>
              </a:rPr>
              <a:t>are primes</a:t>
            </a:r>
          </a:p>
          <a:p>
            <a:pPr lvl="1">
              <a:lnSpc>
                <a:spcPct val="90000"/>
              </a:lnSpc>
            </a:pPr>
            <a:r>
              <a:rPr lang="en-US" sz="2000" dirty="0">
                <a:latin typeface="Georgia" panose="02040502050405020303" pitchFamily="18" charset="0"/>
                <a:sym typeface="Symbol" pitchFamily="18" charset="2"/>
              </a:rPr>
              <a:t>-3, 0, 1, 6 are not primes</a:t>
            </a:r>
          </a:p>
          <a:p>
            <a:pPr>
              <a:lnSpc>
                <a:spcPct val="90000"/>
              </a:lnSpc>
            </a:pPr>
            <a:r>
              <a:rPr lang="en-US" sz="2400" dirty="0">
                <a:latin typeface="Georgia" panose="02040502050405020303" pitchFamily="18" charset="0"/>
                <a:sym typeface="Symbol" pitchFamily="18" charset="2"/>
              </a:rPr>
              <a:t>Prime decomposition of a positive integer </a:t>
            </a:r>
            <a:r>
              <a:rPr lang="en-US" sz="2400" b="1" i="1" dirty="0">
                <a:latin typeface="Georgia" panose="02040502050405020303" pitchFamily="18" charset="0"/>
              </a:rPr>
              <a:t>n</a:t>
            </a:r>
            <a:r>
              <a:rPr lang="en-US" sz="2400" dirty="0">
                <a:latin typeface="Georgia" panose="02040502050405020303" pitchFamily="18" charset="0"/>
                <a:sym typeface="Symbol" pitchFamily="18" charset="2"/>
              </a:rPr>
              <a:t>:</a:t>
            </a:r>
          </a:p>
          <a:p>
            <a:pPr>
              <a:lnSpc>
                <a:spcPct val="90000"/>
              </a:lnSpc>
              <a:buFont typeface="Wingdings" charset="2"/>
              <a:buNone/>
            </a:pPr>
            <a:r>
              <a:rPr lang="en-US" sz="2400" dirty="0">
                <a:latin typeface="Georgia" panose="02040502050405020303" pitchFamily="18" charset="0"/>
                <a:sym typeface="Symbol" pitchFamily="18" charset="2"/>
              </a:rPr>
              <a:t>		</a:t>
            </a:r>
            <a:r>
              <a:rPr lang="en-US" sz="2400" b="1" i="1" dirty="0">
                <a:latin typeface="Georgia" panose="02040502050405020303" pitchFamily="18" charset="0"/>
                <a:sym typeface="Symbol" pitchFamily="18" charset="2"/>
              </a:rPr>
              <a:t>n</a:t>
            </a:r>
            <a:r>
              <a:rPr lang="en-US" sz="2400" dirty="0">
                <a:latin typeface="Georgia" panose="02040502050405020303" pitchFamily="18" charset="0"/>
                <a:sym typeface="Symbol" pitchFamily="18" charset="2"/>
              </a:rPr>
              <a:t> = </a:t>
            </a:r>
            <a:r>
              <a:rPr lang="en-US" sz="2400" b="1" i="1" dirty="0">
                <a:latin typeface="Georgia" panose="02040502050405020303" pitchFamily="18" charset="0"/>
                <a:sym typeface="Symbol" pitchFamily="18" charset="2"/>
              </a:rPr>
              <a:t>p</a:t>
            </a:r>
            <a:r>
              <a:rPr lang="en-US" sz="2400" baseline="-25000" dirty="0">
                <a:latin typeface="Georgia" panose="02040502050405020303" pitchFamily="18" charset="0"/>
                <a:sym typeface="Symbol" pitchFamily="18" charset="2"/>
              </a:rPr>
              <a:t>1</a:t>
            </a:r>
            <a:r>
              <a:rPr lang="en-US" b="1" i="1" baseline="30000" dirty="0">
                <a:latin typeface="Georgia" panose="02040502050405020303" pitchFamily="18" charset="0"/>
                <a:sym typeface="Symbol" pitchFamily="18" charset="2"/>
              </a:rPr>
              <a:t>e</a:t>
            </a:r>
            <a:r>
              <a:rPr lang="en-US" sz="1400" dirty="0">
                <a:latin typeface="Georgia" panose="02040502050405020303" pitchFamily="18" charset="0"/>
                <a:sym typeface="Symbol" pitchFamily="18" charset="2"/>
              </a:rPr>
              <a:t>1</a:t>
            </a:r>
            <a:r>
              <a:rPr lang="en-US" sz="2400" dirty="0">
                <a:latin typeface="Georgia" panose="02040502050405020303" pitchFamily="18" charset="0"/>
                <a:sym typeface="Symbol" pitchFamily="18" charset="2"/>
              </a:rPr>
              <a:t>  …  </a:t>
            </a:r>
            <a:r>
              <a:rPr lang="en-US" sz="2400" b="1" i="1" dirty="0" err="1">
                <a:latin typeface="Georgia" panose="02040502050405020303" pitchFamily="18" charset="0"/>
                <a:sym typeface="Symbol" pitchFamily="18" charset="2"/>
              </a:rPr>
              <a:t>p</a:t>
            </a:r>
            <a:r>
              <a:rPr lang="en-US" sz="2400" b="1" i="1" baseline="-25000" dirty="0" err="1">
                <a:latin typeface="Georgia" panose="02040502050405020303" pitchFamily="18" charset="0"/>
                <a:sym typeface="Symbol" pitchFamily="18" charset="2"/>
              </a:rPr>
              <a:t>k</a:t>
            </a:r>
            <a:r>
              <a:rPr lang="en-US" b="1" i="1" baseline="30000" dirty="0" err="1">
                <a:latin typeface="Georgia" panose="02040502050405020303" pitchFamily="18" charset="0"/>
                <a:sym typeface="Symbol" pitchFamily="18" charset="2"/>
              </a:rPr>
              <a:t>e</a:t>
            </a:r>
            <a:r>
              <a:rPr lang="en-US" sz="1400" b="1" i="1" dirty="0" err="1">
                <a:latin typeface="Georgia" panose="02040502050405020303" pitchFamily="18" charset="0"/>
                <a:sym typeface="Symbol" pitchFamily="18" charset="2"/>
              </a:rPr>
              <a:t>k</a:t>
            </a:r>
            <a:endParaRPr lang="en-US" sz="2400" b="1" i="1" dirty="0">
              <a:latin typeface="Georgia" panose="02040502050405020303" pitchFamily="18" charset="0"/>
              <a:sym typeface="Symbol" pitchFamily="18" charset="2"/>
            </a:endParaRPr>
          </a:p>
          <a:p>
            <a:pPr>
              <a:lnSpc>
                <a:spcPct val="90000"/>
              </a:lnSpc>
            </a:pPr>
            <a:r>
              <a:rPr lang="en-US" sz="2400" dirty="0">
                <a:latin typeface="Georgia" panose="02040502050405020303" pitchFamily="18" charset="0"/>
              </a:rPr>
              <a:t>Example:</a:t>
            </a:r>
          </a:p>
          <a:p>
            <a:pPr lvl="1">
              <a:lnSpc>
                <a:spcPct val="90000"/>
              </a:lnSpc>
            </a:pPr>
            <a:r>
              <a:rPr lang="en-US" sz="2000" dirty="0">
                <a:latin typeface="Georgia" panose="02040502050405020303" pitchFamily="18" charset="0"/>
              </a:rPr>
              <a:t>200 = 2</a:t>
            </a:r>
            <a:r>
              <a:rPr lang="en-US" sz="2000" baseline="30000" dirty="0">
                <a:latin typeface="Georgia" panose="02040502050405020303" pitchFamily="18" charset="0"/>
              </a:rPr>
              <a:t>3</a:t>
            </a:r>
            <a:r>
              <a:rPr lang="en-US" sz="2000" dirty="0">
                <a:latin typeface="Georgia" panose="02040502050405020303" pitchFamily="18" charset="0"/>
              </a:rPr>
              <a:t> </a:t>
            </a:r>
            <a:r>
              <a:rPr lang="en-US" sz="2000" dirty="0">
                <a:latin typeface="Georgia" panose="02040502050405020303" pitchFamily="18" charset="0"/>
                <a:sym typeface="Symbol" pitchFamily="18" charset="2"/>
              </a:rPr>
              <a:t> 5</a:t>
            </a:r>
            <a:r>
              <a:rPr lang="en-US" sz="2000" baseline="30000" dirty="0">
                <a:latin typeface="Georgia" panose="02040502050405020303" pitchFamily="18" charset="0"/>
                <a:sym typeface="Symbol" pitchFamily="18" charset="2"/>
              </a:rPr>
              <a:t>2</a:t>
            </a:r>
          </a:p>
          <a:p>
            <a:endParaRPr lang="en-US" baseline="30000" dirty="0">
              <a:latin typeface="Georgia" panose="02040502050405020303" pitchFamily="18" charset="0"/>
              <a:sym typeface="Symbol" pitchFamily="18" charset="2"/>
            </a:endParaRPr>
          </a:p>
          <a:p>
            <a:r>
              <a:rPr lang="en-US" baseline="30000" dirty="0">
                <a:latin typeface="Georgia" panose="02040502050405020303" pitchFamily="18" charset="0"/>
                <a:sym typeface="Symbol" pitchFamily="18" charset="2"/>
              </a:rPr>
              <a:t>Primality test in polynomial time</a:t>
            </a:r>
          </a:p>
          <a:p>
            <a:pPr lvl="1"/>
            <a:r>
              <a:rPr lang="en-US" baseline="30000" dirty="0">
                <a:latin typeface="Georgia" panose="02040502050405020303" pitchFamily="18" charset="0"/>
                <a:sym typeface="Symbol" pitchFamily="18" charset="2"/>
              </a:rPr>
              <a:t>Read AKS primality test</a:t>
            </a:r>
          </a:p>
          <a:p>
            <a:pPr lvl="1"/>
            <a:endParaRPr lang="en-US" baseline="30000" dirty="0">
              <a:latin typeface="Georgia" panose="02040502050405020303" pitchFamily="18" charset="0"/>
              <a:sym typeface="Symbol" pitchFamily="18" charset="2"/>
            </a:endParaRPr>
          </a:p>
          <a:p>
            <a:pPr marL="0" indent="0">
              <a:buNone/>
            </a:pPr>
            <a:endParaRPr lang="en-US" baseline="30000" dirty="0">
              <a:latin typeface="Georgia" panose="02040502050405020303" pitchFamily="18" charset="0"/>
              <a:sym typeface="Symbol" pitchFamily="18" charset="2"/>
            </a:endParaRPr>
          </a:p>
          <a:p>
            <a:endParaRPr lang="en-US" sz="2400" baseline="30000" dirty="0">
              <a:latin typeface="Georgia" panose="02040502050405020303" pitchFamily="18" charset="0"/>
              <a:sym typeface="Symbol" pitchFamily="18" charset="2"/>
            </a:endParaRPr>
          </a:p>
        </p:txBody>
      </p:sp>
      <p:sp>
        <p:nvSpPr>
          <p:cNvPr id="6" name="Slide Number Placeholder 5"/>
          <p:cNvSpPr>
            <a:spLocks noGrp="1"/>
          </p:cNvSpPr>
          <p:nvPr>
            <p:ph type="sldNum" sz="quarter" idx="12"/>
          </p:nvPr>
        </p:nvSpPr>
        <p:spPr/>
        <p:txBody>
          <a:bodyPr/>
          <a:lstStyle/>
          <a:p>
            <a:pPr defTabSz="457200" eaLnBrk="0" fontAlgn="base" hangingPunct="0">
              <a:lnSpc>
                <a:spcPct val="93000"/>
              </a:lnSpc>
              <a:spcBef>
                <a:spcPct val="0"/>
              </a:spcBef>
              <a:spcAft>
                <a:spcPct val="0"/>
              </a:spcAft>
              <a:buClr>
                <a:srgbClr val="000000"/>
              </a:buClr>
              <a:buSzPct val="100000"/>
              <a:defRPr/>
            </a:pPr>
            <a:fld id="{EF8A3B71-216C-414D-9F25-8D4F1F0E35D9}" type="slidenum">
              <a:rPr lang="en-US">
                <a:solidFill>
                  <a:prstClr val="black">
                    <a:tint val="75000"/>
                  </a:prstClr>
                </a:solidFill>
                <a:latin typeface="Georgia" panose="02040502050405020303" pitchFamily="18" charset="0"/>
              </a:rPr>
              <a:pPr defTabSz="457200" eaLnBrk="0" fontAlgn="base" hangingPunct="0">
                <a:lnSpc>
                  <a:spcPct val="93000"/>
                </a:lnSpc>
                <a:spcBef>
                  <a:spcPct val="0"/>
                </a:spcBef>
                <a:spcAft>
                  <a:spcPct val="0"/>
                </a:spcAft>
                <a:buClr>
                  <a:srgbClr val="000000"/>
                </a:buClr>
                <a:buSzPct val="100000"/>
                <a:defRPr/>
              </a:pPr>
              <a:t>22</a:t>
            </a:fld>
            <a:endParaRPr lang="en-US">
              <a:solidFill>
                <a:prstClr val="black">
                  <a:tint val="75000"/>
                </a:prstClr>
              </a:solidFill>
              <a:latin typeface="Georgia" panose="02040502050405020303" pitchFamily="18" charset="0"/>
            </a:endParaRPr>
          </a:p>
        </p:txBody>
      </p:sp>
      <p:sp>
        <p:nvSpPr>
          <p:cNvPr id="2" name="Rectangle 1">
            <a:extLst>
              <a:ext uri="{FF2B5EF4-FFF2-40B4-BE49-F238E27FC236}">
                <a16:creationId xmlns:a16="http://schemas.microsoft.com/office/drawing/2014/main" id="{06EAC86F-5297-C19F-E058-ED9CF9EDD930}"/>
              </a:ext>
            </a:extLst>
          </p:cNvPr>
          <p:cNvSpPr/>
          <p:nvPr/>
        </p:nvSpPr>
        <p:spPr>
          <a:xfrm>
            <a:off x="838200" y="5581403"/>
            <a:ext cx="4796642" cy="9114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2651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547254" y="0"/>
            <a:ext cx="10515600" cy="1325563"/>
          </a:xfrm>
        </p:spPr>
        <p:txBody>
          <a:bodyPr/>
          <a:lstStyle/>
          <a:p>
            <a:r>
              <a:rPr lang="en-US" dirty="0"/>
              <a:t>Modular Arithmetic</a:t>
            </a:r>
          </a:p>
        </p:txBody>
      </p:sp>
      <p:sp>
        <p:nvSpPr>
          <p:cNvPr id="194563" name="Rectangle 3" descr="Rectangle: Click to edit Master text styles&#10;Second level&#10;Third level&#10;Fourth level&#10;Fifth level"/>
          <p:cNvSpPr>
            <a:spLocks noGrp="1" noChangeArrowheads="1"/>
          </p:cNvSpPr>
          <p:nvPr>
            <p:ph idx="1"/>
          </p:nvPr>
        </p:nvSpPr>
        <p:spPr>
          <a:xfrm>
            <a:off x="378691" y="1311564"/>
            <a:ext cx="11665527" cy="5269345"/>
          </a:xfrm>
        </p:spPr>
        <p:txBody>
          <a:bodyPr>
            <a:normAutofit/>
          </a:bodyPr>
          <a:lstStyle/>
          <a:p>
            <a:pPr>
              <a:lnSpc>
                <a:spcPct val="90000"/>
              </a:lnSpc>
            </a:pPr>
            <a:r>
              <a:rPr lang="en-US" dirty="0"/>
              <a:t>Modulo operator for a positive integer </a:t>
            </a:r>
            <a:r>
              <a:rPr lang="en-US" b="1" i="1" dirty="0">
                <a:latin typeface="Times New Roman" pitchFamily="18" charset="0"/>
              </a:rPr>
              <a:t>n</a:t>
            </a:r>
            <a:endParaRPr lang="en-US" dirty="0"/>
          </a:p>
          <a:p>
            <a:pPr>
              <a:lnSpc>
                <a:spcPct val="90000"/>
              </a:lnSpc>
              <a:buFont typeface="Wingdings" charset="2"/>
              <a:buNone/>
            </a:pPr>
            <a:r>
              <a:rPr lang="en-US" b="1" i="1" dirty="0">
                <a:latin typeface="Times New Roman" pitchFamily="18" charset="0"/>
              </a:rPr>
              <a:t>			r</a:t>
            </a:r>
            <a:r>
              <a:rPr lang="en-US" dirty="0">
                <a:latin typeface="Times New Roman" pitchFamily="18" charset="0"/>
              </a:rPr>
              <a:t> </a:t>
            </a:r>
            <a:r>
              <a:rPr lang="en-US" dirty="0">
                <a:latin typeface="Symbol" pitchFamily="18" charset="2"/>
              </a:rPr>
              <a:t>=</a:t>
            </a:r>
            <a:r>
              <a:rPr lang="en-US" dirty="0">
                <a:latin typeface="Times New Roman" pitchFamily="18" charset="0"/>
              </a:rPr>
              <a:t> </a:t>
            </a:r>
            <a:r>
              <a:rPr lang="en-US" b="1" i="1" dirty="0">
                <a:latin typeface="Times New Roman" pitchFamily="18" charset="0"/>
              </a:rPr>
              <a:t>a</a:t>
            </a:r>
            <a:r>
              <a:rPr lang="en-US" dirty="0">
                <a:latin typeface="Times New Roman" pitchFamily="18" charset="0"/>
              </a:rPr>
              <a:t> mod </a:t>
            </a:r>
            <a:r>
              <a:rPr lang="en-US" b="1" i="1" dirty="0">
                <a:latin typeface="Times New Roman" pitchFamily="18" charset="0"/>
              </a:rPr>
              <a:t>n</a:t>
            </a:r>
          </a:p>
          <a:p>
            <a:pPr>
              <a:lnSpc>
                <a:spcPct val="90000"/>
              </a:lnSpc>
              <a:buFont typeface="Wingdings" charset="2"/>
              <a:buNone/>
            </a:pPr>
            <a:r>
              <a:rPr lang="en-US" i="1" dirty="0"/>
              <a:t>	</a:t>
            </a:r>
            <a:r>
              <a:rPr lang="en-US" dirty="0"/>
              <a:t>equivalent to</a:t>
            </a:r>
          </a:p>
          <a:p>
            <a:pPr>
              <a:lnSpc>
                <a:spcPct val="90000"/>
              </a:lnSpc>
              <a:buFont typeface="Wingdings" charset="2"/>
              <a:buNone/>
            </a:pPr>
            <a:r>
              <a:rPr lang="en-US" dirty="0"/>
              <a:t>			</a:t>
            </a:r>
            <a:r>
              <a:rPr lang="en-US" b="1" i="1" dirty="0">
                <a:latin typeface="Times New Roman" pitchFamily="18" charset="0"/>
              </a:rPr>
              <a:t>a</a:t>
            </a:r>
            <a:r>
              <a:rPr lang="en-US" dirty="0">
                <a:latin typeface="Times New Roman" pitchFamily="18" charset="0"/>
              </a:rPr>
              <a:t> </a:t>
            </a:r>
            <a:r>
              <a:rPr lang="en-US" dirty="0">
                <a:latin typeface="Symbol" pitchFamily="18" charset="2"/>
              </a:rPr>
              <a:t>=</a:t>
            </a:r>
            <a:r>
              <a:rPr lang="en-US" dirty="0">
                <a:latin typeface="Times New Roman" pitchFamily="18" charset="0"/>
              </a:rPr>
              <a:t> </a:t>
            </a:r>
            <a:r>
              <a:rPr lang="en-US" b="1" i="1" dirty="0">
                <a:latin typeface="Times New Roman" pitchFamily="18" charset="0"/>
              </a:rPr>
              <a:t>r</a:t>
            </a:r>
            <a:r>
              <a:rPr lang="en-US" i="1" dirty="0">
                <a:latin typeface="Symbol" pitchFamily="18" charset="2"/>
              </a:rPr>
              <a:t> </a:t>
            </a:r>
            <a:r>
              <a:rPr lang="en-US" dirty="0">
                <a:latin typeface="Symbol" pitchFamily="18" charset="2"/>
              </a:rPr>
              <a:t>+ </a:t>
            </a:r>
            <a:r>
              <a:rPr lang="en-US" b="1" i="1" dirty="0" err="1">
                <a:latin typeface="Times New Roman" pitchFamily="18" charset="0"/>
              </a:rPr>
              <a:t>kn</a:t>
            </a:r>
            <a:endParaRPr lang="en-US" b="1" dirty="0">
              <a:latin typeface="Times New Roman" pitchFamily="18" charset="0"/>
              <a:sym typeface="Symbol" pitchFamily="18" charset="2"/>
            </a:endParaRPr>
          </a:p>
          <a:p>
            <a:pPr>
              <a:lnSpc>
                <a:spcPct val="90000"/>
              </a:lnSpc>
              <a:buFont typeface="Wingdings" charset="2"/>
              <a:buNone/>
            </a:pPr>
            <a:r>
              <a:rPr lang="en-US" dirty="0">
                <a:sym typeface="Symbol" pitchFamily="18" charset="2"/>
              </a:rPr>
              <a:t>	and</a:t>
            </a:r>
          </a:p>
          <a:p>
            <a:pPr>
              <a:lnSpc>
                <a:spcPct val="90000"/>
              </a:lnSpc>
              <a:buFont typeface="Wingdings" charset="2"/>
              <a:buNone/>
            </a:pPr>
            <a:r>
              <a:rPr lang="en-US" b="1" i="1" dirty="0">
                <a:latin typeface="Times New Roman" pitchFamily="18" charset="0"/>
              </a:rPr>
              <a:t>			r</a:t>
            </a:r>
            <a:r>
              <a:rPr lang="en-US" dirty="0">
                <a:latin typeface="Times New Roman" pitchFamily="18" charset="0"/>
              </a:rPr>
              <a:t> </a:t>
            </a:r>
            <a:r>
              <a:rPr lang="en-US" dirty="0">
                <a:latin typeface="Symbol" pitchFamily="18" charset="2"/>
              </a:rPr>
              <a:t>=</a:t>
            </a:r>
            <a:r>
              <a:rPr lang="en-US" dirty="0">
                <a:latin typeface="Times New Roman" pitchFamily="18" charset="0"/>
              </a:rPr>
              <a:t> </a:t>
            </a:r>
            <a:r>
              <a:rPr lang="en-US" b="1" i="1" dirty="0">
                <a:latin typeface="Times New Roman" pitchFamily="18" charset="0"/>
              </a:rPr>
              <a:t>a</a:t>
            </a:r>
            <a:r>
              <a:rPr lang="en-US" i="1" dirty="0">
                <a:latin typeface="Times New Roman" pitchFamily="18" charset="0"/>
              </a:rPr>
              <a:t> </a:t>
            </a:r>
            <a:r>
              <a:rPr lang="en-US" dirty="0">
                <a:latin typeface="Symbol" pitchFamily="18" charset="2"/>
              </a:rPr>
              <a:t>- </a:t>
            </a:r>
            <a:r>
              <a:rPr lang="en-US" dirty="0">
                <a:latin typeface="Symbol" pitchFamily="18" charset="2"/>
                <a:sym typeface="Symbol" pitchFamily="18" charset="2"/>
              </a:rPr>
              <a:t></a:t>
            </a:r>
            <a:r>
              <a:rPr lang="en-US" b="1" i="1" dirty="0">
                <a:latin typeface="Times New Roman" pitchFamily="18" charset="0"/>
              </a:rPr>
              <a:t>a</a:t>
            </a:r>
            <a:r>
              <a:rPr lang="en-US" dirty="0">
                <a:latin typeface="Times New Roman" pitchFamily="18" charset="0"/>
                <a:sym typeface="Symbol" pitchFamily="18" charset="2"/>
              </a:rPr>
              <a:t>/</a:t>
            </a:r>
            <a:r>
              <a:rPr lang="en-US" b="1" i="1" dirty="0">
                <a:latin typeface="Times New Roman" pitchFamily="18" charset="0"/>
                <a:sym typeface="Symbol" pitchFamily="18" charset="2"/>
              </a:rPr>
              <a:t>n</a:t>
            </a:r>
            <a:r>
              <a:rPr lang="en-US" dirty="0">
                <a:latin typeface="Symbol" pitchFamily="18" charset="2"/>
                <a:sym typeface="Symbol" pitchFamily="18" charset="2"/>
              </a:rPr>
              <a:t></a:t>
            </a:r>
            <a:r>
              <a:rPr lang="en-US" dirty="0">
                <a:latin typeface="Times New Roman" pitchFamily="18" charset="0"/>
                <a:sym typeface="Symbol" pitchFamily="18" charset="2"/>
              </a:rPr>
              <a:t> </a:t>
            </a:r>
            <a:r>
              <a:rPr lang="en-US" b="1" i="1" dirty="0">
                <a:latin typeface="Times New Roman" pitchFamily="18" charset="0"/>
                <a:sym typeface="Symbol" pitchFamily="18" charset="2"/>
              </a:rPr>
              <a:t>n</a:t>
            </a:r>
          </a:p>
          <a:p>
            <a:pPr>
              <a:lnSpc>
                <a:spcPct val="90000"/>
              </a:lnSpc>
            </a:pPr>
            <a:r>
              <a:rPr lang="en-US" dirty="0">
                <a:sym typeface="Symbol" pitchFamily="18" charset="2"/>
              </a:rPr>
              <a:t>Example:</a:t>
            </a:r>
          </a:p>
          <a:p>
            <a:pPr lvl="1">
              <a:lnSpc>
                <a:spcPct val="90000"/>
              </a:lnSpc>
              <a:buFont typeface="Wingdings" charset="2"/>
              <a:buNone/>
            </a:pPr>
            <a:r>
              <a:rPr lang="en-US" dirty="0">
                <a:latin typeface="Times New Roman" pitchFamily="18" charset="0"/>
              </a:rPr>
              <a:t>		29 mod 13 </a:t>
            </a:r>
            <a:r>
              <a:rPr lang="en-US" dirty="0">
                <a:latin typeface="Symbol" pitchFamily="18" charset="2"/>
              </a:rPr>
              <a:t>=</a:t>
            </a:r>
            <a:r>
              <a:rPr lang="en-US" dirty="0">
                <a:latin typeface="Times New Roman" pitchFamily="18" charset="0"/>
              </a:rPr>
              <a:t> 3	13 mod 13  </a:t>
            </a:r>
            <a:r>
              <a:rPr lang="en-US" dirty="0">
                <a:latin typeface="Symbol" pitchFamily="18" charset="2"/>
              </a:rPr>
              <a:t>=</a:t>
            </a:r>
            <a:r>
              <a:rPr lang="en-US" dirty="0">
                <a:latin typeface="Times New Roman" pitchFamily="18" charset="0"/>
              </a:rPr>
              <a:t> 0	</a:t>
            </a:r>
            <a:r>
              <a:rPr lang="en-US" dirty="0">
                <a:latin typeface="Symbol" pitchFamily="18" charset="2"/>
              </a:rPr>
              <a:t>-</a:t>
            </a:r>
            <a:r>
              <a:rPr lang="en-US" dirty="0">
                <a:latin typeface="Times New Roman" pitchFamily="18" charset="0"/>
              </a:rPr>
              <a:t>1 mod 13  </a:t>
            </a:r>
            <a:r>
              <a:rPr lang="en-US" dirty="0">
                <a:latin typeface="Symbol" pitchFamily="18" charset="2"/>
              </a:rPr>
              <a:t>=</a:t>
            </a:r>
            <a:r>
              <a:rPr lang="en-US" dirty="0">
                <a:latin typeface="Times New Roman" pitchFamily="18" charset="0"/>
              </a:rPr>
              <a:t> 12</a:t>
            </a:r>
          </a:p>
          <a:p>
            <a:pPr lvl="1">
              <a:lnSpc>
                <a:spcPct val="90000"/>
              </a:lnSpc>
              <a:buFont typeface="Wingdings" charset="2"/>
              <a:buNone/>
            </a:pPr>
            <a:r>
              <a:rPr lang="en-US" dirty="0">
                <a:latin typeface="Times New Roman" pitchFamily="18" charset="0"/>
              </a:rPr>
              <a:t>		29  </a:t>
            </a:r>
            <a:r>
              <a:rPr lang="en-US" dirty="0">
                <a:latin typeface="Symbol" pitchFamily="18" charset="2"/>
              </a:rPr>
              <a:t>= </a:t>
            </a:r>
            <a:r>
              <a:rPr lang="en-US" dirty="0">
                <a:latin typeface="Times New Roman" pitchFamily="18" charset="0"/>
              </a:rPr>
              <a:t>3 </a:t>
            </a:r>
            <a:r>
              <a:rPr lang="en-US" dirty="0">
                <a:latin typeface="Symbol" pitchFamily="18" charset="2"/>
              </a:rPr>
              <a:t>+</a:t>
            </a:r>
            <a:r>
              <a:rPr lang="en-US" dirty="0">
                <a:latin typeface="Times New Roman" pitchFamily="18" charset="0"/>
              </a:rPr>
              <a:t> 2</a:t>
            </a:r>
            <a:r>
              <a:rPr lang="en-US" dirty="0">
                <a:latin typeface="Symbol" pitchFamily="18" charset="2"/>
                <a:sym typeface="Symbol" pitchFamily="18" charset="2"/>
              </a:rPr>
              <a:t></a:t>
            </a:r>
            <a:r>
              <a:rPr lang="en-US" dirty="0">
                <a:latin typeface="Times New Roman" pitchFamily="18" charset="0"/>
              </a:rPr>
              <a:t>13	13 </a:t>
            </a:r>
            <a:r>
              <a:rPr lang="en-US" dirty="0">
                <a:latin typeface="Symbol" pitchFamily="18" charset="2"/>
              </a:rPr>
              <a:t>= </a:t>
            </a:r>
            <a:r>
              <a:rPr lang="en-US" dirty="0">
                <a:latin typeface="Times New Roman" pitchFamily="18" charset="0"/>
              </a:rPr>
              <a:t>0 </a:t>
            </a:r>
            <a:r>
              <a:rPr lang="en-US" dirty="0">
                <a:latin typeface="Symbol" pitchFamily="18" charset="2"/>
              </a:rPr>
              <a:t>+</a:t>
            </a:r>
            <a:r>
              <a:rPr lang="en-US" dirty="0">
                <a:latin typeface="Times New Roman" pitchFamily="18" charset="0"/>
              </a:rPr>
              <a:t> 1</a:t>
            </a:r>
            <a:r>
              <a:rPr lang="en-US" dirty="0">
                <a:latin typeface="Symbol" pitchFamily="18" charset="2"/>
                <a:sym typeface="Symbol" pitchFamily="18" charset="2"/>
              </a:rPr>
              <a:t></a:t>
            </a:r>
            <a:r>
              <a:rPr lang="en-US" dirty="0">
                <a:latin typeface="Times New Roman" pitchFamily="18" charset="0"/>
              </a:rPr>
              <a:t>13	12 </a:t>
            </a:r>
            <a:r>
              <a:rPr lang="en-US" dirty="0">
                <a:latin typeface="Symbol" pitchFamily="18" charset="2"/>
              </a:rPr>
              <a:t>= -</a:t>
            </a:r>
            <a:r>
              <a:rPr lang="en-US" dirty="0">
                <a:latin typeface="Times New Roman" pitchFamily="18" charset="0"/>
              </a:rPr>
              <a:t>1 </a:t>
            </a:r>
            <a:r>
              <a:rPr lang="en-US" dirty="0">
                <a:latin typeface="Symbol" pitchFamily="18" charset="2"/>
              </a:rPr>
              <a:t>+</a:t>
            </a:r>
            <a:r>
              <a:rPr lang="en-US" dirty="0">
                <a:latin typeface="Times New Roman" pitchFamily="18" charset="0"/>
              </a:rPr>
              <a:t> 1</a:t>
            </a:r>
            <a:r>
              <a:rPr lang="en-US" dirty="0">
                <a:latin typeface="Symbol" pitchFamily="18" charset="2"/>
                <a:sym typeface="Symbol" pitchFamily="18" charset="2"/>
              </a:rPr>
              <a:t></a:t>
            </a:r>
            <a:r>
              <a:rPr lang="en-US" dirty="0">
                <a:latin typeface="Times New Roman" pitchFamily="18" charset="0"/>
              </a:rPr>
              <a:t>13</a:t>
            </a:r>
            <a:endParaRPr lang="en-US" dirty="0">
              <a:sym typeface="Symbol" pitchFamily="18" charset="2"/>
            </a:endParaRPr>
          </a:p>
        </p:txBody>
      </p:sp>
      <p:sp>
        <p:nvSpPr>
          <p:cNvPr id="6" name="Slide Number Placeholder 5"/>
          <p:cNvSpPr>
            <a:spLocks noGrp="1"/>
          </p:cNvSpPr>
          <p:nvPr>
            <p:ph type="sldNum" sz="quarter" idx="12"/>
          </p:nvPr>
        </p:nvSpPr>
        <p:spPr/>
        <p:txBody>
          <a:bodyPr/>
          <a:lstStyle/>
          <a:p>
            <a:pPr defTabSz="457200" eaLnBrk="0" fontAlgn="base" hangingPunct="0">
              <a:lnSpc>
                <a:spcPct val="93000"/>
              </a:lnSpc>
              <a:spcBef>
                <a:spcPct val="0"/>
              </a:spcBef>
              <a:spcAft>
                <a:spcPct val="0"/>
              </a:spcAft>
              <a:buClr>
                <a:srgbClr val="000000"/>
              </a:buClr>
              <a:buSzPct val="100000"/>
              <a:defRPr/>
            </a:pPr>
            <a:fld id="{6D73AB04-1BF8-47E4-B366-6BC56285B60C}" type="slidenum">
              <a:rPr lang="en-US">
                <a:solidFill>
                  <a:prstClr val="black">
                    <a:tint val="75000"/>
                  </a:prstClr>
                </a:solidFill>
                <a:latin typeface="Arial" charset="0"/>
              </a:rPr>
              <a:pPr defTabSz="457200" eaLnBrk="0" fontAlgn="base" hangingPunct="0">
                <a:lnSpc>
                  <a:spcPct val="93000"/>
                </a:lnSpc>
                <a:spcBef>
                  <a:spcPct val="0"/>
                </a:spcBef>
                <a:spcAft>
                  <a:spcPct val="0"/>
                </a:spcAft>
                <a:buClr>
                  <a:srgbClr val="000000"/>
                </a:buClr>
                <a:buSzPct val="100000"/>
                <a:defRPr/>
              </a:pPr>
              <a:t>23</a:t>
            </a:fld>
            <a:endParaRPr lang="en-US">
              <a:solidFill>
                <a:prstClr val="black">
                  <a:tint val="75000"/>
                </a:prstClr>
              </a:solidFill>
              <a:latin typeface="Arial" charset="0"/>
            </a:endParaRPr>
          </a:p>
        </p:txBody>
      </p:sp>
    </p:spTree>
    <p:extLst>
      <p:ext uri="{BB962C8B-B14F-4D97-AF65-F5344CB8AC3E}">
        <p14:creationId xmlns:p14="http://schemas.microsoft.com/office/powerpoint/2010/main" val="3854031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61DF-EB32-E70E-68B2-CFE3C4F514C0}"/>
              </a:ext>
            </a:extLst>
          </p:cNvPr>
          <p:cNvSpPr>
            <a:spLocks noGrp="1"/>
          </p:cNvSpPr>
          <p:nvPr>
            <p:ph type="title"/>
          </p:nvPr>
        </p:nvSpPr>
        <p:spPr/>
        <p:txBody>
          <a:bodyPr/>
          <a:lstStyle/>
          <a:p>
            <a:r>
              <a:rPr lang="en-US" dirty="0"/>
              <a:t>Modular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D5B47F-2ACF-1DB7-DCD2-26DFAF34CC33}"/>
                  </a:ext>
                </a:extLst>
              </p:cNvPr>
              <p:cNvSpPr>
                <a:spLocks noGrp="1"/>
              </p:cNvSpPr>
              <p:nvPr>
                <p:ph idx="1"/>
              </p:nvPr>
            </p:nvSpPr>
            <p:spPr/>
            <p:txBody>
              <a:bodyPr/>
              <a:lstStyle/>
              <a:p>
                <a:r>
                  <a:rPr lang="en-US" dirty="0"/>
                  <a:t>simplify intermediate values mod n</a:t>
                </a:r>
              </a:p>
              <a:p>
                <a:endParaRPr lang="en-US" dirty="0"/>
              </a:p>
              <a:p>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oMath>
                </a14:m>
                <a:endParaRPr lang="en-US" dirty="0"/>
              </a:p>
              <a:p>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m:t>
                    </m:r>
                    <m:r>
                      <a:rPr lang="en-US" i="1">
                        <a:latin typeface="Cambria Math" panose="02040503050406030204" pitchFamily="18" charset="0"/>
                      </a:rPr>
                      <m:t>𝑚𝑜𝑑</m:t>
                    </m:r>
                    <m:r>
                      <a:rPr lang="en-US" i="1">
                        <a:latin typeface="Cambria Math" panose="02040503050406030204" pitchFamily="18" charset="0"/>
                      </a:rPr>
                      <m:t> </m:t>
                    </m:r>
                    <m:r>
                      <a:rPr lang="en-US" i="1">
                        <a:latin typeface="Cambria Math" panose="02040503050406030204" pitchFamily="18" charset="0"/>
                      </a:rPr>
                      <m:t>𝑛</m:t>
                    </m:r>
                    <m:r>
                      <a:rPr lang="en-US" i="1">
                        <a:latin typeface="Cambria Math" panose="02040503050406030204" pitchFamily="18" charset="0"/>
                      </a:rPr>
                      <m:t>=</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i="1">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35D5B47F-2ACF-1DB7-DCD2-26DFAF34CC33}"/>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en-US">
                    <a:noFill/>
                  </a:rPr>
                  <a:t> </a:t>
                </a:r>
              </a:p>
            </p:txBody>
          </p:sp>
        </mc:Fallback>
      </mc:AlternateContent>
    </p:spTree>
    <p:extLst>
      <p:ext uri="{BB962C8B-B14F-4D97-AF65-F5344CB8AC3E}">
        <p14:creationId xmlns:p14="http://schemas.microsoft.com/office/powerpoint/2010/main" val="1250908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1C14-9B87-02C2-5252-1BD5323E45A9}"/>
              </a:ext>
            </a:extLst>
          </p:cNvPr>
          <p:cNvSpPr>
            <a:spLocks noGrp="1"/>
          </p:cNvSpPr>
          <p:nvPr>
            <p:ph type="title"/>
          </p:nvPr>
        </p:nvSpPr>
        <p:spPr/>
        <p:txBody>
          <a:bodyPr/>
          <a:lstStyle/>
          <a:p>
            <a:r>
              <a:rPr lang="en-US" dirty="0"/>
              <a:t>Modular exponentiation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D753A5-9C8C-F8E9-0055-51203BEF740A}"/>
                  </a:ext>
                </a:extLst>
              </p:cNvPr>
              <p:cNvSpPr>
                <a:spLocks noGrp="1"/>
              </p:cNvSpPr>
              <p:nvPr>
                <p:ph idx="1"/>
              </p:nvPr>
            </p:nvSpPr>
            <p:spPr/>
            <p:txBody>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sup>
                    </m:sSup>
                  </m:oMath>
                </a14:m>
                <a:r>
                  <a:rPr lang="en-US" b="0" dirty="0"/>
                  <a:t> mod n</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r>
                  <a:rPr lang="en-US" dirty="0"/>
                  <a:t> mod n</a:t>
                </a:r>
              </a:p>
            </p:txBody>
          </p:sp>
        </mc:Choice>
        <mc:Fallback xmlns="">
          <p:sp>
            <p:nvSpPr>
              <p:cNvPr id="3" name="Content Placeholder 2">
                <a:extLst>
                  <a:ext uri="{FF2B5EF4-FFF2-40B4-BE49-F238E27FC236}">
                    <a16:creationId xmlns:a16="http://schemas.microsoft.com/office/drawing/2014/main" id="{83D753A5-9C8C-F8E9-0055-51203BEF740A}"/>
                  </a:ext>
                </a:extLst>
              </p:cNvPr>
              <p:cNvSpPr>
                <a:spLocks noGrp="1" noRot="1" noChangeAspect="1" noMove="1" noResize="1" noEditPoints="1" noAdjustHandles="1" noChangeArrowheads="1" noChangeShapeType="1" noTextEdit="1"/>
              </p:cNvSpPr>
              <p:nvPr>
                <p:ph idx="1"/>
              </p:nvPr>
            </p:nvSpPr>
            <p:spPr>
              <a:blipFill>
                <a:blip r:embed="rId2"/>
                <a:stretch>
                  <a:fillRect t="-2241"/>
                </a:stretch>
              </a:blipFill>
            </p:spPr>
            <p:txBody>
              <a:bodyPr/>
              <a:lstStyle/>
              <a:p>
                <a:r>
                  <a:rPr lang="en-US">
                    <a:noFill/>
                  </a:rPr>
                  <a:t> </a:t>
                </a:r>
              </a:p>
            </p:txBody>
          </p:sp>
        </mc:Fallback>
      </mc:AlternateContent>
    </p:spTree>
    <p:extLst>
      <p:ext uri="{BB962C8B-B14F-4D97-AF65-F5344CB8AC3E}">
        <p14:creationId xmlns:p14="http://schemas.microsoft.com/office/powerpoint/2010/main" val="30167465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978F-7C5A-4E49-B1EF-E929A9771A05}"/>
              </a:ext>
            </a:extLst>
          </p:cNvPr>
          <p:cNvSpPr>
            <a:spLocks noGrp="1"/>
          </p:cNvSpPr>
          <p:nvPr>
            <p:ph type="title"/>
          </p:nvPr>
        </p:nvSpPr>
        <p:spPr>
          <a:xfrm>
            <a:off x="445476" y="286726"/>
            <a:ext cx="11502279" cy="1325563"/>
          </a:xfrm>
        </p:spPr>
        <p:txBody>
          <a:bodyPr/>
          <a:lstStyle/>
          <a:p>
            <a:r>
              <a:rPr lang="en-US" dirty="0"/>
              <a:t>Asymptotic complexity</a:t>
            </a:r>
          </a:p>
        </p:txBody>
      </p:sp>
      <p:sp>
        <p:nvSpPr>
          <p:cNvPr id="3" name="Content Placeholder 2">
            <a:extLst>
              <a:ext uri="{FF2B5EF4-FFF2-40B4-BE49-F238E27FC236}">
                <a16:creationId xmlns:a16="http://schemas.microsoft.com/office/drawing/2014/main" id="{BB1AD432-1F9F-44A0-966D-E62BDF3192C4}"/>
              </a:ext>
            </a:extLst>
          </p:cNvPr>
          <p:cNvSpPr>
            <a:spLocks noGrp="1"/>
          </p:cNvSpPr>
          <p:nvPr>
            <p:ph idx="1"/>
          </p:nvPr>
        </p:nvSpPr>
        <p:spPr>
          <a:xfrm>
            <a:off x="445477" y="1532965"/>
            <a:ext cx="10515600" cy="4561570"/>
          </a:xfrm>
        </p:spPr>
        <p:txBody>
          <a:bodyPr/>
          <a:lstStyle/>
          <a:p>
            <a:r>
              <a:rPr lang="en-US" dirty="0"/>
              <a:t>Big O notation O(n), O(2</a:t>
            </a:r>
            <a:r>
              <a:rPr lang="en-US" baseline="30000" dirty="0"/>
              <a:t>n</a:t>
            </a:r>
            <a:r>
              <a:rPr lang="en-US" dirty="0"/>
              <a:t>)</a:t>
            </a:r>
          </a:p>
          <a:p>
            <a:pPr lvl="1"/>
            <a:r>
              <a:rPr lang="en-US" dirty="0"/>
              <a:t>E.g., for sufficiently large integer n, O(2</a:t>
            </a:r>
            <a:r>
              <a:rPr lang="en-US" baseline="30000" dirty="0"/>
              <a:t>n</a:t>
            </a:r>
            <a:r>
              <a:rPr lang="en-US" dirty="0"/>
              <a:t>)&gt;O(</a:t>
            </a:r>
            <a:r>
              <a:rPr lang="en-US" dirty="0" err="1"/>
              <a:t>n</a:t>
            </a:r>
            <a:r>
              <a:rPr lang="en-US" baseline="30000" dirty="0" err="1"/>
              <a:t>c</a:t>
            </a:r>
            <a:r>
              <a:rPr lang="en-US" dirty="0"/>
              <a:t>)</a:t>
            </a:r>
          </a:p>
          <a:p>
            <a:endParaRPr lang="en-US" dirty="0"/>
          </a:p>
          <a:p>
            <a:endParaRPr lang="en-US" dirty="0"/>
          </a:p>
        </p:txBody>
      </p:sp>
      <p:pic>
        <p:nvPicPr>
          <p:cNvPr id="5" name="Picture 4" descr="Formal definitions of asymptotic notation. Big-O: f(n) = O(g(n)) if there exist constants c and n0 such that f(n) is at most c times g(n) for all n greater than n0, an upper bound. Big-Omega: f(n) = Omega(g(n)) if f(n) is at least c times g(n) for all large n, a lower bound. Big-Theta: f(n) = Theta(g(n)) if there exist constants c1, c2 and n0 with c1 times g(n) less than f(n) less than c2 times g(n) for all large n, a tight bound.">
            <a:extLst>
              <a:ext uri="{FF2B5EF4-FFF2-40B4-BE49-F238E27FC236}">
                <a16:creationId xmlns:a16="http://schemas.microsoft.com/office/drawing/2014/main" id="{07EE06FC-526D-F921-9F60-C83718B1A61E}"/>
              </a:ext>
            </a:extLst>
          </p:cNvPr>
          <p:cNvPicPr>
            <a:picLocks noChangeAspect="1"/>
          </p:cNvPicPr>
          <p:nvPr/>
        </p:nvPicPr>
        <p:blipFill>
          <a:blip r:embed="rId2"/>
          <a:stretch>
            <a:fillRect/>
          </a:stretch>
        </p:blipFill>
        <p:spPr>
          <a:xfrm>
            <a:off x="2080460" y="2471613"/>
            <a:ext cx="7535707" cy="4272087"/>
          </a:xfrm>
          <a:prstGeom prst="rect">
            <a:avLst/>
          </a:prstGeom>
        </p:spPr>
      </p:pic>
    </p:spTree>
    <p:extLst>
      <p:ext uri="{BB962C8B-B14F-4D97-AF65-F5344CB8AC3E}">
        <p14:creationId xmlns:p14="http://schemas.microsoft.com/office/powerpoint/2010/main" val="1294777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7B04A-7F2E-4DB3-A2F3-CE92534DDC64}"/>
              </a:ext>
            </a:extLst>
          </p:cNvPr>
          <p:cNvSpPr>
            <a:spLocks noGrp="1"/>
          </p:cNvSpPr>
          <p:nvPr>
            <p:ph type="title"/>
          </p:nvPr>
        </p:nvSpPr>
        <p:spPr/>
        <p:txBody>
          <a:bodyPr/>
          <a:lstStyle/>
          <a:p>
            <a:r>
              <a:rPr lang="en-US" dirty="0"/>
              <a:t>Binary representation</a:t>
            </a:r>
          </a:p>
        </p:txBody>
      </p:sp>
      <p:sp>
        <p:nvSpPr>
          <p:cNvPr id="3" name="Content Placeholder 2">
            <a:extLst>
              <a:ext uri="{FF2B5EF4-FFF2-40B4-BE49-F238E27FC236}">
                <a16:creationId xmlns:a16="http://schemas.microsoft.com/office/drawing/2014/main" id="{430D11D4-BAA5-47C8-B4D1-5942B5830ED7}"/>
              </a:ext>
            </a:extLst>
          </p:cNvPr>
          <p:cNvSpPr>
            <a:spLocks noGrp="1"/>
          </p:cNvSpPr>
          <p:nvPr>
            <p:ph idx="1"/>
          </p:nvPr>
        </p:nvSpPr>
        <p:spPr/>
        <p:txBody>
          <a:bodyPr/>
          <a:lstStyle/>
          <a:p>
            <a:r>
              <a:rPr lang="en-US" dirty="0"/>
              <a:t>17 = 10001, 38 = 100110</a:t>
            </a:r>
          </a:p>
          <a:p>
            <a:pPr marL="0" indent="0">
              <a:buNone/>
            </a:pPr>
            <a:endParaRPr lang="en-US" dirty="0"/>
          </a:p>
          <a:p>
            <a:r>
              <a:rPr lang="en-US" dirty="0"/>
              <a:t>Bitlength of number k is log</a:t>
            </a:r>
            <a:r>
              <a:rPr lang="en-US" baseline="-25000" dirty="0"/>
              <a:t>2</a:t>
            </a:r>
            <a:r>
              <a:rPr lang="en-US" dirty="0"/>
              <a:t> k</a:t>
            </a:r>
          </a:p>
          <a:p>
            <a:endParaRPr lang="en-US" dirty="0"/>
          </a:p>
          <a:p>
            <a:r>
              <a:rPr lang="en-US" dirty="0"/>
              <a:t>Complexity of an algorithm taking an integer k as input is computed on its bitlength</a:t>
            </a:r>
          </a:p>
        </p:txBody>
      </p:sp>
    </p:spTree>
    <p:extLst>
      <p:ext uri="{BB962C8B-B14F-4D97-AF65-F5344CB8AC3E}">
        <p14:creationId xmlns:p14="http://schemas.microsoft.com/office/powerpoint/2010/main" val="11080449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AEFEC-55BC-06CA-C391-F57EC235B898}"/>
              </a:ext>
            </a:extLst>
          </p:cNvPr>
          <p:cNvSpPr>
            <a:spLocks noGrp="1"/>
          </p:cNvSpPr>
          <p:nvPr>
            <p:ph type="title"/>
          </p:nvPr>
        </p:nvSpPr>
        <p:spPr/>
        <p:txBody>
          <a:bodyPr/>
          <a:lstStyle/>
          <a:p>
            <a:r>
              <a:rPr lang="en-US" dirty="0"/>
              <a:t>Binary string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229D69-7A5A-09BC-FF3A-4BC4F7D1690C}"/>
                  </a:ext>
                </a:extLst>
              </p:cNvPr>
              <p:cNvSpPr>
                <a:spLocks noGrp="1"/>
              </p:cNvSpPr>
              <p:nvPr>
                <p:ph idx="1"/>
              </p:nvPr>
            </p:nvSpPr>
            <p:spPr>
              <a:xfrm>
                <a:off x="445477" y="1736473"/>
                <a:ext cx="10515600" cy="4351338"/>
              </a:xfrm>
            </p:spPr>
            <p:txBody>
              <a:bodyPr/>
              <a:lstStyle/>
              <a:p>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𝑛</m:t>
                        </m:r>
                      </m:sup>
                    </m:sSup>
                  </m:oMath>
                </a14:m>
                <a:r>
                  <a:rPr lang="en-US" dirty="0"/>
                  <a:t> denotes the set of n-bit binary string. </a:t>
                </a:r>
              </a:p>
              <a:p>
                <a:endParaRPr lang="en-US" dirty="0"/>
              </a:p>
              <a:p>
                <a14:m>
                  <m:oMath xmlns:m="http://schemas.openxmlformats.org/officeDocument/2006/math">
                    <m:r>
                      <a:rPr lang="en-US" b="0" i="1" smtClean="0">
                        <a:latin typeface="Cambria Math" panose="02040503050406030204" pitchFamily="18" charset="0"/>
                      </a:rPr>
                      <m:t>⊕</m:t>
                    </m:r>
                  </m:oMath>
                </a14:m>
                <a:r>
                  <a:rPr lang="en-US" dirty="0"/>
                  <a:t> </a:t>
                </a:r>
                <a:r>
                  <a:rPr lang="en-US" dirty="0" err="1"/>
                  <a:t>xor</a:t>
                </a:r>
                <a:r>
                  <a:rPr lang="en-US" dirty="0"/>
                  <a:t>: </a:t>
                </a:r>
              </a:p>
              <a:p>
                <a:pPr lvl="1"/>
                <a:r>
                  <a:rPr lang="en-US" dirty="0"/>
                  <a:t>Same as addition mod 2</a:t>
                </a:r>
              </a:p>
            </p:txBody>
          </p:sp>
        </mc:Choice>
        <mc:Fallback xmlns="">
          <p:sp>
            <p:nvSpPr>
              <p:cNvPr id="3" name="Content Placeholder 2">
                <a:extLst>
                  <a:ext uri="{FF2B5EF4-FFF2-40B4-BE49-F238E27FC236}">
                    <a16:creationId xmlns:a16="http://schemas.microsoft.com/office/drawing/2014/main" id="{93229D69-7A5A-09BC-FF3A-4BC4F7D1690C}"/>
                  </a:ext>
                </a:extLst>
              </p:cNvPr>
              <p:cNvSpPr>
                <a:spLocks noGrp="1" noRot="1" noChangeAspect="1" noMove="1" noResize="1" noEditPoints="1" noAdjustHandles="1" noChangeArrowheads="1" noChangeShapeType="1" noTextEdit="1"/>
              </p:cNvSpPr>
              <p:nvPr>
                <p:ph idx="1"/>
              </p:nvPr>
            </p:nvSpPr>
            <p:spPr>
              <a:xfrm>
                <a:off x="445477" y="1736473"/>
                <a:ext cx="10515600" cy="4351338"/>
              </a:xfrm>
              <a:blipFill>
                <a:blip r:embed="rId2"/>
                <a:stretch>
                  <a:fillRect l="-1086" t="-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1E2ED02-1624-7193-A9D6-B5219FB2E2A1}"/>
                  </a:ext>
                </a:extLst>
              </p:cNvPr>
              <p:cNvGraphicFramePr>
                <a:graphicFrameLocks noGrp="1"/>
              </p:cNvGraphicFramePr>
              <p:nvPr/>
            </p:nvGraphicFramePr>
            <p:xfrm>
              <a:off x="8382000" y="1879600"/>
              <a:ext cx="2743200" cy="1854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3204074840"/>
                        </a:ext>
                      </a:extLst>
                    </a:gridCol>
                    <a:gridCol w="914400">
                      <a:extLst>
                        <a:ext uri="{9D8B030D-6E8A-4147-A177-3AD203B41FA5}">
                          <a16:colId xmlns:a16="http://schemas.microsoft.com/office/drawing/2014/main" val="271378785"/>
                        </a:ext>
                      </a:extLst>
                    </a:gridCol>
                    <a:gridCol w="914400">
                      <a:extLst>
                        <a:ext uri="{9D8B030D-6E8A-4147-A177-3AD203B41FA5}">
                          <a16:colId xmlns:a16="http://schemas.microsoft.com/office/drawing/2014/main" val="156411876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𝑎</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𝑏</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a:txBody>
                      <a:tcPr/>
                    </a:tc>
                    <a:extLst>
                      <a:ext uri="{0D108BD9-81ED-4DB2-BD59-A6C34878D82A}">
                        <a16:rowId xmlns:a16="http://schemas.microsoft.com/office/drawing/2014/main" val="28827822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304420606"/>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3688787150"/>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483209414"/>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414286967"/>
                      </a:ext>
                    </a:extLst>
                  </a:tr>
                </a:tbl>
              </a:graphicData>
            </a:graphic>
          </p:graphicFrame>
        </mc:Choice>
        <mc:Fallback xmlns="">
          <p:graphicFrame>
            <p:nvGraphicFramePr>
              <p:cNvPr id="4" name="Table 3">
                <a:extLst>
                  <a:ext uri="{FF2B5EF4-FFF2-40B4-BE49-F238E27FC236}">
                    <a16:creationId xmlns:a16="http://schemas.microsoft.com/office/drawing/2014/main" id="{61E2ED02-1624-7193-A9D6-B5219FB2E2A1}"/>
                  </a:ext>
                </a:extLst>
              </p:cNvPr>
              <p:cNvGraphicFramePr>
                <a:graphicFrameLocks noGrp="1"/>
              </p:cNvGraphicFramePr>
              <p:nvPr/>
            </p:nvGraphicFramePr>
            <p:xfrm>
              <a:off x="8382000" y="1879600"/>
              <a:ext cx="2743200" cy="1854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3204074840"/>
                        </a:ext>
                      </a:extLst>
                    </a:gridCol>
                    <a:gridCol w="914400">
                      <a:extLst>
                        <a:ext uri="{9D8B030D-6E8A-4147-A177-3AD203B41FA5}">
                          <a16:colId xmlns:a16="http://schemas.microsoft.com/office/drawing/2014/main" val="271378785"/>
                        </a:ext>
                      </a:extLst>
                    </a:gridCol>
                    <a:gridCol w="914400">
                      <a:extLst>
                        <a:ext uri="{9D8B030D-6E8A-4147-A177-3AD203B41FA5}">
                          <a16:colId xmlns:a16="http://schemas.microsoft.com/office/drawing/2014/main" val="1564118763"/>
                        </a:ext>
                      </a:extLst>
                    </a:gridCol>
                  </a:tblGrid>
                  <a:tr h="370840">
                    <a:tc>
                      <a:txBody>
                        <a:bodyPr/>
                        <a:lstStyle/>
                        <a:p>
                          <a:endParaRPr lang="en-US"/>
                        </a:p>
                      </a:txBody>
                      <a:tcPr>
                        <a:blipFill>
                          <a:blip r:embed="rId3"/>
                          <a:stretch>
                            <a:fillRect l="-1389" t="-3448" r="-202778" b="-431034"/>
                          </a:stretch>
                        </a:blipFill>
                      </a:tcPr>
                    </a:tc>
                    <a:tc>
                      <a:txBody>
                        <a:bodyPr/>
                        <a:lstStyle/>
                        <a:p>
                          <a:endParaRPr lang="en-US"/>
                        </a:p>
                      </a:txBody>
                      <a:tcPr>
                        <a:blipFill>
                          <a:blip r:embed="rId3"/>
                          <a:stretch>
                            <a:fillRect l="-101389" t="-3448" r="-102778" b="-431034"/>
                          </a:stretch>
                        </a:blipFill>
                      </a:tcPr>
                    </a:tc>
                    <a:tc>
                      <a:txBody>
                        <a:bodyPr/>
                        <a:lstStyle/>
                        <a:p>
                          <a:endParaRPr lang="en-US"/>
                        </a:p>
                      </a:txBody>
                      <a:tcPr>
                        <a:blipFill>
                          <a:blip r:embed="rId3"/>
                          <a:stretch>
                            <a:fillRect l="-201389" t="-3448" r="-2778" b="-431034"/>
                          </a:stretch>
                        </a:blipFill>
                      </a:tcPr>
                    </a:tc>
                    <a:extLst>
                      <a:ext uri="{0D108BD9-81ED-4DB2-BD59-A6C34878D82A}">
                        <a16:rowId xmlns:a16="http://schemas.microsoft.com/office/drawing/2014/main" val="28827822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304420606"/>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3688787150"/>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483209414"/>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414286967"/>
                      </a:ext>
                    </a:extLst>
                  </a:tr>
                </a:tbl>
              </a:graphicData>
            </a:graphic>
          </p:graphicFrame>
        </mc:Fallback>
      </mc:AlternateContent>
      <p:pic>
        <p:nvPicPr>
          <p:cNvPr id="6" name="Picture 5" descr="Algebraic properties of bitwise XOR: x XOR x equals the all-zero string; x XOR 0 equals x; XOR is commutative, x XOR y equals y XOR x; and XOR is associative, (x XOR y) XOR z equals x XOR (y XOR z).">
            <a:extLst>
              <a:ext uri="{FF2B5EF4-FFF2-40B4-BE49-F238E27FC236}">
                <a16:creationId xmlns:a16="http://schemas.microsoft.com/office/drawing/2014/main" id="{968970D6-D8AF-2538-07E1-0B90E56597FD}"/>
              </a:ext>
            </a:extLst>
          </p:cNvPr>
          <p:cNvPicPr>
            <a:picLocks noChangeAspect="1"/>
          </p:cNvPicPr>
          <p:nvPr/>
        </p:nvPicPr>
        <p:blipFill>
          <a:blip r:embed="rId4"/>
          <a:stretch>
            <a:fillRect/>
          </a:stretch>
        </p:blipFill>
        <p:spPr>
          <a:xfrm>
            <a:off x="508000" y="4064000"/>
            <a:ext cx="9842500" cy="2413000"/>
          </a:xfrm>
          <a:prstGeom prst="rect">
            <a:avLst/>
          </a:prstGeom>
        </p:spPr>
      </p:pic>
    </p:spTree>
    <p:extLst>
      <p:ext uri="{BB962C8B-B14F-4D97-AF65-F5344CB8AC3E}">
        <p14:creationId xmlns:p14="http://schemas.microsoft.com/office/powerpoint/2010/main" val="403827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i="1" dirty="0"/>
                  <a:t>Event</a:t>
                </a:r>
                <a:r>
                  <a:rPr lang="en-US" dirty="0"/>
                  <a:t>: a particular occurrence in some experiment</a:t>
                </a:r>
              </a:p>
              <a:p>
                <a:pPr lvl="1"/>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𝐸</m:t>
                    </m:r>
                    <m:r>
                      <a:rPr lang="en-US" i="1" dirty="0">
                        <a:latin typeface="Cambria Math" panose="02040503050406030204" pitchFamily="18" charset="0"/>
                      </a:rPr>
                      <m:t>]</m:t>
                    </m:r>
                  </m:oMath>
                </a14:m>
                <a:r>
                  <a:rPr lang="en-US" dirty="0"/>
                  <a:t>: probability of event E</a:t>
                </a:r>
              </a:p>
              <a:p>
                <a:pPr lvl="1"/>
                <a:endParaRPr lang="en-US" sz="2800" dirty="0"/>
              </a:p>
              <a:p>
                <a:r>
                  <a:rPr lang="en-US" dirty="0"/>
                  <a:t>Conditional probability: probability that one event occurs, </a:t>
                </a:r>
                <a:r>
                  <a:rPr lang="en-US" i="1" dirty="0"/>
                  <a:t>given that </a:t>
                </a:r>
                <a:r>
                  <a:rPr lang="en-US" dirty="0"/>
                  <a:t>some other event occurred</a:t>
                </a:r>
              </a:p>
              <a:p>
                <a:pPr lvl="1"/>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 </m:t>
                    </m:r>
                    <m:r>
                      <a:rPr lang="en-US" i="1" dirty="0">
                        <a:latin typeface="Cambria Math" panose="02040503050406030204" pitchFamily="18" charset="0"/>
                      </a:rPr>
                      <m:t>𝐵</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dirty="0">
                        <a:latin typeface="Cambria Math" panose="02040503050406030204" pitchFamily="18" charset="0"/>
                      </a:rPr>
                      <m:t>𝑎𝑛𝑑</m:t>
                    </m:r>
                    <m:r>
                      <a:rPr lang="en-US" i="1" dirty="0">
                        <a:latin typeface="Cambria Math" panose="02040503050406030204" pitchFamily="18" charset="0"/>
                      </a:rPr>
                      <m:t> </m:t>
                    </m:r>
                    <m:r>
                      <a:rPr lang="en-US" i="1" dirty="0">
                        <a:latin typeface="Cambria Math" panose="02040503050406030204" pitchFamily="18" charset="0"/>
                      </a:rPr>
                      <m:t>𝐵</m:t>
                    </m:r>
                    <m:r>
                      <a:rPr lang="en-US" i="1" dirty="0">
                        <a:latin typeface="Cambria Math" panose="02040503050406030204" pitchFamily="18" charset="0"/>
                      </a:rPr>
                      <m:t>]/</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m:t>
                    </m:r>
                  </m:oMath>
                </a14:m>
                <a:endParaRPr lang="en-US" dirty="0"/>
              </a:p>
              <a:p>
                <a:pPr lvl="1"/>
                <a:endParaRPr lang="en-US" dirty="0"/>
              </a:p>
              <a:p>
                <a:r>
                  <a:rPr lang="en-US" dirty="0"/>
                  <a:t>Two </a:t>
                </a:r>
                <a:r>
                  <a:rPr lang="en-US" dirty="0" err="1"/>
                  <a:t>r.v.’s</a:t>
                </a:r>
                <a:r>
                  <a:rPr lang="en-US" dirty="0"/>
                  <a:t>  X, Y are </a:t>
                </a:r>
                <a:r>
                  <a:rPr lang="en-US" i="1" dirty="0"/>
                  <a:t>independent</a:t>
                </a:r>
                <a:r>
                  <a:rPr lang="en-US" dirty="0"/>
                  <a:t> if</a:t>
                </a:r>
                <a:br>
                  <a:rPr lang="en-US" dirty="0"/>
                </a:br>
                <a:r>
                  <a:rPr lang="en-US" dirty="0"/>
                  <a:t>  for all x, y: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𝑌</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a:p>
                <a:pPr lvl="1"/>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737309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Law of total probability: say E</a:t>
                </a:r>
                <a:r>
                  <a:rPr lang="en-US" baseline="-25000" dirty="0"/>
                  <a:t>1</a:t>
                </a:r>
                <a:r>
                  <a:rPr lang="en-US" dirty="0"/>
                  <a:t>, …, E</a:t>
                </a:r>
                <a:r>
                  <a:rPr lang="en-US" baseline="-25000" dirty="0"/>
                  <a:t>n</a:t>
                </a:r>
                <a:r>
                  <a:rPr lang="en-US" dirty="0"/>
                  <a:t> are a </a:t>
                </a:r>
                <a:r>
                  <a:rPr lang="en-US" i="1" dirty="0"/>
                  <a:t>partition</a:t>
                </a:r>
                <a:r>
                  <a:rPr lang="en-US" dirty="0"/>
                  <a:t> of all possibilities. Then for any A:</a:t>
                </a:r>
                <a:br>
                  <a:rPr lang="en-US" dirty="0"/>
                </a:br>
                <a:r>
                  <a:rPr lang="en-US" dirty="0"/>
                  <a:t>    </a:t>
                </a:r>
              </a:p>
              <a:p>
                <a:pPr marL="0" indent="0">
                  <a:buNone/>
                </a:pPr>
                <a:r>
                  <a:rPr lang="en-US" dirty="0"/>
                  <a:t>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baseline="-25000" dirty="0" err="1">
                        <a:latin typeface="Cambria Math" panose="02040503050406030204" pitchFamily="18" charset="0"/>
                        <a:sym typeface="Symbol"/>
                      </a:rPr>
                      <m:t>𝑖</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m:t>
                    </m:r>
                    <m:r>
                      <a:rPr lang="en-US" i="1" dirty="0">
                        <a:latin typeface="Cambria Math" panose="02040503050406030204" pitchFamily="18" charset="0"/>
                        <a:sym typeface="Symbol"/>
                      </a:rPr>
                      <m:t>𝑎𝑛𝑑</m:t>
                    </m:r>
                    <m:r>
                      <a:rPr lang="en-US" i="1" dirty="0">
                        <a:latin typeface="Cambria Math" panose="02040503050406030204" pitchFamily="18" charset="0"/>
                        <a:sym typeface="Symbol"/>
                      </a:rPr>
                      <m:t>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oMath>
                </a14:m>
                <a:endParaRPr lang="en-US" dirty="0"/>
              </a:p>
              <a:p>
                <a:pPr marL="0" indent="0">
                  <a:buNone/>
                </a:pPr>
                <a:endParaRPr lang="en-US" dirty="0"/>
              </a:p>
              <a:p>
                <a:r>
                  <a:rPr lang="en-US" dirty="0" err="1"/>
                  <a:t>Bayes’s</a:t>
                </a:r>
                <a:r>
                  <a:rPr lang="en-US" dirty="0"/>
                  <a:t> theorem: </a:t>
                </a:r>
                <a14:m>
                  <m:oMath xmlns:m="http://schemas.openxmlformats.org/officeDocument/2006/math">
                    <m:r>
                      <m:rPr>
                        <m:sty m:val="p"/>
                      </m:rPr>
                      <a:rPr lang="en-US" i="1" dirty="0"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𝐴</m:t>
                    </m:r>
                    <m:r>
                      <a:rPr lang="en-US" i="1" dirty="0" smtClean="0">
                        <a:latin typeface="Cambria Math" panose="02040503050406030204" pitchFamily="18" charset="0"/>
                      </a:rPr>
                      <m:t> | </m:t>
                    </m:r>
                    <m:r>
                      <a:rPr lang="en-US" i="1" dirty="0" smtClean="0">
                        <a:latin typeface="Cambria Math" panose="02040503050406030204" pitchFamily="18" charset="0"/>
                      </a:rPr>
                      <m:t>𝐵</m:t>
                    </m:r>
                    <m:r>
                      <a:rPr lang="en-US" i="1" dirty="0" smtClean="0">
                        <a:latin typeface="Cambria Math" panose="02040503050406030204" pitchFamily="18" charset="0"/>
                      </a:rPr>
                      <m:t>] · </m:t>
                    </m:r>
                    <m:r>
                      <m:rPr>
                        <m:sty m:val="p"/>
                      </m:rPr>
                      <a:rPr lang="en-US" i="1" dirty="0" err="1"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𝐵</m:t>
                    </m:r>
                    <m:r>
                      <a:rPr lang="en-US" i="1" dirty="0" smtClean="0">
                        <a:latin typeface="Cambria Math" panose="02040503050406030204" pitchFamily="18" charset="0"/>
                      </a:rPr>
                      <m:t>] = </m:t>
                    </m:r>
                    <m:r>
                      <m:rPr>
                        <m:sty m:val="p"/>
                      </m:rPr>
                      <a:rPr lang="en-US" i="1" dirty="0" err="1"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𝐵</m:t>
                    </m:r>
                    <m:r>
                      <a:rPr lang="en-US" i="1" dirty="0" smtClean="0">
                        <a:latin typeface="Cambria Math" panose="02040503050406030204" pitchFamily="18" charset="0"/>
                      </a:rPr>
                      <m:t> | </m:t>
                    </m:r>
                    <m:r>
                      <a:rPr lang="en-US" i="1" dirty="0" smtClean="0">
                        <a:latin typeface="Cambria Math" panose="02040503050406030204" pitchFamily="18" charset="0"/>
                      </a:rPr>
                      <m:t>𝐴</m:t>
                    </m:r>
                    <m:r>
                      <a:rPr lang="en-US" i="1" dirty="0" smtClean="0">
                        <a:latin typeface="Cambria Math" panose="02040503050406030204" pitchFamily="18" charset="0"/>
                      </a:rPr>
                      <m:t>] · </m:t>
                    </m:r>
                    <m:r>
                      <m:rPr>
                        <m:sty m:val="p"/>
                      </m:rPr>
                      <a:rPr lang="en-US" i="1" dirty="0" err="1"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𝐴</m:t>
                    </m:r>
                    <m:r>
                      <a:rPr lang="en-US" i="1" dirty="0" smtClean="0">
                        <a:latin typeface="Cambria Math" panose="02040503050406030204" pitchFamily="18" charset="0"/>
                      </a:rPr>
                      <m:t>]</m:t>
                    </m:r>
                  </m:oMath>
                </a14:m>
                <a:endParaRPr lang="en-US"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886691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C1E79C-0C23-574C-A596-25CEC1C0E40A}">
  <we:reference id="wa200010001" version="1.0.0.1" store="en-US" storeType="OMEX"/>
  <we:alternateReferences>
    <we:reference id="wa200010001" version="1.0.0.1" store="en-US" storeType="OMEX"/>
  </we:alternateReferences>
  <we:properties>
    <we:property name="claude.fileId" value="&quot;74888bd3-6e02-4abf-8a2e-ec92a94a474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12859</TotalTime>
  <Words>2564</Words>
  <Application>Microsoft Macintosh PowerPoint</Application>
  <PresentationFormat>Widescreen</PresentationFormat>
  <Paragraphs>246</Paragraphs>
  <Slides>30</Slides>
  <Notes>9</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Source Sans Variable</vt:lpstr>
      <vt:lpstr>Aptos</vt:lpstr>
      <vt:lpstr>Aptos Display</vt:lpstr>
      <vt:lpstr>Arial</vt:lpstr>
      <vt:lpstr>Cambria Math</vt:lpstr>
      <vt:lpstr>Georgia</vt:lpstr>
      <vt:lpstr>Symbol</vt:lpstr>
      <vt:lpstr>Times New Roman</vt:lpstr>
      <vt:lpstr>Wingdings</vt:lpstr>
      <vt:lpstr>Office Theme</vt:lpstr>
      <vt:lpstr>ECE/CS 407  Cryptography</vt:lpstr>
      <vt:lpstr>About Me </vt:lpstr>
      <vt:lpstr>Course Information</vt:lpstr>
      <vt:lpstr>Resources</vt:lpstr>
      <vt:lpstr>Prerequisites</vt:lpstr>
      <vt:lpstr>Grading Policy</vt:lpstr>
      <vt:lpstr>4 credit hours project</vt:lpstr>
      <vt:lpstr>Ethics &amp; Academic Integrity</vt:lpstr>
      <vt:lpstr>Emergencies</vt:lpstr>
      <vt:lpstr>Diversity, Equity, and Inclusion</vt:lpstr>
      <vt:lpstr>What is this course not about?</vt:lpstr>
      <vt:lpstr>Why cryptography?</vt:lpstr>
      <vt:lpstr>Why cryptography?</vt:lpstr>
      <vt:lpstr>Cryptography</vt:lpstr>
      <vt:lpstr>PowerPoint Presentation</vt:lpstr>
      <vt:lpstr>Textbook</vt:lpstr>
      <vt:lpstr>What is this course about?   Proof </vt:lpstr>
      <vt:lpstr>What is this course about?   Math </vt:lpstr>
      <vt:lpstr>Example: Shamir Secret Sharing</vt:lpstr>
      <vt:lpstr> All Background You Need for This Course</vt:lpstr>
      <vt:lpstr>Exponentiation and log</vt:lpstr>
      <vt:lpstr>Prime Number</vt:lpstr>
      <vt:lpstr>Modular Arithmetic</vt:lpstr>
      <vt:lpstr>Modular Arithmetic</vt:lpstr>
      <vt:lpstr>Modular exponentiation</vt:lpstr>
      <vt:lpstr>Asymptotic complexity</vt:lpstr>
      <vt:lpstr>Binary representation</vt:lpstr>
      <vt:lpstr>Binary string</vt:lpstr>
      <vt:lpstr>Probability</vt:lpstr>
      <vt:lpstr>Probability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Luo, Ning</dc:creator>
  <cp:lastModifiedBy>Luo, Ning</cp:lastModifiedBy>
  <cp:revision>6</cp:revision>
  <dcterms:created xsi:type="dcterms:W3CDTF">2025-08-24T17:30:31Z</dcterms:created>
  <dcterms:modified xsi:type="dcterms:W3CDTF">2026-08-26T18:11:21Z</dcterms:modified>
</cp:coreProperties>
</file>