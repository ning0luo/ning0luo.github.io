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679" r:id="rId2"/>
    <p:sldId id="680" r:id="rId3"/>
    <p:sldId id="681" r:id="rId4"/>
    <p:sldId id="682" r:id="rId5"/>
    <p:sldId id="683" r:id="rId6"/>
    <p:sldId id="684" r:id="rId7"/>
    <p:sldId id="685" r:id="rId8"/>
    <p:sldId id="686" r:id="rId9"/>
    <p:sldId id="687" r:id="rId10"/>
    <p:sldId id="688" r:id="rId11"/>
    <p:sldId id="689" r:id="rId12"/>
    <p:sldId id="690" r:id="rId13"/>
    <p:sldId id="691" r:id="rId14"/>
    <p:sldId id="692" r:id="rId15"/>
    <p:sldId id="693" r:id="rId16"/>
    <p:sldId id="694" r:id="rId17"/>
    <p:sldId id="695" r:id="rId18"/>
    <p:sldId id="696" r:id="rId19"/>
    <p:sldId id="697" r:id="rId20"/>
    <p:sldId id="698" r:id="rId21"/>
    <p:sldId id="699" r:id="rId22"/>
    <p:sldId id="700" r:id="rId23"/>
    <p:sldId id="701" r:id="rId24"/>
    <p:sldId id="702" r:id="rId25"/>
    <p:sldId id="727" r:id="rId26"/>
    <p:sldId id="728" r:id="rId27"/>
    <p:sldId id="729" r:id="rId28"/>
    <p:sldId id="730" r:id="rId29"/>
    <p:sldId id="731" r:id="rId30"/>
    <p:sldId id="732" r:id="rId31"/>
    <p:sldId id="733" r:id="rId32"/>
    <p:sldId id="734" r:id="rId33"/>
    <p:sldId id="735" r:id="rId34"/>
    <p:sldId id="736" r:id="rId35"/>
    <p:sldId id="737" r:id="rId36"/>
    <p:sldId id="738" r:id="rId37"/>
    <p:sldId id="739" r:id="rId38"/>
    <p:sldId id="740" r:id="rId39"/>
    <p:sldId id="741" r:id="rId40"/>
    <p:sldId id="742" r:id="rId41"/>
    <p:sldId id="743" r:id="rId42"/>
    <p:sldId id="744" r:id="rId43"/>
    <p:sldId id="745" r:id="rId44"/>
    <p:sldId id="746" r:id="rId45"/>
    <p:sldId id="747" r:id="rId46"/>
    <p:sldId id="748" r:id="rId47"/>
    <p:sldId id="749" r:id="rId48"/>
    <p:sldId id="750"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277"/>
    <p:restoredTop sz="76788"/>
  </p:normalViewPr>
  <p:slideViewPr>
    <p:cSldViewPr snapToGrid="0">
      <p:cViewPr>
        <p:scale>
          <a:sx n="81" d="100"/>
          <a:sy n="81" d="100"/>
        </p:scale>
        <p:origin x="144" y="6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6F2DB9-8D06-234D-9A1D-9A93417AB3C1}" type="datetimeFigureOut">
              <a:rPr lang="en-US" smtClean="0"/>
              <a:t>8/26/26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28B666-1126-2442-959D-ED94D2DB974E}" type="slidenum">
              <a:rPr lang="en-US" smtClean="0"/>
              <a:t>‹#›</a:t>
            </a:fld>
            <a:endParaRPr lang="en-US"/>
          </a:p>
        </p:txBody>
      </p:sp>
    </p:spTree>
    <p:extLst>
      <p:ext uri="{BB962C8B-B14F-4D97-AF65-F5344CB8AC3E}">
        <p14:creationId xmlns:p14="http://schemas.microsoft.com/office/powerpoint/2010/main" val="3927613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Housekeeping before we start: TA office hour is Thursday 3-4PM.</a:t>
            </a:r>
          </a:p>
          <a:p>
            <a:r>
              <a:rPr lang="en-US" dirty="0"/>
              <a:t>Point students to the course page for slides and readings.</a:t>
            </a:r>
          </a:p>
          <a:p>
            <a:r>
              <a:rPr lang="en-US" dirty="0"/>
              <a:t>Encourage them to come with questions from today's material.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Roadmap slide: the math background we will actually use — logs/exponents, primes, modular arithmetic, asymptotics, probability.</a:t>
            </a:r>
          </a:p>
          <a:p>
            <a:r>
              <a:rPr lang="en-US" dirty="0"/>
              <a:t>Title is a joke: this is not everything you need, just the minimum to follow the proofs.</a:t>
            </a:r>
          </a:p>
          <a:p>
            <a:r>
              <a:rPr lang="en-US" dirty="0"/>
              <a:t>Reading: Chapter 0 of Joy of Cryptography (link on slide) — review it before next lecture.</a:t>
            </a:r>
          </a:p>
          <a:p>
            <a:r>
              <a:rPr lang="en-US" dirty="0"/>
              <a:t>Tell students to flag any of these topics they have not seen before.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Recall the three exponent/log identities on the slide — we use them constantly in group-based crypto.</a:t>
            </a:r>
          </a:p>
          <a:p>
            <a:r>
              <a:rPr lang="en-US" dirty="0"/>
              <a:t>Emphasize the last line: x^a * x^b is x^(a+b), NOT x^(ab). This is the most common student error.</a:t>
            </a:r>
          </a:p>
          <a:p>
            <a:r>
              <a:rPr lang="en-US" dirty="0"/>
              <a:t>Logs let us move between multiplicative and additive views — that is the whole basis of the discrete-log problem later in the course.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Definition: p &gt;= 2 whose only divisors are 1 and p. Walk the examples and non-examples (negatives, 0, 1, composites).</a:t>
            </a:r>
          </a:p>
          <a:p>
            <a:r>
              <a:rPr lang="en-US" dirty="0"/>
              <a:t>Unique prime decomposition: every positive integer factors into primes — state it as the fundamental theorem of arithmetic.</a:t>
            </a:r>
          </a:p>
          <a:p>
            <a:r>
              <a:rPr lang="en-US" dirty="0"/>
              <a:t>Primality testing is polynomial time (AKS), but factoring is believed hard — that asymmetry is what RSA will rest on.</a:t>
            </a:r>
          </a:p>
          <a:p>
            <a:r>
              <a:rPr lang="en-US" dirty="0"/>
              <a:t>Assign the AKS reading only as optional background.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Define r = a mod n as the remainder after subtracting the largest multiple of n; a = r + kn.</a:t>
            </a:r>
          </a:p>
          <a:p>
            <a:r>
              <a:rPr lang="en-US" dirty="0"/>
              <a:t>Work the three examples: 29 mod 13 = 3, 13 mod 13 = 0, and -1 mod 13 = 12.</a:t>
            </a:r>
          </a:p>
          <a:p>
            <a:r>
              <a:rPr lang="en-US" dirty="0"/>
              <a:t>Stress the negative case — students expect -1, but the result must land in {0,...,n-1}.</a:t>
            </a:r>
          </a:p>
          <a:p>
            <a:r>
              <a:rPr lang="en-US" dirty="0"/>
              <a:t>This wrap-around is exactly the rotation we will see in the shift cipher.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Key practical point: you can reduce mod n at every intermediate step of a sum or product.</a:t>
            </a:r>
          </a:p>
          <a:p>
            <a:r>
              <a:rPr lang="en-US" dirty="0"/>
              <a:t>Both identities on the slide say the same thing — reduction commutes with + and *.</a:t>
            </a:r>
          </a:p>
          <a:p>
            <a:r>
              <a:rPr lang="en-US" dirty="0"/>
              <a:t>Why it matters: keeps numbers small so modular arithmetic stays efficient on huge cryptographic values.</a:t>
            </a:r>
          </a:p>
          <a:p>
            <a:r>
              <a:rPr lang="en-US" dirty="0"/>
              <a:t>Quick check with the class: compute (17 * 23) mod 5 both ways.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Same exponent rules hold mod n.</a:t>
            </a:r>
          </a:p>
          <a:p>
            <a:r>
              <a:rPr lang="en-US" dirty="0"/>
              <a:t>Work the in-class question: 2^64 mod 10. Do it by repeated squaring rather than computing 2^64.</a:t>
            </a:r>
          </a:p>
          <a:p>
            <a:r>
              <a:rPr lang="en-US" dirty="0"/>
              <a:t>2^64 = ((2^2)^2)... — square and reduce mod 10 at each step; answer is 6.</a:t>
            </a:r>
          </a:p>
          <a:p>
            <a:r>
              <a:rPr lang="en-US" dirty="0"/>
              <a:t>Takeaway: fast modular exponentiation makes public-key crypto practical.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Big-O as our measure of attacker and algorithm cost; we care about growth, not constants.</a:t>
            </a:r>
          </a:p>
          <a:p>
            <a:r>
              <a:rPr lang="en-US" dirty="0"/>
              <a:t>Contrast polynomial n^c with exponential 2^n: for large n, exponential always dominates.</a:t>
            </a:r>
          </a:p>
          <a:p>
            <a:r>
              <a:rPr lang="en-US" dirty="0"/>
              <a:t>This is the dividing line for the course: honest parties run in polynomial time, brute-force attacks cost exponential time.</a:t>
            </a:r>
          </a:p>
          <a:p>
            <a:r>
              <a:rPr lang="en-US" dirty="0"/>
              <a:t>Preview: security will mean 'no polynomial-time attacker succeeds with non-negligible probability'.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Section divider: we now move from math background to ancient ciphers.</a:t>
            </a:r>
          </a:p>
          <a:p>
            <a:r>
              <a:rPr lang="en-US" dirty="0"/>
              <a:t>Roadmap for this block: shift cipher, substitution cipher, Vigenere, Enigma.</a:t>
            </a:r>
          </a:p>
          <a:p>
            <a:r>
              <a:rPr lang="en-US" dirty="0"/>
              <a:t>Framing question: each scheme looked secure to its designers — why did each one fall?</a:t>
            </a:r>
          </a:p>
          <a:p>
            <a:r>
              <a:rPr lang="en-US" dirty="0"/>
              <a:t>Goal is to motivate why we need definitions and proofs rather than clever-looking designs.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Open with the motivating question: how would you encrypt a message so only your friend can read it?</a:t>
            </a:r>
          </a:p>
          <a:p>
            <a:r>
              <a:rPr lang="en-US" dirty="0"/>
              <a:t>Play the animation/video and let students propose ideas before showing any scheme.</a:t>
            </a:r>
          </a:p>
          <a:p>
            <a:r>
              <a:rPr lang="en-US" dirty="0"/>
              <a:t>Draw out the two ingredients they will name: a secret (the key) and a transformation (the algorithm).</a:t>
            </a:r>
          </a:p>
          <a:p>
            <a:r>
              <a:rPr lang="en-US" dirty="0"/>
              <a:t>Set up Kerckhoffs's principle: assume the adversary knows the algorithm; only the key is secret.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Idea 1: shift every letter by a fixed amount K; here K = 5 turns 'The lecture is so boring' into 'Ymj qjhyzwj...'.</a:t>
            </a:r>
          </a:p>
          <a:p>
            <a:r>
              <a:rPr lang="en-US" dirty="0"/>
              <a:t>Encryption and decryption use the same K — shift forward, then shift back.</a:t>
            </a:r>
          </a:p>
          <a:p>
            <a:r>
              <a:rPr lang="en-US" dirty="0"/>
              <a:t>Ask the class the question on the slide: how many possible keys? Only 26 (25 useful ones).</a:t>
            </a:r>
          </a:p>
          <a:p>
            <a:r>
              <a:rPr lang="en-US" dirty="0"/>
              <a:t>That tiny key space is the fatal flaw — brute force is trivial, which is the next slide.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Attack on the shift cipher: exhaustive key search. Walk the table of candidate decryptions for each K.</a:t>
            </a:r>
          </a:p>
          <a:p>
            <a:r>
              <a:rPr lang="en-US" dirty="0"/>
              <a:t>Only one of the 26 candidates is readable English, so the key is identified immediately.</a:t>
            </a:r>
          </a:p>
          <a:p>
            <a:r>
              <a:rPr lang="en-US" dirty="0"/>
              <a:t>Historical aside: this is the Caesar cipher — a fixed, publicly known shift, so effectively no key at all.</a:t>
            </a:r>
          </a:p>
          <a:p>
            <a:r>
              <a:rPr lang="en-US" dirty="0"/>
              <a:t>Lesson: a key space small enough to enumerate gives no security, no matter how the transformation looks.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Idea 2: substitution cipher — an arbitrary permutation of the alphabet, so the key space is 26! (about 2^88).</a:t>
            </a:r>
          </a:p>
          <a:p>
            <a:r>
              <a:rPr lang="en-US" dirty="0"/>
              <a:t>Brute force is now infeasible, yet the scheme is still broken: structure leaks.</a:t>
            </a:r>
          </a:p>
          <a:p>
            <a:r>
              <a:rPr lang="en-US" dirty="0"/>
              <a:t>Frequency analysis: each plaintext letter always maps to the same ciphertext letter, so letter frequencies carry over.</a:t>
            </a:r>
          </a:p>
          <a:p>
            <a:r>
              <a:rPr lang="en-US" dirty="0"/>
              <a:t>Point at the ciphertext on the slide — 'h' and 'd' appear most often; they are almost certainly t and 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Show the English letter-frequency distribution: e ~12.7%, t ~9%, a/o/i/n around 7-8%.</a:t>
            </a:r>
          </a:p>
          <a:p>
            <a:r>
              <a:rPr lang="en-US" dirty="0"/>
              <a:t>Compare it with the ciphertext histogram — the shape is identical, only the labels are permuted.</a:t>
            </a:r>
          </a:p>
          <a:p>
            <a:r>
              <a:rPr lang="en-US" dirty="0"/>
              <a:t>So the attacker matches the two distributions instead of searching 26! keys.</a:t>
            </a:r>
          </a:p>
          <a:p>
            <a:r>
              <a:rPr lang="en-US" dirty="0"/>
              <a:t>Common digrams and trigrams (th, he, the) finish the job on any reasonably long ciphertext.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Walk through the attack live: assign the most frequent ciphertext letters to e, t, a and look for 'the'.</a:t>
            </a:r>
          </a:p>
          <a:p>
            <a:r>
              <a:rPr lang="en-US" dirty="0"/>
              <a:t>Once a few letters are fixed, short words and word shapes force the rest of the permutation.</a:t>
            </a:r>
          </a:p>
          <a:p>
            <a:r>
              <a:rPr lang="en-US" dirty="0"/>
              <a:t>No search over the 26! key space is ever needed — the ciphertext leaks enough structure.</a:t>
            </a:r>
          </a:p>
          <a:p>
            <a:r>
              <a:rPr lang="en-US" dirty="0"/>
              <a:t>Ask: how long does the ciphertext need to be for this to work? A couple of sentences is usually enough.</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Reveal: the fully recovered plaintext — the course-description paragraph.</a:t>
            </a:r>
          </a:p>
          <a:p>
            <a:r>
              <a:rPr lang="en-US" dirty="0"/>
              <a:t>Reinforce that the substitution cipher fell without touching its huge key space.</a:t>
            </a:r>
          </a:p>
          <a:p>
            <a:r>
              <a:rPr lang="en-US" dirty="0"/>
              <a:t>Big-key-space is necessary but nowhere near sufficient for security.</a:t>
            </a:r>
          </a:p>
          <a:p>
            <a:r>
              <a:rPr lang="en-US" dirty="0"/>
              <a:t>Transition: the flaw is that the mapping is fixed per letter. Next idea varies the shift.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Idea 3: Vigenere — a keyword gives a repeating sequence of shifts instead of one fixed shift.</a:t>
            </a:r>
          </a:p>
          <a:p>
            <a:r>
              <a:rPr lang="en-US" dirty="0"/>
              <a:t>Position i of the message is shifted by key letter (i mod l), where l is the key length.</a:t>
            </a:r>
          </a:p>
          <a:p>
            <a:r>
              <a:rPr lang="en-US" dirty="0"/>
              <a:t>Same plaintext letter now maps to different ciphertext letters, so the single-letter frequency signal is smeared out.</a:t>
            </a:r>
          </a:p>
          <a:p>
            <a:r>
              <a:rPr lang="en-US" dirty="0"/>
              <a:t>Key space grows as 26^l — but as we will see, repetition of the key is the weakness.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Suppose the key length l is known. Then split the ciphertext into l interleaved streams.</a:t>
            </a:r>
          </a:p>
          <a:p>
            <a:r>
              <a:rPr lang="en-US" dirty="0"/>
              <a:t>Every l-th letter was encrypted with the SAME shift, so each stream is just a shift cipher.</a:t>
            </a:r>
          </a:p>
          <a:p>
            <a:r>
              <a:rPr lang="en-US" dirty="0"/>
              <a:t>Run frequency analysis independently on each stream to recover each key letter.</a:t>
            </a:r>
          </a:p>
          <a:p>
            <a:r>
              <a:rPr lang="en-US" dirty="0"/>
              <a:t>So Vigenere reduces to l copies of a problem we already know how to break — the only real secret is l.</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Finding l: just guess l = 1, 2, 3, ... and test each guess.</a:t>
            </a:r>
          </a:p>
          <a:p>
            <a:r>
              <a:rPr lang="en-US" dirty="0"/>
              <a:t>Test: if the guess is right, each interleaved stream looks like English (spiky frequency profile).</a:t>
            </a:r>
          </a:p>
          <a:p>
            <a:r>
              <a:rPr lang="en-US" dirty="0"/>
              <a:t>If the guess is wrong, the streams mix several shifts and look close to uniform.</a:t>
            </a:r>
          </a:p>
          <a:p>
            <a:r>
              <a:rPr lang="en-US" dirty="0"/>
              <a:t>We need a numeric score for 'looks like English' rather than eyeballing histograms — that is the Friedman test.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Index of coincidence I = sum of p_i^2: the chance two randomly drawn letters are equal.</a:t>
            </a:r>
          </a:p>
          <a:p>
            <a:r>
              <a:rPr lang="en-US" dirty="0"/>
              <a:t>English gives I = 0.065; a uniform distribution gives 1/26 = 0.038 — ask the class why.</a:t>
            </a:r>
          </a:p>
          <a:p>
            <a:r>
              <a:rPr lang="en-US" dirty="0"/>
              <a:t>Crucial property: I is invariant under rotation, so a shift cipher does not change it.</a:t>
            </a:r>
          </a:p>
          <a:p>
            <a:r>
              <a:rPr lang="en-US" dirty="0"/>
              <a:t>Therefore I distinguishes 'one shift applied' (0.065) from 'many shifts mixed' (near 0.038).</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Probability interlude — we need this to make the Friedman computation precise.</a:t>
            </a:r>
          </a:p>
          <a:p>
            <a:r>
              <a:rPr lang="en-US" dirty="0"/>
              <a:t>Event and Pr[E]; keep everything discrete and finite for now.</a:t>
            </a:r>
          </a:p>
          <a:p>
            <a:r>
              <a:rPr lang="en-US" dirty="0"/>
              <a:t>Law of total probability: partition the sample space into E1..En and sum Pr[A | Ei] * Pr[Ei].</a:t>
            </a:r>
          </a:p>
          <a:p>
            <a:r>
              <a:rPr lang="en-US" dirty="0"/>
              <a:t>We will reuse this exact tool later in the one-time-pad proof, so it is worth doing carefully.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Now derive the expected index of coincidence for a guessed key length l on ciphertext of length n.</a:t>
            </a:r>
          </a:p>
          <a:p>
            <a:r>
              <a:rPr lang="en-US" dirty="0"/>
              <a:t>Split into two cases: the two sampled letters come from the same key group (probability (n-l)/(l(n-1))) or different groups.</a:t>
            </a:r>
          </a:p>
          <a:p>
            <a:r>
              <a:rPr lang="en-US" dirty="0"/>
              <a:t>Same group behaves like English (0.065); different groups behave like uniform (0.038).</a:t>
            </a:r>
          </a:p>
          <a:p>
            <a:r>
              <a:rPr lang="en-US" dirty="0"/>
              <a:t>Combine the two terms, then pick the l whose predicted I best matches the measured I.</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Enigma: rotor machine used by Germany in WWII — a polyalphabetic cipher with a very large key space.</a:t>
            </a:r>
          </a:p>
          <a:p>
            <a:r>
              <a:rPr lang="en-US" dirty="0"/>
              <a:t>Broken by Rejewski, then Turing and Bletchley Park, using machine flaws plus known/guessed plaintext (cribs).</a:t>
            </a:r>
          </a:p>
          <a:p>
            <a:r>
              <a:rPr lang="en-US" dirty="0"/>
              <a:t>Two structural weaknesses: no letter ever encrypts to itself, and operator procedure was predictable.</a:t>
            </a:r>
          </a:p>
          <a:p>
            <a:r>
              <a:rPr lang="en-US" dirty="0"/>
              <a:t>Moral repeated from earlier: complexity and a huge key space are not security.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Summarize the classical methodology as a loop: design a scheme, try to break it, deploy if nobody breaks it.</a:t>
            </a:r>
          </a:p>
          <a:p>
            <a:r>
              <a:rPr lang="en-US" dirty="0"/>
              <a:t>The loop has no exit condition — 'nobody I know has broken it' is not evidence of security.</a:t>
            </a:r>
          </a:p>
          <a:p>
            <a:r>
              <a:rPr lang="en-US" dirty="0"/>
              <a:t>When the break arrives after deployment, the failure is catastrophic and retroactive: past traffic is exposed too.</a:t>
            </a:r>
          </a:p>
          <a:p>
            <a:r>
              <a:rPr lang="en-US" dirty="0"/>
              <a:t>Build the diagram step by step with the animation as you narrate the cycle.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Modern cryptography replaces the break-and-patch loop with three ingredients: definitions, assumptions, proofs.</a:t>
            </a:r>
          </a:p>
          <a:p>
            <a:r>
              <a:rPr lang="en-US" dirty="0"/>
              <a:t>Definition: state precisely what the attacker can do and what counts as breaking the scheme.</a:t>
            </a:r>
          </a:p>
          <a:p>
            <a:r>
              <a:rPr lang="en-US" dirty="0"/>
              <a:t>Construction plus proof: reduce breaking the scheme to breaking a well-studied hard problem (the assumption).</a:t>
            </a:r>
          </a:p>
          <a:p>
            <a:r>
              <a:rPr lang="en-US" dirty="0"/>
              <a:t>Security becomes conditional but explicit — this is the structure of every theorem in this course.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Section divider: symmetric-key encryption — sender and receiver share one secret key.</a:t>
            </a:r>
          </a:p>
          <a:p>
            <a:r>
              <a:rPr lang="en-US" dirty="0"/>
              <a:t>This is the setting for the rest of today: syntax, perfect secrecy, and the one-time pad.</a:t>
            </a:r>
          </a:p>
          <a:p>
            <a:r>
              <a:rPr lang="en-US" dirty="0"/>
              <a:t>Note the key-distribution problem we are postponing; public-key encryption comes later in the course.</a:t>
            </a:r>
          </a:p>
          <a:p>
            <a:r>
              <a:rPr lang="en-US" dirty="0"/>
              <a:t>Keep the Kerckhoffs framing: algorithms are public, only the key is secret.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A scheme is a triple of algorithms: Gen produces the key, Enc maps (k, m) to c, Dec maps (k, c) back to m.</a:t>
            </a:r>
          </a:p>
          <a:p>
            <a:r>
              <a:rPr lang="en-US" dirty="0"/>
              <a:t>Gen is randomized — that is why it is written with empty parentheses: no input, but it tosses coins.</a:t>
            </a:r>
          </a:p>
          <a:p>
            <a:r>
              <a:rPr lang="en-US" dirty="0"/>
              <a:t>Enc may also be randomized in general; Dec is deterministic.</a:t>
            </a:r>
          </a:p>
          <a:p>
            <a:r>
              <a:rPr lang="en-US" dirty="0"/>
              <a:t>Discipline to insist on: before asking whether something is secure, write down its syntax.</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Fix notation: K key space, M message space, C ciphertext space.</a:t>
            </a:r>
          </a:p>
          <a:p>
            <a:r>
              <a:rPr lang="en-US" dirty="0"/>
              <a:t>Gen outputs an element of K; Enc maps K x M into C; Dec maps K x C into M.</a:t>
            </a:r>
          </a:p>
          <a:p>
            <a:r>
              <a:rPr lang="en-US" dirty="0"/>
              <a:t>Example for the rotation cipher: K = {0, ..., 25}, with M and C strings over the alphabet.</a:t>
            </a:r>
          </a:p>
          <a:p>
            <a:r>
              <a:rPr lang="en-US" dirty="0"/>
              <a:t>We will compare the size of K with the size of M later — that comparison is the heart of Shannon's bound.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Add the first requirement: correctness. Dec(k, Enc(k, m)) = m for every m in M and every k in K.</a:t>
            </a:r>
          </a:p>
          <a:p>
            <a:r>
              <a:rPr lang="en-US" dirty="0"/>
              <a:t>Correctness is about functionality, not security — a scheme can be correct and completely insecure.</a:t>
            </a:r>
          </a:p>
          <a:p>
            <a:r>
              <a:rPr lang="en-US" dirty="0"/>
              <a:t>Note the quantifiers: every key and every message, not just typical ones.</a:t>
            </a:r>
          </a:p>
          <a:p>
            <a:r>
              <a:rPr lang="en-US" dirty="0"/>
              <a:t>Next we add the second requirement, secrecy — and that is where probability enters.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Probability interlude: conditional probability Pr[A | B] = Pr[A and B] / Pr[B].</a:t>
            </a:r>
          </a:p>
          <a:p>
            <a:r>
              <a:rPr lang="en-US" dirty="0"/>
              <a:t>Read it as 'update your belief about A after learning B' — exactly what an attacker does with a ciphertext.</a:t>
            </a:r>
          </a:p>
          <a:p>
            <a:r>
              <a:rPr lang="en-US" dirty="0"/>
              <a:t>Independence: Pr[X = x | Y = y] = Pr[X = x] for all x, y, i.e. learning Y tells you nothing about X.</a:t>
            </a:r>
          </a:p>
          <a:p>
            <a:r>
              <a:rPr lang="en-US" dirty="0"/>
              <a:t>Preview: perfect secrecy will simply say the message and the ciphertext are independent.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Perfect secrecy (Shannon): for any message distribution, Pr[M = m | C = c] = Pr[M = m].</a:t>
            </a:r>
          </a:p>
          <a:p>
            <a:r>
              <a:rPr lang="en-US" dirty="0"/>
              <a:t>In words: seeing the ciphertext leaves the attacker's beliefs about the message completely unchanged.</a:t>
            </a:r>
          </a:p>
          <a:p>
            <a:r>
              <a:rPr lang="en-US" dirty="0"/>
              <a:t>Note the quantifiers — every distribution, every m, every c with positive probability. No bound on attacker running time.</a:t>
            </a:r>
          </a:p>
          <a:p>
            <a:r>
              <a:rPr lang="en-US" dirty="0"/>
              <a:t>This is information-theoretic security: it holds even against unlimited computing power.</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Concrete instantiation: M = K = C = {0,1}^n, so all three spaces are n-bit strings.</a:t>
            </a:r>
          </a:p>
          <a:p>
            <a:r>
              <a:rPr lang="en-US" dirty="0"/>
              <a:t>Walk the definition through the example: message 0000000, ciphertext 0100100.</a:t>
            </a:r>
          </a:p>
          <a:p>
            <a:r>
              <a:rPr lang="en-US" dirty="0"/>
              <a:t>Perfect secrecy demands Pr[M = 0000000 | C = 0100100] = Pr[M = 0000000] — and the same for every other pair.</a:t>
            </a:r>
          </a:p>
          <a:p>
            <a:r>
              <a:rPr lang="en-US" dirty="0"/>
              <a:t>Stress that English text is a very non-uniform distribution on M; the definition must hold anyway.</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Counterexample: the rotation cipher is not perfectly secret.</a:t>
            </a:r>
          </a:p>
          <a:p>
            <a:r>
              <a:rPr lang="en-US" dirty="0"/>
              <a:t>Rotation shifts every letter equally, so repeated letters stay repeated — pattern structure survives encryption.</a:t>
            </a:r>
          </a:p>
          <a:p>
            <a:r>
              <a:rPr lang="en-US" dirty="0"/>
              <a:t>Concretely: ciphertext xx has two identical letters, message ab does not, so Pr[M = ab | C = xx] = 0, not Pr[M = ab].</a:t>
            </a:r>
          </a:p>
          <a:p>
            <a:r>
              <a:rPr lang="en-US" dirty="0"/>
              <a:t>One violating pair is enough to kill the definition — this is how we disprove perfect secrecy in general.</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Equivalent formulation: Pr[C = c | M = m] = Pr[C = c] for every m and c.</a:t>
            </a:r>
          </a:p>
          <a:p>
            <a:r>
              <a:rPr lang="en-US" dirty="0"/>
              <a:t>Reading: the ciphertext distribution does not depend on which message was encrypted.</a:t>
            </a:r>
          </a:p>
          <a:p>
            <a:r>
              <a:rPr lang="en-US" dirty="0"/>
              <a:t>This version is usually the easier one to work with in proofs — no message distribution to condition on.</a:t>
            </a:r>
          </a:p>
          <a:p>
            <a:r>
              <a:rPr lang="en-US" dirty="0"/>
              <a:t>We prove the equivalence on the next slide with Bayes's theorem.</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Proof of the equivalence, using Bayes: Pr[A|B] Pr[B] = Pr[B|A] Pr[A].</a:t>
            </a:r>
          </a:p>
          <a:p>
            <a:r>
              <a:rPr lang="en-US" dirty="0"/>
              <a:t>Substitute A = (M = m), B = (C = c) and cancel: if Pr[M=m|C=c] = Pr[M=m], then Pr[C=c|M=m] = Pr[C=c].</a:t>
            </a:r>
          </a:p>
          <a:p>
            <a:r>
              <a:rPr lang="en-US" dirty="0"/>
              <a:t>The argument is symmetric, so the implication runs both ways — the two definitions are equivalent.</a:t>
            </a:r>
          </a:p>
          <a:p>
            <a:r>
              <a:rPr lang="en-US" dirty="0"/>
              <a:t>Side condition worth stating: we only consider c with Pr[C = c] &gt; 0, and m with Pr[M = m] &gt; 0.</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Introduce the one-time pad as the fix: rotate every position by an independent shift.</a:t>
            </a:r>
          </a:p>
          <a:p>
            <a:r>
              <a:rPr lang="en-US" dirty="0"/>
              <a:t>Key insight: the key is as long as the message — no reuse of shift patterns like Vigenere.</a:t>
            </a:r>
          </a:p>
          <a:p>
            <a:r>
              <a:rPr lang="en-US" dirty="0"/>
              <a:t>This removes exactly the structure frequency analysis exploited.</a:t>
            </a:r>
          </a:p>
          <a:p>
            <a:r>
              <a:rPr lang="en-US" dirty="0"/>
              <a:t>Next few slides move from letters mod 26 to bits with XOR, then prove perfect secrecy.</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Two views of the same operation: sliding the alphabet versus adding indices mod 26.</a:t>
            </a:r>
          </a:p>
          <a:p>
            <a:r>
              <a:rPr lang="en-US" dirty="0"/>
              <a:t>Worked example: r with key 24 gives p. Rotating 24 forward equals rotating 2 back, since 24 = -2 mod 26.</a:t>
            </a:r>
          </a:p>
          <a:p>
            <a:r>
              <a:rPr lang="en-US" dirty="0"/>
              <a:t>Arithmetic view: r = 18, 18 + 24 = 42, 42 mod 26 = 16 = p.</a:t>
            </a:r>
          </a:p>
          <a:p>
            <a:r>
              <a:rPr lang="en-US" dirty="0"/>
              <a:t>Take-away: rotation by k is exactly addition of k modulo the alphabet size — which is why modular arithmetic showed up earlier.</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XOR is addition modulo 2 — walk the truth table quickly.</a:t>
            </a:r>
          </a:p>
          <a:p>
            <a:r>
              <a:rPr lang="en-US" dirty="0"/>
              <a:t>Key properties to name: a XOR a = 0, a XOR 0 = a, associative and commutative.</a:t>
            </a:r>
          </a:p>
          <a:p>
            <a:r>
              <a:rPr lang="en-US" dirty="0"/>
              <a:t>Consequence: XOR is its own inverse, which is why encryption and decryption are the same operation.</a:t>
            </a:r>
          </a:p>
          <a:p>
            <a:r>
              <a:rPr lang="en-US" dirty="0"/>
              <a:t>Bitwise XOR on n-bit strings is the binary analogue of shifting letters mod 26.</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Formal one-time pad: M = {0,1}^n; Gen picks k uniformly from {0,1}^n; Enc = k XOR m; Dec = k XOR c.</a:t>
            </a:r>
          </a:p>
          <a:p>
            <a:r>
              <a:rPr lang="en-US" dirty="0"/>
              <a:t>Correctness in one line: k XOR (k XOR m) = (k XOR k) XOR m = m.</a:t>
            </a:r>
          </a:p>
          <a:p>
            <a:r>
              <a:rPr lang="en-US" dirty="0"/>
              <a:t>Emphasize 'uniformly at random' — the proof of secrecy uses that, not just secrecy of k.</a:t>
            </a:r>
          </a:p>
          <a:p>
            <a:r>
              <a:rPr lang="en-US" dirty="0"/>
              <a:t>Also emphasize 'one-time': the key must never be reused, as we will see at the end of the lecture.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Picture of the scheme: n-bit key, n-bit message, n-bit ciphertext, XORed position by position.</a:t>
            </a:r>
          </a:p>
          <a:p>
            <a:r>
              <a:rPr lang="en-US" dirty="0"/>
              <a:t>Point out the cost: key material is as long as everything you will ever send.</a:t>
            </a:r>
          </a:p>
          <a:p>
            <a:r>
              <a:rPr lang="en-US" dirty="0"/>
              <a:t>That is the practical objection to the one-time pad, and the motivation for computational security later.</a:t>
            </a:r>
          </a:p>
          <a:p>
            <a:r>
              <a:rPr lang="en-US" dirty="0"/>
              <a:t>Ask: where would you store or distribute a key that long?</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Theorem 1: the one-time pad is perfectly secret.</a:t>
            </a:r>
          </a:p>
          <a:p>
            <a:r>
              <a:rPr lang="en-US" dirty="0"/>
              <a:t>Restate the definition we will verify: Pr[C = c | M = m] = Pr[C = c] for all m, c.</a:t>
            </a:r>
          </a:p>
          <a:p>
            <a:r>
              <a:rPr lang="en-US" dirty="0"/>
              <a:t>Proof plan: compute the left side (one line), then compute the right side with the law of total probability.</a:t>
            </a:r>
          </a:p>
          <a:p>
            <a:r>
              <a:rPr lang="en-US" dirty="0"/>
              <a:t>Both turn out to be 2^-n, independent of m — that is the whole proof.</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Step 1 of the proof: Pr[C = c | M = m] = Pr[k XOR m = c] = Pr[k = m XOR c].</a:t>
            </a:r>
          </a:p>
          <a:p>
            <a:r>
              <a:rPr lang="en-US" dirty="0"/>
              <a:t>For each fixed m and c there is exactly one key that produces c, so the probability is 2^-n.</a:t>
            </a:r>
          </a:p>
          <a:p>
            <a:r>
              <a:rPr lang="en-US" dirty="0"/>
              <a:t>Crucially this value does not depend on m — the ciphertext distribution is uniform whatever we encrypt.</a:t>
            </a:r>
          </a:p>
          <a:p>
            <a:r>
              <a:rPr lang="en-US" dirty="0"/>
              <a:t>Next slide recalls the law of total probability so we can compute Pr[C = c] unconditionally.</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Second probability interlude: the law of total probability.</a:t>
            </a:r>
          </a:p>
          <a:p>
            <a:r>
              <a:rPr lang="en-US" dirty="0"/>
              <a:t>If E1, ..., En partition the sample space, then Pr[A] = sum over i of Pr[A | Ei] Pr[Ei].</a:t>
            </a:r>
          </a:p>
          <a:p>
            <a:r>
              <a:rPr lang="en-US" dirty="0"/>
              <a:t>Here the partition is 'which message was sent', so we sum over all m in M.</a:t>
            </a:r>
          </a:p>
          <a:p>
            <a:r>
              <a:rPr lang="en-US" dirty="0"/>
              <a:t>This is the only tool needed to finish the theorem on the next slide.</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Step 2: Pr[C = c] = sum over m of Pr[C = c | M = m] Pr[M = m].</a:t>
            </a:r>
          </a:p>
          <a:p>
            <a:r>
              <a:rPr lang="en-US" dirty="0"/>
              <a:t>Substitute step 1: every conditional term equals 2^-n, so factor it out of the sum.</a:t>
            </a:r>
          </a:p>
          <a:p>
            <a:r>
              <a:rPr lang="en-US" dirty="0"/>
              <a:t>The remaining sum of Pr[M = m] over all m is 1, leaving Pr[C = c] = 2^-n.</a:t>
            </a:r>
          </a:p>
          <a:p>
            <a:r>
              <a:rPr lang="en-US" dirty="0"/>
              <a:t>So Pr[C = c | M = m] = Pr[C = c] = 2^-n, which proves Theorem 1. Note the message distribution was never used.</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Third definition, phrased as a game: the adversary picks m0 and m1, we encrypt one of them at random.</a:t>
            </a:r>
          </a:p>
          <a:p>
            <a:r>
              <a:rPr lang="en-US" dirty="0"/>
              <a:t>The adversary sees c and guesses which message it was; the experiment outputs 1 if the guess is right.</a:t>
            </a:r>
          </a:p>
          <a:p>
            <a:r>
              <a:rPr lang="en-US" dirty="0"/>
              <a:t>Perfect indistinguishability: every adversary wins with probability exactly 1/2 — no better than a coin flip.</a:t>
            </a:r>
          </a:p>
          <a:p>
            <a:r>
              <a:rPr lang="en-US" dirty="0"/>
              <a:t>This game style is how all security definitions in this course will be written from here on.</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Lemma 2 (Katz-Lindell 2.7): perfectly secret if and only if perfectly indistinguishable.</a:t>
            </a:r>
          </a:p>
          <a:p>
            <a:r>
              <a:rPr lang="en-US" dirty="0"/>
              <a:t>So the belief-based definition and the game-based definition describe exactly the same schemes.</a:t>
            </a:r>
          </a:p>
          <a:p>
            <a:r>
              <a:rPr lang="en-US" dirty="0"/>
              <a:t>Practical value: pick whichever side is easier — games for proofs about adversaries, probabilities for direct calculation.</a:t>
            </a:r>
          </a:p>
          <a:p>
            <a:r>
              <a:rPr lang="en-US" dirty="0"/>
              <a:t>Mention that the proof is in the book and follows from the equal-probability lemma on the next slide.</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Third equivalent characterization: for all m0, m1 and every c, Pr[Enc_k(m0) = c] = Pr[Enc_k(m1) = c], over random k.</a:t>
            </a:r>
          </a:p>
          <a:p>
            <a:r>
              <a:rPr lang="en-US" dirty="0"/>
              <a:t>Meaning: the ciphertext distribution is identical no matter which message is encrypted.</a:t>
            </a:r>
          </a:p>
          <a:p>
            <a:r>
              <a:rPr lang="en-US" dirty="0"/>
              <a:t>This is often the most convenient version to check for a concrete scheme — one calculation, no adversary.</a:t>
            </a:r>
          </a:p>
          <a:p>
            <a:r>
              <a:rPr lang="en-US" dirty="0"/>
              <a:t>Sanity check with the one-time pad: both sides are 2^-n, as we computed.</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Closing question: what breaks if we reuse the key? c1 XOR c2 = m1 XOR m2 — the key cancels out.</a:t>
            </a:r>
          </a:p>
          <a:p>
            <a:r>
              <a:rPr lang="en-US" dirty="0"/>
              <a:t>That leaks real information: exactly the positions where m1 and m2 differ.</a:t>
            </a:r>
          </a:p>
          <a:p>
            <a:r>
              <a:rPr lang="en-US" dirty="0"/>
              <a:t>With ASCII structure and frequency analysis, that is often enough to recover both messages — this is the classic two-time pad failure.</a:t>
            </a:r>
          </a:p>
          <a:p>
            <a:r>
              <a:rPr lang="en-US" dirty="0"/>
              <a:t>Hence 'one-time' pad. Next lecture: computational security, so we can encrypt many messages with a short key.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72298-13FD-A53E-E81A-29407919CD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79347A-F469-D5E7-17D3-5CC797D51F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7EAD0D-C8AE-4DF4-B753-280B4FF5C3E0}"/>
              </a:ext>
            </a:extLst>
          </p:cNvPr>
          <p:cNvSpPr>
            <a:spLocks noGrp="1"/>
          </p:cNvSpPr>
          <p:nvPr>
            <p:ph type="dt" sz="half" idx="10"/>
          </p:nvPr>
        </p:nvSpPr>
        <p:spPr/>
        <p:txBody>
          <a:bodyPr/>
          <a:lstStyle/>
          <a:p>
            <a:fld id="{783664A2-732D-0A42-A0B3-B37B01E57B79}" type="datetimeFigureOut">
              <a:rPr lang="en-US" smtClean="0"/>
              <a:t>8/26/26</a:t>
            </a:fld>
            <a:endParaRPr lang="en-US"/>
          </a:p>
        </p:txBody>
      </p:sp>
      <p:sp>
        <p:nvSpPr>
          <p:cNvPr id="5" name="Footer Placeholder 4">
            <a:extLst>
              <a:ext uri="{FF2B5EF4-FFF2-40B4-BE49-F238E27FC236}">
                <a16:creationId xmlns:a16="http://schemas.microsoft.com/office/drawing/2014/main" id="{027E3100-6B45-0127-A5EC-1AC22A5033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6366D3-A398-2581-C110-6570EC597765}"/>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2852442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7B52D-CB1C-EFB0-32A7-F6E064D14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5E4298-46C8-4ECE-8362-DFAFAD3F70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B2EC12-1B1B-88E2-8452-13A1E41DEFA1}"/>
              </a:ext>
            </a:extLst>
          </p:cNvPr>
          <p:cNvSpPr>
            <a:spLocks noGrp="1"/>
          </p:cNvSpPr>
          <p:nvPr>
            <p:ph type="dt" sz="half" idx="10"/>
          </p:nvPr>
        </p:nvSpPr>
        <p:spPr/>
        <p:txBody>
          <a:bodyPr/>
          <a:lstStyle/>
          <a:p>
            <a:fld id="{783664A2-732D-0A42-A0B3-B37B01E57B79}" type="datetimeFigureOut">
              <a:rPr lang="en-US" smtClean="0"/>
              <a:t>8/26/26</a:t>
            </a:fld>
            <a:endParaRPr lang="en-US"/>
          </a:p>
        </p:txBody>
      </p:sp>
      <p:sp>
        <p:nvSpPr>
          <p:cNvPr id="5" name="Footer Placeholder 4">
            <a:extLst>
              <a:ext uri="{FF2B5EF4-FFF2-40B4-BE49-F238E27FC236}">
                <a16:creationId xmlns:a16="http://schemas.microsoft.com/office/drawing/2014/main" id="{6EEE477D-8D7D-2A5F-B5D0-292E837A1F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6C7F2F-4DBF-281A-DA76-1F5BA51B1CDC}"/>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2825585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8D5DD-3DC3-8480-4B06-198183F3FA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D9DEDC-5206-A31D-44C7-06D3928AE3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A8CE1E-7139-3B4B-B853-658683ADBA5B}"/>
              </a:ext>
            </a:extLst>
          </p:cNvPr>
          <p:cNvSpPr>
            <a:spLocks noGrp="1"/>
          </p:cNvSpPr>
          <p:nvPr>
            <p:ph type="dt" sz="half" idx="10"/>
          </p:nvPr>
        </p:nvSpPr>
        <p:spPr/>
        <p:txBody>
          <a:bodyPr/>
          <a:lstStyle/>
          <a:p>
            <a:fld id="{783664A2-732D-0A42-A0B3-B37B01E57B79}" type="datetimeFigureOut">
              <a:rPr lang="en-US" smtClean="0"/>
              <a:t>8/26/26</a:t>
            </a:fld>
            <a:endParaRPr lang="en-US"/>
          </a:p>
        </p:txBody>
      </p:sp>
      <p:sp>
        <p:nvSpPr>
          <p:cNvPr id="5" name="Footer Placeholder 4">
            <a:extLst>
              <a:ext uri="{FF2B5EF4-FFF2-40B4-BE49-F238E27FC236}">
                <a16:creationId xmlns:a16="http://schemas.microsoft.com/office/drawing/2014/main" id="{0E836798-E41E-4587-CFA1-CF3779C6DD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B3EEBC-6EA6-8257-1873-D97E8453D5DF}"/>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2443855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B8296-1D0E-BC58-78B5-6F09DDB63D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28D852-4378-D645-2DBA-1D3A075408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8A144E-23D8-F6F6-5CFF-FE1B06ACDD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B18CF4-5BE0-4242-93BE-11ADB3FE8F3B}"/>
              </a:ext>
            </a:extLst>
          </p:cNvPr>
          <p:cNvSpPr>
            <a:spLocks noGrp="1"/>
          </p:cNvSpPr>
          <p:nvPr>
            <p:ph type="dt" sz="half" idx="10"/>
          </p:nvPr>
        </p:nvSpPr>
        <p:spPr/>
        <p:txBody>
          <a:bodyPr/>
          <a:lstStyle/>
          <a:p>
            <a:fld id="{783664A2-732D-0A42-A0B3-B37B01E57B79}" type="datetimeFigureOut">
              <a:rPr lang="en-US" smtClean="0"/>
              <a:t>8/26/26</a:t>
            </a:fld>
            <a:endParaRPr lang="en-US"/>
          </a:p>
        </p:txBody>
      </p:sp>
      <p:sp>
        <p:nvSpPr>
          <p:cNvPr id="6" name="Footer Placeholder 5">
            <a:extLst>
              <a:ext uri="{FF2B5EF4-FFF2-40B4-BE49-F238E27FC236}">
                <a16:creationId xmlns:a16="http://schemas.microsoft.com/office/drawing/2014/main" id="{DA9A302E-C332-2593-0A21-EC88803D2F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0A1E6E-8B1C-174C-4A40-EA570BF0707E}"/>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761543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39E17-3171-3BC2-7524-9BED2616AF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A70970-C3CA-F7F3-6EE7-753B792688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44E703-4ECA-4828-5EE7-46AB98D294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841883-DD4F-DF5C-2BAA-5D37E891FC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2C4AF0-3CFA-18D2-293A-ED9A7934CC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A5CD90-4996-EA7C-F2A1-24265FB7279B}"/>
              </a:ext>
            </a:extLst>
          </p:cNvPr>
          <p:cNvSpPr>
            <a:spLocks noGrp="1"/>
          </p:cNvSpPr>
          <p:nvPr>
            <p:ph type="dt" sz="half" idx="10"/>
          </p:nvPr>
        </p:nvSpPr>
        <p:spPr/>
        <p:txBody>
          <a:bodyPr/>
          <a:lstStyle/>
          <a:p>
            <a:fld id="{783664A2-732D-0A42-A0B3-B37B01E57B79}" type="datetimeFigureOut">
              <a:rPr lang="en-US" smtClean="0"/>
              <a:t>8/26/26</a:t>
            </a:fld>
            <a:endParaRPr lang="en-US"/>
          </a:p>
        </p:txBody>
      </p:sp>
      <p:sp>
        <p:nvSpPr>
          <p:cNvPr id="8" name="Footer Placeholder 7">
            <a:extLst>
              <a:ext uri="{FF2B5EF4-FFF2-40B4-BE49-F238E27FC236}">
                <a16:creationId xmlns:a16="http://schemas.microsoft.com/office/drawing/2014/main" id="{26A4B745-C364-F223-8680-AAC6280C48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70B5A4-9259-0D3E-4D2F-5FF6D168EF95}"/>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1006650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1CD30-B976-17A3-4B45-19D01E2AA6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96082F-EC36-BB3B-866F-8D03379E3C84}"/>
              </a:ext>
            </a:extLst>
          </p:cNvPr>
          <p:cNvSpPr>
            <a:spLocks noGrp="1"/>
          </p:cNvSpPr>
          <p:nvPr>
            <p:ph type="dt" sz="half" idx="10"/>
          </p:nvPr>
        </p:nvSpPr>
        <p:spPr/>
        <p:txBody>
          <a:bodyPr/>
          <a:lstStyle/>
          <a:p>
            <a:fld id="{783664A2-732D-0A42-A0B3-B37B01E57B79}" type="datetimeFigureOut">
              <a:rPr lang="en-US" smtClean="0"/>
              <a:t>8/26/26</a:t>
            </a:fld>
            <a:endParaRPr lang="en-US"/>
          </a:p>
        </p:txBody>
      </p:sp>
      <p:sp>
        <p:nvSpPr>
          <p:cNvPr id="4" name="Footer Placeholder 3">
            <a:extLst>
              <a:ext uri="{FF2B5EF4-FFF2-40B4-BE49-F238E27FC236}">
                <a16:creationId xmlns:a16="http://schemas.microsoft.com/office/drawing/2014/main" id="{D51FBEE4-B67F-F90F-E5D4-EDE3A6E599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F3BF27-76A1-D473-0A0B-1A67846E66E8}"/>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1965808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E87E17-D710-D74D-671F-5F835C0651B6}"/>
              </a:ext>
            </a:extLst>
          </p:cNvPr>
          <p:cNvSpPr>
            <a:spLocks noGrp="1"/>
          </p:cNvSpPr>
          <p:nvPr>
            <p:ph type="dt" sz="half" idx="10"/>
          </p:nvPr>
        </p:nvSpPr>
        <p:spPr/>
        <p:txBody>
          <a:bodyPr/>
          <a:lstStyle/>
          <a:p>
            <a:fld id="{783664A2-732D-0A42-A0B3-B37B01E57B79}" type="datetimeFigureOut">
              <a:rPr lang="en-US" smtClean="0"/>
              <a:t>8/26/26</a:t>
            </a:fld>
            <a:endParaRPr lang="en-US"/>
          </a:p>
        </p:txBody>
      </p:sp>
      <p:sp>
        <p:nvSpPr>
          <p:cNvPr id="3" name="Footer Placeholder 2">
            <a:extLst>
              <a:ext uri="{FF2B5EF4-FFF2-40B4-BE49-F238E27FC236}">
                <a16:creationId xmlns:a16="http://schemas.microsoft.com/office/drawing/2014/main" id="{0D2EEBF7-3C53-0A5C-B6CD-5A910BEE49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E27071-4842-D491-3ACF-21F143ADDC9D}"/>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2094486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14758-ED28-5FD0-E39E-517F7895F9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F93C0B-79A5-BB9E-B88C-AA35F5FD9F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A847F0-C14C-0DEF-35EA-AA96A170D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1146A7-8326-B5BF-EAB1-62280FB1208D}"/>
              </a:ext>
            </a:extLst>
          </p:cNvPr>
          <p:cNvSpPr>
            <a:spLocks noGrp="1"/>
          </p:cNvSpPr>
          <p:nvPr>
            <p:ph type="dt" sz="half" idx="10"/>
          </p:nvPr>
        </p:nvSpPr>
        <p:spPr/>
        <p:txBody>
          <a:bodyPr/>
          <a:lstStyle/>
          <a:p>
            <a:fld id="{783664A2-732D-0A42-A0B3-B37B01E57B79}" type="datetimeFigureOut">
              <a:rPr lang="en-US" smtClean="0"/>
              <a:t>8/26/26</a:t>
            </a:fld>
            <a:endParaRPr lang="en-US"/>
          </a:p>
        </p:txBody>
      </p:sp>
      <p:sp>
        <p:nvSpPr>
          <p:cNvPr id="6" name="Footer Placeholder 5">
            <a:extLst>
              <a:ext uri="{FF2B5EF4-FFF2-40B4-BE49-F238E27FC236}">
                <a16:creationId xmlns:a16="http://schemas.microsoft.com/office/drawing/2014/main" id="{AE8EE1A6-4663-1964-0BC7-B847BCEB5A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DDFBA4-BDB4-EA74-0C93-1587A27C54AF}"/>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1356576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2A08E-A531-E807-933E-8DF8D3EE28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10D7672-5EF7-E5F1-5F6A-8FD714168A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7A014E-BE43-D259-CD28-638D20B6A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C30AEF-1BD9-6663-AE98-F9E918A12679}"/>
              </a:ext>
            </a:extLst>
          </p:cNvPr>
          <p:cNvSpPr>
            <a:spLocks noGrp="1"/>
          </p:cNvSpPr>
          <p:nvPr>
            <p:ph type="dt" sz="half" idx="10"/>
          </p:nvPr>
        </p:nvSpPr>
        <p:spPr/>
        <p:txBody>
          <a:bodyPr/>
          <a:lstStyle/>
          <a:p>
            <a:fld id="{783664A2-732D-0A42-A0B3-B37B01E57B79}" type="datetimeFigureOut">
              <a:rPr lang="en-US" smtClean="0"/>
              <a:t>8/26/26</a:t>
            </a:fld>
            <a:endParaRPr lang="en-US"/>
          </a:p>
        </p:txBody>
      </p:sp>
      <p:sp>
        <p:nvSpPr>
          <p:cNvPr id="6" name="Footer Placeholder 5">
            <a:extLst>
              <a:ext uri="{FF2B5EF4-FFF2-40B4-BE49-F238E27FC236}">
                <a16:creationId xmlns:a16="http://schemas.microsoft.com/office/drawing/2014/main" id="{9BC83E14-9836-6A89-86DF-27809272F9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52ED08-1C0A-9F4C-8BD6-CCABE0F09D36}"/>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1099038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B676A-E870-D485-12FE-1B2F0DCFF6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E53F22-A5EE-CB59-91D4-672E5FA2F2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00DAAB-10D0-799B-62EB-B28D78EF9B25}"/>
              </a:ext>
            </a:extLst>
          </p:cNvPr>
          <p:cNvSpPr>
            <a:spLocks noGrp="1"/>
          </p:cNvSpPr>
          <p:nvPr>
            <p:ph type="dt" sz="half" idx="10"/>
          </p:nvPr>
        </p:nvSpPr>
        <p:spPr/>
        <p:txBody>
          <a:bodyPr/>
          <a:lstStyle/>
          <a:p>
            <a:fld id="{783664A2-732D-0A42-A0B3-B37B01E57B79}" type="datetimeFigureOut">
              <a:rPr lang="en-US" smtClean="0"/>
              <a:t>8/26/26</a:t>
            </a:fld>
            <a:endParaRPr lang="en-US"/>
          </a:p>
        </p:txBody>
      </p:sp>
      <p:sp>
        <p:nvSpPr>
          <p:cNvPr id="5" name="Footer Placeholder 4">
            <a:extLst>
              <a:ext uri="{FF2B5EF4-FFF2-40B4-BE49-F238E27FC236}">
                <a16:creationId xmlns:a16="http://schemas.microsoft.com/office/drawing/2014/main" id="{ACDF5C25-25D9-A286-3132-50AF7F737D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E6A8DE-914F-632D-9615-3D63D2C43254}"/>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1715868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A2F5E2-78A5-7456-6431-4A6C3B75C4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E566E1-44C7-8D96-39B8-58CB0F177E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9998DA-8695-2438-5A95-36FB6241F4C2}"/>
              </a:ext>
            </a:extLst>
          </p:cNvPr>
          <p:cNvSpPr>
            <a:spLocks noGrp="1"/>
          </p:cNvSpPr>
          <p:nvPr>
            <p:ph type="dt" sz="half" idx="10"/>
          </p:nvPr>
        </p:nvSpPr>
        <p:spPr/>
        <p:txBody>
          <a:bodyPr/>
          <a:lstStyle/>
          <a:p>
            <a:fld id="{783664A2-732D-0A42-A0B3-B37B01E57B79}" type="datetimeFigureOut">
              <a:rPr lang="en-US" smtClean="0"/>
              <a:t>8/26/26</a:t>
            </a:fld>
            <a:endParaRPr lang="en-US"/>
          </a:p>
        </p:txBody>
      </p:sp>
      <p:sp>
        <p:nvSpPr>
          <p:cNvPr id="5" name="Footer Placeholder 4">
            <a:extLst>
              <a:ext uri="{FF2B5EF4-FFF2-40B4-BE49-F238E27FC236}">
                <a16:creationId xmlns:a16="http://schemas.microsoft.com/office/drawing/2014/main" id="{3970B4C6-78E5-4A23-422D-3D261FF1F1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7BD50F-0AF4-42A3-3694-C1784EA8CA72}"/>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3586175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874322-4BA5-AB0E-DA54-33043310D3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D5CED1-073A-B783-5A09-0F22F02C2B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60ECDB-3E52-EF49-0B01-B3A48A4C44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3664A2-732D-0A42-A0B3-B37B01E57B79}" type="datetimeFigureOut">
              <a:rPr lang="en-US" smtClean="0"/>
              <a:t>8/26/26</a:t>
            </a:fld>
            <a:endParaRPr lang="en-US"/>
          </a:p>
        </p:txBody>
      </p:sp>
      <p:sp>
        <p:nvSpPr>
          <p:cNvPr id="5" name="Footer Placeholder 4">
            <a:extLst>
              <a:ext uri="{FF2B5EF4-FFF2-40B4-BE49-F238E27FC236}">
                <a16:creationId xmlns:a16="http://schemas.microsoft.com/office/drawing/2014/main" id="{76B54CE7-66C6-4C2E-9AEC-DBF3BD5274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1B1AC45-F6A2-8B83-4A0A-39DD32D0E0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E689E1B-9684-7B4C-B9AC-1C9D17F0C9CA}" type="slidenum">
              <a:rPr lang="en-US" smtClean="0"/>
              <a:t>‹#›</a:t>
            </a:fld>
            <a:endParaRPr lang="en-US"/>
          </a:p>
        </p:txBody>
      </p:sp>
    </p:spTree>
    <p:extLst>
      <p:ext uri="{BB962C8B-B14F-4D97-AF65-F5344CB8AC3E}">
        <p14:creationId xmlns:p14="http://schemas.microsoft.com/office/powerpoint/2010/main" val="26129053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joyofcryptography.com/pdf/chap0.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www.youtube.com/watch?v=YWfavaSsQ7U" TargetMode="Externa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C00D0-FF00-DB45-9974-1F6D114A06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94D9447-F417-0C86-9073-D19C2AF4843F}"/>
              </a:ext>
            </a:extLst>
          </p:cNvPr>
          <p:cNvSpPr>
            <a:spLocks noGrp="1"/>
          </p:cNvSpPr>
          <p:nvPr>
            <p:ph idx="1"/>
          </p:nvPr>
        </p:nvSpPr>
        <p:spPr/>
        <p:txBody>
          <a:bodyPr/>
          <a:lstStyle/>
          <a:p>
            <a:r>
              <a:rPr lang="en-US" dirty="0">
                <a:latin typeface="Aptos"/>
              </a:rPr>
              <a:t>TA office hour: 3PM-4PM  Thursday</a:t>
            </a:r>
          </a:p>
        </p:txBody>
      </p:sp>
    </p:spTree>
    <p:extLst>
      <p:ext uri="{BB962C8B-B14F-4D97-AF65-F5344CB8AC3E}">
        <p14:creationId xmlns:p14="http://schemas.microsoft.com/office/powerpoint/2010/main" val="3711794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E9FB3-4A93-4CDB-84B7-E950CEB6ECB0}"/>
              </a:ext>
            </a:extLst>
          </p:cNvPr>
          <p:cNvSpPr>
            <a:spLocks noGrp="1"/>
          </p:cNvSpPr>
          <p:nvPr>
            <p:ph type="title"/>
          </p:nvPr>
        </p:nvSpPr>
        <p:spPr>
          <a:xfrm>
            <a:off x="589429" y="1179328"/>
            <a:ext cx="10971199" cy="1325563"/>
          </a:xfrm>
        </p:spPr>
        <p:txBody>
          <a:bodyPr/>
          <a:lstStyle/>
          <a:p>
            <a:pPr algn="ctr"/>
            <a:r>
              <a:rPr lang="en-US" dirty="0">
                <a:latin typeface="Aptos Display"/>
              </a:rPr>
              <a:t> </a:t>
            </a:r>
            <a:r>
              <a:rPr lang="en-US" dirty="0">
                <a:solidFill>
                  <a:srgbClr val="FF0000"/>
                </a:solidFill>
                <a:latin typeface="Aptos Display"/>
              </a:rPr>
              <a:t>(NOT) </a:t>
            </a:r>
            <a:r>
              <a:rPr lang="en-US" dirty="0">
                <a:latin typeface="Aptos Display"/>
              </a:rPr>
              <a:t>All Background You Need for This Course</a:t>
            </a:r>
          </a:p>
        </p:txBody>
      </p:sp>
      <p:sp>
        <p:nvSpPr>
          <p:cNvPr id="3" name="Content Placeholder 2">
            <a:extLst>
              <a:ext uri="{FF2B5EF4-FFF2-40B4-BE49-F238E27FC236}">
                <a16:creationId xmlns:a16="http://schemas.microsoft.com/office/drawing/2014/main" id="{0D89DB11-763D-B154-DFDC-75FE8F315883}"/>
              </a:ext>
            </a:extLst>
          </p:cNvPr>
          <p:cNvSpPr>
            <a:spLocks noGrp="1"/>
          </p:cNvSpPr>
          <p:nvPr>
            <p:ph idx="1"/>
          </p:nvPr>
        </p:nvSpPr>
        <p:spPr>
          <a:xfrm>
            <a:off x="889229" y="3072652"/>
            <a:ext cx="10515600" cy="2403317"/>
          </a:xfrm>
        </p:spPr>
        <p:txBody>
          <a:bodyPr/>
          <a:lstStyle/>
          <a:p>
            <a:pPr marL="0" indent="0" algn="ctr">
              <a:buNone/>
            </a:pPr>
            <a:r>
              <a:rPr lang="en-US" dirty="0">
                <a:latin typeface="Aptos"/>
                <a:hlinkClick r:id="rId3"/>
              </a:rPr>
              <a:t>https://joyofcryptography.com/pdf/chap0.pdf</a:t>
            </a:r>
            <a:endParaRPr lang="en-US" dirty="0">
              <a:latin typeface="Aptos"/>
            </a:endParaRPr>
          </a:p>
          <a:p>
            <a:pPr algn="ctr"/>
            <a:endParaRPr lang="en-US" dirty="0">
              <a:latin typeface="Aptos"/>
            </a:endParaRPr>
          </a:p>
        </p:txBody>
      </p:sp>
      <p:sp>
        <p:nvSpPr>
          <p:cNvPr id="4" name="Rectangle 3">
            <a:extLst>
              <a:ext uri="{FF2B5EF4-FFF2-40B4-BE49-F238E27FC236}">
                <a16:creationId xmlns:a16="http://schemas.microsoft.com/office/drawing/2014/main" id="{EB674673-F8CF-B06D-F37D-8924AFAFDC36}"/>
              </a:ext>
            </a:extLst>
          </p:cNvPr>
          <p:cNvSpPr/>
          <p:nvPr/>
        </p:nvSpPr>
        <p:spPr>
          <a:xfrm>
            <a:off x="889229" y="1021278"/>
            <a:ext cx="1925223" cy="9381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2968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4FF7B-0EC5-466C-BC53-F09E4566CA4C}"/>
              </a:ext>
            </a:extLst>
          </p:cNvPr>
          <p:cNvSpPr>
            <a:spLocks noGrp="1"/>
          </p:cNvSpPr>
          <p:nvPr>
            <p:ph type="title"/>
          </p:nvPr>
        </p:nvSpPr>
        <p:spPr/>
        <p:txBody>
          <a:bodyPr/>
          <a:lstStyle/>
          <a:p>
            <a:r>
              <a:rPr lang="en-US" dirty="0">
                <a:latin typeface="Aptos Display"/>
              </a:rPr>
              <a:t>Exponentiation and logarithms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C2AA891-18B8-AE5E-D12E-F36D5C2A22F5}"/>
                  </a:ext>
                </a:extLst>
              </p:cNvPr>
              <p:cNvSpPr>
                <a:spLocks noGrp="1"/>
              </p:cNvSpPr>
              <p:nvPr>
                <p:ph idx="1"/>
              </p:nvPr>
            </p:nvSpPr>
            <p:spPr/>
            <p:txBody>
              <a:bodyPr/>
              <a:lstStyle/>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sup>
                    </m:sSup>
                  </m:oMath>
                </a14:m>
                <a:endParaRPr lang="en-US" b="0" dirty="0"/>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𝑎𝑏</m:t>
                        </m:r>
                      </m:sup>
                    </m:sSup>
                  </m:oMath>
                </a14:m>
                <a:endParaRPr lang="en-US" dirty="0"/>
              </a:p>
              <a:p>
                <a14:m>
                  <m:oMath xmlns:m="http://schemas.openxmlformats.org/officeDocument/2006/math">
                    <m:sSup>
                      <m:sSupPr>
                        <m:ctrlPr>
                          <a:rPr lang="en-US" b="0" i="1" smtClean="0">
                            <a:latin typeface="Cambria Math" panose="02040503050406030204" pitchFamily="18" charset="0"/>
                          </a:rPr>
                        </m:ctrlPr>
                      </m:sSupPr>
                      <m:e>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𝑥</m:t>
                                </m:r>
                              </m:sub>
                            </m:sSub>
                          </m:fName>
                          <m:e>
                            <m:r>
                              <a:rPr lang="en-US" i="1">
                                <a:latin typeface="Cambria Math" panose="02040503050406030204" pitchFamily="18" charset="0"/>
                              </a:rPr>
                              <m:t>𝑎𝑏</m:t>
                            </m:r>
                            <m:r>
                              <a:rPr lang="en-US" i="1">
                                <a:latin typeface="Cambria Math" panose="02040503050406030204" pitchFamily="18" charset="0"/>
                              </a:rPr>
                              <m:t> </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𝑥</m:t>
                                </m:r>
                              </m:sub>
                            </m:sSub>
                          </m:fName>
                          <m:e>
                            <m:r>
                              <a:rPr lang="en-US" b="0" i="1" smtClean="0">
                                <a:latin typeface="Cambria Math" panose="02040503050406030204" pitchFamily="18" charset="0"/>
                              </a:rPr>
                              <m:t>𝑎</m:t>
                            </m:r>
                          </m:e>
                        </m:func>
                      </m:e>
                      <m:sup>
                        <m:r>
                          <a:rPr lang="en-US" b="0" i="1" smtClean="0">
                            <a:latin typeface="Cambria Math" panose="02040503050406030204" pitchFamily="18" charset="0"/>
                          </a:rPr>
                          <m:t> </m:t>
                        </m:r>
                      </m:sup>
                    </m:sSup>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𝑥</m:t>
                            </m:r>
                          </m:sub>
                        </m:sSub>
                      </m:fName>
                      <m:e>
                        <m:r>
                          <a:rPr lang="en-US" b="0" i="1" smtClean="0">
                            <a:latin typeface="Cambria Math" panose="02040503050406030204" pitchFamily="18" charset="0"/>
                          </a:rPr>
                          <m:t>𝑏</m:t>
                        </m:r>
                      </m:e>
                    </m:func>
                  </m:oMath>
                </a14:m>
                <a:endParaRPr lang="en-US" b="0" dirty="0"/>
              </a:p>
              <a:p>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a:rPr lang="en-US" i="1">
                                <a:latin typeface="Cambria Math" panose="02040503050406030204" pitchFamily="18" charset="0"/>
                              </a:rPr>
                              <m:t>𝑎</m:t>
                            </m:r>
                            <m:r>
                              <m:rPr>
                                <m:sty m:val="p"/>
                              </m:rPr>
                              <a:rPr lang="en-US" b="0" i="0" smtClean="0">
                                <a:latin typeface="Cambria Math" panose="02040503050406030204" pitchFamily="18" charset="0"/>
                              </a:rPr>
                              <m:t>log</m:t>
                            </m:r>
                          </m:e>
                          <m:sub>
                            <m:r>
                              <a:rPr lang="en-US" b="0" i="1" smtClean="0">
                                <a:latin typeface="Cambria Math" panose="02040503050406030204" pitchFamily="18" charset="0"/>
                              </a:rPr>
                              <m:t>𝑥</m:t>
                            </m:r>
                          </m:sub>
                        </m:sSub>
                      </m:fName>
                      <m:e>
                        <m:r>
                          <a:rPr lang="en-US" b="0" i="1" smtClean="0">
                            <a:latin typeface="Cambria Math" panose="02040503050406030204" pitchFamily="18" charset="0"/>
                          </a:rPr>
                          <m:t>𝑏</m:t>
                        </m:r>
                        <m:r>
                          <a:rPr lang="en-US" b="0" i="1" smtClean="0">
                            <a:latin typeface="Cambria Math" panose="02040503050406030204" pitchFamily="18" charset="0"/>
                          </a:rPr>
                          <m:t> </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𝑥</m:t>
                            </m:r>
                          </m:sub>
                        </m:sSub>
                      </m:fNa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𝑎</m:t>
                            </m:r>
                          </m:sup>
                        </m:sSup>
                      </m:e>
                    </m:func>
                  </m:oMath>
                </a14:m>
                <a:endParaRPr lang="en-US" dirty="0"/>
              </a:p>
              <a:p>
                <a:endParaRPr lang="en-US" dirty="0"/>
              </a:p>
              <a:p>
                <a:endParaRPr lang="en-US" dirty="0"/>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𝑏</m:t>
                        </m:r>
                      </m:sup>
                    </m:sSup>
                  </m:oMath>
                </a14:m>
                <a:r>
                  <a:rPr lang="en-US" dirty="0"/>
                  <a:t> is </a:t>
                </a:r>
                <a:r>
                  <a:rPr lang="en-US" b="1" dirty="0"/>
                  <a:t>not</a:t>
                </a:r>
                <a:r>
                  <a:rPr lang="en-US" dirty="0"/>
                  <a:t> equal to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𝑎𝑏</m:t>
                        </m:r>
                      </m:sup>
                    </m:sSup>
                  </m:oMath>
                </a14:m>
                <a:r>
                  <a:rPr lang="en-US" dirty="0"/>
                  <a:t> !!!</a:t>
                </a:r>
              </a:p>
              <a:p>
                <a:endParaRPr lang="en-US" dirty="0"/>
              </a:p>
            </p:txBody>
          </p:sp>
        </mc:Choice>
        <mc:Fallback>
          <p:sp>
            <p:nvSpPr>
              <p:cNvPr id="3" name="Content Placeholder 2">
                <a:extLst>
                  <a:ext uri="{FF2B5EF4-FFF2-40B4-BE49-F238E27FC236}">
                    <a16:creationId xmlns:a16="http://schemas.microsoft.com/office/drawing/2014/main" id="{EC2AA891-18B8-AE5E-D12E-F36D5C2A22F5}"/>
                  </a:ext>
                </a:extLst>
              </p:cNvPr>
              <p:cNvSpPr>
                <a:spLocks noGrp="1" noRot="1" noChangeAspect="1" noMove="1" noResize="1" noEditPoints="1" noAdjustHandles="1" noChangeArrowheads="1" noChangeShapeType="1" noTextEdit="1"/>
              </p:cNvSpPr>
              <p:nvPr>
                <p:ph idx="1"/>
              </p:nvPr>
            </p:nvSpPr>
            <p:spPr>
              <a:blipFill>
                <a:blip r:embed="rId3"/>
                <a:stretch>
                  <a:fillRect l="-1086" t="-1744"/>
                </a:stretch>
              </a:blipFill>
            </p:spPr>
            <p:txBody>
              <a:bodyPr/>
              <a:lstStyle/>
              <a:p>
                <a:r>
                  <a:rPr lang="en-US">
                    <a:noFill/>
                  </a:rPr>
                  <a:t> </a:t>
                </a:r>
              </a:p>
            </p:txBody>
          </p:sp>
        </mc:Fallback>
      </mc:AlternateContent>
    </p:spTree>
    <p:extLst>
      <p:ext uri="{BB962C8B-B14F-4D97-AF65-F5344CB8AC3E}">
        <p14:creationId xmlns:p14="http://schemas.microsoft.com/office/powerpoint/2010/main" val="3075704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en-US" dirty="0">
                <a:latin typeface="Aptos"/>
              </a:rPr>
              <a:t>Prime numbers</a:t>
            </a:r>
          </a:p>
        </p:txBody>
      </p:sp>
      <p:sp>
        <p:nvSpPr>
          <p:cNvPr id="192515" name="Rectangle 3" descr="Rectangle: Click to edit Master text styles&#10;Second level&#10;Third level&#10;Fourth level&#10;Fifth level"/>
          <p:cNvSpPr>
            <a:spLocks noGrp="1" noChangeArrowheads="1"/>
          </p:cNvSpPr>
          <p:nvPr>
            <p:ph idx="1"/>
          </p:nvPr>
        </p:nvSpPr>
        <p:spPr>
          <a:xfrm>
            <a:off x="838200" y="1505239"/>
            <a:ext cx="10515600" cy="4987636"/>
          </a:xfrm>
        </p:spPr>
        <p:txBody>
          <a:bodyPr>
            <a:normAutofit lnSpcReduction="10000"/>
          </a:bodyPr>
          <a:lstStyle/>
          <a:p>
            <a:pPr>
              <a:lnSpc>
                <a:spcPct val="90000"/>
              </a:lnSpc>
            </a:pPr>
            <a:r>
              <a:rPr lang="en-US" sz="2400" dirty="0"/>
              <a:t>Prime number </a:t>
            </a:r>
            <a:r>
              <a:rPr lang="en-US" sz="2400" b="1" i="1" dirty="0"/>
              <a:t>p</a:t>
            </a:r>
            <a:r>
              <a:rPr lang="en-US" sz="2400" dirty="0"/>
              <a:t>:</a:t>
            </a:r>
          </a:p>
          <a:p>
            <a:pPr lvl="1">
              <a:lnSpc>
                <a:spcPct val="90000"/>
              </a:lnSpc>
            </a:pPr>
            <a:r>
              <a:rPr lang="en-US" sz="2000" b="1" i="1" dirty="0"/>
              <a:t>p</a:t>
            </a:r>
            <a:r>
              <a:rPr lang="en-US" sz="2000" dirty="0"/>
              <a:t> </a:t>
            </a:r>
            <a:r>
              <a:rPr lang="en-US" sz="2000" dirty="0">
                <a:sym typeface="Symbol" pitchFamily="18" charset="2"/>
              </a:rPr>
              <a:t>is an integer</a:t>
            </a:r>
            <a:endParaRPr lang="en-US" sz="2000" b="1" i="1" dirty="0"/>
          </a:p>
          <a:p>
            <a:pPr lvl="1">
              <a:lnSpc>
                <a:spcPct val="90000"/>
              </a:lnSpc>
            </a:pPr>
            <a:r>
              <a:rPr lang="en-US" sz="2000" b="1" i="1" dirty="0"/>
              <a:t>p</a:t>
            </a:r>
            <a:r>
              <a:rPr lang="en-US" sz="2000" dirty="0"/>
              <a:t> </a:t>
            </a:r>
            <a:r>
              <a:rPr lang="en-US" sz="2000" dirty="0">
                <a:sym typeface="Symbol" pitchFamily="18" charset="2"/>
              </a:rPr>
              <a:t> 2</a:t>
            </a:r>
          </a:p>
          <a:p>
            <a:pPr lvl="1">
              <a:lnSpc>
                <a:spcPct val="90000"/>
              </a:lnSpc>
            </a:pPr>
            <a:r>
              <a:rPr lang="en-US" sz="2000" dirty="0">
                <a:sym typeface="Symbol" pitchFamily="18" charset="2"/>
              </a:rPr>
              <a:t>The only divisors of </a:t>
            </a:r>
            <a:r>
              <a:rPr lang="en-US" sz="2000" b="1" i="1" dirty="0">
                <a:sym typeface="Symbol" pitchFamily="18" charset="2"/>
              </a:rPr>
              <a:t>p</a:t>
            </a:r>
            <a:r>
              <a:rPr lang="en-US" sz="2000" dirty="0">
                <a:sym typeface="Symbol" pitchFamily="18" charset="2"/>
              </a:rPr>
              <a:t> are 1 and </a:t>
            </a:r>
            <a:r>
              <a:rPr lang="en-US" sz="2000" b="1" i="1" dirty="0">
                <a:sym typeface="Symbol" pitchFamily="18" charset="2"/>
              </a:rPr>
              <a:t>p</a:t>
            </a:r>
          </a:p>
          <a:p>
            <a:pPr>
              <a:lnSpc>
                <a:spcPct val="90000"/>
              </a:lnSpc>
            </a:pPr>
            <a:r>
              <a:rPr lang="en-US" sz="2400" dirty="0">
                <a:sym typeface="Symbol" pitchFamily="18" charset="2"/>
              </a:rPr>
              <a:t>Examples</a:t>
            </a:r>
          </a:p>
          <a:p>
            <a:pPr lvl="1">
              <a:lnSpc>
                <a:spcPct val="90000"/>
              </a:lnSpc>
            </a:pPr>
            <a:r>
              <a:rPr lang="en-US" sz="2000" dirty="0"/>
              <a:t>2, 7, 19 </a:t>
            </a:r>
            <a:r>
              <a:rPr lang="en-US" sz="2000" dirty="0">
                <a:sym typeface="Symbol" pitchFamily="18" charset="2"/>
              </a:rPr>
              <a:t>are primes</a:t>
            </a:r>
          </a:p>
          <a:p>
            <a:pPr lvl="1">
              <a:lnSpc>
                <a:spcPct val="90000"/>
              </a:lnSpc>
            </a:pPr>
            <a:r>
              <a:rPr lang="en-US" sz="2000" dirty="0">
                <a:sym typeface="Symbol" pitchFamily="18" charset="2"/>
              </a:rPr>
              <a:t>-3, 0, 1, 6 are not primes</a:t>
            </a:r>
          </a:p>
          <a:p>
            <a:pPr>
              <a:lnSpc>
                <a:spcPct val="90000"/>
              </a:lnSpc>
            </a:pPr>
            <a:r>
              <a:rPr lang="en-US" sz="2400" dirty="0">
                <a:sym typeface="Symbol" pitchFamily="18" charset="2"/>
              </a:rPr>
              <a:t>Prime decomposition of a positive integer </a:t>
            </a:r>
            <a:r>
              <a:rPr lang="en-US" sz="2400" b="1" i="1" dirty="0"/>
              <a:t>n</a:t>
            </a:r>
            <a:r>
              <a:rPr lang="en-US" sz="2400" dirty="0">
                <a:sym typeface="Symbol" pitchFamily="18" charset="2"/>
              </a:rPr>
              <a:t>:</a:t>
            </a:r>
          </a:p>
          <a:p>
            <a:pPr>
              <a:lnSpc>
                <a:spcPct val="90000"/>
              </a:lnSpc>
              <a:buFont typeface="Wingdings" charset="2"/>
              <a:buNone/>
            </a:pPr>
            <a:r>
              <a:rPr lang="en-US" sz="2400" dirty="0">
                <a:sym typeface="Symbol" pitchFamily="18" charset="2"/>
              </a:rPr>
              <a:t>		</a:t>
            </a:r>
            <a:r>
              <a:rPr lang="en-US" sz="2400" b="1" i="1" dirty="0">
                <a:sym typeface="Symbol" pitchFamily="18" charset="2"/>
              </a:rPr>
              <a:t>n</a:t>
            </a:r>
            <a:r>
              <a:rPr lang="en-US" sz="2400" dirty="0">
                <a:sym typeface="Symbol" pitchFamily="18" charset="2"/>
              </a:rPr>
              <a:t> = </a:t>
            </a:r>
            <a:r>
              <a:rPr lang="en-US" sz="2400" b="1" i="1" dirty="0">
                <a:sym typeface="Symbol" pitchFamily="18" charset="2"/>
              </a:rPr>
              <a:t>p</a:t>
            </a:r>
            <a:r>
              <a:rPr lang="en-US" sz="2400" baseline="-25000" dirty="0">
                <a:sym typeface="Symbol" pitchFamily="18" charset="2"/>
              </a:rPr>
              <a:t>1</a:t>
            </a:r>
            <a:r>
              <a:rPr lang="en-US" b="1" i="1" baseline="30000" dirty="0">
                <a:sym typeface="Symbol" pitchFamily="18" charset="2"/>
              </a:rPr>
              <a:t>e</a:t>
            </a:r>
            <a:r>
              <a:rPr lang="en-US" sz="1400" dirty="0">
                <a:sym typeface="Symbol" pitchFamily="18" charset="2"/>
              </a:rPr>
              <a:t>1</a:t>
            </a:r>
            <a:r>
              <a:rPr lang="en-US" sz="2400" dirty="0">
                <a:sym typeface="Symbol" pitchFamily="18" charset="2"/>
              </a:rPr>
              <a:t>  …  </a:t>
            </a:r>
            <a:r>
              <a:rPr lang="en-US" sz="2400" b="1" i="1" dirty="0" err="1">
                <a:sym typeface="Symbol" pitchFamily="18" charset="2"/>
              </a:rPr>
              <a:t>p</a:t>
            </a:r>
            <a:r>
              <a:rPr lang="en-US" sz="2400" b="1" i="1" baseline="-25000" dirty="0" err="1">
                <a:sym typeface="Symbol" pitchFamily="18" charset="2"/>
              </a:rPr>
              <a:t>k</a:t>
            </a:r>
            <a:r>
              <a:rPr lang="en-US" b="1" i="1" baseline="30000" dirty="0" err="1">
                <a:sym typeface="Symbol" pitchFamily="18" charset="2"/>
              </a:rPr>
              <a:t>e</a:t>
            </a:r>
            <a:r>
              <a:rPr lang="en-US" sz="1400" b="1" i="1" dirty="0" err="1">
                <a:sym typeface="Symbol" pitchFamily="18" charset="2"/>
              </a:rPr>
              <a:t>k</a:t>
            </a:r>
            <a:endParaRPr lang="en-US" sz="2400" b="1" i="1" dirty="0">
              <a:sym typeface="Symbol" pitchFamily="18" charset="2"/>
            </a:endParaRPr>
          </a:p>
          <a:p>
            <a:pPr>
              <a:lnSpc>
                <a:spcPct val="90000"/>
              </a:lnSpc>
            </a:pPr>
            <a:r>
              <a:rPr lang="en-US" sz="2400" dirty="0"/>
              <a:t>Example:</a:t>
            </a:r>
          </a:p>
          <a:p>
            <a:pPr lvl="1">
              <a:lnSpc>
                <a:spcPct val="90000"/>
              </a:lnSpc>
            </a:pPr>
            <a:r>
              <a:rPr lang="en-US" sz="2000" dirty="0"/>
              <a:t>200 = 2</a:t>
            </a:r>
            <a:r>
              <a:rPr lang="en-US" sz="2000" baseline="30000" dirty="0"/>
              <a:t>3</a:t>
            </a:r>
            <a:r>
              <a:rPr lang="en-US" sz="2000" dirty="0"/>
              <a:t> </a:t>
            </a:r>
            <a:r>
              <a:rPr lang="en-US" sz="2000" dirty="0">
                <a:sym typeface="Symbol" pitchFamily="18" charset="2"/>
              </a:rPr>
              <a:t> 5</a:t>
            </a:r>
            <a:r>
              <a:rPr lang="en-US" sz="2000" baseline="30000" dirty="0">
                <a:sym typeface="Symbol" pitchFamily="18" charset="2"/>
              </a:rPr>
              <a:t>2</a:t>
            </a:r>
          </a:p>
          <a:p>
            <a:endParaRPr lang="en-US" baseline="30000" dirty="0">
              <a:sym typeface="Symbol" pitchFamily="18" charset="2"/>
            </a:endParaRPr>
          </a:p>
          <a:p>
            <a:r>
              <a:rPr lang="en-US" sz="3600" baseline="30000" dirty="0">
                <a:sym typeface="Symbol" pitchFamily="18" charset="2"/>
              </a:rPr>
              <a:t>Primality test in polynomial time</a:t>
            </a:r>
          </a:p>
          <a:p>
            <a:pPr lvl="1"/>
            <a:r>
              <a:rPr lang="en-US" baseline="30000" dirty="0">
                <a:sym typeface="Symbol" pitchFamily="18" charset="2"/>
              </a:rPr>
              <a:t>Read AKS primality test</a:t>
            </a:r>
          </a:p>
          <a:p>
            <a:pPr lvl="1"/>
            <a:endParaRPr lang="en-US" baseline="30000" dirty="0">
              <a:sym typeface="Symbol" pitchFamily="18" charset="2"/>
            </a:endParaRPr>
          </a:p>
          <a:p>
            <a:pPr marL="0" indent="0">
              <a:buNone/>
            </a:pPr>
            <a:endParaRPr lang="en-US" baseline="30000" dirty="0">
              <a:sym typeface="Symbol" pitchFamily="18" charset="2"/>
            </a:endParaRPr>
          </a:p>
          <a:p>
            <a:endParaRPr lang="en-US" sz="2400" baseline="30000" dirty="0">
              <a:sym typeface="Symbol" pitchFamily="18" charset="2"/>
            </a:endParaRPr>
          </a:p>
        </p:txBody>
      </p:sp>
      <p:sp>
        <p:nvSpPr>
          <p:cNvPr id="6" name="Slide Number Placeholder 5"/>
          <p:cNvSpPr>
            <a:spLocks noGrp="1"/>
          </p:cNvSpPr>
          <p:nvPr>
            <p:ph type="sldNum" sz="quarter" idx="12"/>
          </p:nvPr>
        </p:nvSpPr>
        <p:spPr/>
        <p:txBody>
          <a:bodyPr/>
          <a:lstStyle/>
          <a:p>
            <a:pPr defTabSz="457200" eaLnBrk="0" fontAlgn="base" hangingPunct="0">
              <a:lnSpc>
                <a:spcPct val="93000"/>
              </a:lnSpc>
              <a:spcBef>
                <a:spcPct val="0"/>
              </a:spcBef>
              <a:spcAft>
                <a:spcPct val="0"/>
              </a:spcAft>
              <a:buClr>
                <a:srgbClr val="000000"/>
              </a:buClr>
              <a:buSzPct val="100000"/>
              <a:defRPr/>
            </a:pPr>
            <a:fld id="{EF8A3B71-216C-414D-9F25-8D4F1F0E35D9}" type="slidenum">
              <a:rPr lang="en-US">
                <a:solidFill>
                  <a:prstClr val="black">
                    <a:tint val="75000"/>
                  </a:prstClr>
                </a:solidFill>
                <a:latin typeface="Aptos"/>
              </a:rPr>
              <a:pPr defTabSz="457200" eaLnBrk="0" fontAlgn="base" hangingPunct="0">
                <a:lnSpc>
                  <a:spcPct val="93000"/>
                </a:lnSpc>
                <a:spcBef>
                  <a:spcPct val="0"/>
                </a:spcBef>
                <a:spcAft>
                  <a:spcPct val="0"/>
                </a:spcAft>
                <a:buClr>
                  <a:srgbClr val="000000"/>
                </a:buClr>
                <a:buSzPct val="100000"/>
                <a:defRPr/>
              </a:pPr>
              <a:t>4</a:t>
            </a:fld>
            <a:endParaRPr lang="en-US">
              <a:solidFill>
                <a:prstClr val="black">
                  <a:tint val="75000"/>
                </a:prstClr>
              </a:solidFill>
              <a:latin typeface="Aptos"/>
            </a:endParaRPr>
          </a:p>
        </p:txBody>
      </p:sp>
      <p:sp>
        <p:nvSpPr>
          <p:cNvPr id="2" name="Rectangle 1">
            <a:extLst>
              <a:ext uri="{FF2B5EF4-FFF2-40B4-BE49-F238E27FC236}">
                <a16:creationId xmlns:a16="http://schemas.microsoft.com/office/drawing/2014/main" id="{06EAC86F-5297-C19F-E058-ED9CF9EDD930}"/>
              </a:ext>
            </a:extLst>
          </p:cNvPr>
          <p:cNvSpPr/>
          <p:nvPr/>
        </p:nvSpPr>
        <p:spPr>
          <a:xfrm>
            <a:off x="838200" y="5468588"/>
            <a:ext cx="4796642" cy="1183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8095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xfrm>
            <a:off x="838200" y="355600"/>
            <a:ext cx="10515600" cy="1320800"/>
          </a:xfrm>
        </p:spPr>
        <p:txBody>
          <a:bodyPr/>
          <a:lstStyle/>
          <a:p>
            <a:r>
              <a:rPr lang="en-US" dirty="0">
                <a:latin typeface="Aptos"/>
              </a:rPr>
              <a:t>Modular arithmetic</a:t>
            </a:r>
          </a:p>
        </p:txBody>
      </p:sp>
      <p:sp>
        <p:nvSpPr>
          <p:cNvPr id="194563" name="Rectangle 3" descr="Rectangle: Click to edit Master text styles&#10;Second level&#10;Third level&#10;Fourth level&#10;Fifth level"/>
          <p:cNvSpPr>
            <a:spLocks noGrp="1" noChangeArrowheads="1"/>
          </p:cNvSpPr>
          <p:nvPr>
            <p:ph idx="1"/>
          </p:nvPr>
        </p:nvSpPr>
        <p:spPr>
          <a:xfrm>
            <a:off x="838200" y="1498600"/>
            <a:ext cx="10515600" cy="4978400"/>
          </a:xfrm>
        </p:spPr>
        <p:txBody>
          <a:bodyPr>
            <a:normAutofit/>
          </a:bodyPr>
          <a:lstStyle/>
          <a:p>
            <a:pPr>
              <a:lnSpc>
                <a:spcPct val="90000"/>
              </a:lnSpc>
            </a:pPr>
            <a:r>
              <a:rPr lang="en-US" dirty="0"/>
              <a:t>Modulo operator for a positive integer </a:t>
            </a:r>
            <a:r>
              <a:rPr lang="en-US" b="1" i="1" dirty="0"/>
              <a:t>n</a:t>
            </a:r>
            <a:endParaRPr lang="en-US" dirty="0"/>
          </a:p>
          <a:p>
            <a:pPr>
              <a:lnSpc>
                <a:spcPct val="90000"/>
              </a:lnSpc>
              <a:buFont typeface="Wingdings" charset="2"/>
              <a:buNone/>
            </a:pPr>
            <a:r>
              <a:rPr lang="en-US" b="1" i="1" dirty="0"/>
              <a:t>			r</a:t>
            </a:r>
            <a:r>
              <a:rPr lang="en-US" dirty="0"/>
              <a:t> = </a:t>
            </a:r>
            <a:r>
              <a:rPr lang="en-US" b="1" i="1" dirty="0"/>
              <a:t>a</a:t>
            </a:r>
            <a:r>
              <a:rPr lang="en-US" dirty="0"/>
              <a:t> mod </a:t>
            </a:r>
            <a:r>
              <a:rPr lang="en-US" b="1" i="1" dirty="0"/>
              <a:t>n</a:t>
            </a:r>
          </a:p>
          <a:p>
            <a:pPr>
              <a:lnSpc>
                <a:spcPct val="90000"/>
              </a:lnSpc>
              <a:buFont typeface="Wingdings" charset="2"/>
              <a:buNone/>
            </a:pPr>
            <a:r>
              <a:rPr lang="en-US" i="1" dirty="0"/>
              <a:t>	</a:t>
            </a:r>
            <a:r>
              <a:rPr lang="en-US" dirty="0"/>
              <a:t>equivalent to</a:t>
            </a:r>
          </a:p>
          <a:p>
            <a:pPr>
              <a:lnSpc>
                <a:spcPct val="90000"/>
              </a:lnSpc>
              <a:buFont typeface="Wingdings" charset="2"/>
              <a:buNone/>
            </a:pPr>
            <a:r>
              <a:rPr lang="en-US" dirty="0"/>
              <a:t>			</a:t>
            </a:r>
            <a:r>
              <a:rPr lang="en-US" b="1" i="1" dirty="0"/>
              <a:t>a</a:t>
            </a:r>
            <a:r>
              <a:rPr lang="en-US" dirty="0"/>
              <a:t> = </a:t>
            </a:r>
            <a:r>
              <a:rPr lang="en-US" b="1" i="1" dirty="0"/>
              <a:t>r</a:t>
            </a:r>
            <a:r>
              <a:rPr lang="en-US" i="1" dirty="0"/>
              <a:t> </a:t>
            </a:r>
            <a:r>
              <a:rPr lang="en-US" dirty="0"/>
              <a:t>+ </a:t>
            </a:r>
            <a:r>
              <a:rPr lang="en-US" b="1" i="1" dirty="0" err="1"/>
              <a:t>kn</a:t>
            </a:r>
            <a:endParaRPr lang="en-US" b="1" dirty="0">
              <a:sym typeface="Symbol" pitchFamily="18" charset="2"/>
            </a:endParaRPr>
          </a:p>
          <a:p>
            <a:pPr>
              <a:lnSpc>
                <a:spcPct val="90000"/>
              </a:lnSpc>
              <a:buFont typeface="Wingdings" charset="2"/>
              <a:buNone/>
            </a:pPr>
            <a:r>
              <a:rPr lang="en-US" dirty="0">
                <a:sym typeface="Symbol" pitchFamily="18" charset="2"/>
              </a:rPr>
              <a:t>	and</a:t>
            </a:r>
          </a:p>
          <a:p>
            <a:pPr>
              <a:lnSpc>
                <a:spcPct val="90000"/>
              </a:lnSpc>
              <a:buFont typeface="Wingdings" charset="2"/>
              <a:buNone/>
            </a:pPr>
            <a:r>
              <a:rPr lang="en-US" b="1" i="1" dirty="0"/>
              <a:t>			r</a:t>
            </a:r>
            <a:r>
              <a:rPr lang="en-US" dirty="0"/>
              <a:t> = </a:t>
            </a:r>
            <a:r>
              <a:rPr lang="en-US" b="1" i="1" dirty="0"/>
              <a:t>a</a:t>
            </a:r>
            <a:r>
              <a:rPr lang="en-US" i="1" dirty="0"/>
              <a:t> </a:t>
            </a:r>
            <a:r>
              <a:rPr lang="en-US" dirty="0"/>
              <a:t>- </a:t>
            </a:r>
            <a:r>
              <a:rPr lang="en-US" dirty="0">
                <a:sym typeface="Symbol" pitchFamily="18" charset="2"/>
              </a:rPr>
              <a:t></a:t>
            </a:r>
            <a:r>
              <a:rPr lang="en-US" b="1" i="1" dirty="0"/>
              <a:t>a</a:t>
            </a:r>
            <a:r>
              <a:rPr lang="en-US" dirty="0">
                <a:sym typeface="Symbol" pitchFamily="18" charset="2"/>
              </a:rPr>
              <a:t>/</a:t>
            </a:r>
            <a:r>
              <a:rPr lang="en-US" b="1" i="1" dirty="0">
                <a:sym typeface="Symbol" pitchFamily="18" charset="2"/>
              </a:rPr>
              <a:t>n</a:t>
            </a:r>
            <a:r>
              <a:rPr lang="en-US" dirty="0">
                <a:sym typeface="Symbol" pitchFamily="18" charset="2"/>
              </a:rPr>
              <a:t> </a:t>
            </a:r>
            <a:r>
              <a:rPr lang="en-US" b="1" i="1" dirty="0">
                <a:sym typeface="Symbol" pitchFamily="18" charset="2"/>
              </a:rPr>
              <a:t>n</a:t>
            </a:r>
          </a:p>
          <a:p>
            <a:pPr>
              <a:lnSpc>
                <a:spcPct val="90000"/>
              </a:lnSpc>
            </a:pPr>
            <a:r>
              <a:rPr lang="en-US" dirty="0">
                <a:sym typeface="Symbol" pitchFamily="18" charset="2"/>
              </a:rPr>
              <a:t>Example:</a:t>
            </a:r>
          </a:p>
          <a:p>
            <a:pPr lvl="1">
              <a:lnSpc>
                <a:spcPct val="90000"/>
              </a:lnSpc>
              <a:buFont typeface="Wingdings" charset="2"/>
              <a:buNone/>
              <a:tabLst>
                <a:tab pos="457200" algn="l"/>
                <a:tab pos="2743200" algn="l"/>
                <a:tab pos="5029200" algn="l"/>
              </a:tabLst>
            </a:pPr>
            <a:r>
              <a:rPr lang="en-US" dirty="0"/>
              <a:t>	29 mod 13 = 3	13 mod 13  = 0	-1 mod 13  = 12</a:t>
            </a:r>
          </a:p>
          <a:p>
            <a:pPr lvl="1">
              <a:lnSpc>
                <a:spcPct val="90000"/>
              </a:lnSpc>
              <a:buFont typeface="Wingdings" charset="2"/>
              <a:buNone/>
              <a:tabLst>
                <a:tab pos="457200" algn="l"/>
                <a:tab pos="2743200" algn="l"/>
                <a:tab pos="5029200" algn="l"/>
              </a:tabLst>
            </a:pPr>
            <a:r>
              <a:rPr lang="en-US" dirty="0"/>
              <a:t>	29  = 3 + 2</a:t>
            </a:r>
            <a:r>
              <a:rPr lang="en-US" dirty="0">
                <a:sym typeface="Symbol" pitchFamily="18" charset="2"/>
              </a:rPr>
              <a:t></a:t>
            </a:r>
            <a:r>
              <a:rPr lang="en-US" dirty="0"/>
              <a:t>13	13 = 0 + 1</a:t>
            </a:r>
            <a:r>
              <a:rPr lang="en-US" dirty="0">
                <a:sym typeface="Symbol" pitchFamily="18" charset="2"/>
              </a:rPr>
              <a:t></a:t>
            </a:r>
            <a:r>
              <a:rPr lang="en-US" dirty="0"/>
              <a:t>13	12 = -1 + 1</a:t>
            </a:r>
            <a:r>
              <a:rPr lang="en-US" dirty="0">
                <a:sym typeface="Symbol" pitchFamily="18" charset="2"/>
              </a:rPr>
              <a:t></a:t>
            </a:r>
            <a:r>
              <a:rPr lang="en-US" dirty="0"/>
              <a:t>13</a:t>
            </a:r>
          </a:p>
          <a:p>
            <a:pPr lvl="1">
              <a:lnSpc>
                <a:spcPct val="90000"/>
              </a:lnSpc>
              <a:buFont typeface="Wingdings" charset="2"/>
              <a:buNone/>
            </a:pPr>
            <a:endParaRPr lang="en-US" dirty="0"/>
          </a:p>
        </p:txBody>
      </p:sp>
      <p:sp>
        <p:nvSpPr>
          <p:cNvPr id="6" name="Slide Number Placeholder 5"/>
          <p:cNvSpPr>
            <a:spLocks noGrp="1"/>
          </p:cNvSpPr>
          <p:nvPr>
            <p:ph type="sldNum" sz="quarter" idx="12"/>
          </p:nvPr>
        </p:nvSpPr>
        <p:spPr/>
        <p:txBody>
          <a:bodyPr/>
          <a:lstStyle/>
          <a:p>
            <a:pPr defTabSz="457200" eaLnBrk="0" fontAlgn="base" hangingPunct="0">
              <a:lnSpc>
                <a:spcPct val="93000"/>
              </a:lnSpc>
              <a:spcBef>
                <a:spcPct val="0"/>
              </a:spcBef>
              <a:spcAft>
                <a:spcPct val="0"/>
              </a:spcAft>
              <a:buClr>
                <a:srgbClr val="000000"/>
              </a:buClr>
              <a:buSzPct val="100000"/>
              <a:defRPr/>
            </a:pPr>
            <a:fld id="{6D73AB04-1BF8-47E4-B366-6BC56285B60C}" type="slidenum">
              <a:rPr lang="en-US">
                <a:solidFill>
                  <a:prstClr val="black">
                    <a:tint val="75000"/>
                  </a:prstClr>
                </a:solidFill>
                <a:latin typeface="Aptos"/>
              </a:rPr>
              <a:pPr defTabSz="457200" eaLnBrk="0" fontAlgn="base" hangingPunct="0">
                <a:lnSpc>
                  <a:spcPct val="93000"/>
                </a:lnSpc>
                <a:spcBef>
                  <a:spcPct val="0"/>
                </a:spcBef>
                <a:spcAft>
                  <a:spcPct val="0"/>
                </a:spcAft>
                <a:buClr>
                  <a:srgbClr val="000000"/>
                </a:buClr>
                <a:buSzPct val="100000"/>
                <a:defRPr/>
              </a:pPr>
              <a:t>5</a:t>
            </a:fld>
            <a:endParaRPr lang="en-US">
              <a:solidFill>
                <a:prstClr val="black">
                  <a:tint val="75000"/>
                </a:prstClr>
              </a:solidFill>
              <a:latin typeface="Aptos"/>
            </a:endParaRPr>
          </a:p>
        </p:txBody>
      </p:sp>
    </p:spTree>
    <p:extLst>
      <p:ext uri="{BB962C8B-B14F-4D97-AF65-F5344CB8AC3E}">
        <p14:creationId xmlns:p14="http://schemas.microsoft.com/office/powerpoint/2010/main" val="642861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61DF-EB32-E70E-68B2-CFE3C4F514C0}"/>
              </a:ext>
            </a:extLst>
          </p:cNvPr>
          <p:cNvSpPr>
            <a:spLocks noGrp="1"/>
          </p:cNvSpPr>
          <p:nvPr>
            <p:ph type="title"/>
          </p:nvPr>
        </p:nvSpPr>
        <p:spPr/>
        <p:txBody>
          <a:bodyPr/>
          <a:lstStyle/>
          <a:p>
            <a:r>
              <a:rPr lang="en-US" dirty="0">
                <a:latin typeface="Aptos Display"/>
              </a:rPr>
              <a:t>Modular arithmetic</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5D5B47F-2ACF-1DB7-DCD2-26DFAF34CC33}"/>
                  </a:ext>
                </a:extLst>
              </p:cNvPr>
              <p:cNvSpPr>
                <a:spLocks noGrp="1"/>
              </p:cNvSpPr>
              <p:nvPr>
                <p:ph idx="1"/>
              </p:nvPr>
            </p:nvSpPr>
            <p:spPr/>
            <p:txBody>
              <a:bodyPr/>
              <a:lstStyle/>
              <a:p>
                <a:r>
                  <a:rPr lang="en-US" dirty="0"/>
                  <a:t>simplify intermediate values mod n</a:t>
                </a:r>
              </a:p>
              <a:p>
                <a:endParaRPr lang="en-US" dirty="0"/>
              </a:p>
              <a:p>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oMath>
                </a14:m>
                <a:endParaRPr lang="en-US" dirty="0"/>
              </a:p>
              <a:p>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m:t>
                    </m:r>
                    <m:r>
                      <a:rPr lang="en-US" i="1">
                        <a:latin typeface="Cambria Math" panose="02040503050406030204" pitchFamily="18" charset="0"/>
                      </a:rPr>
                      <m:t>𝑚𝑜𝑑</m:t>
                    </m:r>
                    <m:r>
                      <a:rPr lang="en-US" i="1">
                        <a:latin typeface="Cambria Math" panose="02040503050406030204" pitchFamily="18" charset="0"/>
                      </a:rPr>
                      <m:t> </m:t>
                    </m:r>
                    <m:r>
                      <a:rPr lang="en-US" i="1">
                        <a:latin typeface="Cambria Math" panose="02040503050406030204" pitchFamily="18" charset="0"/>
                      </a:rPr>
                      <m:t>𝑛</m:t>
                    </m:r>
                    <m:r>
                      <a:rPr lang="en-US" i="1">
                        <a:latin typeface="Cambria Math" panose="02040503050406030204" pitchFamily="18" charset="0"/>
                      </a:rPr>
                      <m:t>=</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i="1">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i="1">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oMath>
                </a14:m>
                <a:endParaRPr lang="en-US" dirty="0"/>
              </a:p>
              <a:p>
                <a:endParaRPr lang="en-US" dirty="0"/>
              </a:p>
              <a:p>
                <a:endParaRPr lang="en-US" dirty="0"/>
              </a:p>
            </p:txBody>
          </p:sp>
        </mc:Choice>
        <mc:Fallback>
          <p:sp>
            <p:nvSpPr>
              <p:cNvPr id="3" name="Content Placeholder 2">
                <a:extLst>
                  <a:ext uri="{FF2B5EF4-FFF2-40B4-BE49-F238E27FC236}">
                    <a16:creationId xmlns:a16="http://schemas.microsoft.com/office/drawing/2014/main" id="{35D5B47F-2ACF-1DB7-DCD2-26DFAF34CC33}"/>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975046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31C14-9B87-02C2-5252-1BD5323E45A9}"/>
              </a:ext>
            </a:extLst>
          </p:cNvPr>
          <p:cNvSpPr>
            <a:spLocks noGrp="1"/>
          </p:cNvSpPr>
          <p:nvPr>
            <p:ph type="title"/>
          </p:nvPr>
        </p:nvSpPr>
        <p:spPr/>
        <p:txBody>
          <a:bodyPr/>
          <a:lstStyle/>
          <a:p>
            <a:r>
              <a:rPr lang="en-US" dirty="0">
                <a:latin typeface="Aptos Display"/>
              </a:rPr>
              <a:t>Modular exponentiation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3D753A5-9C8C-F8E9-0055-51203BEF740A}"/>
                  </a:ext>
                </a:extLst>
              </p:cNvPr>
              <p:cNvSpPr>
                <a:spLocks noGrp="1"/>
              </p:cNvSpPr>
              <p:nvPr>
                <p:ph idx="1"/>
              </p:nvPr>
            </p:nvSpPr>
            <p:spPr/>
            <p:txBody>
              <a:bodyPr/>
              <a:lstStyle/>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sup>
                    </m:sSup>
                  </m:oMath>
                </a14:m>
                <a:r>
                  <a:rPr lang="en-US" b="0" dirty="0"/>
                  <a:t> mod n</a:t>
                </a: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𝑎𝑏</m:t>
                        </m:r>
                      </m:sup>
                    </m:sSup>
                  </m:oMath>
                </a14:m>
                <a:r>
                  <a:rPr lang="en-US" dirty="0"/>
                  <a:t> mod n</a:t>
                </a:r>
              </a:p>
              <a:p>
                <a:endParaRPr lang="en-US" dirty="0"/>
              </a:p>
              <a:p>
                <a:endParaRPr lang="en-US" dirty="0"/>
              </a:p>
              <a:p>
                <a:r>
                  <a:rPr lang="en-US" dirty="0"/>
                  <a:t>What is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2</m:t>
                        </m:r>
                      </m:e>
                      <m:sup>
                        <m:r>
                          <a:rPr lang="en-US" b="0" i="1" dirty="0" smtClean="0">
                            <a:latin typeface="Cambria Math" panose="02040503050406030204" pitchFamily="18" charset="0"/>
                          </a:rPr>
                          <m:t>64</m:t>
                        </m:r>
                      </m:sup>
                    </m:sSup>
                  </m:oMath>
                </a14:m>
                <a:r>
                  <a:rPr lang="en-US" dirty="0"/>
                  <a:t> mod 10?</a:t>
                </a:r>
              </a:p>
            </p:txBody>
          </p:sp>
        </mc:Choice>
        <mc:Fallback>
          <p:sp>
            <p:nvSpPr>
              <p:cNvPr id="3" name="Content Placeholder 2">
                <a:extLst>
                  <a:ext uri="{FF2B5EF4-FFF2-40B4-BE49-F238E27FC236}">
                    <a16:creationId xmlns:a16="http://schemas.microsoft.com/office/drawing/2014/main" id="{83D753A5-9C8C-F8E9-0055-51203BEF740A}"/>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4056833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8978F-7C5A-4E49-B1EF-E929A9771A05}"/>
              </a:ext>
            </a:extLst>
          </p:cNvPr>
          <p:cNvSpPr>
            <a:spLocks noGrp="1"/>
          </p:cNvSpPr>
          <p:nvPr>
            <p:ph type="title"/>
          </p:nvPr>
        </p:nvSpPr>
        <p:spPr>
          <a:xfrm>
            <a:off x="445476" y="286726"/>
            <a:ext cx="11502279" cy="1325563"/>
          </a:xfrm>
        </p:spPr>
        <p:txBody>
          <a:bodyPr/>
          <a:lstStyle/>
          <a:p>
            <a:r>
              <a:rPr lang="en-US" dirty="0">
                <a:latin typeface="Aptos Display"/>
              </a:rPr>
              <a:t>Asymptotic complexity</a:t>
            </a:r>
          </a:p>
        </p:txBody>
      </p:sp>
      <p:sp>
        <p:nvSpPr>
          <p:cNvPr id="3" name="Content Placeholder 2">
            <a:extLst>
              <a:ext uri="{FF2B5EF4-FFF2-40B4-BE49-F238E27FC236}">
                <a16:creationId xmlns:a16="http://schemas.microsoft.com/office/drawing/2014/main" id="{BB1AD432-1F9F-44A0-966D-E62BDF3192C4}"/>
              </a:ext>
            </a:extLst>
          </p:cNvPr>
          <p:cNvSpPr>
            <a:spLocks noGrp="1"/>
          </p:cNvSpPr>
          <p:nvPr>
            <p:ph idx="1"/>
          </p:nvPr>
        </p:nvSpPr>
        <p:spPr>
          <a:xfrm>
            <a:off x="445477" y="1532965"/>
            <a:ext cx="10515600" cy="4561570"/>
          </a:xfrm>
        </p:spPr>
        <p:txBody>
          <a:bodyPr/>
          <a:lstStyle/>
          <a:p>
            <a:r>
              <a:rPr lang="en-US" dirty="0">
                <a:latin typeface="Aptos"/>
              </a:rPr>
              <a:t>Big O notation O(n), O(2</a:t>
            </a:r>
            <a:r>
              <a:rPr lang="en-US" baseline="30000" dirty="0">
                <a:latin typeface="Aptos"/>
              </a:rPr>
              <a:t>n</a:t>
            </a:r>
            <a:r>
              <a:rPr lang="en-US" dirty="0">
                <a:latin typeface="Aptos"/>
              </a:rPr>
              <a:t>)</a:t>
            </a:r>
          </a:p>
          <a:p>
            <a:pPr lvl="1"/>
            <a:r>
              <a:rPr lang="en-US" dirty="0">
                <a:latin typeface="Aptos"/>
              </a:rPr>
              <a:t>E.g., for sufficiently large integer n, O(2</a:t>
            </a:r>
            <a:r>
              <a:rPr lang="en-US" baseline="30000" dirty="0">
                <a:latin typeface="Aptos"/>
              </a:rPr>
              <a:t>n</a:t>
            </a:r>
            <a:r>
              <a:rPr lang="en-US" dirty="0">
                <a:latin typeface="Aptos"/>
              </a:rPr>
              <a:t>)&gt;O(</a:t>
            </a:r>
            <a:r>
              <a:rPr lang="en-US" dirty="0" err="1">
                <a:latin typeface="Aptos"/>
              </a:rPr>
              <a:t>n</a:t>
            </a:r>
            <a:r>
              <a:rPr lang="en-US" baseline="30000" dirty="0" err="1">
                <a:latin typeface="Aptos"/>
              </a:rPr>
              <a:t>c</a:t>
            </a:r>
            <a:r>
              <a:rPr lang="en-US" dirty="0">
                <a:latin typeface="Aptos"/>
              </a:rPr>
              <a:t>)</a:t>
            </a:r>
          </a:p>
          <a:p>
            <a:endParaRPr lang="en-US" dirty="0">
              <a:latin typeface="Aptos"/>
            </a:endParaRPr>
          </a:p>
          <a:p>
            <a:endParaRPr lang="en-US" dirty="0">
              <a:latin typeface="Aptos"/>
            </a:endParaRPr>
          </a:p>
        </p:txBody>
      </p:sp>
      <p:pic>
        <p:nvPicPr>
          <p:cNvPr id="5" name="Picture 4">
            <a:extLst>
              <a:ext uri="{FF2B5EF4-FFF2-40B4-BE49-F238E27FC236}">
                <a16:creationId xmlns:a16="http://schemas.microsoft.com/office/drawing/2014/main" id="{07EE06FC-526D-F921-9F60-C83718B1A61E}"/>
              </a:ext>
            </a:extLst>
          </p:cNvPr>
          <p:cNvPicPr>
            <a:picLocks noChangeAspect="1"/>
          </p:cNvPicPr>
          <p:nvPr/>
        </p:nvPicPr>
        <p:blipFill>
          <a:blip r:embed="rId3"/>
          <a:stretch>
            <a:fillRect/>
          </a:stretch>
        </p:blipFill>
        <p:spPr>
          <a:xfrm>
            <a:off x="2025908" y="2449347"/>
            <a:ext cx="7535707" cy="4272087"/>
          </a:xfrm>
          <a:prstGeom prst="rect">
            <a:avLst/>
          </a:prstGeom>
        </p:spPr>
      </p:pic>
    </p:spTree>
    <p:extLst>
      <p:ext uri="{BB962C8B-B14F-4D97-AF65-F5344CB8AC3E}">
        <p14:creationId xmlns:p14="http://schemas.microsoft.com/office/powerpoint/2010/main" val="713486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19E1B-77E5-4FC6-8282-59CDD70DEFDD}"/>
              </a:ext>
            </a:extLst>
          </p:cNvPr>
          <p:cNvSpPr>
            <a:spLocks noGrp="1"/>
          </p:cNvSpPr>
          <p:nvPr>
            <p:ph type="ctrTitle"/>
          </p:nvPr>
        </p:nvSpPr>
        <p:spPr>
          <a:xfrm>
            <a:off x="1524000" y="1626281"/>
            <a:ext cx="9144000" cy="2103178"/>
          </a:xfrm>
        </p:spPr>
        <p:txBody>
          <a:bodyPr>
            <a:normAutofit/>
          </a:bodyPr>
          <a:lstStyle/>
          <a:p>
            <a:r>
              <a:rPr lang="en-US" sz="4800" b="1" dirty="0">
                <a:latin typeface="Aptos Display"/>
              </a:rPr>
              <a:t>Ancient ciphers</a:t>
            </a:r>
            <a:endParaRPr lang="en-US" sz="2800" dirty="0">
              <a:latin typeface="Aptos Display"/>
            </a:endParaRPr>
          </a:p>
        </p:txBody>
      </p:sp>
    </p:spTree>
    <p:extLst>
      <p:ext uri="{BB962C8B-B14F-4D97-AF65-F5344CB8AC3E}">
        <p14:creationId xmlns:p14="http://schemas.microsoft.com/office/powerpoint/2010/main" val="1191810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C6FB1-D7EC-6182-5707-5578580AB9D6}"/>
              </a:ext>
            </a:extLst>
          </p:cNvPr>
          <p:cNvSpPr>
            <a:spLocks noGrp="1"/>
          </p:cNvSpPr>
          <p:nvPr>
            <p:ph type="title"/>
          </p:nvPr>
        </p:nvSpPr>
        <p:spPr>
          <a:xfrm>
            <a:off x="2300298" y="695602"/>
            <a:ext cx="7323854" cy="1325563"/>
          </a:xfrm>
        </p:spPr>
        <p:txBody>
          <a:bodyPr/>
          <a:lstStyle/>
          <a:p>
            <a:r>
              <a:rPr lang="en-US" dirty="0">
                <a:latin typeface="Aptos Display"/>
              </a:rPr>
              <a:t>How to encrypt a message?</a:t>
            </a:r>
          </a:p>
        </p:txBody>
      </p:sp>
      <p:pic>
        <p:nvPicPr>
          <p:cNvPr id="4" name="Picture 3">
            <a:extLst>
              <a:ext uri="{FF2B5EF4-FFF2-40B4-BE49-F238E27FC236}">
                <a16:creationId xmlns:a16="http://schemas.microsoft.com/office/drawing/2014/main" id="{D40E6BBB-57C3-1669-6D77-98182EEE8DF6}"/>
              </a:ext>
            </a:extLst>
          </p:cNvPr>
          <p:cNvPicPr>
            <a:picLocks noChangeAspect="1"/>
          </p:cNvPicPr>
          <p:nvPr/>
        </p:nvPicPr>
        <p:blipFill>
          <a:blip r:embed="rId3"/>
          <a:stretch>
            <a:fillRect/>
          </a:stretch>
        </p:blipFill>
        <p:spPr>
          <a:xfrm>
            <a:off x="8778025" y="4508976"/>
            <a:ext cx="619600" cy="990640"/>
          </a:xfrm>
          <a:prstGeom prst="rect">
            <a:avLst/>
          </a:prstGeom>
        </p:spPr>
      </p:pic>
      <p:pic>
        <p:nvPicPr>
          <p:cNvPr id="5" name="Picture 4">
            <a:extLst>
              <a:ext uri="{FF2B5EF4-FFF2-40B4-BE49-F238E27FC236}">
                <a16:creationId xmlns:a16="http://schemas.microsoft.com/office/drawing/2014/main" id="{69C0E594-0D42-341E-33EB-E055D2279228}"/>
              </a:ext>
            </a:extLst>
          </p:cNvPr>
          <p:cNvPicPr>
            <a:picLocks noChangeAspect="1"/>
          </p:cNvPicPr>
          <p:nvPr/>
        </p:nvPicPr>
        <p:blipFill>
          <a:blip r:embed="rId4"/>
          <a:stretch>
            <a:fillRect/>
          </a:stretch>
        </p:blipFill>
        <p:spPr>
          <a:xfrm>
            <a:off x="2105595" y="4642540"/>
            <a:ext cx="689498" cy="1041742"/>
          </a:xfrm>
          <a:prstGeom prst="rect">
            <a:avLst/>
          </a:prstGeom>
        </p:spPr>
      </p:pic>
      <p:pic>
        <p:nvPicPr>
          <p:cNvPr id="6" name="Picture 5">
            <a:extLst>
              <a:ext uri="{FF2B5EF4-FFF2-40B4-BE49-F238E27FC236}">
                <a16:creationId xmlns:a16="http://schemas.microsoft.com/office/drawing/2014/main" id="{94EC387F-605C-7B90-EBA5-5F0CED087E9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89799" y="2567227"/>
            <a:ext cx="744853" cy="744853"/>
          </a:xfrm>
          <a:prstGeom prst="rect">
            <a:avLst/>
          </a:prstGeom>
        </p:spPr>
      </p:pic>
      <p:sp>
        <p:nvSpPr>
          <p:cNvPr id="8" name="Rectangle 7">
            <a:extLst>
              <a:ext uri="{FF2B5EF4-FFF2-40B4-BE49-F238E27FC236}">
                <a16:creationId xmlns:a16="http://schemas.microsoft.com/office/drawing/2014/main" id="{E5407A58-DC8D-6937-8814-67EDCF7164FA}"/>
              </a:ext>
            </a:extLst>
          </p:cNvPr>
          <p:cNvSpPr/>
          <p:nvPr/>
        </p:nvSpPr>
        <p:spPr>
          <a:xfrm>
            <a:off x="4252511" y="3955055"/>
            <a:ext cx="3723701" cy="17292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000" dirty="0">
                <a:latin typeface="Aptos"/>
              </a:rPr>
              <a:t>PLAY</a:t>
            </a:r>
            <a:endParaRPr lang="en-US" sz="4000" dirty="0">
              <a:latin typeface="Aptos"/>
            </a:endParaRPr>
          </a:p>
        </p:txBody>
      </p:sp>
      <p:pic>
        <p:nvPicPr>
          <p:cNvPr id="6146" name="Picture 2">
            <a:hlinkClick r:id="rId6"/>
            <a:extLst>
              <a:ext uri="{FF2B5EF4-FFF2-40B4-BE49-F238E27FC236}">
                <a16:creationId xmlns:a16="http://schemas.microsoft.com/office/drawing/2014/main" id="{4B7E9FC4-E0CC-2D3C-9DF7-D66D3AC0F99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78025" y="695602"/>
            <a:ext cx="2724896" cy="3633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660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ppt_x"/>
                                          </p:val>
                                        </p:tav>
                                        <p:tav tm="100000">
                                          <p:val>
                                            <p:strVal val="#ppt_x"/>
                                          </p:val>
                                        </p:tav>
                                      </p:tavLst>
                                    </p:anim>
                                    <p:anim calcmode="lin" valueType="num">
                                      <p:cBhvr additive="base">
                                        <p:cTn id="8"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A408A-4B20-4C65-9EA2-069B35316A04}"/>
              </a:ext>
            </a:extLst>
          </p:cNvPr>
          <p:cNvSpPr>
            <a:spLocks noGrp="1"/>
          </p:cNvSpPr>
          <p:nvPr>
            <p:ph type="title"/>
          </p:nvPr>
        </p:nvSpPr>
        <p:spPr/>
        <p:txBody>
          <a:bodyPr>
            <a:normAutofit/>
          </a:bodyPr>
          <a:lstStyle/>
          <a:p>
            <a:r>
              <a:rPr lang="en-US" dirty="0">
                <a:latin typeface="Aptos Display"/>
              </a:rPr>
              <a:t>Idea 1: rotation (shift) cipher</a:t>
            </a:r>
          </a:p>
        </p:txBody>
      </p:sp>
      <p:sp>
        <p:nvSpPr>
          <p:cNvPr id="10" name="TextBox 9">
            <a:extLst>
              <a:ext uri="{FF2B5EF4-FFF2-40B4-BE49-F238E27FC236}">
                <a16:creationId xmlns:a16="http://schemas.microsoft.com/office/drawing/2014/main" id="{96A9E595-685C-4CD8-B7DA-D30DCB6C7B52}"/>
              </a:ext>
            </a:extLst>
          </p:cNvPr>
          <p:cNvSpPr txBox="1"/>
          <p:nvPr/>
        </p:nvSpPr>
        <p:spPr>
          <a:xfrm>
            <a:off x="1543022" y="6092178"/>
            <a:ext cx="2889278" cy="369332"/>
          </a:xfrm>
          <a:prstGeom prst="rect">
            <a:avLst/>
          </a:prstGeom>
          <a:noFill/>
        </p:spPr>
        <p:txBody>
          <a:bodyPr wrap="square" rtlCol="0">
            <a:spAutoFit/>
          </a:bodyPr>
          <a:lstStyle/>
          <a:p>
            <a:pPr fontAlgn="base">
              <a:spcBef>
                <a:spcPct val="0"/>
              </a:spcBef>
              <a:spcAft>
                <a:spcPct val="0"/>
              </a:spcAft>
              <a:defRPr/>
            </a:pPr>
            <a:r>
              <a:rPr lang="en-US" dirty="0">
                <a:solidFill>
                  <a:srgbClr val="000000"/>
                </a:solidFill>
                <a:latin typeface="Aptos"/>
                <a:sym typeface="Arial" charset="0"/>
              </a:rPr>
              <a:t>rotate by 5, K = 5</a:t>
            </a:r>
          </a:p>
        </p:txBody>
      </p:sp>
      <p:graphicFrame>
        <p:nvGraphicFramePr>
          <p:cNvPr id="13" name="Table 12">
            <a:extLst>
              <a:ext uri="{FF2B5EF4-FFF2-40B4-BE49-F238E27FC236}">
                <a16:creationId xmlns:a16="http://schemas.microsoft.com/office/drawing/2014/main" id="{BF5497E0-B86D-435F-BC5B-751E71D9DFF4}"/>
              </a:ext>
            </a:extLst>
          </p:cNvPr>
          <p:cNvGraphicFramePr>
            <a:graphicFrameLocks noGrp="1"/>
          </p:cNvGraphicFramePr>
          <p:nvPr/>
        </p:nvGraphicFramePr>
        <p:xfrm>
          <a:off x="4785936" y="3398421"/>
          <a:ext cx="4226560" cy="278130"/>
        </p:xfrm>
        <a:graphic>
          <a:graphicData uri="http://schemas.openxmlformats.org/drawingml/2006/table">
            <a:tbl>
              <a:tblPr>
                <a:tableStyleId>{073A0DAA-6AF3-43AB-8588-CEC1D06C72B9}</a:tableStyleId>
              </a:tblPr>
              <a:tblGrid>
                <a:gridCol w="162560">
                  <a:extLst>
                    <a:ext uri="{9D8B030D-6E8A-4147-A177-3AD203B41FA5}">
                      <a16:colId xmlns:a16="http://schemas.microsoft.com/office/drawing/2014/main" val="4006317317"/>
                    </a:ext>
                  </a:extLst>
                </a:gridCol>
                <a:gridCol w="162560">
                  <a:extLst>
                    <a:ext uri="{9D8B030D-6E8A-4147-A177-3AD203B41FA5}">
                      <a16:colId xmlns:a16="http://schemas.microsoft.com/office/drawing/2014/main" val="3275819919"/>
                    </a:ext>
                  </a:extLst>
                </a:gridCol>
                <a:gridCol w="162560">
                  <a:extLst>
                    <a:ext uri="{9D8B030D-6E8A-4147-A177-3AD203B41FA5}">
                      <a16:colId xmlns:a16="http://schemas.microsoft.com/office/drawing/2014/main" val="2751720165"/>
                    </a:ext>
                  </a:extLst>
                </a:gridCol>
                <a:gridCol w="162560">
                  <a:extLst>
                    <a:ext uri="{9D8B030D-6E8A-4147-A177-3AD203B41FA5}">
                      <a16:colId xmlns:a16="http://schemas.microsoft.com/office/drawing/2014/main" val="330544239"/>
                    </a:ext>
                  </a:extLst>
                </a:gridCol>
                <a:gridCol w="162560">
                  <a:extLst>
                    <a:ext uri="{9D8B030D-6E8A-4147-A177-3AD203B41FA5}">
                      <a16:colId xmlns:a16="http://schemas.microsoft.com/office/drawing/2014/main" val="4124381074"/>
                    </a:ext>
                  </a:extLst>
                </a:gridCol>
                <a:gridCol w="162560">
                  <a:extLst>
                    <a:ext uri="{9D8B030D-6E8A-4147-A177-3AD203B41FA5}">
                      <a16:colId xmlns:a16="http://schemas.microsoft.com/office/drawing/2014/main" val="1982933281"/>
                    </a:ext>
                  </a:extLst>
                </a:gridCol>
                <a:gridCol w="162560">
                  <a:extLst>
                    <a:ext uri="{9D8B030D-6E8A-4147-A177-3AD203B41FA5}">
                      <a16:colId xmlns:a16="http://schemas.microsoft.com/office/drawing/2014/main" val="3074078155"/>
                    </a:ext>
                  </a:extLst>
                </a:gridCol>
                <a:gridCol w="162560">
                  <a:extLst>
                    <a:ext uri="{9D8B030D-6E8A-4147-A177-3AD203B41FA5}">
                      <a16:colId xmlns:a16="http://schemas.microsoft.com/office/drawing/2014/main" val="1655617911"/>
                    </a:ext>
                  </a:extLst>
                </a:gridCol>
                <a:gridCol w="162560">
                  <a:extLst>
                    <a:ext uri="{9D8B030D-6E8A-4147-A177-3AD203B41FA5}">
                      <a16:colId xmlns:a16="http://schemas.microsoft.com/office/drawing/2014/main" val="2997259767"/>
                    </a:ext>
                  </a:extLst>
                </a:gridCol>
                <a:gridCol w="162560">
                  <a:extLst>
                    <a:ext uri="{9D8B030D-6E8A-4147-A177-3AD203B41FA5}">
                      <a16:colId xmlns:a16="http://schemas.microsoft.com/office/drawing/2014/main" val="3702727068"/>
                    </a:ext>
                  </a:extLst>
                </a:gridCol>
                <a:gridCol w="162560">
                  <a:extLst>
                    <a:ext uri="{9D8B030D-6E8A-4147-A177-3AD203B41FA5}">
                      <a16:colId xmlns:a16="http://schemas.microsoft.com/office/drawing/2014/main" val="1359166803"/>
                    </a:ext>
                  </a:extLst>
                </a:gridCol>
                <a:gridCol w="162560">
                  <a:extLst>
                    <a:ext uri="{9D8B030D-6E8A-4147-A177-3AD203B41FA5}">
                      <a16:colId xmlns:a16="http://schemas.microsoft.com/office/drawing/2014/main" val="4074643480"/>
                    </a:ext>
                  </a:extLst>
                </a:gridCol>
                <a:gridCol w="162560">
                  <a:extLst>
                    <a:ext uri="{9D8B030D-6E8A-4147-A177-3AD203B41FA5}">
                      <a16:colId xmlns:a16="http://schemas.microsoft.com/office/drawing/2014/main" val="75006098"/>
                    </a:ext>
                  </a:extLst>
                </a:gridCol>
                <a:gridCol w="162560">
                  <a:extLst>
                    <a:ext uri="{9D8B030D-6E8A-4147-A177-3AD203B41FA5}">
                      <a16:colId xmlns:a16="http://schemas.microsoft.com/office/drawing/2014/main" val="1697249287"/>
                    </a:ext>
                  </a:extLst>
                </a:gridCol>
                <a:gridCol w="162560">
                  <a:extLst>
                    <a:ext uri="{9D8B030D-6E8A-4147-A177-3AD203B41FA5}">
                      <a16:colId xmlns:a16="http://schemas.microsoft.com/office/drawing/2014/main" val="334534308"/>
                    </a:ext>
                  </a:extLst>
                </a:gridCol>
                <a:gridCol w="162560">
                  <a:extLst>
                    <a:ext uri="{9D8B030D-6E8A-4147-A177-3AD203B41FA5}">
                      <a16:colId xmlns:a16="http://schemas.microsoft.com/office/drawing/2014/main" val="2761267355"/>
                    </a:ext>
                  </a:extLst>
                </a:gridCol>
                <a:gridCol w="162560">
                  <a:extLst>
                    <a:ext uri="{9D8B030D-6E8A-4147-A177-3AD203B41FA5}">
                      <a16:colId xmlns:a16="http://schemas.microsoft.com/office/drawing/2014/main" val="276006313"/>
                    </a:ext>
                  </a:extLst>
                </a:gridCol>
                <a:gridCol w="162560">
                  <a:extLst>
                    <a:ext uri="{9D8B030D-6E8A-4147-A177-3AD203B41FA5}">
                      <a16:colId xmlns:a16="http://schemas.microsoft.com/office/drawing/2014/main" val="4174241117"/>
                    </a:ext>
                  </a:extLst>
                </a:gridCol>
                <a:gridCol w="162560">
                  <a:extLst>
                    <a:ext uri="{9D8B030D-6E8A-4147-A177-3AD203B41FA5}">
                      <a16:colId xmlns:a16="http://schemas.microsoft.com/office/drawing/2014/main" val="2590946139"/>
                    </a:ext>
                  </a:extLst>
                </a:gridCol>
                <a:gridCol w="162560">
                  <a:extLst>
                    <a:ext uri="{9D8B030D-6E8A-4147-A177-3AD203B41FA5}">
                      <a16:colId xmlns:a16="http://schemas.microsoft.com/office/drawing/2014/main" val="1001922585"/>
                    </a:ext>
                  </a:extLst>
                </a:gridCol>
                <a:gridCol w="162560">
                  <a:extLst>
                    <a:ext uri="{9D8B030D-6E8A-4147-A177-3AD203B41FA5}">
                      <a16:colId xmlns:a16="http://schemas.microsoft.com/office/drawing/2014/main" val="2910563186"/>
                    </a:ext>
                  </a:extLst>
                </a:gridCol>
                <a:gridCol w="162560">
                  <a:extLst>
                    <a:ext uri="{9D8B030D-6E8A-4147-A177-3AD203B41FA5}">
                      <a16:colId xmlns:a16="http://schemas.microsoft.com/office/drawing/2014/main" val="2690904484"/>
                    </a:ext>
                  </a:extLst>
                </a:gridCol>
                <a:gridCol w="162560">
                  <a:extLst>
                    <a:ext uri="{9D8B030D-6E8A-4147-A177-3AD203B41FA5}">
                      <a16:colId xmlns:a16="http://schemas.microsoft.com/office/drawing/2014/main" val="3493408171"/>
                    </a:ext>
                  </a:extLst>
                </a:gridCol>
                <a:gridCol w="162560">
                  <a:extLst>
                    <a:ext uri="{9D8B030D-6E8A-4147-A177-3AD203B41FA5}">
                      <a16:colId xmlns:a16="http://schemas.microsoft.com/office/drawing/2014/main" val="2167708993"/>
                    </a:ext>
                  </a:extLst>
                </a:gridCol>
                <a:gridCol w="162560">
                  <a:extLst>
                    <a:ext uri="{9D8B030D-6E8A-4147-A177-3AD203B41FA5}">
                      <a16:colId xmlns:a16="http://schemas.microsoft.com/office/drawing/2014/main" val="1478401149"/>
                    </a:ext>
                  </a:extLst>
                </a:gridCol>
                <a:gridCol w="162560">
                  <a:extLst>
                    <a:ext uri="{9D8B030D-6E8A-4147-A177-3AD203B41FA5}">
                      <a16:colId xmlns:a16="http://schemas.microsoft.com/office/drawing/2014/main" val="997665192"/>
                    </a:ext>
                  </a:extLst>
                </a:gridCol>
              </a:tblGrid>
              <a:tr h="278130">
                <a:tc>
                  <a:txBody>
                    <a:bodyPr/>
                    <a:lstStyle/>
                    <a:p>
                      <a:pPr algn="ctr"/>
                      <a:r>
                        <a:rPr lang="en-US" sz="1200" dirty="0"/>
                        <a:t>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b</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c</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f</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h</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err="1"/>
                        <a:t>i</a:t>
                      </a:r>
                      <a:endParaRPr lang="en-US" sz="12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j</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k</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m</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p</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q</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r</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u</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v</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w</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x</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y</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z</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0057956"/>
                  </a:ext>
                </a:extLst>
              </a:tr>
            </a:tbl>
          </a:graphicData>
        </a:graphic>
      </p:graphicFrame>
      <p:sp>
        <p:nvSpPr>
          <p:cNvPr id="39" name="Arrow: U-Turn 38">
            <a:extLst>
              <a:ext uri="{FF2B5EF4-FFF2-40B4-BE49-F238E27FC236}">
                <a16:creationId xmlns:a16="http://schemas.microsoft.com/office/drawing/2014/main" id="{48BE2DE8-9092-4F43-9D79-E0A6B703B618}"/>
              </a:ext>
            </a:extLst>
          </p:cNvPr>
          <p:cNvSpPr/>
          <p:nvPr/>
        </p:nvSpPr>
        <p:spPr>
          <a:xfrm rot="10800000" flipH="1">
            <a:off x="4854353" y="3676550"/>
            <a:ext cx="855204" cy="195949"/>
          </a:xfrm>
          <a:prstGeom prst="uturnArrow">
            <a:avLst>
              <a:gd name="adj1" fmla="val 3882"/>
              <a:gd name="adj2" fmla="val 13607"/>
              <a:gd name="adj3" fmla="val 17776"/>
              <a:gd name="adj4" fmla="val 43750"/>
              <a:gd name="adj5" fmla="val 10000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defRPr/>
            </a:pPr>
            <a:endParaRPr lang="en-US" sz="900">
              <a:solidFill>
                <a:prstClr val="black"/>
              </a:solidFill>
              <a:sym typeface="Arial" charset="0"/>
            </a:endParaRPr>
          </a:p>
        </p:txBody>
      </p:sp>
      <p:sp>
        <p:nvSpPr>
          <p:cNvPr id="40" name="Arrow: U-Turn 39">
            <a:extLst>
              <a:ext uri="{FF2B5EF4-FFF2-40B4-BE49-F238E27FC236}">
                <a16:creationId xmlns:a16="http://schemas.microsoft.com/office/drawing/2014/main" id="{C600F410-615B-42A4-897D-161345773072}"/>
              </a:ext>
            </a:extLst>
          </p:cNvPr>
          <p:cNvSpPr/>
          <p:nvPr/>
        </p:nvSpPr>
        <p:spPr>
          <a:xfrm rot="10800000" flipH="1">
            <a:off x="4978403" y="3676550"/>
            <a:ext cx="855204" cy="291299"/>
          </a:xfrm>
          <a:prstGeom prst="uturnArrow">
            <a:avLst>
              <a:gd name="adj1" fmla="val 3882"/>
              <a:gd name="adj2" fmla="val 13607"/>
              <a:gd name="adj3" fmla="val 17776"/>
              <a:gd name="adj4" fmla="val 43750"/>
              <a:gd name="adj5" fmla="val 10000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defRPr/>
            </a:pPr>
            <a:endParaRPr lang="en-US" sz="900">
              <a:solidFill>
                <a:prstClr val="black"/>
              </a:solidFill>
              <a:sym typeface="Arial" charset="0"/>
            </a:endParaRPr>
          </a:p>
        </p:txBody>
      </p:sp>
      <p:pic>
        <p:nvPicPr>
          <p:cNvPr id="3" name="Picture 2">
            <a:extLst>
              <a:ext uri="{FF2B5EF4-FFF2-40B4-BE49-F238E27FC236}">
                <a16:creationId xmlns:a16="http://schemas.microsoft.com/office/drawing/2014/main" id="{6A985D4D-B49E-2AE7-E9C3-8D7FD916010D}"/>
              </a:ext>
            </a:extLst>
          </p:cNvPr>
          <p:cNvPicPr>
            <a:picLocks noChangeAspect="1"/>
          </p:cNvPicPr>
          <p:nvPr/>
        </p:nvPicPr>
        <p:blipFill>
          <a:blip r:embed="rId3"/>
          <a:stretch>
            <a:fillRect/>
          </a:stretch>
        </p:blipFill>
        <p:spPr>
          <a:xfrm>
            <a:off x="7069567" y="5470870"/>
            <a:ext cx="619600" cy="990640"/>
          </a:xfrm>
          <a:prstGeom prst="rect">
            <a:avLst/>
          </a:prstGeom>
        </p:spPr>
      </p:pic>
      <p:pic>
        <p:nvPicPr>
          <p:cNvPr id="7" name="Picture 6">
            <a:extLst>
              <a:ext uri="{FF2B5EF4-FFF2-40B4-BE49-F238E27FC236}">
                <a16:creationId xmlns:a16="http://schemas.microsoft.com/office/drawing/2014/main" id="{0C35792D-BDB0-C84D-8BAE-EBC02B81CE81}"/>
              </a:ext>
            </a:extLst>
          </p:cNvPr>
          <p:cNvPicPr>
            <a:picLocks noChangeAspect="1"/>
          </p:cNvPicPr>
          <p:nvPr/>
        </p:nvPicPr>
        <p:blipFill>
          <a:blip r:embed="rId4"/>
          <a:stretch>
            <a:fillRect/>
          </a:stretch>
        </p:blipFill>
        <p:spPr>
          <a:xfrm>
            <a:off x="314895" y="5666825"/>
            <a:ext cx="689498" cy="1041742"/>
          </a:xfrm>
          <a:prstGeom prst="rect">
            <a:avLst/>
          </a:prstGeom>
        </p:spPr>
      </p:pic>
      <p:pic>
        <p:nvPicPr>
          <p:cNvPr id="12" name="Picture 11">
            <a:extLst>
              <a:ext uri="{FF2B5EF4-FFF2-40B4-BE49-F238E27FC236}">
                <a16:creationId xmlns:a16="http://schemas.microsoft.com/office/drawing/2014/main" id="{4E6EBF31-2E2E-E00C-74E3-14CFB0473FC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99099" y="3591512"/>
            <a:ext cx="744853" cy="744853"/>
          </a:xfrm>
          <a:prstGeom prst="rect">
            <a:avLst/>
          </a:prstGeom>
        </p:spPr>
      </p:pic>
      <p:sp>
        <p:nvSpPr>
          <p:cNvPr id="14" name="Speech Bubble: Oval 13">
            <a:extLst>
              <a:ext uri="{FF2B5EF4-FFF2-40B4-BE49-F238E27FC236}">
                <a16:creationId xmlns:a16="http://schemas.microsoft.com/office/drawing/2014/main" id="{76709526-0489-05CD-5FFB-421F0054014C}"/>
              </a:ext>
            </a:extLst>
          </p:cNvPr>
          <p:cNvSpPr/>
          <p:nvPr/>
        </p:nvSpPr>
        <p:spPr>
          <a:xfrm>
            <a:off x="2400132" y="4359480"/>
            <a:ext cx="4048564" cy="1430383"/>
          </a:xfrm>
          <a:prstGeom prst="wedgeEllipseCallout">
            <a:avLst>
              <a:gd name="adj1" fmla="val -74652"/>
              <a:gd name="adj2" fmla="val 59304"/>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The lecture is so boring !!!</a:t>
            </a:r>
          </a:p>
        </p:txBody>
      </p:sp>
      <p:sp>
        <p:nvSpPr>
          <p:cNvPr id="15" name="Speech Bubble: Oval 14">
            <a:extLst>
              <a:ext uri="{FF2B5EF4-FFF2-40B4-BE49-F238E27FC236}">
                <a16:creationId xmlns:a16="http://schemas.microsoft.com/office/drawing/2014/main" id="{A5CCFEFE-5EBE-0D0E-CB1D-DCBAEAE607F4}"/>
              </a:ext>
            </a:extLst>
          </p:cNvPr>
          <p:cNvSpPr/>
          <p:nvPr/>
        </p:nvSpPr>
        <p:spPr>
          <a:xfrm>
            <a:off x="2400132" y="4359480"/>
            <a:ext cx="4287640" cy="1430383"/>
          </a:xfrm>
          <a:prstGeom prst="wedgeEllipseCallout">
            <a:avLst>
              <a:gd name="adj1" fmla="val -74652"/>
              <a:gd name="adj2" fmla="val 59304"/>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a:solidFill>
                  <a:schemeClr val="tx1"/>
                </a:solidFill>
              </a:rPr>
              <a:t>Ymj</a:t>
            </a:r>
            <a:r>
              <a:rPr lang="en-US" dirty="0">
                <a:solidFill>
                  <a:schemeClr val="tx1"/>
                </a:solidFill>
              </a:rPr>
              <a:t> </a:t>
            </a:r>
            <a:r>
              <a:rPr lang="en-US" dirty="0" err="1">
                <a:solidFill>
                  <a:schemeClr val="tx1"/>
                </a:solidFill>
              </a:rPr>
              <a:t>qjhyzwj</a:t>
            </a:r>
            <a:r>
              <a:rPr lang="en-US" dirty="0">
                <a:solidFill>
                  <a:schemeClr val="tx1"/>
                </a:solidFill>
              </a:rPr>
              <a:t> </a:t>
            </a:r>
            <a:r>
              <a:rPr lang="en-US" dirty="0" err="1">
                <a:solidFill>
                  <a:schemeClr val="tx1"/>
                </a:solidFill>
              </a:rPr>
              <a:t>nx</a:t>
            </a:r>
            <a:r>
              <a:rPr lang="en-US" dirty="0">
                <a:solidFill>
                  <a:schemeClr val="tx1"/>
                </a:solidFill>
              </a:rPr>
              <a:t> </a:t>
            </a:r>
            <a:r>
              <a:rPr lang="en-US" dirty="0" err="1">
                <a:solidFill>
                  <a:schemeClr val="tx1"/>
                </a:solidFill>
              </a:rPr>
              <a:t>xt</a:t>
            </a:r>
            <a:r>
              <a:rPr lang="en-US" dirty="0">
                <a:solidFill>
                  <a:schemeClr val="tx1"/>
                </a:solidFill>
              </a:rPr>
              <a:t> </a:t>
            </a:r>
            <a:r>
              <a:rPr lang="en-US" dirty="0" err="1">
                <a:solidFill>
                  <a:schemeClr val="tx1"/>
                </a:solidFill>
              </a:rPr>
              <a:t>gtwnsl</a:t>
            </a:r>
            <a:r>
              <a:rPr lang="en-US" dirty="0">
                <a:solidFill>
                  <a:schemeClr val="tx1"/>
                </a:solidFill>
              </a:rPr>
              <a:t> !!!</a:t>
            </a:r>
          </a:p>
        </p:txBody>
      </p:sp>
      <p:grpSp>
        <p:nvGrpSpPr>
          <p:cNvPr id="21" name="Group 20">
            <a:extLst>
              <a:ext uri="{FF2B5EF4-FFF2-40B4-BE49-F238E27FC236}">
                <a16:creationId xmlns:a16="http://schemas.microsoft.com/office/drawing/2014/main" id="{EAB4306E-FBA8-2ECD-4999-F9515D84E03E}"/>
              </a:ext>
            </a:extLst>
          </p:cNvPr>
          <p:cNvGrpSpPr/>
          <p:nvPr/>
        </p:nvGrpSpPr>
        <p:grpSpPr>
          <a:xfrm>
            <a:off x="613736" y="1480785"/>
            <a:ext cx="11578264" cy="1234707"/>
            <a:chOff x="613736" y="1480785"/>
            <a:chExt cx="11578264" cy="1234707"/>
          </a:xfrm>
        </p:grpSpPr>
        <p:sp>
          <p:nvSpPr>
            <p:cNvPr id="9" name="TextBox 8">
              <a:extLst>
                <a:ext uri="{FF2B5EF4-FFF2-40B4-BE49-F238E27FC236}">
                  <a16:creationId xmlns:a16="http://schemas.microsoft.com/office/drawing/2014/main" id="{5BCCC36A-B8AD-4B0F-9B05-20D68265B31A}"/>
                </a:ext>
              </a:extLst>
            </p:cNvPr>
            <p:cNvSpPr txBox="1"/>
            <p:nvPr/>
          </p:nvSpPr>
          <p:spPr>
            <a:xfrm>
              <a:off x="613736" y="1640089"/>
              <a:ext cx="11578264" cy="1015663"/>
            </a:xfrm>
            <a:prstGeom prst="rect">
              <a:avLst/>
            </a:prstGeom>
            <a:noFill/>
          </p:spPr>
          <p:txBody>
            <a:bodyPr wrap="square" rtlCol="0">
              <a:spAutoFit/>
            </a:bodyPr>
            <a:lstStyle/>
            <a:p>
              <a:pPr marL="285750" indent="-285750" fontAlgn="base">
                <a:spcBef>
                  <a:spcPct val="0"/>
                </a:spcBef>
                <a:spcAft>
                  <a:spcPct val="0"/>
                </a:spcAft>
                <a:buFont typeface="Arial" panose="020B0604020202020204" pitchFamily="34" charset="0"/>
                <a:buChar char="•"/>
                <a:defRPr/>
              </a:pPr>
              <a:r>
                <a:rPr lang="en-US" sz="2000" b="1" dirty="0">
                  <a:solidFill>
                    <a:srgbClr val="000000"/>
                  </a:solidFill>
                  <a:sym typeface="Arial" charset="0"/>
                </a:rPr>
                <a:t>C = X + K mod 26 </a:t>
              </a:r>
            </a:p>
            <a:p>
              <a:pPr marL="285750" indent="-285750" fontAlgn="base">
                <a:spcBef>
                  <a:spcPct val="0"/>
                </a:spcBef>
                <a:spcAft>
                  <a:spcPct val="0"/>
                </a:spcAft>
                <a:buFont typeface="Arial" panose="020B0604020202020204" pitchFamily="34" charset="0"/>
                <a:buChar char="•"/>
                <a:defRPr/>
              </a:pPr>
              <a:endParaRPr lang="en-US" sz="2000" b="1" dirty="0">
                <a:solidFill>
                  <a:srgbClr val="000000"/>
                </a:solidFill>
                <a:sym typeface="Arial" charset="0"/>
              </a:endParaRPr>
            </a:p>
            <a:p>
              <a:pPr marL="285750" indent="-285750" fontAlgn="base">
                <a:spcBef>
                  <a:spcPct val="0"/>
                </a:spcBef>
                <a:spcAft>
                  <a:spcPct val="0"/>
                </a:spcAft>
                <a:buFont typeface="Arial" panose="020B0604020202020204" pitchFamily="34" charset="0"/>
                <a:buChar char="•"/>
                <a:defRPr/>
              </a:pPr>
              <a:r>
                <a:rPr lang="en-US" sz="2000" b="1" dirty="0">
                  <a:solidFill>
                    <a:srgbClr val="000000"/>
                  </a:solidFill>
                  <a:sym typeface="Arial" charset="0"/>
                </a:rPr>
                <a:t>C, X, K are number of corresponding letters. </a:t>
              </a:r>
            </a:p>
          </p:txBody>
        </p:sp>
        <p:pic>
          <p:nvPicPr>
            <p:cNvPr id="4100" name="Picture 4" descr="Introduction to Caesar Cipher - Naukri Code 360">
              <a:extLst>
                <a:ext uri="{FF2B5EF4-FFF2-40B4-BE49-F238E27FC236}">
                  <a16:creationId xmlns:a16="http://schemas.microsoft.com/office/drawing/2014/main" id="{95A35BA8-3D3A-E760-3AB7-9D0A6921DA5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99216" y="1480785"/>
              <a:ext cx="4938829" cy="1234707"/>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extBox 18">
            <a:extLst>
              <a:ext uri="{FF2B5EF4-FFF2-40B4-BE49-F238E27FC236}">
                <a16:creationId xmlns:a16="http://schemas.microsoft.com/office/drawing/2014/main" id="{DB209846-7619-0FD8-9A4D-3697A4D23029}"/>
              </a:ext>
            </a:extLst>
          </p:cNvPr>
          <p:cNvSpPr txBox="1"/>
          <p:nvPr/>
        </p:nvSpPr>
        <p:spPr>
          <a:xfrm>
            <a:off x="7759700" y="6003030"/>
            <a:ext cx="2889278" cy="369332"/>
          </a:xfrm>
          <a:prstGeom prst="rect">
            <a:avLst/>
          </a:prstGeom>
          <a:noFill/>
        </p:spPr>
        <p:txBody>
          <a:bodyPr wrap="square" rtlCol="0">
            <a:spAutoFit/>
          </a:bodyPr>
          <a:lstStyle/>
          <a:p>
            <a:pPr fontAlgn="base">
              <a:spcBef>
                <a:spcPct val="0"/>
              </a:spcBef>
              <a:spcAft>
                <a:spcPct val="0"/>
              </a:spcAft>
              <a:defRPr/>
            </a:pPr>
            <a:r>
              <a:rPr lang="en-US" dirty="0">
                <a:solidFill>
                  <a:srgbClr val="000000"/>
                </a:solidFill>
                <a:latin typeface="Aptos"/>
                <a:sym typeface="Arial" charset="0"/>
              </a:rPr>
              <a:t>rotate by 5, K = 5</a:t>
            </a:r>
          </a:p>
        </p:txBody>
      </p:sp>
      <p:sp>
        <p:nvSpPr>
          <p:cNvPr id="20" name="TextBox 19">
            <a:extLst>
              <a:ext uri="{FF2B5EF4-FFF2-40B4-BE49-F238E27FC236}">
                <a16:creationId xmlns:a16="http://schemas.microsoft.com/office/drawing/2014/main" id="{9D120C6E-6BE1-84E6-62CD-F7AA531FCEF8}"/>
              </a:ext>
            </a:extLst>
          </p:cNvPr>
          <p:cNvSpPr txBox="1"/>
          <p:nvPr/>
        </p:nvSpPr>
        <p:spPr>
          <a:xfrm>
            <a:off x="7391009" y="3967849"/>
            <a:ext cx="4226560" cy="369332"/>
          </a:xfrm>
          <a:prstGeom prst="rect">
            <a:avLst/>
          </a:prstGeom>
          <a:noFill/>
        </p:spPr>
        <p:txBody>
          <a:bodyPr wrap="square" rtlCol="0">
            <a:spAutoFit/>
          </a:bodyPr>
          <a:lstStyle/>
          <a:p>
            <a:r>
              <a:rPr lang="en-US" b="1" dirty="0">
                <a:solidFill>
                  <a:srgbClr val="FF0000"/>
                </a:solidFill>
                <a:latin typeface="Aptos"/>
              </a:rPr>
              <a:t>Number of Possible Key?</a:t>
            </a:r>
          </a:p>
        </p:txBody>
      </p:sp>
      <p:pic>
        <p:nvPicPr>
          <p:cNvPr id="4" name="Picture 2">
            <a:extLst>
              <a:ext uri="{FF2B5EF4-FFF2-40B4-BE49-F238E27FC236}">
                <a16:creationId xmlns:a16="http://schemas.microsoft.com/office/drawing/2014/main" id="{342A386E-E67E-E008-3578-E7AA48925F0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75713" y="4069092"/>
            <a:ext cx="1362332" cy="22015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5379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xit" presetSubtype="0" fill="hold" grpId="0" nodeType="withEffect">
                                  <p:stCondLst>
                                    <p:cond delay="0"/>
                                  </p:stCondLst>
                                  <p:childTnLst>
                                    <p:animEffect transition="out" filter="fade">
                                      <p:cBhvr>
                                        <p:cTn id="9" dur="500"/>
                                        <p:tgtEl>
                                          <p:spTgt spid="14"/>
                                        </p:tgtEl>
                                      </p:cBhvr>
                                    </p:animEffect>
                                    <p:set>
                                      <p:cBhvr>
                                        <p:cTn id="10" dur="1" fill="hold">
                                          <p:stCondLst>
                                            <p:cond delay="499"/>
                                          </p:stCondLst>
                                        </p:cTn>
                                        <p:tgtEl>
                                          <p:spTgt spid="1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0">
                                            <p:txEl>
                                              <p:pRg st="0" end="0"/>
                                            </p:txEl>
                                          </p:spTgt>
                                        </p:tgtEl>
                                        <p:attrNameLst>
                                          <p:attrName>style.visibility</p:attrName>
                                        </p:attrNameLst>
                                      </p:cBhvr>
                                      <p:to>
                                        <p:strVal val="visible"/>
                                      </p:to>
                                    </p:set>
                                    <p:anim calcmode="lin" valueType="num">
                                      <p:cBhvr additive="base">
                                        <p:cTn id="23"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ppt_x"/>
                                          </p:val>
                                        </p:tav>
                                        <p:tav tm="100000">
                                          <p:val>
                                            <p:strVal val="#ppt_x"/>
                                          </p:val>
                                        </p:tav>
                                      </p:tavLst>
                                    </p:anim>
                                    <p:anim calcmode="lin" valueType="num">
                                      <p:cBhvr additive="base">
                                        <p:cTn id="3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animBg="1"/>
      <p:bldP spid="15" grpId="0" animBg="1"/>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27E7A-2F9D-434A-B632-9E56AF5EED4B}"/>
              </a:ext>
            </a:extLst>
          </p:cNvPr>
          <p:cNvSpPr>
            <a:spLocks noGrp="1"/>
          </p:cNvSpPr>
          <p:nvPr>
            <p:ph type="title"/>
          </p:nvPr>
        </p:nvSpPr>
        <p:spPr/>
        <p:txBody>
          <a:bodyPr/>
          <a:lstStyle/>
          <a:p>
            <a:r>
              <a:rPr lang="en-US" dirty="0"/>
              <a:t>Idea 2: substitution cipher</a:t>
            </a:r>
          </a:p>
        </p:txBody>
      </p:sp>
      <p:graphicFrame>
        <p:nvGraphicFramePr>
          <p:cNvPr id="5" name="Content Placeholder 4">
            <a:extLst>
              <a:ext uri="{FF2B5EF4-FFF2-40B4-BE49-F238E27FC236}">
                <a16:creationId xmlns:a16="http://schemas.microsoft.com/office/drawing/2014/main" id="{685F5570-892D-46F2-9982-0B0B111DF111}"/>
              </a:ext>
            </a:extLst>
          </p:cNvPr>
          <p:cNvGraphicFramePr>
            <a:graphicFrameLocks noGrp="1"/>
          </p:cNvGraphicFramePr>
          <p:nvPr>
            <p:ph idx="1"/>
          </p:nvPr>
        </p:nvGraphicFramePr>
        <p:xfrm>
          <a:off x="400596" y="1533434"/>
          <a:ext cx="11406302" cy="741680"/>
        </p:xfrm>
        <a:graphic>
          <a:graphicData uri="http://schemas.openxmlformats.org/drawingml/2006/table">
            <a:tbl>
              <a:tblPr>
                <a:tableStyleId>{073A0DAA-6AF3-43AB-8588-CEC1D06C72B9}</a:tableStyleId>
              </a:tblPr>
              <a:tblGrid>
                <a:gridCol w="1280160">
                  <a:extLst>
                    <a:ext uri="{9D8B030D-6E8A-4147-A177-3AD203B41FA5}">
                      <a16:colId xmlns:a16="http://schemas.microsoft.com/office/drawing/2014/main" val="808542146"/>
                    </a:ext>
                  </a:extLst>
                </a:gridCol>
                <a:gridCol w="389467">
                  <a:extLst>
                    <a:ext uri="{9D8B030D-6E8A-4147-A177-3AD203B41FA5}">
                      <a16:colId xmlns:a16="http://schemas.microsoft.com/office/drawing/2014/main" val="1740949199"/>
                    </a:ext>
                  </a:extLst>
                </a:gridCol>
                <a:gridCol w="389467">
                  <a:extLst>
                    <a:ext uri="{9D8B030D-6E8A-4147-A177-3AD203B41FA5}">
                      <a16:colId xmlns:a16="http://schemas.microsoft.com/office/drawing/2014/main" val="4084889085"/>
                    </a:ext>
                  </a:extLst>
                </a:gridCol>
                <a:gridCol w="389467">
                  <a:extLst>
                    <a:ext uri="{9D8B030D-6E8A-4147-A177-3AD203B41FA5}">
                      <a16:colId xmlns:a16="http://schemas.microsoft.com/office/drawing/2014/main" val="267683738"/>
                    </a:ext>
                  </a:extLst>
                </a:gridCol>
                <a:gridCol w="389467">
                  <a:extLst>
                    <a:ext uri="{9D8B030D-6E8A-4147-A177-3AD203B41FA5}">
                      <a16:colId xmlns:a16="http://schemas.microsoft.com/office/drawing/2014/main" val="127696465"/>
                    </a:ext>
                  </a:extLst>
                </a:gridCol>
                <a:gridCol w="389467">
                  <a:extLst>
                    <a:ext uri="{9D8B030D-6E8A-4147-A177-3AD203B41FA5}">
                      <a16:colId xmlns:a16="http://schemas.microsoft.com/office/drawing/2014/main" val="99498354"/>
                    </a:ext>
                  </a:extLst>
                </a:gridCol>
                <a:gridCol w="389467">
                  <a:extLst>
                    <a:ext uri="{9D8B030D-6E8A-4147-A177-3AD203B41FA5}">
                      <a16:colId xmlns:a16="http://schemas.microsoft.com/office/drawing/2014/main" val="4116058545"/>
                    </a:ext>
                  </a:extLst>
                </a:gridCol>
                <a:gridCol w="389467">
                  <a:extLst>
                    <a:ext uri="{9D8B030D-6E8A-4147-A177-3AD203B41FA5}">
                      <a16:colId xmlns:a16="http://schemas.microsoft.com/office/drawing/2014/main" val="3745464105"/>
                    </a:ext>
                  </a:extLst>
                </a:gridCol>
                <a:gridCol w="389467">
                  <a:extLst>
                    <a:ext uri="{9D8B030D-6E8A-4147-A177-3AD203B41FA5}">
                      <a16:colId xmlns:a16="http://schemas.microsoft.com/office/drawing/2014/main" val="3583360836"/>
                    </a:ext>
                  </a:extLst>
                </a:gridCol>
                <a:gridCol w="389467">
                  <a:extLst>
                    <a:ext uri="{9D8B030D-6E8A-4147-A177-3AD203B41FA5}">
                      <a16:colId xmlns:a16="http://schemas.microsoft.com/office/drawing/2014/main" val="1595051044"/>
                    </a:ext>
                  </a:extLst>
                </a:gridCol>
                <a:gridCol w="389467">
                  <a:extLst>
                    <a:ext uri="{9D8B030D-6E8A-4147-A177-3AD203B41FA5}">
                      <a16:colId xmlns:a16="http://schemas.microsoft.com/office/drawing/2014/main" val="3624252688"/>
                    </a:ext>
                  </a:extLst>
                </a:gridCol>
                <a:gridCol w="389467">
                  <a:extLst>
                    <a:ext uri="{9D8B030D-6E8A-4147-A177-3AD203B41FA5}">
                      <a16:colId xmlns:a16="http://schemas.microsoft.com/office/drawing/2014/main" val="2042598271"/>
                    </a:ext>
                  </a:extLst>
                </a:gridCol>
                <a:gridCol w="389467">
                  <a:extLst>
                    <a:ext uri="{9D8B030D-6E8A-4147-A177-3AD203B41FA5}">
                      <a16:colId xmlns:a16="http://schemas.microsoft.com/office/drawing/2014/main" val="3413079376"/>
                    </a:ext>
                  </a:extLst>
                </a:gridCol>
                <a:gridCol w="389467">
                  <a:extLst>
                    <a:ext uri="{9D8B030D-6E8A-4147-A177-3AD203B41FA5}">
                      <a16:colId xmlns:a16="http://schemas.microsoft.com/office/drawing/2014/main" val="1304008897"/>
                    </a:ext>
                  </a:extLst>
                </a:gridCol>
                <a:gridCol w="389467">
                  <a:extLst>
                    <a:ext uri="{9D8B030D-6E8A-4147-A177-3AD203B41FA5}">
                      <a16:colId xmlns:a16="http://schemas.microsoft.com/office/drawing/2014/main" val="4126626881"/>
                    </a:ext>
                  </a:extLst>
                </a:gridCol>
                <a:gridCol w="389467">
                  <a:extLst>
                    <a:ext uri="{9D8B030D-6E8A-4147-A177-3AD203B41FA5}">
                      <a16:colId xmlns:a16="http://schemas.microsoft.com/office/drawing/2014/main" val="2494054372"/>
                    </a:ext>
                  </a:extLst>
                </a:gridCol>
                <a:gridCol w="389467">
                  <a:extLst>
                    <a:ext uri="{9D8B030D-6E8A-4147-A177-3AD203B41FA5}">
                      <a16:colId xmlns:a16="http://schemas.microsoft.com/office/drawing/2014/main" val="3611166042"/>
                    </a:ext>
                  </a:extLst>
                </a:gridCol>
                <a:gridCol w="389467">
                  <a:extLst>
                    <a:ext uri="{9D8B030D-6E8A-4147-A177-3AD203B41FA5}">
                      <a16:colId xmlns:a16="http://schemas.microsoft.com/office/drawing/2014/main" val="3031964292"/>
                    </a:ext>
                  </a:extLst>
                </a:gridCol>
                <a:gridCol w="389467">
                  <a:extLst>
                    <a:ext uri="{9D8B030D-6E8A-4147-A177-3AD203B41FA5}">
                      <a16:colId xmlns:a16="http://schemas.microsoft.com/office/drawing/2014/main" val="1755830632"/>
                    </a:ext>
                  </a:extLst>
                </a:gridCol>
                <a:gridCol w="389467">
                  <a:extLst>
                    <a:ext uri="{9D8B030D-6E8A-4147-A177-3AD203B41FA5}">
                      <a16:colId xmlns:a16="http://schemas.microsoft.com/office/drawing/2014/main" val="2922063860"/>
                    </a:ext>
                  </a:extLst>
                </a:gridCol>
                <a:gridCol w="389467">
                  <a:extLst>
                    <a:ext uri="{9D8B030D-6E8A-4147-A177-3AD203B41FA5}">
                      <a16:colId xmlns:a16="http://schemas.microsoft.com/office/drawing/2014/main" val="2373471949"/>
                    </a:ext>
                  </a:extLst>
                </a:gridCol>
                <a:gridCol w="389467">
                  <a:extLst>
                    <a:ext uri="{9D8B030D-6E8A-4147-A177-3AD203B41FA5}">
                      <a16:colId xmlns:a16="http://schemas.microsoft.com/office/drawing/2014/main" val="2285319349"/>
                    </a:ext>
                  </a:extLst>
                </a:gridCol>
                <a:gridCol w="389467">
                  <a:extLst>
                    <a:ext uri="{9D8B030D-6E8A-4147-A177-3AD203B41FA5}">
                      <a16:colId xmlns:a16="http://schemas.microsoft.com/office/drawing/2014/main" val="2210955963"/>
                    </a:ext>
                  </a:extLst>
                </a:gridCol>
                <a:gridCol w="389467">
                  <a:extLst>
                    <a:ext uri="{9D8B030D-6E8A-4147-A177-3AD203B41FA5}">
                      <a16:colId xmlns:a16="http://schemas.microsoft.com/office/drawing/2014/main" val="1639329555"/>
                    </a:ext>
                  </a:extLst>
                </a:gridCol>
                <a:gridCol w="389467">
                  <a:extLst>
                    <a:ext uri="{9D8B030D-6E8A-4147-A177-3AD203B41FA5}">
                      <a16:colId xmlns:a16="http://schemas.microsoft.com/office/drawing/2014/main" val="2002622303"/>
                    </a:ext>
                  </a:extLst>
                </a:gridCol>
                <a:gridCol w="389467">
                  <a:extLst>
                    <a:ext uri="{9D8B030D-6E8A-4147-A177-3AD203B41FA5}">
                      <a16:colId xmlns:a16="http://schemas.microsoft.com/office/drawing/2014/main" val="2670939652"/>
                    </a:ext>
                  </a:extLst>
                </a:gridCol>
                <a:gridCol w="389467">
                  <a:extLst>
                    <a:ext uri="{9D8B030D-6E8A-4147-A177-3AD203B41FA5}">
                      <a16:colId xmlns:a16="http://schemas.microsoft.com/office/drawing/2014/main" val="2388437450"/>
                    </a:ext>
                  </a:extLst>
                </a:gridCol>
              </a:tblGrid>
              <a:tr h="370840">
                <a:tc>
                  <a:txBody>
                    <a:bodyPr/>
                    <a:lstStyle/>
                    <a:p>
                      <a:pPr algn="ctr"/>
                      <a:r>
                        <a:rPr lang="en-US" b="1" dirty="0">
                          <a:solidFill>
                            <a:srgbClr val="0070C0"/>
                          </a:solidFill>
                        </a:rPr>
                        <a:t>original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err="1"/>
                        <a:t>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7154432"/>
                  </a:ext>
                </a:extLst>
              </a:tr>
              <a:tr h="370840">
                <a:tc>
                  <a:txBody>
                    <a:bodyPr/>
                    <a:lstStyle/>
                    <a:p>
                      <a:pPr algn="ctr"/>
                      <a:r>
                        <a:rPr lang="en-US" b="1" dirty="0">
                          <a:solidFill>
                            <a:srgbClr val="0070C0"/>
                          </a:solidFill>
                        </a:rPr>
                        <a:t>replace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err="1"/>
                        <a:t>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7964112"/>
                  </a:ext>
                </a:extLst>
              </a:tr>
            </a:tbl>
          </a:graphicData>
        </a:graphic>
      </p:graphicFrame>
      <p:sp>
        <p:nvSpPr>
          <p:cNvPr id="7" name="Rectangle 6">
            <a:extLst>
              <a:ext uri="{FF2B5EF4-FFF2-40B4-BE49-F238E27FC236}">
                <a16:creationId xmlns:a16="http://schemas.microsoft.com/office/drawing/2014/main" id="{E80EAEF2-D9E9-46A8-A1EE-E9D4DBE5CBC9}"/>
              </a:ext>
            </a:extLst>
          </p:cNvPr>
          <p:cNvSpPr/>
          <p:nvPr/>
        </p:nvSpPr>
        <p:spPr>
          <a:xfrm>
            <a:off x="3048000" y="2599119"/>
            <a:ext cx="6096000" cy="3046988"/>
          </a:xfrm>
          <a:prstGeom prst="rect">
            <a:avLst/>
          </a:prstGeom>
        </p:spPr>
        <p:txBody>
          <a:bodyPr>
            <a:spAutoFit/>
          </a:bodyPr>
          <a:lstStyle/>
          <a:p>
            <a:r>
              <a:rPr lang="en-US" sz="1600" dirty="0" err="1"/>
              <a:t>hpd</a:t>
            </a:r>
            <a:r>
              <a:rPr lang="en-US" sz="1600" dirty="0"/>
              <a:t> </a:t>
            </a:r>
            <a:r>
              <a:rPr lang="en-US" sz="1600" dirty="0" err="1"/>
              <a:t>mevdshzjdo</a:t>
            </a:r>
            <a:r>
              <a:rPr lang="en-US" sz="1600" dirty="0"/>
              <a:t> mt </a:t>
            </a:r>
            <a:r>
              <a:rPr lang="en-US" sz="1600" dirty="0" err="1"/>
              <a:t>hpzo</a:t>
            </a:r>
            <a:r>
              <a:rPr lang="en-US" sz="1600" dirty="0"/>
              <a:t> </a:t>
            </a:r>
            <a:r>
              <a:rPr lang="en-US" sz="1600" dirty="0" err="1"/>
              <a:t>smknod</a:t>
            </a:r>
            <a:r>
              <a:rPr lang="en-US" sz="1600" dirty="0"/>
              <a:t> und hm </a:t>
            </a:r>
            <a:r>
              <a:rPr lang="en-US" sz="1600" dirty="0" err="1"/>
              <a:t>zqtmni</a:t>
            </a:r>
            <a:r>
              <a:rPr lang="en-US" sz="1600" dirty="0"/>
              <a:t> </a:t>
            </a:r>
            <a:r>
              <a:rPr lang="en-US" sz="1600" dirty="0" err="1"/>
              <a:t>ohkfdqho</a:t>
            </a:r>
            <a:r>
              <a:rPr lang="en-US" sz="1600" dirty="0"/>
              <a:t> </a:t>
            </a:r>
            <a:r>
              <a:rPr lang="en-US" sz="1600" dirty="0" err="1"/>
              <a:t>uemkh</a:t>
            </a:r>
            <a:r>
              <a:rPr lang="en-US" sz="1600" dirty="0"/>
              <a:t> </a:t>
            </a:r>
            <a:r>
              <a:rPr lang="en-US" sz="1600" dirty="0" err="1"/>
              <a:t>hpd</a:t>
            </a:r>
            <a:r>
              <a:rPr lang="en-US" sz="1600" dirty="0"/>
              <a:t> </a:t>
            </a:r>
            <a:r>
              <a:rPr lang="en-US" sz="1600" dirty="0" err="1"/>
              <a:t>tzdcf</a:t>
            </a:r>
            <a:r>
              <a:rPr lang="en-US" sz="1600" dirty="0"/>
              <a:t> mt </a:t>
            </a:r>
            <a:r>
              <a:rPr lang="en-US" sz="1600" dirty="0" err="1"/>
              <a:t>smigkhdn</a:t>
            </a:r>
            <a:r>
              <a:rPr lang="en-US" sz="1600" dirty="0"/>
              <a:t> </a:t>
            </a:r>
            <a:r>
              <a:rPr lang="en-US" sz="1600" dirty="0" err="1"/>
              <a:t>oszdqsd</a:t>
            </a:r>
            <a:r>
              <a:rPr lang="en-US" sz="1600" dirty="0"/>
              <a:t> </a:t>
            </a:r>
            <a:r>
              <a:rPr lang="en-US" sz="1600" dirty="0" err="1"/>
              <a:t>uqf</a:t>
            </a:r>
            <a:r>
              <a:rPr lang="en-US" sz="1600" dirty="0"/>
              <a:t> </a:t>
            </a:r>
            <a:r>
              <a:rPr lang="en-US" sz="1600" dirty="0" err="1"/>
              <a:t>dqazqddnzqa</a:t>
            </a:r>
            <a:r>
              <a:rPr lang="en-US" sz="1600" dirty="0"/>
              <a:t>, </a:t>
            </a:r>
            <a:r>
              <a:rPr lang="en-US" sz="1600" dirty="0" err="1"/>
              <a:t>uqf</a:t>
            </a:r>
            <a:r>
              <a:rPr lang="en-US" sz="1600" dirty="0"/>
              <a:t> hm </a:t>
            </a:r>
            <a:r>
              <a:rPr lang="en-US" sz="1600" dirty="0" err="1"/>
              <a:t>zqhnmfksd</a:t>
            </a:r>
            <a:r>
              <a:rPr lang="en-US" sz="1600" dirty="0"/>
              <a:t> </a:t>
            </a:r>
            <a:r>
              <a:rPr lang="en-US" sz="1600" dirty="0" err="1"/>
              <a:t>hpdi</a:t>
            </a:r>
            <a:r>
              <a:rPr lang="en-US" sz="1600" dirty="0"/>
              <a:t> hm </a:t>
            </a:r>
            <a:r>
              <a:rPr lang="en-US" sz="1600" dirty="0" err="1"/>
              <a:t>hpd</a:t>
            </a:r>
            <a:r>
              <a:rPr lang="en-US" sz="1600" dirty="0"/>
              <a:t> </a:t>
            </a:r>
            <a:r>
              <a:rPr lang="en-US" sz="1600" dirty="0" err="1"/>
              <a:t>xzfd</a:t>
            </a:r>
            <a:r>
              <a:rPr lang="en-US" sz="1600" dirty="0"/>
              <a:t> </a:t>
            </a:r>
            <a:r>
              <a:rPr lang="en-US" sz="1600" dirty="0" err="1"/>
              <a:t>nuqad</a:t>
            </a:r>
            <a:r>
              <a:rPr lang="en-US" sz="1600" dirty="0"/>
              <a:t> mt </a:t>
            </a:r>
            <a:r>
              <a:rPr lang="en-US" sz="1600" dirty="0" err="1"/>
              <a:t>dbszhzqa</a:t>
            </a:r>
            <a:r>
              <a:rPr lang="en-US" sz="1600" dirty="0"/>
              <a:t> </a:t>
            </a:r>
            <a:r>
              <a:rPr lang="en-US" sz="1600" dirty="0" err="1"/>
              <a:t>uggczsuhzmqo</a:t>
            </a:r>
            <a:r>
              <a:rPr lang="en-US" sz="1600" dirty="0"/>
              <a:t> mt </a:t>
            </a:r>
            <a:r>
              <a:rPr lang="en-US" sz="1600" dirty="0" err="1"/>
              <a:t>smigkhuhzmq</a:t>
            </a:r>
            <a:r>
              <a:rPr lang="en-US" sz="1600" dirty="0"/>
              <a:t> </a:t>
            </a:r>
            <a:r>
              <a:rPr lang="en-US" sz="1600" dirty="0" err="1"/>
              <a:t>uqf</a:t>
            </a:r>
            <a:r>
              <a:rPr lang="en-US" sz="1600" dirty="0"/>
              <a:t> </a:t>
            </a:r>
            <a:r>
              <a:rPr lang="en-US" sz="1600" dirty="0" err="1"/>
              <a:t>hdspqmcmal</a:t>
            </a:r>
            <a:r>
              <a:rPr lang="en-US" sz="1600" dirty="0"/>
              <a:t> </a:t>
            </a:r>
            <a:r>
              <a:rPr lang="en-US" sz="1600" dirty="0" err="1"/>
              <a:t>zq</a:t>
            </a:r>
            <a:r>
              <a:rPr lang="en-US" sz="1600" dirty="0"/>
              <a:t> </a:t>
            </a:r>
            <a:r>
              <a:rPr lang="en-US" sz="1600" dirty="0" err="1"/>
              <a:t>omszdhl</a:t>
            </a:r>
            <a:r>
              <a:rPr lang="en-US" sz="1600" dirty="0"/>
              <a:t>. </a:t>
            </a:r>
            <a:r>
              <a:rPr lang="en-US" sz="1600" dirty="0" err="1"/>
              <a:t>xd</a:t>
            </a:r>
            <a:r>
              <a:rPr lang="en-US" sz="1600" dirty="0"/>
              <a:t> </a:t>
            </a:r>
            <a:r>
              <a:rPr lang="en-US" sz="1600" dirty="0" err="1"/>
              <a:t>xzcc</a:t>
            </a:r>
            <a:r>
              <a:rPr lang="en-US" sz="1600" dirty="0"/>
              <a:t> </a:t>
            </a:r>
            <a:r>
              <a:rPr lang="en-US" sz="1600" dirty="0" err="1"/>
              <a:t>dbgcuzq</a:t>
            </a:r>
            <a:r>
              <a:rPr lang="en-US" sz="1600" dirty="0"/>
              <a:t> </a:t>
            </a:r>
            <a:r>
              <a:rPr lang="en-US" sz="1600" dirty="0" err="1"/>
              <a:t>hpuh</a:t>
            </a:r>
            <a:r>
              <a:rPr lang="en-US" sz="1600" dirty="0"/>
              <a:t> </a:t>
            </a:r>
            <a:r>
              <a:rPr lang="en-US" sz="1600" dirty="0" err="1"/>
              <a:t>smigkhdn</a:t>
            </a:r>
            <a:r>
              <a:rPr lang="en-US" sz="1600" dirty="0"/>
              <a:t> </a:t>
            </a:r>
            <a:r>
              <a:rPr lang="en-US" sz="1600" dirty="0" err="1"/>
              <a:t>oszdqsd</a:t>
            </a:r>
            <a:r>
              <a:rPr lang="en-US" sz="1600" dirty="0"/>
              <a:t> zo </a:t>
            </a:r>
            <a:r>
              <a:rPr lang="en-US" sz="1600" dirty="0" err="1"/>
              <a:t>qmh</a:t>
            </a:r>
            <a:r>
              <a:rPr lang="en-US" sz="1600" dirty="0"/>
              <a:t> </a:t>
            </a:r>
            <a:r>
              <a:rPr lang="en-US" sz="1600" dirty="0" err="1"/>
              <a:t>vkoh</a:t>
            </a:r>
            <a:r>
              <a:rPr lang="en-US" sz="1600" dirty="0"/>
              <a:t> </a:t>
            </a:r>
            <a:r>
              <a:rPr lang="en-US" sz="1600" dirty="0" err="1"/>
              <a:t>uemkh</a:t>
            </a:r>
            <a:r>
              <a:rPr lang="en-US" sz="1600" dirty="0"/>
              <a:t> </a:t>
            </a:r>
            <a:r>
              <a:rPr lang="en-US" sz="1600" dirty="0" err="1"/>
              <a:t>gnmanuiizqa</a:t>
            </a:r>
            <a:r>
              <a:rPr lang="en-US" sz="1600" dirty="0"/>
              <a:t>, </a:t>
            </a:r>
            <a:r>
              <a:rPr lang="en-US" sz="1600" dirty="0" err="1"/>
              <a:t>ekh</a:t>
            </a:r>
            <a:r>
              <a:rPr lang="en-US" sz="1600" dirty="0"/>
              <a:t> </a:t>
            </a:r>
            <a:r>
              <a:rPr lang="en-US" sz="1600" dirty="0" err="1"/>
              <a:t>uemkh</a:t>
            </a:r>
            <a:r>
              <a:rPr lang="en-US" sz="1600" dirty="0"/>
              <a:t> </a:t>
            </a:r>
            <a:r>
              <a:rPr lang="en-US" sz="1600" dirty="0" err="1"/>
              <a:t>smigkhuhzmquc</a:t>
            </a:r>
            <a:r>
              <a:rPr lang="en-US" sz="1600" dirty="0"/>
              <a:t> </a:t>
            </a:r>
            <a:r>
              <a:rPr lang="en-US" sz="1600" dirty="0" err="1"/>
              <a:t>hpzqrzqa</a:t>
            </a:r>
            <a:r>
              <a:rPr lang="en-US" sz="1600" dirty="0"/>
              <a:t> </a:t>
            </a:r>
            <a:r>
              <a:rPr lang="en-US" sz="1600" dirty="0" err="1"/>
              <a:t>uqf</a:t>
            </a:r>
            <a:r>
              <a:rPr lang="en-US" sz="1600" dirty="0"/>
              <a:t> </a:t>
            </a:r>
            <a:r>
              <a:rPr lang="en-US" sz="1600" dirty="0" err="1"/>
              <a:t>hpd</a:t>
            </a:r>
            <a:r>
              <a:rPr lang="en-US" sz="1600" dirty="0"/>
              <a:t> </a:t>
            </a:r>
            <a:r>
              <a:rPr lang="en-US" sz="1600" dirty="0" err="1"/>
              <a:t>ohkfl</a:t>
            </a:r>
            <a:r>
              <a:rPr lang="en-US" sz="1600" dirty="0"/>
              <a:t> mt </a:t>
            </a:r>
            <a:r>
              <a:rPr lang="en-US" sz="1600" dirty="0" err="1"/>
              <a:t>ucamnzhpio</a:t>
            </a:r>
            <a:r>
              <a:rPr lang="en-US" sz="1600" dirty="0"/>
              <a:t>. </a:t>
            </a:r>
            <a:r>
              <a:rPr lang="en-US" sz="1600" dirty="0" err="1"/>
              <a:t>zigmnhuqh</a:t>
            </a:r>
            <a:r>
              <a:rPr lang="en-US" sz="1600" dirty="0"/>
              <a:t> </a:t>
            </a:r>
            <a:r>
              <a:rPr lang="en-US" sz="1600" dirty="0" err="1"/>
              <a:t>hdnio</a:t>
            </a:r>
            <a:r>
              <a:rPr lang="en-US" sz="1600" dirty="0"/>
              <a:t> </a:t>
            </a:r>
            <a:r>
              <a:rPr lang="en-US" sz="1600" dirty="0" err="1"/>
              <a:t>uqf</a:t>
            </a:r>
            <a:r>
              <a:rPr lang="en-US" sz="1600" dirty="0"/>
              <a:t> </a:t>
            </a:r>
            <a:r>
              <a:rPr lang="en-US" sz="1600" dirty="0" err="1"/>
              <a:t>smqsdgho</a:t>
            </a:r>
            <a:r>
              <a:rPr lang="en-US" sz="1600" dirty="0"/>
              <a:t> </a:t>
            </a:r>
            <a:r>
              <a:rPr lang="en-US" sz="1600" dirty="0" err="1"/>
              <a:t>zq</a:t>
            </a:r>
            <a:r>
              <a:rPr lang="en-US" sz="1600" dirty="0"/>
              <a:t> </a:t>
            </a:r>
            <a:r>
              <a:rPr lang="en-US" sz="1600" dirty="0" err="1"/>
              <a:t>hpd</a:t>
            </a:r>
            <a:r>
              <a:rPr lang="en-US" sz="1600" dirty="0"/>
              <a:t> </a:t>
            </a:r>
            <a:r>
              <a:rPr lang="en-US" sz="1600" dirty="0" err="1"/>
              <a:t>tzdcf</a:t>
            </a:r>
            <a:r>
              <a:rPr lang="en-US" sz="1600" dirty="0"/>
              <a:t> </a:t>
            </a:r>
            <a:r>
              <a:rPr lang="en-US" sz="1600" dirty="0" err="1"/>
              <a:t>xzcc</a:t>
            </a:r>
            <a:r>
              <a:rPr lang="en-US" sz="1600" dirty="0"/>
              <a:t> ed </a:t>
            </a:r>
            <a:r>
              <a:rPr lang="en-US" sz="1600" dirty="0" err="1"/>
              <a:t>zqhnmfksdf</a:t>
            </a:r>
            <a:r>
              <a:rPr lang="en-US" sz="1600" dirty="0"/>
              <a:t>, </a:t>
            </a:r>
            <a:r>
              <a:rPr lang="en-US" sz="1600" dirty="0" err="1"/>
              <a:t>uo</a:t>
            </a:r>
            <a:r>
              <a:rPr lang="en-US" sz="1600" dirty="0"/>
              <a:t> u </a:t>
            </a:r>
            <a:r>
              <a:rPr lang="en-US" sz="1600" dirty="0" err="1"/>
              <a:t>gndjzdx</a:t>
            </a:r>
            <a:r>
              <a:rPr lang="en-US" sz="1600" dirty="0"/>
              <a:t> hm </a:t>
            </a:r>
            <a:r>
              <a:rPr lang="en-US" sz="1600" dirty="0" err="1"/>
              <a:t>xpuh</a:t>
            </a:r>
            <a:r>
              <a:rPr lang="en-US" sz="1600" dirty="0"/>
              <a:t> </a:t>
            </a:r>
            <a:r>
              <a:rPr lang="en-US" sz="1600" dirty="0" err="1"/>
              <a:t>xzcc</a:t>
            </a:r>
            <a:r>
              <a:rPr lang="en-US" sz="1600" dirty="0"/>
              <a:t> ed </a:t>
            </a:r>
            <a:r>
              <a:rPr lang="en-US" sz="1600" dirty="0" err="1"/>
              <a:t>cdunqdf</a:t>
            </a:r>
            <a:r>
              <a:rPr lang="en-US" sz="1600" dirty="0"/>
              <a:t> </a:t>
            </a:r>
            <a:r>
              <a:rPr lang="en-US" sz="1600" dirty="0" err="1"/>
              <a:t>zq</a:t>
            </a:r>
            <a:r>
              <a:rPr lang="en-US" sz="1600" dirty="0"/>
              <a:t> </a:t>
            </a:r>
            <a:r>
              <a:rPr lang="en-US" sz="1600" dirty="0" err="1"/>
              <a:t>mhpdn</a:t>
            </a:r>
            <a:r>
              <a:rPr lang="en-US" sz="1600" dirty="0"/>
              <a:t> </a:t>
            </a:r>
            <a:r>
              <a:rPr lang="en-US" sz="1600" dirty="0" err="1"/>
              <a:t>smknodo</a:t>
            </a:r>
            <a:r>
              <a:rPr lang="en-US" sz="1600" dirty="0"/>
              <a:t>. </a:t>
            </a:r>
            <a:r>
              <a:rPr lang="en-US" sz="1600" dirty="0" err="1"/>
              <a:t>xd</a:t>
            </a:r>
            <a:r>
              <a:rPr lang="en-US" sz="1600" dirty="0"/>
              <a:t> </a:t>
            </a:r>
            <a:r>
              <a:rPr lang="en-US" sz="1600" dirty="0" err="1"/>
              <a:t>xzcc</a:t>
            </a:r>
            <a:r>
              <a:rPr lang="en-US" sz="1600" dirty="0"/>
              <a:t> </a:t>
            </a:r>
            <a:r>
              <a:rPr lang="en-US" sz="1600" dirty="0" err="1"/>
              <a:t>dbgcuzq</a:t>
            </a:r>
            <a:r>
              <a:rPr lang="en-US" sz="1600" dirty="0"/>
              <a:t> </a:t>
            </a:r>
            <a:r>
              <a:rPr lang="en-US" sz="1600" dirty="0" err="1"/>
              <a:t>hpd</a:t>
            </a:r>
            <a:r>
              <a:rPr lang="en-US" sz="1600" dirty="0"/>
              <a:t> </a:t>
            </a:r>
            <a:r>
              <a:rPr lang="en-US" sz="1600" dirty="0" err="1"/>
              <a:t>imhzjuhzmq</a:t>
            </a:r>
            <a:r>
              <a:rPr lang="en-US" sz="1600" dirty="0"/>
              <a:t> </a:t>
            </a:r>
            <a:r>
              <a:rPr lang="en-US" sz="1600" dirty="0" err="1"/>
              <a:t>tmn</a:t>
            </a:r>
            <a:r>
              <a:rPr lang="en-US" sz="1600" dirty="0"/>
              <a:t> </a:t>
            </a:r>
            <a:r>
              <a:rPr lang="en-US" sz="1600" dirty="0" err="1"/>
              <a:t>junzmko</a:t>
            </a:r>
            <a:r>
              <a:rPr lang="en-US" sz="1600" dirty="0"/>
              <a:t> </a:t>
            </a:r>
            <a:r>
              <a:rPr lang="en-US" sz="1600" dirty="0" err="1"/>
              <a:t>uogdsho</a:t>
            </a:r>
            <a:r>
              <a:rPr lang="en-US" sz="1600" dirty="0"/>
              <a:t> mt </a:t>
            </a:r>
            <a:r>
              <a:rPr lang="en-US" sz="1600" dirty="0" err="1"/>
              <a:t>mkn</a:t>
            </a:r>
            <a:r>
              <a:rPr lang="en-US" sz="1600" dirty="0"/>
              <a:t> </a:t>
            </a:r>
            <a:r>
              <a:rPr lang="en-US" sz="1600" dirty="0" err="1"/>
              <a:t>iuvmn</a:t>
            </a:r>
            <a:r>
              <a:rPr lang="en-US" sz="1600" dirty="0"/>
              <a:t>, </a:t>
            </a:r>
            <a:r>
              <a:rPr lang="en-US" sz="1600" dirty="0" err="1"/>
              <a:t>zqsckfzqa</a:t>
            </a:r>
            <a:r>
              <a:rPr lang="en-US" sz="1600" dirty="0"/>
              <a:t> </a:t>
            </a:r>
            <a:r>
              <a:rPr lang="en-US" sz="1600" dirty="0" err="1"/>
              <a:t>hpd</a:t>
            </a:r>
            <a:r>
              <a:rPr lang="en-US" sz="1600" dirty="0"/>
              <a:t> </a:t>
            </a:r>
            <a:r>
              <a:rPr lang="en-US" sz="1600" dirty="0" err="1"/>
              <a:t>smnd</a:t>
            </a:r>
            <a:r>
              <a:rPr lang="en-US" sz="1600" dirty="0"/>
              <a:t> </a:t>
            </a:r>
            <a:r>
              <a:rPr lang="en-US" sz="1600" dirty="0" err="1"/>
              <a:t>smknod</a:t>
            </a:r>
            <a:r>
              <a:rPr lang="en-US" sz="1600" dirty="0"/>
              <a:t> </a:t>
            </a:r>
            <a:r>
              <a:rPr lang="en-US" sz="1600" dirty="0" err="1"/>
              <a:t>odwkdqsd</a:t>
            </a:r>
            <a:r>
              <a:rPr lang="en-US" sz="1600" dirty="0"/>
              <a:t> </a:t>
            </a:r>
            <a:r>
              <a:rPr lang="en-US" sz="1600" dirty="0" err="1"/>
              <a:t>zq</a:t>
            </a:r>
            <a:r>
              <a:rPr lang="en-US" sz="1600" dirty="0"/>
              <a:t> </a:t>
            </a:r>
            <a:r>
              <a:rPr lang="en-US" sz="1600" dirty="0" err="1"/>
              <a:t>mkn</a:t>
            </a:r>
            <a:r>
              <a:rPr lang="en-US" sz="1600" dirty="0"/>
              <a:t> </a:t>
            </a:r>
            <a:r>
              <a:rPr lang="en-US" sz="1600" dirty="0" err="1"/>
              <a:t>sknnzskcki</a:t>
            </a:r>
            <a:r>
              <a:rPr lang="en-US" sz="1600" dirty="0"/>
              <a:t>, </a:t>
            </a:r>
            <a:r>
              <a:rPr lang="en-US" sz="1600" dirty="0" err="1"/>
              <a:t>iuhp</a:t>
            </a:r>
            <a:r>
              <a:rPr lang="en-US" sz="1600" dirty="0"/>
              <a:t> </a:t>
            </a:r>
            <a:r>
              <a:rPr lang="en-US" sz="1600" dirty="0" err="1"/>
              <a:t>ndwkzndidqho</a:t>
            </a:r>
            <a:r>
              <a:rPr lang="en-US" sz="1600" dirty="0"/>
              <a:t>, </a:t>
            </a:r>
            <a:r>
              <a:rPr lang="en-US" sz="1600" dirty="0" err="1"/>
              <a:t>okggmnhzqa</a:t>
            </a:r>
            <a:r>
              <a:rPr lang="en-US" sz="1600" dirty="0"/>
              <a:t> </a:t>
            </a:r>
            <a:r>
              <a:rPr lang="en-US" sz="1600" dirty="0" err="1"/>
              <a:t>undu</a:t>
            </a:r>
            <a:r>
              <a:rPr lang="en-US" sz="1600" dirty="0"/>
              <a:t>, </a:t>
            </a:r>
            <a:r>
              <a:rPr lang="en-US" sz="1600" dirty="0" err="1"/>
              <a:t>sm-mgo</a:t>
            </a:r>
            <a:r>
              <a:rPr lang="en-US" sz="1600" dirty="0"/>
              <a:t>, </a:t>
            </a:r>
            <a:r>
              <a:rPr lang="en-US" sz="1600" dirty="0" err="1"/>
              <a:t>dhs</a:t>
            </a:r>
            <a:r>
              <a:rPr lang="en-US" sz="1600" dirty="0"/>
              <a:t>. </a:t>
            </a:r>
          </a:p>
        </p:txBody>
      </p:sp>
      <p:sp>
        <p:nvSpPr>
          <p:cNvPr id="10" name="Speech Bubble: Rectangle 9">
            <a:extLst>
              <a:ext uri="{FF2B5EF4-FFF2-40B4-BE49-F238E27FC236}">
                <a16:creationId xmlns:a16="http://schemas.microsoft.com/office/drawing/2014/main" id="{2AA9DA4D-1911-46A8-964D-8CE90AE04779}"/>
              </a:ext>
            </a:extLst>
          </p:cNvPr>
          <p:cNvSpPr/>
          <p:nvPr/>
        </p:nvSpPr>
        <p:spPr>
          <a:xfrm>
            <a:off x="2906486" y="2560320"/>
            <a:ext cx="6279443" cy="3148149"/>
          </a:xfrm>
          <a:prstGeom prst="wedgeRectCallout">
            <a:avLst>
              <a:gd name="adj1" fmla="val -56509"/>
              <a:gd name="adj2" fmla="val 30953"/>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0F8A54E0-831E-493E-9B12-6B4E9BB1E1A0}"/>
                  </a:ext>
                </a:extLst>
              </p:cNvPr>
              <p:cNvSpPr txBox="1"/>
              <p:nvPr/>
            </p:nvSpPr>
            <p:spPr>
              <a:xfrm>
                <a:off x="3048000" y="5819503"/>
                <a:ext cx="5841274" cy="375552"/>
              </a:xfrm>
              <a:prstGeom prst="rect">
                <a:avLst/>
              </a:prstGeom>
              <a:noFill/>
            </p:spPr>
            <p:txBody>
              <a:bodyPr wrap="square" rtlCol="0">
                <a:spAutoFit/>
              </a:bodyPr>
              <a:lstStyle/>
              <a:p>
                <a:r>
                  <a:rPr lang="en-US" b="1" dirty="0">
                    <a:solidFill>
                      <a:srgbClr val="0070C0"/>
                    </a:solidFill>
                  </a:rPr>
                  <a:t>Try all possible substitutions? 26! = </a:t>
                </a:r>
                <a14:m>
                  <m:oMath xmlns:m="http://schemas.openxmlformats.org/officeDocument/2006/math">
                    <m:r>
                      <a:rPr lang="en-US" b="1" i="1" smtClean="0">
                        <a:solidFill>
                          <a:srgbClr val="0070C0"/>
                        </a:solidFill>
                        <a:latin typeface="Cambria Math" panose="02040503050406030204" pitchFamily="18" charset="0"/>
                      </a:rPr>
                      <m:t>𝟒</m:t>
                    </m:r>
                    <m:r>
                      <a:rPr lang="en-US" b="1" i="1" smtClean="0">
                        <a:solidFill>
                          <a:srgbClr val="0070C0"/>
                        </a:solidFill>
                        <a:latin typeface="Cambria Math" panose="02040503050406030204" pitchFamily="18" charset="0"/>
                      </a:rPr>
                      <m:t>×</m:t>
                    </m:r>
                    <m:sSup>
                      <m:sSupPr>
                        <m:ctrlPr>
                          <a:rPr lang="en-US" b="1" i="1" smtClean="0">
                            <a:solidFill>
                              <a:srgbClr val="0070C0"/>
                            </a:solidFill>
                            <a:latin typeface="Cambria Math" panose="02040503050406030204" pitchFamily="18" charset="0"/>
                          </a:rPr>
                        </m:ctrlPr>
                      </m:sSupPr>
                      <m:e>
                        <m:r>
                          <a:rPr lang="en-US" b="1" i="1" smtClean="0">
                            <a:solidFill>
                              <a:srgbClr val="0070C0"/>
                            </a:solidFill>
                            <a:latin typeface="Cambria Math" panose="02040503050406030204" pitchFamily="18" charset="0"/>
                          </a:rPr>
                          <m:t>𝟏𝟎</m:t>
                        </m:r>
                      </m:e>
                      <m:sup>
                        <m:r>
                          <a:rPr lang="en-US" b="1" i="1" smtClean="0">
                            <a:solidFill>
                              <a:srgbClr val="0070C0"/>
                            </a:solidFill>
                            <a:latin typeface="Cambria Math" panose="02040503050406030204" pitchFamily="18" charset="0"/>
                          </a:rPr>
                          <m:t>𝟐𝟔</m:t>
                        </m:r>
                      </m:sup>
                    </m:sSup>
                  </m:oMath>
                </a14:m>
                <a:endParaRPr lang="en-US" b="1" dirty="0">
                  <a:solidFill>
                    <a:srgbClr val="0070C0"/>
                  </a:solidFill>
                </a:endParaRPr>
              </a:p>
            </p:txBody>
          </p:sp>
        </mc:Choice>
        <mc:Fallback>
          <p:sp>
            <p:nvSpPr>
              <p:cNvPr id="11" name="TextBox 10">
                <a:extLst>
                  <a:ext uri="{FF2B5EF4-FFF2-40B4-BE49-F238E27FC236}">
                    <a16:creationId xmlns:a16="http://schemas.microsoft.com/office/drawing/2014/main" id="{0F8A54E0-831E-493E-9B12-6B4E9BB1E1A0}"/>
                  </a:ext>
                </a:extLst>
              </p:cNvPr>
              <p:cNvSpPr txBox="1">
                <a:spLocks noRot="1" noChangeAspect="1" noMove="1" noResize="1" noEditPoints="1" noAdjustHandles="1" noChangeArrowheads="1" noChangeShapeType="1" noTextEdit="1"/>
              </p:cNvSpPr>
              <p:nvPr/>
            </p:nvSpPr>
            <p:spPr>
              <a:xfrm>
                <a:off x="3048000" y="5819503"/>
                <a:ext cx="5841274" cy="375552"/>
              </a:xfrm>
              <a:prstGeom prst="rect">
                <a:avLst/>
              </a:prstGeom>
              <a:blipFill>
                <a:blip r:embed="rId3"/>
                <a:stretch>
                  <a:fillRect l="-870" t="-6667" b="-23333"/>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CBD650E7-4A90-0C9A-981C-20212CE1709A}"/>
              </a:ext>
            </a:extLst>
          </p:cNvPr>
          <p:cNvPicPr>
            <a:picLocks noChangeAspect="1"/>
          </p:cNvPicPr>
          <p:nvPr/>
        </p:nvPicPr>
        <p:blipFill>
          <a:blip r:embed="rId4"/>
          <a:stretch>
            <a:fillRect/>
          </a:stretch>
        </p:blipFill>
        <p:spPr>
          <a:xfrm>
            <a:off x="9668604" y="4997171"/>
            <a:ext cx="651563" cy="1041743"/>
          </a:xfrm>
          <a:prstGeom prst="rect">
            <a:avLst/>
          </a:prstGeom>
        </p:spPr>
      </p:pic>
      <p:pic>
        <p:nvPicPr>
          <p:cNvPr id="4" name="Picture 3">
            <a:extLst>
              <a:ext uri="{FF2B5EF4-FFF2-40B4-BE49-F238E27FC236}">
                <a16:creationId xmlns:a16="http://schemas.microsoft.com/office/drawing/2014/main" id="{4A483DBC-1BEC-555E-3ACE-1C71BD776F49}"/>
              </a:ext>
            </a:extLst>
          </p:cNvPr>
          <p:cNvPicPr>
            <a:picLocks noChangeAspect="1"/>
          </p:cNvPicPr>
          <p:nvPr/>
        </p:nvPicPr>
        <p:blipFill>
          <a:blip r:embed="rId5"/>
          <a:stretch>
            <a:fillRect/>
          </a:stretch>
        </p:blipFill>
        <p:spPr>
          <a:xfrm>
            <a:off x="1508116" y="4986797"/>
            <a:ext cx="689498" cy="1041742"/>
          </a:xfrm>
          <a:prstGeom prst="rect">
            <a:avLst/>
          </a:prstGeom>
        </p:spPr>
      </p:pic>
    </p:spTree>
    <p:extLst>
      <p:ext uri="{BB962C8B-B14F-4D97-AF65-F5344CB8AC3E}">
        <p14:creationId xmlns:p14="http://schemas.microsoft.com/office/powerpoint/2010/main" val="311489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2D07-6D70-419D-A344-0BDD2212B3C3}"/>
              </a:ext>
            </a:extLst>
          </p:cNvPr>
          <p:cNvSpPr>
            <a:spLocks noGrp="1"/>
          </p:cNvSpPr>
          <p:nvPr>
            <p:ph type="title"/>
          </p:nvPr>
        </p:nvSpPr>
        <p:spPr/>
        <p:txBody>
          <a:bodyPr/>
          <a:lstStyle/>
          <a:p>
            <a:r>
              <a:rPr lang="en-US" dirty="0">
                <a:latin typeface="Aptos Display"/>
              </a:rPr>
              <a:t>Attack: frequency analysis</a:t>
            </a:r>
          </a:p>
        </p:txBody>
      </p:sp>
      <p:pic>
        <p:nvPicPr>
          <p:cNvPr id="6" name="Picture 5">
            <a:extLst>
              <a:ext uri="{FF2B5EF4-FFF2-40B4-BE49-F238E27FC236}">
                <a16:creationId xmlns:a16="http://schemas.microsoft.com/office/drawing/2014/main" id="{FC0B7EAE-2AC5-47C1-AE20-454619F498E1}"/>
              </a:ext>
            </a:extLst>
          </p:cNvPr>
          <p:cNvPicPr>
            <a:picLocks noChangeAspect="1"/>
          </p:cNvPicPr>
          <p:nvPr/>
        </p:nvPicPr>
        <p:blipFill>
          <a:blip r:embed="rId3"/>
          <a:stretch>
            <a:fillRect/>
          </a:stretch>
        </p:blipFill>
        <p:spPr>
          <a:xfrm>
            <a:off x="7594100" y="442030"/>
            <a:ext cx="4360817" cy="5973939"/>
          </a:xfrm>
          <a:prstGeom prst="rect">
            <a:avLst/>
          </a:prstGeom>
        </p:spPr>
      </p:pic>
      <p:sp>
        <p:nvSpPr>
          <p:cNvPr id="3" name="Rectangle 2">
            <a:extLst>
              <a:ext uri="{FF2B5EF4-FFF2-40B4-BE49-F238E27FC236}">
                <a16:creationId xmlns:a16="http://schemas.microsoft.com/office/drawing/2014/main" id="{54E3FDB4-5CDB-3859-1D65-D1240DC482CA}"/>
              </a:ext>
            </a:extLst>
          </p:cNvPr>
          <p:cNvSpPr/>
          <p:nvPr/>
        </p:nvSpPr>
        <p:spPr>
          <a:xfrm>
            <a:off x="740228" y="1815348"/>
            <a:ext cx="6096000" cy="2800767"/>
          </a:xfrm>
          <a:prstGeom prst="rect">
            <a:avLst/>
          </a:prstGeom>
        </p:spPr>
        <p:txBody>
          <a:bodyPr>
            <a:spAutoFit/>
          </a:bodyPr>
          <a:lstStyle/>
          <a:p>
            <a:r>
              <a:rPr lang="en-US" sz="1600" dirty="0" err="1">
                <a:highlight>
                  <a:srgbClr val="FFFF00"/>
                </a:highlight>
                <a:latin typeface="Aptos"/>
              </a:rPr>
              <a:t>hpd</a:t>
            </a:r>
            <a:r>
              <a:rPr lang="en-US" sz="1600" dirty="0">
                <a:latin typeface="Aptos"/>
              </a:rPr>
              <a:t> </a:t>
            </a:r>
            <a:r>
              <a:rPr lang="en-US" sz="1600" dirty="0" err="1">
                <a:latin typeface="Aptos"/>
              </a:rPr>
              <a:t>mevdshzjdo</a:t>
            </a:r>
            <a:r>
              <a:rPr lang="en-US" sz="1600" dirty="0">
                <a:latin typeface="Aptos"/>
              </a:rPr>
              <a:t> mt </a:t>
            </a:r>
            <a:r>
              <a:rPr lang="en-US" sz="1600" dirty="0" err="1">
                <a:latin typeface="Aptos"/>
              </a:rPr>
              <a:t>hpzo</a:t>
            </a:r>
            <a:r>
              <a:rPr lang="en-US" sz="1600" dirty="0">
                <a:latin typeface="Aptos"/>
              </a:rPr>
              <a:t> </a:t>
            </a:r>
            <a:r>
              <a:rPr lang="en-US" sz="1600" dirty="0" err="1">
                <a:latin typeface="Aptos"/>
              </a:rPr>
              <a:t>smknod</a:t>
            </a:r>
            <a:r>
              <a:rPr lang="en-US" sz="1600" dirty="0">
                <a:latin typeface="Aptos"/>
              </a:rPr>
              <a:t> und hm </a:t>
            </a:r>
            <a:r>
              <a:rPr lang="en-US" sz="1600" dirty="0" err="1">
                <a:latin typeface="Aptos"/>
              </a:rPr>
              <a:t>zqtmni</a:t>
            </a:r>
            <a:r>
              <a:rPr lang="en-US" sz="1600" dirty="0">
                <a:latin typeface="Aptos"/>
              </a:rPr>
              <a:t> </a:t>
            </a:r>
            <a:r>
              <a:rPr lang="en-US" sz="1600" dirty="0" err="1">
                <a:latin typeface="Aptos"/>
              </a:rPr>
              <a:t>ohkfdqho</a:t>
            </a:r>
            <a:r>
              <a:rPr lang="en-US" sz="1600" dirty="0">
                <a:latin typeface="Aptos"/>
              </a:rPr>
              <a:t> </a:t>
            </a:r>
            <a:r>
              <a:rPr lang="en-US" sz="1600" dirty="0" err="1">
                <a:latin typeface="Aptos"/>
              </a:rPr>
              <a:t>uemkh</a:t>
            </a:r>
            <a:r>
              <a:rPr lang="en-US" sz="1600" dirty="0">
                <a:latin typeface="Aptos"/>
              </a:rPr>
              <a:t> </a:t>
            </a:r>
            <a:r>
              <a:rPr lang="en-US" sz="1600" dirty="0" err="1">
                <a:latin typeface="Aptos"/>
              </a:rPr>
              <a:t>hpd</a:t>
            </a:r>
            <a:r>
              <a:rPr lang="en-US" sz="1600" dirty="0">
                <a:latin typeface="Aptos"/>
              </a:rPr>
              <a:t> </a:t>
            </a:r>
            <a:r>
              <a:rPr lang="en-US" sz="1600" dirty="0" err="1">
                <a:latin typeface="Aptos"/>
              </a:rPr>
              <a:t>tzdcf</a:t>
            </a:r>
            <a:r>
              <a:rPr lang="en-US" sz="1600" dirty="0">
                <a:latin typeface="Aptos"/>
              </a:rPr>
              <a:t> </a:t>
            </a:r>
            <a:r>
              <a:rPr lang="en-US" sz="1600" dirty="0">
                <a:highlight>
                  <a:srgbClr val="00FFFF"/>
                </a:highlight>
                <a:latin typeface="Aptos"/>
              </a:rPr>
              <a:t>mt</a:t>
            </a:r>
            <a:r>
              <a:rPr lang="en-US" sz="1600" dirty="0">
                <a:latin typeface="Aptos"/>
              </a:rPr>
              <a:t> </a:t>
            </a:r>
            <a:r>
              <a:rPr lang="en-US" sz="1600" dirty="0" err="1">
                <a:latin typeface="Aptos"/>
              </a:rPr>
              <a:t>smigkhdn</a:t>
            </a:r>
            <a:r>
              <a:rPr lang="en-US" sz="1600" dirty="0">
                <a:latin typeface="Aptos"/>
              </a:rPr>
              <a:t> </a:t>
            </a:r>
            <a:r>
              <a:rPr lang="en-US" sz="1600" dirty="0" err="1">
                <a:latin typeface="Aptos"/>
              </a:rPr>
              <a:t>oszdqsd</a:t>
            </a:r>
            <a:r>
              <a:rPr lang="en-US" sz="1600" dirty="0">
                <a:latin typeface="Aptos"/>
              </a:rPr>
              <a:t> </a:t>
            </a:r>
            <a:r>
              <a:rPr lang="en-US" sz="1600" dirty="0" err="1">
                <a:highlight>
                  <a:srgbClr val="00FF00"/>
                </a:highlight>
                <a:latin typeface="Aptos"/>
              </a:rPr>
              <a:t>uqf</a:t>
            </a:r>
            <a:r>
              <a:rPr lang="en-US" sz="1600" dirty="0">
                <a:latin typeface="Aptos"/>
              </a:rPr>
              <a:t> </a:t>
            </a:r>
            <a:r>
              <a:rPr lang="en-US" sz="1600" dirty="0" err="1">
                <a:latin typeface="Aptos"/>
              </a:rPr>
              <a:t>dqazqddnzqa</a:t>
            </a:r>
            <a:r>
              <a:rPr lang="en-US" sz="1600" dirty="0">
                <a:latin typeface="Aptos"/>
              </a:rPr>
              <a:t>, </a:t>
            </a:r>
            <a:r>
              <a:rPr lang="en-US" sz="1600" dirty="0" err="1">
                <a:highlight>
                  <a:srgbClr val="00FF00"/>
                </a:highlight>
                <a:latin typeface="Aptos"/>
              </a:rPr>
              <a:t>uqf</a:t>
            </a:r>
            <a:r>
              <a:rPr lang="en-US" sz="1600" dirty="0">
                <a:latin typeface="Aptos"/>
              </a:rPr>
              <a:t> hm </a:t>
            </a:r>
            <a:r>
              <a:rPr lang="en-US" sz="1600" dirty="0" err="1">
                <a:latin typeface="Aptos"/>
              </a:rPr>
              <a:t>zqhnmfksd</a:t>
            </a:r>
            <a:r>
              <a:rPr lang="en-US" sz="1600" dirty="0">
                <a:latin typeface="Aptos"/>
              </a:rPr>
              <a:t> </a:t>
            </a:r>
            <a:r>
              <a:rPr lang="en-US" sz="1600" dirty="0" err="1">
                <a:latin typeface="Aptos"/>
              </a:rPr>
              <a:t>hpdi</a:t>
            </a:r>
            <a:r>
              <a:rPr lang="en-US" sz="1600" dirty="0">
                <a:latin typeface="Aptos"/>
              </a:rPr>
              <a:t> hm </a:t>
            </a:r>
            <a:r>
              <a:rPr lang="en-US" sz="1600" dirty="0" err="1">
                <a:highlight>
                  <a:srgbClr val="FFFF00"/>
                </a:highlight>
                <a:latin typeface="Aptos"/>
              </a:rPr>
              <a:t>hpd</a:t>
            </a:r>
            <a:r>
              <a:rPr lang="en-US" sz="1600" dirty="0">
                <a:latin typeface="Aptos"/>
              </a:rPr>
              <a:t> </a:t>
            </a:r>
            <a:r>
              <a:rPr lang="en-US" sz="1600" dirty="0" err="1">
                <a:latin typeface="Aptos"/>
              </a:rPr>
              <a:t>xzfd</a:t>
            </a:r>
            <a:r>
              <a:rPr lang="en-US" sz="1600" dirty="0">
                <a:latin typeface="Aptos"/>
              </a:rPr>
              <a:t> </a:t>
            </a:r>
            <a:r>
              <a:rPr lang="en-US" sz="1600" dirty="0" err="1">
                <a:latin typeface="Aptos"/>
              </a:rPr>
              <a:t>nuqad</a:t>
            </a:r>
            <a:r>
              <a:rPr lang="en-US" sz="1600" dirty="0">
                <a:latin typeface="Aptos"/>
              </a:rPr>
              <a:t> </a:t>
            </a:r>
            <a:r>
              <a:rPr lang="en-US" sz="1600" dirty="0">
                <a:highlight>
                  <a:srgbClr val="00FFFF"/>
                </a:highlight>
                <a:latin typeface="Aptos"/>
              </a:rPr>
              <a:t>mt</a:t>
            </a:r>
            <a:r>
              <a:rPr lang="en-US" sz="1600" dirty="0">
                <a:latin typeface="Aptos"/>
              </a:rPr>
              <a:t> </a:t>
            </a:r>
            <a:r>
              <a:rPr lang="en-US" sz="1600" dirty="0" err="1">
                <a:latin typeface="Aptos"/>
              </a:rPr>
              <a:t>dbszhzqa</a:t>
            </a:r>
            <a:r>
              <a:rPr lang="en-US" sz="1600" dirty="0">
                <a:latin typeface="Aptos"/>
              </a:rPr>
              <a:t> </a:t>
            </a:r>
            <a:r>
              <a:rPr lang="en-US" sz="1600" dirty="0" err="1">
                <a:latin typeface="Aptos"/>
              </a:rPr>
              <a:t>uggczsuhzmqo</a:t>
            </a:r>
            <a:r>
              <a:rPr lang="en-US" sz="1600" dirty="0">
                <a:latin typeface="Aptos"/>
              </a:rPr>
              <a:t> mt </a:t>
            </a:r>
            <a:r>
              <a:rPr lang="en-US" sz="1600" dirty="0" err="1">
                <a:latin typeface="Aptos"/>
              </a:rPr>
              <a:t>smigkhuhzmq</a:t>
            </a:r>
            <a:r>
              <a:rPr lang="en-US" sz="1600" dirty="0">
                <a:latin typeface="Aptos"/>
              </a:rPr>
              <a:t> </a:t>
            </a:r>
            <a:r>
              <a:rPr lang="en-US" sz="1600" dirty="0" err="1">
                <a:highlight>
                  <a:srgbClr val="00FF00"/>
                </a:highlight>
                <a:latin typeface="Aptos"/>
              </a:rPr>
              <a:t>uqf</a:t>
            </a:r>
            <a:r>
              <a:rPr lang="en-US" sz="1600" dirty="0">
                <a:latin typeface="Aptos"/>
              </a:rPr>
              <a:t> </a:t>
            </a:r>
            <a:r>
              <a:rPr lang="en-US" sz="1600" dirty="0" err="1">
                <a:latin typeface="Aptos"/>
              </a:rPr>
              <a:t>hdspqmcmal</a:t>
            </a:r>
            <a:r>
              <a:rPr lang="en-US" sz="1600" dirty="0">
                <a:latin typeface="Aptos"/>
              </a:rPr>
              <a:t> </a:t>
            </a:r>
            <a:r>
              <a:rPr lang="en-US" sz="1600" dirty="0" err="1">
                <a:latin typeface="Aptos"/>
              </a:rPr>
              <a:t>zq</a:t>
            </a:r>
            <a:r>
              <a:rPr lang="en-US" sz="1600" dirty="0">
                <a:latin typeface="Aptos"/>
              </a:rPr>
              <a:t> </a:t>
            </a:r>
            <a:r>
              <a:rPr lang="en-US" sz="1600" dirty="0" err="1">
                <a:latin typeface="Aptos"/>
              </a:rPr>
              <a:t>omszdhl</a:t>
            </a:r>
            <a:r>
              <a:rPr lang="en-US" sz="1600" dirty="0">
                <a:latin typeface="Aptos"/>
              </a:rPr>
              <a:t>. xd </a:t>
            </a:r>
            <a:r>
              <a:rPr lang="en-US" sz="1600" dirty="0" err="1">
                <a:latin typeface="Aptos"/>
              </a:rPr>
              <a:t>xzcc</a:t>
            </a:r>
            <a:r>
              <a:rPr lang="en-US" sz="1600" dirty="0">
                <a:latin typeface="Aptos"/>
              </a:rPr>
              <a:t> </a:t>
            </a:r>
            <a:r>
              <a:rPr lang="en-US" sz="1600" dirty="0" err="1">
                <a:latin typeface="Aptos"/>
              </a:rPr>
              <a:t>dbgcuzq</a:t>
            </a:r>
            <a:r>
              <a:rPr lang="en-US" sz="1600" dirty="0">
                <a:latin typeface="Aptos"/>
              </a:rPr>
              <a:t> </a:t>
            </a:r>
            <a:r>
              <a:rPr lang="en-US" sz="1600" dirty="0" err="1">
                <a:latin typeface="Aptos"/>
              </a:rPr>
              <a:t>hpuh</a:t>
            </a:r>
            <a:r>
              <a:rPr lang="en-US" sz="1600" dirty="0">
                <a:latin typeface="Aptos"/>
              </a:rPr>
              <a:t> </a:t>
            </a:r>
            <a:r>
              <a:rPr lang="en-US" sz="1600" dirty="0" err="1">
                <a:latin typeface="Aptos"/>
              </a:rPr>
              <a:t>smigkhdn</a:t>
            </a:r>
            <a:r>
              <a:rPr lang="en-US" sz="1600" dirty="0">
                <a:latin typeface="Aptos"/>
              </a:rPr>
              <a:t> </a:t>
            </a:r>
            <a:r>
              <a:rPr lang="en-US" sz="1600" dirty="0" err="1">
                <a:latin typeface="Aptos"/>
              </a:rPr>
              <a:t>oszdqsd</a:t>
            </a:r>
            <a:r>
              <a:rPr lang="en-US" sz="1600" dirty="0">
                <a:latin typeface="Aptos"/>
              </a:rPr>
              <a:t> zo </a:t>
            </a:r>
            <a:r>
              <a:rPr lang="en-US" sz="1600" dirty="0" err="1">
                <a:latin typeface="Aptos"/>
              </a:rPr>
              <a:t>qmh</a:t>
            </a:r>
            <a:r>
              <a:rPr lang="en-US" sz="1600" dirty="0">
                <a:latin typeface="Aptos"/>
              </a:rPr>
              <a:t> </a:t>
            </a:r>
            <a:r>
              <a:rPr lang="en-US" sz="1600" dirty="0" err="1">
                <a:latin typeface="Aptos"/>
              </a:rPr>
              <a:t>vkoh</a:t>
            </a:r>
            <a:r>
              <a:rPr lang="en-US" sz="1600" dirty="0">
                <a:latin typeface="Aptos"/>
              </a:rPr>
              <a:t> </a:t>
            </a:r>
            <a:r>
              <a:rPr lang="en-US" sz="1600" dirty="0" err="1">
                <a:latin typeface="Aptos"/>
              </a:rPr>
              <a:t>uemkh</a:t>
            </a:r>
            <a:r>
              <a:rPr lang="en-US" sz="1600" dirty="0">
                <a:latin typeface="Aptos"/>
              </a:rPr>
              <a:t> </a:t>
            </a:r>
            <a:r>
              <a:rPr lang="en-US" sz="1600" dirty="0" err="1">
                <a:latin typeface="Aptos"/>
              </a:rPr>
              <a:t>gnmanuiizqa</a:t>
            </a:r>
            <a:r>
              <a:rPr lang="en-US" sz="1600" dirty="0">
                <a:latin typeface="Aptos"/>
              </a:rPr>
              <a:t>, </a:t>
            </a:r>
            <a:r>
              <a:rPr lang="en-US" sz="1600" dirty="0" err="1">
                <a:latin typeface="Aptos"/>
              </a:rPr>
              <a:t>ekh</a:t>
            </a:r>
            <a:r>
              <a:rPr lang="en-US" sz="1600" dirty="0">
                <a:latin typeface="Aptos"/>
              </a:rPr>
              <a:t> </a:t>
            </a:r>
            <a:r>
              <a:rPr lang="en-US" sz="1600" dirty="0" err="1">
                <a:latin typeface="Aptos"/>
              </a:rPr>
              <a:t>uemkh</a:t>
            </a:r>
            <a:r>
              <a:rPr lang="en-US" sz="1600" dirty="0">
                <a:latin typeface="Aptos"/>
              </a:rPr>
              <a:t> </a:t>
            </a:r>
            <a:r>
              <a:rPr lang="en-US" sz="1600" dirty="0" err="1">
                <a:latin typeface="Aptos"/>
              </a:rPr>
              <a:t>smigkhuhzmquc</a:t>
            </a:r>
            <a:r>
              <a:rPr lang="en-US" sz="1600" dirty="0">
                <a:latin typeface="Aptos"/>
              </a:rPr>
              <a:t> </a:t>
            </a:r>
            <a:r>
              <a:rPr lang="en-US" sz="1600" dirty="0" err="1">
                <a:latin typeface="Aptos"/>
              </a:rPr>
              <a:t>hpzqrzqa</a:t>
            </a:r>
            <a:r>
              <a:rPr lang="en-US" sz="1600" dirty="0">
                <a:latin typeface="Aptos"/>
              </a:rPr>
              <a:t> </a:t>
            </a:r>
            <a:r>
              <a:rPr lang="en-US" sz="1600" dirty="0" err="1">
                <a:latin typeface="Aptos"/>
              </a:rPr>
              <a:t>uqf</a:t>
            </a:r>
            <a:r>
              <a:rPr lang="en-US" sz="1600" dirty="0">
                <a:latin typeface="Aptos"/>
              </a:rPr>
              <a:t> </a:t>
            </a:r>
            <a:r>
              <a:rPr lang="en-US" sz="1600" dirty="0" err="1">
                <a:highlight>
                  <a:srgbClr val="FFFF00"/>
                </a:highlight>
                <a:latin typeface="Aptos"/>
              </a:rPr>
              <a:t>hpd</a:t>
            </a:r>
            <a:r>
              <a:rPr lang="en-US" sz="1600" dirty="0">
                <a:latin typeface="Aptos"/>
              </a:rPr>
              <a:t> </a:t>
            </a:r>
            <a:r>
              <a:rPr lang="en-US" sz="1600" dirty="0" err="1">
                <a:latin typeface="Aptos"/>
              </a:rPr>
              <a:t>ohkfl</a:t>
            </a:r>
            <a:r>
              <a:rPr lang="en-US" sz="1600" dirty="0">
                <a:latin typeface="Aptos"/>
              </a:rPr>
              <a:t> mt </a:t>
            </a:r>
            <a:r>
              <a:rPr lang="en-US" sz="1600" dirty="0" err="1">
                <a:latin typeface="Aptos"/>
              </a:rPr>
              <a:t>ucamnzhpio</a:t>
            </a:r>
            <a:r>
              <a:rPr lang="en-US" sz="1600" dirty="0">
                <a:latin typeface="Aptos"/>
              </a:rPr>
              <a:t>. </a:t>
            </a:r>
            <a:r>
              <a:rPr lang="en-US" sz="1600" dirty="0" err="1">
                <a:latin typeface="Aptos"/>
              </a:rPr>
              <a:t>zigmnhuqh</a:t>
            </a:r>
            <a:r>
              <a:rPr lang="en-US" sz="1600" dirty="0">
                <a:latin typeface="Aptos"/>
              </a:rPr>
              <a:t> </a:t>
            </a:r>
            <a:r>
              <a:rPr lang="en-US" sz="1600" dirty="0" err="1">
                <a:latin typeface="Aptos"/>
              </a:rPr>
              <a:t>hdnio</a:t>
            </a:r>
            <a:r>
              <a:rPr lang="en-US" sz="1600" dirty="0">
                <a:latin typeface="Aptos"/>
              </a:rPr>
              <a:t> </a:t>
            </a:r>
            <a:r>
              <a:rPr lang="en-US" sz="1600" dirty="0" err="1">
                <a:highlight>
                  <a:srgbClr val="00FF00"/>
                </a:highlight>
                <a:latin typeface="Aptos"/>
              </a:rPr>
              <a:t>uqf</a:t>
            </a:r>
            <a:r>
              <a:rPr lang="en-US" sz="1600" dirty="0">
                <a:latin typeface="Aptos"/>
              </a:rPr>
              <a:t> </a:t>
            </a:r>
            <a:r>
              <a:rPr lang="en-US" sz="1600" dirty="0" err="1">
                <a:latin typeface="Aptos"/>
              </a:rPr>
              <a:t>smqsdgho</a:t>
            </a:r>
            <a:r>
              <a:rPr lang="en-US" sz="1600" dirty="0">
                <a:latin typeface="Aptos"/>
              </a:rPr>
              <a:t> </a:t>
            </a:r>
            <a:r>
              <a:rPr lang="en-US" sz="1600" dirty="0" err="1">
                <a:latin typeface="Aptos"/>
              </a:rPr>
              <a:t>zq</a:t>
            </a:r>
            <a:r>
              <a:rPr lang="en-US" sz="1600" dirty="0">
                <a:latin typeface="Aptos"/>
              </a:rPr>
              <a:t> </a:t>
            </a:r>
            <a:r>
              <a:rPr lang="en-US" sz="1600" dirty="0" err="1">
                <a:highlight>
                  <a:srgbClr val="FFFF00"/>
                </a:highlight>
                <a:latin typeface="Aptos"/>
              </a:rPr>
              <a:t>hpd</a:t>
            </a:r>
            <a:r>
              <a:rPr lang="en-US" sz="1600" dirty="0">
                <a:latin typeface="Aptos"/>
              </a:rPr>
              <a:t> </a:t>
            </a:r>
            <a:r>
              <a:rPr lang="en-US" sz="1600" dirty="0" err="1">
                <a:latin typeface="Aptos"/>
              </a:rPr>
              <a:t>tzdcf</a:t>
            </a:r>
            <a:r>
              <a:rPr lang="en-US" sz="1600" dirty="0">
                <a:latin typeface="Aptos"/>
              </a:rPr>
              <a:t> </a:t>
            </a:r>
            <a:r>
              <a:rPr lang="en-US" sz="1600" dirty="0" err="1">
                <a:latin typeface="Aptos"/>
              </a:rPr>
              <a:t>xzcc</a:t>
            </a:r>
            <a:r>
              <a:rPr lang="en-US" sz="1600" dirty="0">
                <a:latin typeface="Aptos"/>
              </a:rPr>
              <a:t> ed </a:t>
            </a:r>
            <a:r>
              <a:rPr lang="en-US" sz="1600" dirty="0" err="1">
                <a:latin typeface="Aptos"/>
              </a:rPr>
              <a:t>zqhnmfksdf</a:t>
            </a:r>
            <a:r>
              <a:rPr lang="en-US" sz="1600" dirty="0">
                <a:latin typeface="Aptos"/>
              </a:rPr>
              <a:t>, </a:t>
            </a:r>
            <a:r>
              <a:rPr lang="en-US" sz="1600" dirty="0" err="1">
                <a:latin typeface="Aptos"/>
              </a:rPr>
              <a:t>uo</a:t>
            </a:r>
            <a:r>
              <a:rPr lang="en-US" sz="1600" dirty="0">
                <a:latin typeface="Aptos"/>
              </a:rPr>
              <a:t> </a:t>
            </a:r>
            <a:r>
              <a:rPr lang="en-US" sz="1600" dirty="0">
                <a:highlight>
                  <a:srgbClr val="00FF00"/>
                </a:highlight>
                <a:latin typeface="Aptos"/>
              </a:rPr>
              <a:t>u</a:t>
            </a:r>
            <a:r>
              <a:rPr lang="en-US" sz="1600" dirty="0">
                <a:latin typeface="Aptos"/>
              </a:rPr>
              <a:t> </a:t>
            </a:r>
            <a:r>
              <a:rPr lang="en-US" sz="1600" dirty="0" err="1">
                <a:latin typeface="Aptos"/>
              </a:rPr>
              <a:t>gndjzdx</a:t>
            </a:r>
            <a:r>
              <a:rPr lang="en-US" sz="1600" dirty="0">
                <a:latin typeface="Aptos"/>
              </a:rPr>
              <a:t> hm </a:t>
            </a:r>
            <a:r>
              <a:rPr lang="en-US" sz="1600" dirty="0" err="1">
                <a:latin typeface="Aptos"/>
              </a:rPr>
              <a:t>xpuh</a:t>
            </a:r>
            <a:r>
              <a:rPr lang="en-US" sz="1600" dirty="0">
                <a:latin typeface="Aptos"/>
              </a:rPr>
              <a:t> </a:t>
            </a:r>
            <a:r>
              <a:rPr lang="en-US" sz="1600" dirty="0" err="1">
                <a:latin typeface="Aptos"/>
              </a:rPr>
              <a:t>xzcc</a:t>
            </a:r>
            <a:r>
              <a:rPr lang="en-US" sz="1600" dirty="0">
                <a:latin typeface="Aptos"/>
              </a:rPr>
              <a:t> ed </a:t>
            </a:r>
            <a:r>
              <a:rPr lang="en-US" sz="1600" dirty="0" err="1">
                <a:latin typeface="Aptos"/>
              </a:rPr>
              <a:t>cdunqdf</a:t>
            </a:r>
            <a:r>
              <a:rPr lang="en-US" sz="1600" dirty="0">
                <a:latin typeface="Aptos"/>
              </a:rPr>
              <a:t> </a:t>
            </a:r>
            <a:r>
              <a:rPr lang="en-US" sz="1600" dirty="0" err="1">
                <a:latin typeface="Aptos"/>
              </a:rPr>
              <a:t>zq</a:t>
            </a:r>
            <a:r>
              <a:rPr lang="en-US" sz="1600" dirty="0">
                <a:latin typeface="Aptos"/>
              </a:rPr>
              <a:t> </a:t>
            </a:r>
            <a:r>
              <a:rPr lang="en-US" sz="1600" dirty="0" err="1">
                <a:latin typeface="Aptos"/>
              </a:rPr>
              <a:t>mhpdn</a:t>
            </a:r>
            <a:r>
              <a:rPr lang="en-US" sz="1600" dirty="0">
                <a:latin typeface="Aptos"/>
              </a:rPr>
              <a:t> </a:t>
            </a:r>
            <a:r>
              <a:rPr lang="en-US" sz="1600" dirty="0" err="1">
                <a:latin typeface="Aptos"/>
              </a:rPr>
              <a:t>smknodo</a:t>
            </a:r>
            <a:r>
              <a:rPr lang="en-US" sz="1600" dirty="0">
                <a:latin typeface="Aptos"/>
              </a:rPr>
              <a:t>. xd </a:t>
            </a:r>
            <a:r>
              <a:rPr lang="en-US" sz="1600" dirty="0" err="1">
                <a:latin typeface="Aptos"/>
              </a:rPr>
              <a:t>xzcc</a:t>
            </a:r>
            <a:r>
              <a:rPr lang="en-US" sz="1600" dirty="0">
                <a:latin typeface="Aptos"/>
              </a:rPr>
              <a:t> </a:t>
            </a:r>
            <a:r>
              <a:rPr lang="en-US" sz="1600" dirty="0" err="1">
                <a:latin typeface="Aptos"/>
              </a:rPr>
              <a:t>dbgcuzq</a:t>
            </a:r>
            <a:r>
              <a:rPr lang="en-US" sz="1600" dirty="0">
                <a:latin typeface="Aptos"/>
              </a:rPr>
              <a:t> </a:t>
            </a:r>
            <a:r>
              <a:rPr lang="en-US" sz="1600" dirty="0" err="1">
                <a:highlight>
                  <a:srgbClr val="FFFF00"/>
                </a:highlight>
                <a:latin typeface="Aptos"/>
              </a:rPr>
              <a:t>hpd</a:t>
            </a:r>
            <a:r>
              <a:rPr lang="en-US" sz="1600" dirty="0">
                <a:latin typeface="Aptos"/>
              </a:rPr>
              <a:t> </a:t>
            </a:r>
            <a:r>
              <a:rPr lang="en-US" sz="1600" dirty="0" err="1">
                <a:latin typeface="Aptos"/>
              </a:rPr>
              <a:t>imhzjuhzmq</a:t>
            </a:r>
            <a:r>
              <a:rPr lang="en-US" sz="1600" dirty="0">
                <a:latin typeface="Aptos"/>
              </a:rPr>
              <a:t> </a:t>
            </a:r>
            <a:r>
              <a:rPr lang="en-US" sz="1600" dirty="0" err="1">
                <a:latin typeface="Aptos"/>
              </a:rPr>
              <a:t>tmn</a:t>
            </a:r>
            <a:r>
              <a:rPr lang="en-US" sz="1600" dirty="0">
                <a:latin typeface="Aptos"/>
              </a:rPr>
              <a:t> </a:t>
            </a:r>
            <a:r>
              <a:rPr lang="en-US" sz="1600" dirty="0" err="1">
                <a:latin typeface="Aptos"/>
              </a:rPr>
              <a:t>junzmko</a:t>
            </a:r>
            <a:r>
              <a:rPr lang="en-US" sz="1600" dirty="0">
                <a:latin typeface="Aptos"/>
              </a:rPr>
              <a:t> </a:t>
            </a:r>
            <a:r>
              <a:rPr lang="en-US" sz="1600" dirty="0" err="1">
                <a:latin typeface="Aptos"/>
              </a:rPr>
              <a:t>uogdsho</a:t>
            </a:r>
            <a:r>
              <a:rPr lang="en-US" sz="1600" dirty="0">
                <a:latin typeface="Aptos"/>
              </a:rPr>
              <a:t> mt </a:t>
            </a:r>
            <a:r>
              <a:rPr lang="en-US" sz="1600" dirty="0" err="1">
                <a:latin typeface="Aptos"/>
              </a:rPr>
              <a:t>mkn</a:t>
            </a:r>
            <a:r>
              <a:rPr lang="en-US" sz="1600" dirty="0">
                <a:latin typeface="Aptos"/>
              </a:rPr>
              <a:t> </a:t>
            </a:r>
            <a:r>
              <a:rPr lang="en-US" sz="1600" dirty="0" err="1">
                <a:latin typeface="Aptos"/>
              </a:rPr>
              <a:t>iuvmn</a:t>
            </a:r>
            <a:r>
              <a:rPr lang="en-US" sz="1600" dirty="0">
                <a:latin typeface="Aptos"/>
              </a:rPr>
              <a:t>, </a:t>
            </a:r>
            <a:r>
              <a:rPr lang="en-US" sz="1600" dirty="0" err="1">
                <a:latin typeface="Aptos"/>
              </a:rPr>
              <a:t>zqsckfzqa</a:t>
            </a:r>
            <a:r>
              <a:rPr lang="en-US" sz="1600" dirty="0">
                <a:latin typeface="Aptos"/>
              </a:rPr>
              <a:t> </a:t>
            </a:r>
            <a:r>
              <a:rPr lang="en-US" sz="1600" dirty="0" err="1">
                <a:highlight>
                  <a:srgbClr val="FFFF00"/>
                </a:highlight>
                <a:latin typeface="Aptos"/>
              </a:rPr>
              <a:t>hpd</a:t>
            </a:r>
            <a:r>
              <a:rPr lang="en-US" sz="1600" dirty="0">
                <a:latin typeface="Aptos"/>
              </a:rPr>
              <a:t> </a:t>
            </a:r>
            <a:r>
              <a:rPr lang="en-US" sz="1600" dirty="0" err="1">
                <a:latin typeface="Aptos"/>
              </a:rPr>
              <a:t>smnd</a:t>
            </a:r>
            <a:r>
              <a:rPr lang="en-US" sz="1600" dirty="0">
                <a:latin typeface="Aptos"/>
              </a:rPr>
              <a:t> </a:t>
            </a:r>
            <a:r>
              <a:rPr lang="en-US" sz="1600" dirty="0" err="1">
                <a:latin typeface="Aptos"/>
              </a:rPr>
              <a:t>smknod</a:t>
            </a:r>
            <a:r>
              <a:rPr lang="en-US" sz="1600" dirty="0">
                <a:latin typeface="Aptos"/>
              </a:rPr>
              <a:t> </a:t>
            </a:r>
            <a:r>
              <a:rPr lang="en-US" sz="1600" dirty="0" err="1">
                <a:latin typeface="Aptos"/>
              </a:rPr>
              <a:t>odwkdqsd</a:t>
            </a:r>
            <a:r>
              <a:rPr lang="en-US" sz="1600" dirty="0">
                <a:latin typeface="Aptos"/>
              </a:rPr>
              <a:t> </a:t>
            </a:r>
            <a:r>
              <a:rPr lang="en-US" sz="1600" dirty="0" err="1">
                <a:latin typeface="Aptos"/>
              </a:rPr>
              <a:t>zq</a:t>
            </a:r>
            <a:r>
              <a:rPr lang="en-US" sz="1600" dirty="0">
                <a:latin typeface="Aptos"/>
              </a:rPr>
              <a:t> </a:t>
            </a:r>
            <a:r>
              <a:rPr lang="en-US" sz="1600" dirty="0" err="1">
                <a:latin typeface="Aptos"/>
              </a:rPr>
              <a:t>mkn</a:t>
            </a:r>
            <a:r>
              <a:rPr lang="en-US" sz="1600" dirty="0">
                <a:latin typeface="Aptos"/>
              </a:rPr>
              <a:t> </a:t>
            </a:r>
            <a:r>
              <a:rPr lang="en-US" sz="1600" dirty="0" err="1">
                <a:latin typeface="Aptos"/>
              </a:rPr>
              <a:t>sknnzskcki</a:t>
            </a:r>
            <a:r>
              <a:rPr lang="en-US" sz="1600" dirty="0">
                <a:latin typeface="Aptos"/>
              </a:rPr>
              <a:t>, </a:t>
            </a:r>
            <a:r>
              <a:rPr lang="en-US" sz="1600" dirty="0" err="1">
                <a:latin typeface="Aptos"/>
              </a:rPr>
              <a:t>iuhp</a:t>
            </a:r>
            <a:r>
              <a:rPr lang="en-US" sz="1600" dirty="0">
                <a:latin typeface="Aptos"/>
              </a:rPr>
              <a:t> </a:t>
            </a:r>
            <a:r>
              <a:rPr lang="en-US" sz="1600" dirty="0" err="1">
                <a:latin typeface="Aptos"/>
              </a:rPr>
              <a:t>ndwkzndidqho</a:t>
            </a:r>
            <a:r>
              <a:rPr lang="en-US" sz="1600" dirty="0">
                <a:latin typeface="Aptos"/>
              </a:rPr>
              <a:t>, </a:t>
            </a:r>
            <a:r>
              <a:rPr lang="en-US" sz="1600" dirty="0" err="1">
                <a:latin typeface="Aptos"/>
              </a:rPr>
              <a:t>okggmnhzqa</a:t>
            </a:r>
            <a:r>
              <a:rPr lang="en-US" sz="1600" dirty="0">
                <a:latin typeface="Aptos"/>
              </a:rPr>
              <a:t> </a:t>
            </a:r>
            <a:r>
              <a:rPr lang="en-US" sz="1600" dirty="0" err="1">
                <a:latin typeface="Aptos"/>
              </a:rPr>
              <a:t>undu</a:t>
            </a:r>
            <a:r>
              <a:rPr lang="en-US" sz="1600" dirty="0">
                <a:latin typeface="Aptos"/>
              </a:rPr>
              <a:t>, </a:t>
            </a:r>
            <a:r>
              <a:rPr lang="en-US" sz="1600" dirty="0" err="1">
                <a:latin typeface="Aptos"/>
              </a:rPr>
              <a:t>sm-mgo</a:t>
            </a:r>
            <a:r>
              <a:rPr lang="en-US" sz="1600" dirty="0">
                <a:latin typeface="Aptos"/>
              </a:rPr>
              <a:t>, </a:t>
            </a:r>
            <a:r>
              <a:rPr lang="en-US" sz="1600" dirty="0" err="1">
                <a:latin typeface="Aptos"/>
              </a:rPr>
              <a:t>dhs</a:t>
            </a:r>
            <a:r>
              <a:rPr lang="en-US" sz="1600" dirty="0">
                <a:latin typeface="Aptos"/>
              </a:rPr>
              <a:t>. </a:t>
            </a:r>
          </a:p>
        </p:txBody>
      </p:sp>
      <p:sp>
        <p:nvSpPr>
          <p:cNvPr id="4" name="Speech Bubble: Rectangle 9">
            <a:extLst>
              <a:ext uri="{FF2B5EF4-FFF2-40B4-BE49-F238E27FC236}">
                <a16:creationId xmlns:a16="http://schemas.microsoft.com/office/drawing/2014/main" id="{EFF68C46-3996-3E5E-2F65-6F53474F1479}"/>
              </a:ext>
            </a:extLst>
          </p:cNvPr>
          <p:cNvSpPr/>
          <p:nvPr/>
        </p:nvSpPr>
        <p:spPr>
          <a:xfrm>
            <a:off x="598714" y="1776549"/>
            <a:ext cx="6279443" cy="3148149"/>
          </a:xfrm>
          <a:prstGeom prst="wedgeRectCallout">
            <a:avLst>
              <a:gd name="adj1" fmla="val -56509"/>
              <a:gd name="adj2" fmla="val 30953"/>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718A0E9-96C3-46FF-C4A2-29B325DD5516}"/>
              </a:ext>
            </a:extLst>
          </p:cNvPr>
          <p:cNvSpPr txBox="1"/>
          <p:nvPr/>
        </p:nvSpPr>
        <p:spPr>
          <a:xfrm>
            <a:off x="505096" y="5199622"/>
            <a:ext cx="6681235" cy="461665"/>
          </a:xfrm>
          <a:prstGeom prst="rect">
            <a:avLst/>
          </a:prstGeom>
          <a:noFill/>
        </p:spPr>
        <p:txBody>
          <a:bodyPr wrap="square" rtlCol="0">
            <a:spAutoFit/>
          </a:bodyPr>
          <a:lstStyle/>
          <a:p>
            <a:r>
              <a:rPr lang="en-US" sz="2400" dirty="0">
                <a:latin typeface="Aptos"/>
              </a:rPr>
              <a:t>Observation: substitution preserves frequency!!</a:t>
            </a:r>
          </a:p>
        </p:txBody>
      </p:sp>
    </p:spTree>
    <p:extLst>
      <p:ext uri="{BB962C8B-B14F-4D97-AF65-F5344CB8AC3E}">
        <p14:creationId xmlns:p14="http://schemas.microsoft.com/office/powerpoint/2010/main" val="1911657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48ECC-7DAA-CB97-62AC-91DD6BDF47E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8F9C154F-FC54-4F5E-B83D-EA7F61910A15}"/>
              </a:ext>
            </a:extLst>
          </p:cNvPr>
          <p:cNvPicPr>
            <a:picLocks noChangeAspect="1"/>
          </p:cNvPicPr>
          <p:nvPr/>
        </p:nvPicPr>
        <p:blipFill>
          <a:blip r:embed="rId3"/>
          <a:stretch>
            <a:fillRect/>
          </a:stretch>
        </p:blipFill>
        <p:spPr>
          <a:xfrm>
            <a:off x="2375735" y="225036"/>
            <a:ext cx="2866406" cy="5157937"/>
          </a:xfrm>
          <a:prstGeom prst="rect">
            <a:avLst/>
          </a:prstGeom>
        </p:spPr>
      </p:pic>
      <p:graphicFrame>
        <p:nvGraphicFramePr>
          <p:cNvPr id="11" name="Table 10">
            <a:extLst>
              <a:ext uri="{FF2B5EF4-FFF2-40B4-BE49-F238E27FC236}">
                <a16:creationId xmlns:a16="http://schemas.microsoft.com/office/drawing/2014/main" id="{3C801E05-DE76-4793-E7C4-F665EF5E9D1E}"/>
              </a:ext>
            </a:extLst>
          </p:cNvPr>
          <p:cNvGraphicFramePr>
            <a:graphicFrameLocks noGrp="1"/>
          </p:cNvGraphicFramePr>
          <p:nvPr/>
        </p:nvGraphicFramePr>
        <p:xfrm>
          <a:off x="6729417" y="345802"/>
          <a:ext cx="1748300" cy="5037171"/>
        </p:xfrm>
        <a:graphic>
          <a:graphicData uri="http://schemas.openxmlformats.org/drawingml/2006/table">
            <a:tbl>
              <a:tblPr>
                <a:tableStyleId>{5C22544A-7EE6-4342-B048-85BDC9FD1C3A}</a:tableStyleId>
              </a:tblPr>
              <a:tblGrid>
                <a:gridCol w="333469">
                  <a:extLst>
                    <a:ext uri="{9D8B030D-6E8A-4147-A177-3AD203B41FA5}">
                      <a16:colId xmlns:a16="http://schemas.microsoft.com/office/drawing/2014/main" val="2317284861"/>
                    </a:ext>
                  </a:extLst>
                </a:gridCol>
                <a:gridCol w="1414831">
                  <a:extLst>
                    <a:ext uri="{9D8B030D-6E8A-4147-A177-3AD203B41FA5}">
                      <a16:colId xmlns:a16="http://schemas.microsoft.com/office/drawing/2014/main" val="1257552120"/>
                    </a:ext>
                  </a:extLst>
                </a:gridCol>
              </a:tblGrid>
              <a:tr h="181991">
                <a:tc>
                  <a:txBody>
                    <a:bodyPr/>
                    <a:lstStyle/>
                    <a:p>
                      <a:pPr algn="ctr" fontAlgn="ctr"/>
                      <a:r>
                        <a:rPr lang="en-US" sz="1200" u="none" strike="noStrike" dirty="0">
                          <a:effectLst/>
                        </a:rPr>
                        <a:t>d</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10.85%</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252714972"/>
                  </a:ext>
                </a:extLst>
              </a:tr>
              <a:tr h="186365">
                <a:tc>
                  <a:txBody>
                    <a:bodyPr/>
                    <a:lstStyle/>
                    <a:p>
                      <a:pPr algn="ctr" fontAlgn="ctr"/>
                      <a:r>
                        <a:rPr lang="en-US" sz="1200" u="none" strike="noStrike" dirty="0">
                          <a:effectLst/>
                        </a:rPr>
                        <a:t>h</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10.08%</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2289546094"/>
                  </a:ext>
                </a:extLst>
              </a:tr>
              <a:tr h="0">
                <a:tc>
                  <a:txBody>
                    <a:bodyPr/>
                    <a:lstStyle/>
                    <a:p>
                      <a:pPr algn="ctr" fontAlgn="ctr"/>
                      <a:r>
                        <a:rPr lang="en-US" sz="1200" u="none" strike="noStrike" dirty="0">
                          <a:effectLst/>
                        </a:rPr>
                        <a:t>m</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9.11%</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1873433915"/>
                  </a:ext>
                </a:extLst>
              </a:tr>
              <a:tr h="186365">
                <a:tc>
                  <a:txBody>
                    <a:bodyPr/>
                    <a:lstStyle/>
                    <a:p>
                      <a:pPr algn="ctr" fontAlgn="ctr"/>
                      <a:r>
                        <a:rPr lang="en-US" sz="1200" u="none" strike="noStrike" dirty="0">
                          <a:effectLst/>
                        </a:rPr>
                        <a:t>z</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8.53%</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563891695"/>
                  </a:ext>
                </a:extLst>
              </a:tr>
              <a:tr h="186365">
                <a:tc>
                  <a:txBody>
                    <a:bodyPr/>
                    <a:lstStyle/>
                    <a:p>
                      <a:pPr algn="ctr" fontAlgn="ctr"/>
                      <a:r>
                        <a:rPr lang="en-US" sz="1200" u="none" strike="noStrike" dirty="0">
                          <a:effectLst/>
                        </a:rPr>
                        <a:t>q</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7.56%</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2217329637"/>
                  </a:ext>
                </a:extLst>
              </a:tr>
              <a:tr h="186365">
                <a:tc>
                  <a:txBody>
                    <a:bodyPr/>
                    <a:lstStyle/>
                    <a:p>
                      <a:pPr algn="ctr" fontAlgn="ctr"/>
                      <a:r>
                        <a:rPr lang="en-US" sz="1200" u="none" strike="noStrike" dirty="0">
                          <a:effectLst/>
                        </a:rPr>
                        <a:t>u</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6.20%</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551526655"/>
                  </a:ext>
                </a:extLst>
              </a:tr>
              <a:tr h="186365">
                <a:tc>
                  <a:txBody>
                    <a:bodyPr/>
                    <a:lstStyle/>
                    <a:p>
                      <a:pPr algn="ctr" fontAlgn="ctr"/>
                      <a:r>
                        <a:rPr lang="en-US" sz="1200" u="none" strike="noStrike" dirty="0">
                          <a:effectLst/>
                        </a:rPr>
                        <a:t>n</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6.01%</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4253398515"/>
                  </a:ext>
                </a:extLst>
              </a:tr>
              <a:tr h="290846">
                <a:tc>
                  <a:txBody>
                    <a:bodyPr/>
                    <a:lstStyle/>
                    <a:p>
                      <a:pPr algn="ctr" fontAlgn="ctr"/>
                      <a:r>
                        <a:rPr lang="en-US" sz="1200" u="none" strike="noStrike" dirty="0">
                          <a:effectLst/>
                        </a:rPr>
                        <a:t>s</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5.43%</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2497730799"/>
                  </a:ext>
                </a:extLst>
              </a:tr>
              <a:tr h="186365">
                <a:tc>
                  <a:txBody>
                    <a:bodyPr/>
                    <a:lstStyle/>
                    <a:p>
                      <a:pPr algn="ctr" fontAlgn="ctr"/>
                      <a:r>
                        <a:rPr lang="en-US" sz="1200" u="none" strike="noStrike" dirty="0">
                          <a:effectLst/>
                        </a:rPr>
                        <a:t>k</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5.04%</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1874203107"/>
                  </a:ext>
                </a:extLst>
              </a:tr>
              <a:tr h="186365">
                <a:tc>
                  <a:txBody>
                    <a:bodyPr/>
                    <a:lstStyle/>
                    <a:p>
                      <a:pPr algn="ctr" fontAlgn="ctr"/>
                      <a:r>
                        <a:rPr lang="en-US" sz="1200" u="none" strike="noStrike" dirty="0">
                          <a:effectLst/>
                        </a:rPr>
                        <a:t>o</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5.04%</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80578067"/>
                  </a:ext>
                </a:extLst>
              </a:tr>
              <a:tr h="186365">
                <a:tc>
                  <a:txBody>
                    <a:bodyPr/>
                    <a:lstStyle/>
                    <a:p>
                      <a:pPr algn="ctr" fontAlgn="ctr"/>
                      <a:r>
                        <a:rPr lang="en-US" sz="1200" u="none" strike="noStrike" dirty="0">
                          <a:effectLst/>
                        </a:rPr>
                        <a:t>c</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3.68%</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971334803"/>
                  </a:ext>
                </a:extLst>
              </a:tr>
              <a:tr h="186365">
                <a:tc>
                  <a:txBody>
                    <a:bodyPr/>
                    <a:lstStyle/>
                    <a:p>
                      <a:pPr algn="ctr" fontAlgn="ctr"/>
                      <a:r>
                        <a:rPr lang="en-US" sz="1200" u="none" strike="noStrike" dirty="0">
                          <a:effectLst/>
                        </a:rPr>
                        <a:t>g</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3.10%</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1525792249"/>
                  </a:ext>
                </a:extLst>
              </a:tr>
              <a:tr h="186365">
                <a:tc>
                  <a:txBody>
                    <a:bodyPr/>
                    <a:lstStyle/>
                    <a:p>
                      <a:pPr algn="ctr" fontAlgn="ctr"/>
                      <a:r>
                        <a:rPr lang="en-US" sz="1200" u="none" strike="noStrike" dirty="0">
                          <a:effectLst/>
                        </a:rPr>
                        <a:t>p</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3.10%</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909566066"/>
                  </a:ext>
                </a:extLst>
              </a:tr>
              <a:tr h="186365">
                <a:tc>
                  <a:txBody>
                    <a:bodyPr/>
                    <a:lstStyle/>
                    <a:p>
                      <a:pPr algn="ctr" fontAlgn="ctr"/>
                      <a:r>
                        <a:rPr lang="en-US" sz="1200" u="none" strike="noStrike" dirty="0" err="1">
                          <a:effectLst/>
                        </a:rPr>
                        <a:t>i</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3.10%</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1995573475"/>
                  </a:ext>
                </a:extLst>
              </a:tr>
              <a:tr h="186365">
                <a:tc>
                  <a:txBody>
                    <a:bodyPr/>
                    <a:lstStyle/>
                    <a:p>
                      <a:pPr algn="ctr" fontAlgn="ctr"/>
                      <a:r>
                        <a:rPr lang="en-US" sz="1200" u="none" strike="noStrike" dirty="0">
                          <a:effectLst/>
                        </a:rPr>
                        <a:t>f</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2.91%</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173602259"/>
                  </a:ext>
                </a:extLst>
              </a:tr>
              <a:tr h="186365">
                <a:tc>
                  <a:txBody>
                    <a:bodyPr/>
                    <a:lstStyle/>
                    <a:p>
                      <a:pPr algn="ctr" fontAlgn="ctr"/>
                      <a:r>
                        <a:rPr lang="en-US" sz="1200" u="none" strike="noStrike" dirty="0">
                          <a:effectLst/>
                        </a:rPr>
                        <a:t>a</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2.13%</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588264636"/>
                  </a:ext>
                </a:extLst>
              </a:tr>
              <a:tr h="186365">
                <a:tc>
                  <a:txBody>
                    <a:bodyPr/>
                    <a:lstStyle/>
                    <a:p>
                      <a:pPr algn="ctr" fontAlgn="ctr"/>
                      <a:r>
                        <a:rPr lang="en-US" sz="1200" u="none" strike="noStrike" dirty="0">
                          <a:effectLst/>
                        </a:rPr>
                        <a:t>t</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1.94%</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650511396"/>
                  </a:ext>
                </a:extLst>
              </a:tr>
              <a:tr h="186365">
                <a:tc>
                  <a:txBody>
                    <a:bodyPr/>
                    <a:lstStyle/>
                    <a:p>
                      <a:pPr algn="ctr" fontAlgn="ctr"/>
                      <a:r>
                        <a:rPr lang="en-US" sz="1200" u="none" strike="noStrike" dirty="0">
                          <a:effectLst/>
                        </a:rPr>
                        <a:t>x</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1.74%</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098654522"/>
                  </a:ext>
                </a:extLst>
              </a:tr>
              <a:tr h="186365">
                <a:tc>
                  <a:txBody>
                    <a:bodyPr/>
                    <a:lstStyle/>
                    <a:p>
                      <a:pPr algn="ctr" fontAlgn="ctr"/>
                      <a:r>
                        <a:rPr lang="en-US" sz="1200" u="none" strike="noStrike" dirty="0">
                          <a:effectLst/>
                        </a:rPr>
                        <a:t>e</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1.36%</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176973181"/>
                  </a:ext>
                </a:extLst>
              </a:tr>
              <a:tr h="186365">
                <a:tc>
                  <a:txBody>
                    <a:bodyPr/>
                    <a:lstStyle/>
                    <a:p>
                      <a:pPr algn="ctr" fontAlgn="ctr"/>
                      <a:r>
                        <a:rPr lang="en-US" sz="1200" u="none" strike="noStrike" dirty="0">
                          <a:effectLst/>
                        </a:rPr>
                        <a:t>j</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0.78%</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1534211068"/>
                  </a:ext>
                </a:extLst>
              </a:tr>
              <a:tr h="186365">
                <a:tc>
                  <a:txBody>
                    <a:bodyPr/>
                    <a:lstStyle/>
                    <a:p>
                      <a:pPr algn="ctr" fontAlgn="ctr"/>
                      <a:r>
                        <a:rPr lang="en-US" sz="1200" u="none" strike="noStrike" dirty="0">
                          <a:effectLst/>
                        </a:rPr>
                        <a:t>b</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0.58%</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764506268"/>
                  </a:ext>
                </a:extLst>
              </a:tr>
              <a:tr h="186365">
                <a:tc>
                  <a:txBody>
                    <a:bodyPr/>
                    <a:lstStyle/>
                    <a:p>
                      <a:pPr algn="ctr" fontAlgn="ctr"/>
                      <a:r>
                        <a:rPr lang="en-US" sz="1200" u="none" strike="noStrike" dirty="0">
                          <a:effectLst/>
                        </a:rPr>
                        <a:t>l</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0.58%</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830125278"/>
                  </a:ext>
                </a:extLst>
              </a:tr>
              <a:tr h="186365">
                <a:tc>
                  <a:txBody>
                    <a:bodyPr/>
                    <a:lstStyle/>
                    <a:p>
                      <a:pPr algn="ctr" fontAlgn="ctr"/>
                      <a:r>
                        <a:rPr lang="en-US" sz="1200" u="none" strike="noStrike" dirty="0">
                          <a:effectLst/>
                        </a:rPr>
                        <a:t>v</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0.58%</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727886329"/>
                  </a:ext>
                </a:extLst>
              </a:tr>
              <a:tr h="186365">
                <a:tc>
                  <a:txBody>
                    <a:bodyPr/>
                    <a:lstStyle/>
                    <a:p>
                      <a:pPr algn="ctr" fontAlgn="ctr"/>
                      <a:r>
                        <a:rPr lang="en-US" sz="1200" u="none" strike="noStrike" dirty="0">
                          <a:effectLst/>
                        </a:rPr>
                        <a:t>r</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0.39%</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265550850"/>
                  </a:ext>
                </a:extLst>
              </a:tr>
              <a:tr h="186365">
                <a:tc>
                  <a:txBody>
                    <a:bodyPr/>
                    <a:lstStyle/>
                    <a:p>
                      <a:pPr algn="ctr" fontAlgn="ctr"/>
                      <a:r>
                        <a:rPr lang="en-US" sz="1200" u="none" strike="noStrike" dirty="0">
                          <a:effectLst/>
                        </a:rPr>
                        <a:t>w</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0.19%</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2260004786"/>
                  </a:ext>
                </a:extLst>
              </a:tr>
              <a:tr h="186365">
                <a:tc>
                  <a:txBody>
                    <a:bodyPr/>
                    <a:lstStyle/>
                    <a:p>
                      <a:pPr algn="ctr" fontAlgn="ctr"/>
                      <a:r>
                        <a:rPr lang="en-US" sz="1200" u="none" strike="noStrike" dirty="0">
                          <a:effectLst/>
                        </a:rPr>
                        <a:t>y</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592118501"/>
                  </a:ext>
                </a:extLst>
              </a:tr>
            </a:tbl>
          </a:graphicData>
        </a:graphic>
      </p:graphicFrame>
      <p:graphicFrame>
        <p:nvGraphicFramePr>
          <p:cNvPr id="16" name="Content Placeholder 4">
            <a:extLst>
              <a:ext uri="{FF2B5EF4-FFF2-40B4-BE49-F238E27FC236}">
                <a16:creationId xmlns:a16="http://schemas.microsoft.com/office/drawing/2014/main" id="{99E04AD8-6C43-050F-7EAE-C2643FBAD3D7}"/>
              </a:ext>
            </a:extLst>
          </p:cNvPr>
          <p:cNvGraphicFramePr>
            <a:graphicFrameLocks noGrp="1"/>
          </p:cNvGraphicFramePr>
          <p:nvPr>
            <p:ph idx="1"/>
          </p:nvPr>
        </p:nvGraphicFramePr>
        <p:xfrm>
          <a:off x="392849" y="5561187"/>
          <a:ext cx="11406302" cy="736600"/>
        </p:xfrm>
        <a:graphic>
          <a:graphicData uri="http://schemas.openxmlformats.org/drawingml/2006/table">
            <a:tbl>
              <a:tblPr>
                <a:tableStyleId>{073A0DAA-6AF3-43AB-8588-CEC1D06C72B9}</a:tableStyleId>
              </a:tblPr>
              <a:tblGrid>
                <a:gridCol w="1280160">
                  <a:extLst>
                    <a:ext uri="{9D8B030D-6E8A-4147-A177-3AD203B41FA5}">
                      <a16:colId xmlns:a16="http://schemas.microsoft.com/office/drawing/2014/main" val="808542146"/>
                    </a:ext>
                  </a:extLst>
                </a:gridCol>
                <a:gridCol w="389467">
                  <a:extLst>
                    <a:ext uri="{9D8B030D-6E8A-4147-A177-3AD203B41FA5}">
                      <a16:colId xmlns:a16="http://schemas.microsoft.com/office/drawing/2014/main" val="1740949199"/>
                    </a:ext>
                  </a:extLst>
                </a:gridCol>
                <a:gridCol w="389467">
                  <a:extLst>
                    <a:ext uri="{9D8B030D-6E8A-4147-A177-3AD203B41FA5}">
                      <a16:colId xmlns:a16="http://schemas.microsoft.com/office/drawing/2014/main" val="4084889085"/>
                    </a:ext>
                  </a:extLst>
                </a:gridCol>
                <a:gridCol w="389467">
                  <a:extLst>
                    <a:ext uri="{9D8B030D-6E8A-4147-A177-3AD203B41FA5}">
                      <a16:colId xmlns:a16="http://schemas.microsoft.com/office/drawing/2014/main" val="267683738"/>
                    </a:ext>
                  </a:extLst>
                </a:gridCol>
                <a:gridCol w="389467">
                  <a:extLst>
                    <a:ext uri="{9D8B030D-6E8A-4147-A177-3AD203B41FA5}">
                      <a16:colId xmlns:a16="http://schemas.microsoft.com/office/drawing/2014/main" val="127696465"/>
                    </a:ext>
                  </a:extLst>
                </a:gridCol>
                <a:gridCol w="389467">
                  <a:extLst>
                    <a:ext uri="{9D8B030D-6E8A-4147-A177-3AD203B41FA5}">
                      <a16:colId xmlns:a16="http://schemas.microsoft.com/office/drawing/2014/main" val="99498354"/>
                    </a:ext>
                  </a:extLst>
                </a:gridCol>
                <a:gridCol w="389467">
                  <a:extLst>
                    <a:ext uri="{9D8B030D-6E8A-4147-A177-3AD203B41FA5}">
                      <a16:colId xmlns:a16="http://schemas.microsoft.com/office/drawing/2014/main" val="4116058545"/>
                    </a:ext>
                  </a:extLst>
                </a:gridCol>
                <a:gridCol w="389467">
                  <a:extLst>
                    <a:ext uri="{9D8B030D-6E8A-4147-A177-3AD203B41FA5}">
                      <a16:colId xmlns:a16="http://schemas.microsoft.com/office/drawing/2014/main" val="3745464105"/>
                    </a:ext>
                  </a:extLst>
                </a:gridCol>
                <a:gridCol w="389467">
                  <a:extLst>
                    <a:ext uri="{9D8B030D-6E8A-4147-A177-3AD203B41FA5}">
                      <a16:colId xmlns:a16="http://schemas.microsoft.com/office/drawing/2014/main" val="3583360836"/>
                    </a:ext>
                  </a:extLst>
                </a:gridCol>
                <a:gridCol w="389467">
                  <a:extLst>
                    <a:ext uri="{9D8B030D-6E8A-4147-A177-3AD203B41FA5}">
                      <a16:colId xmlns:a16="http://schemas.microsoft.com/office/drawing/2014/main" val="1595051044"/>
                    </a:ext>
                  </a:extLst>
                </a:gridCol>
                <a:gridCol w="389467">
                  <a:extLst>
                    <a:ext uri="{9D8B030D-6E8A-4147-A177-3AD203B41FA5}">
                      <a16:colId xmlns:a16="http://schemas.microsoft.com/office/drawing/2014/main" val="3624252688"/>
                    </a:ext>
                  </a:extLst>
                </a:gridCol>
                <a:gridCol w="389467">
                  <a:extLst>
                    <a:ext uri="{9D8B030D-6E8A-4147-A177-3AD203B41FA5}">
                      <a16:colId xmlns:a16="http://schemas.microsoft.com/office/drawing/2014/main" val="2042598271"/>
                    </a:ext>
                  </a:extLst>
                </a:gridCol>
                <a:gridCol w="389467">
                  <a:extLst>
                    <a:ext uri="{9D8B030D-6E8A-4147-A177-3AD203B41FA5}">
                      <a16:colId xmlns:a16="http://schemas.microsoft.com/office/drawing/2014/main" val="3413079376"/>
                    </a:ext>
                  </a:extLst>
                </a:gridCol>
                <a:gridCol w="389467">
                  <a:extLst>
                    <a:ext uri="{9D8B030D-6E8A-4147-A177-3AD203B41FA5}">
                      <a16:colId xmlns:a16="http://schemas.microsoft.com/office/drawing/2014/main" val="1304008897"/>
                    </a:ext>
                  </a:extLst>
                </a:gridCol>
                <a:gridCol w="389467">
                  <a:extLst>
                    <a:ext uri="{9D8B030D-6E8A-4147-A177-3AD203B41FA5}">
                      <a16:colId xmlns:a16="http://schemas.microsoft.com/office/drawing/2014/main" val="4126626881"/>
                    </a:ext>
                  </a:extLst>
                </a:gridCol>
                <a:gridCol w="389467">
                  <a:extLst>
                    <a:ext uri="{9D8B030D-6E8A-4147-A177-3AD203B41FA5}">
                      <a16:colId xmlns:a16="http://schemas.microsoft.com/office/drawing/2014/main" val="2494054372"/>
                    </a:ext>
                  </a:extLst>
                </a:gridCol>
                <a:gridCol w="389467">
                  <a:extLst>
                    <a:ext uri="{9D8B030D-6E8A-4147-A177-3AD203B41FA5}">
                      <a16:colId xmlns:a16="http://schemas.microsoft.com/office/drawing/2014/main" val="3611166042"/>
                    </a:ext>
                  </a:extLst>
                </a:gridCol>
                <a:gridCol w="389467">
                  <a:extLst>
                    <a:ext uri="{9D8B030D-6E8A-4147-A177-3AD203B41FA5}">
                      <a16:colId xmlns:a16="http://schemas.microsoft.com/office/drawing/2014/main" val="3031964292"/>
                    </a:ext>
                  </a:extLst>
                </a:gridCol>
                <a:gridCol w="389467">
                  <a:extLst>
                    <a:ext uri="{9D8B030D-6E8A-4147-A177-3AD203B41FA5}">
                      <a16:colId xmlns:a16="http://schemas.microsoft.com/office/drawing/2014/main" val="1755830632"/>
                    </a:ext>
                  </a:extLst>
                </a:gridCol>
                <a:gridCol w="389467">
                  <a:extLst>
                    <a:ext uri="{9D8B030D-6E8A-4147-A177-3AD203B41FA5}">
                      <a16:colId xmlns:a16="http://schemas.microsoft.com/office/drawing/2014/main" val="2922063860"/>
                    </a:ext>
                  </a:extLst>
                </a:gridCol>
                <a:gridCol w="389467">
                  <a:extLst>
                    <a:ext uri="{9D8B030D-6E8A-4147-A177-3AD203B41FA5}">
                      <a16:colId xmlns:a16="http://schemas.microsoft.com/office/drawing/2014/main" val="2373471949"/>
                    </a:ext>
                  </a:extLst>
                </a:gridCol>
                <a:gridCol w="389467">
                  <a:extLst>
                    <a:ext uri="{9D8B030D-6E8A-4147-A177-3AD203B41FA5}">
                      <a16:colId xmlns:a16="http://schemas.microsoft.com/office/drawing/2014/main" val="2285319349"/>
                    </a:ext>
                  </a:extLst>
                </a:gridCol>
                <a:gridCol w="389467">
                  <a:extLst>
                    <a:ext uri="{9D8B030D-6E8A-4147-A177-3AD203B41FA5}">
                      <a16:colId xmlns:a16="http://schemas.microsoft.com/office/drawing/2014/main" val="2210955963"/>
                    </a:ext>
                  </a:extLst>
                </a:gridCol>
                <a:gridCol w="389467">
                  <a:extLst>
                    <a:ext uri="{9D8B030D-6E8A-4147-A177-3AD203B41FA5}">
                      <a16:colId xmlns:a16="http://schemas.microsoft.com/office/drawing/2014/main" val="1639329555"/>
                    </a:ext>
                  </a:extLst>
                </a:gridCol>
                <a:gridCol w="389467">
                  <a:extLst>
                    <a:ext uri="{9D8B030D-6E8A-4147-A177-3AD203B41FA5}">
                      <a16:colId xmlns:a16="http://schemas.microsoft.com/office/drawing/2014/main" val="2002622303"/>
                    </a:ext>
                  </a:extLst>
                </a:gridCol>
                <a:gridCol w="389467">
                  <a:extLst>
                    <a:ext uri="{9D8B030D-6E8A-4147-A177-3AD203B41FA5}">
                      <a16:colId xmlns:a16="http://schemas.microsoft.com/office/drawing/2014/main" val="2670939652"/>
                    </a:ext>
                  </a:extLst>
                </a:gridCol>
                <a:gridCol w="389467">
                  <a:extLst>
                    <a:ext uri="{9D8B030D-6E8A-4147-A177-3AD203B41FA5}">
                      <a16:colId xmlns:a16="http://schemas.microsoft.com/office/drawing/2014/main" val="2388437450"/>
                    </a:ext>
                  </a:extLst>
                </a:gridCol>
              </a:tblGrid>
              <a:tr h="0">
                <a:tc>
                  <a:txBody>
                    <a:bodyPr/>
                    <a:lstStyle/>
                    <a:p>
                      <a:pPr algn="ctr"/>
                      <a:r>
                        <a:rPr lang="en-US" b="1" dirty="0">
                          <a:solidFill>
                            <a:srgbClr val="0070C0"/>
                          </a:solidFill>
                        </a:rPr>
                        <a:t>original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err="1"/>
                        <a:t>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7154432"/>
                  </a:ext>
                </a:extLst>
              </a:tr>
              <a:tr h="370840">
                <a:tc>
                  <a:txBody>
                    <a:bodyPr/>
                    <a:lstStyle/>
                    <a:p>
                      <a:pPr algn="ctr"/>
                      <a:r>
                        <a:rPr lang="en-US" b="1" dirty="0">
                          <a:solidFill>
                            <a:srgbClr val="0070C0"/>
                          </a:solidFill>
                        </a:rPr>
                        <a:t>replace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err="1">
                          <a:solidFill>
                            <a:srgbClr val="FF0000"/>
                          </a:solidFill>
                        </a:rPr>
                        <a:t>i</a:t>
                      </a:r>
                      <a:endParaRPr 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7964112"/>
                  </a:ext>
                </a:extLst>
              </a:tr>
            </a:tbl>
          </a:graphicData>
        </a:graphic>
      </p:graphicFrame>
      <p:sp>
        <p:nvSpPr>
          <p:cNvPr id="19" name="Striped Right Arrow 18">
            <a:extLst>
              <a:ext uri="{FF2B5EF4-FFF2-40B4-BE49-F238E27FC236}">
                <a16:creationId xmlns:a16="http://schemas.microsoft.com/office/drawing/2014/main" id="{4FB51610-3D9E-6F5A-C4F4-120649819BB1}"/>
              </a:ext>
            </a:extLst>
          </p:cNvPr>
          <p:cNvSpPr/>
          <p:nvPr/>
        </p:nvSpPr>
        <p:spPr>
          <a:xfrm>
            <a:off x="5467986" y="2184458"/>
            <a:ext cx="1035586" cy="451692"/>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0975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168F7-2607-4F3E-8CE9-32C8243AEEC0}"/>
              </a:ext>
            </a:extLst>
          </p:cNvPr>
          <p:cNvSpPr>
            <a:spLocks noGrp="1"/>
          </p:cNvSpPr>
          <p:nvPr>
            <p:ph type="title"/>
          </p:nvPr>
        </p:nvSpPr>
        <p:spPr/>
        <p:txBody>
          <a:bodyPr/>
          <a:lstStyle/>
          <a:p>
            <a:r>
              <a:rPr lang="en-US" dirty="0">
                <a:latin typeface="Aptos Display"/>
              </a:rPr>
              <a:t>Attacking substitution cipher</a:t>
            </a:r>
          </a:p>
        </p:txBody>
      </p:sp>
      <p:sp>
        <p:nvSpPr>
          <p:cNvPr id="4" name="Rectangle 3">
            <a:extLst>
              <a:ext uri="{FF2B5EF4-FFF2-40B4-BE49-F238E27FC236}">
                <a16:creationId xmlns:a16="http://schemas.microsoft.com/office/drawing/2014/main" id="{0B6FA2D8-F172-49AF-9F75-81D10F3F4EF1}"/>
              </a:ext>
            </a:extLst>
          </p:cNvPr>
          <p:cNvSpPr/>
          <p:nvPr/>
        </p:nvSpPr>
        <p:spPr>
          <a:xfrm>
            <a:off x="1702526" y="1377742"/>
            <a:ext cx="6096000" cy="3046988"/>
          </a:xfrm>
          <a:prstGeom prst="rect">
            <a:avLst/>
          </a:prstGeom>
        </p:spPr>
        <p:txBody>
          <a:bodyPr>
            <a:spAutoFit/>
          </a:bodyPr>
          <a:lstStyle/>
          <a:p>
            <a:r>
              <a:rPr lang="en-US" sz="1600" dirty="0" err="1">
                <a:latin typeface="Aptos"/>
              </a:rPr>
              <a:t>hpd</a:t>
            </a:r>
            <a:r>
              <a:rPr lang="en-US" sz="1600" dirty="0">
                <a:latin typeface="Aptos"/>
              </a:rPr>
              <a:t> </a:t>
            </a:r>
            <a:r>
              <a:rPr lang="en-US" sz="1600" dirty="0" err="1">
                <a:latin typeface="Aptos"/>
              </a:rPr>
              <a:t>mevdshzjdo</a:t>
            </a:r>
            <a:r>
              <a:rPr lang="en-US" sz="1600" dirty="0">
                <a:latin typeface="Aptos"/>
              </a:rPr>
              <a:t> mt </a:t>
            </a:r>
            <a:r>
              <a:rPr lang="en-US" sz="1600" dirty="0" err="1">
                <a:latin typeface="Aptos"/>
              </a:rPr>
              <a:t>hpzo</a:t>
            </a:r>
            <a:r>
              <a:rPr lang="en-US" sz="1600" dirty="0">
                <a:latin typeface="Aptos"/>
              </a:rPr>
              <a:t> </a:t>
            </a:r>
            <a:r>
              <a:rPr lang="en-US" sz="1600" dirty="0" err="1">
                <a:latin typeface="Aptos"/>
              </a:rPr>
              <a:t>smknod</a:t>
            </a:r>
            <a:r>
              <a:rPr lang="en-US" sz="1600" dirty="0">
                <a:latin typeface="Aptos"/>
              </a:rPr>
              <a:t> und hm </a:t>
            </a:r>
            <a:r>
              <a:rPr lang="en-US" sz="1600" dirty="0" err="1">
                <a:latin typeface="Aptos"/>
              </a:rPr>
              <a:t>zqtmni</a:t>
            </a:r>
            <a:r>
              <a:rPr lang="en-US" sz="1600" dirty="0">
                <a:latin typeface="Aptos"/>
              </a:rPr>
              <a:t> </a:t>
            </a:r>
            <a:r>
              <a:rPr lang="en-US" sz="1600" dirty="0" err="1">
                <a:latin typeface="Aptos"/>
              </a:rPr>
              <a:t>ohkfdqho</a:t>
            </a:r>
            <a:r>
              <a:rPr lang="en-US" sz="1600" dirty="0">
                <a:latin typeface="Aptos"/>
              </a:rPr>
              <a:t> </a:t>
            </a:r>
            <a:r>
              <a:rPr lang="en-US" sz="1600" dirty="0" err="1">
                <a:latin typeface="Aptos"/>
              </a:rPr>
              <a:t>uemkh</a:t>
            </a:r>
            <a:r>
              <a:rPr lang="en-US" sz="1600" dirty="0">
                <a:latin typeface="Aptos"/>
              </a:rPr>
              <a:t> </a:t>
            </a:r>
            <a:r>
              <a:rPr lang="en-US" sz="1600" dirty="0" err="1">
                <a:latin typeface="Aptos"/>
              </a:rPr>
              <a:t>hpd</a:t>
            </a:r>
            <a:r>
              <a:rPr lang="en-US" sz="1600" dirty="0">
                <a:latin typeface="Aptos"/>
              </a:rPr>
              <a:t> </a:t>
            </a:r>
            <a:r>
              <a:rPr lang="en-US" sz="1600" dirty="0" err="1">
                <a:latin typeface="Aptos"/>
              </a:rPr>
              <a:t>tzdcf</a:t>
            </a:r>
            <a:r>
              <a:rPr lang="en-US" sz="1600" dirty="0">
                <a:latin typeface="Aptos"/>
              </a:rPr>
              <a:t> mt </a:t>
            </a:r>
            <a:r>
              <a:rPr lang="en-US" sz="1600" dirty="0" err="1">
                <a:latin typeface="Aptos"/>
              </a:rPr>
              <a:t>smigkhdn</a:t>
            </a:r>
            <a:r>
              <a:rPr lang="en-US" sz="1600" dirty="0">
                <a:latin typeface="Aptos"/>
              </a:rPr>
              <a:t> </a:t>
            </a:r>
            <a:r>
              <a:rPr lang="en-US" sz="1600" dirty="0" err="1">
                <a:latin typeface="Aptos"/>
              </a:rPr>
              <a:t>oszdqsd</a:t>
            </a:r>
            <a:r>
              <a:rPr lang="en-US" sz="1600" dirty="0">
                <a:latin typeface="Aptos"/>
              </a:rPr>
              <a:t> </a:t>
            </a:r>
            <a:r>
              <a:rPr lang="en-US" sz="1600" dirty="0" err="1">
                <a:latin typeface="Aptos"/>
              </a:rPr>
              <a:t>uqf</a:t>
            </a:r>
            <a:r>
              <a:rPr lang="en-US" sz="1600" dirty="0">
                <a:latin typeface="Aptos"/>
              </a:rPr>
              <a:t> </a:t>
            </a:r>
            <a:r>
              <a:rPr lang="en-US" sz="1600" dirty="0" err="1">
                <a:latin typeface="Aptos"/>
              </a:rPr>
              <a:t>dqazqddnzqa</a:t>
            </a:r>
            <a:r>
              <a:rPr lang="en-US" sz="1600" dirty="0">
                <a:latin typeface="Aptos"/>
              </a:rPr>
              <a:t>, </a:t>
            </a:r>
            <a:r>
              <a:rPr lang="en-US" sz="1600" dirty="0" err="1">
                <a:latin typeface="Aptos"/>
              </a:rPr>
              <a:t>uqf</a:t>
            </a:r>
            <a:r>
              <a:rPr lang="en-US" sz="1600" dirty="0">
                <a:latin typeface="Aptos"/>
              </a:rPr>
              <a:t> hm </a:t>
            </a:r>
            <a:r>
              <a:rPr lang="en-US" sz="1600" dirty="0" err="1">
                <a:latin typeface="Aptos"/>
              </a:rPr>
              <a:t>zqhnmfksd</a:t>
            </a:r>
            <a:r>
              <a:rPr lang="en-US" sz="1600" dirty="0">
                <a:latin typeface="Aptos"/>
              </a:rPr>
              <a:t> </a:t>
            </a:r>
            <a:r>
              <a:rPr lang="en-US" sz="1600" dirty="0" err="1">
                <a:latin typeface="Aptos"/>
              </a:rPr>
              <a:t>hpdi</a:t>
            </a:r>
            <a:r>
              <a:rPr lang="en-US" sz="1600" dirty="0">
                <a:latin typeface="Aptos"/>
              </a:rPr>
              <a:t> hm </a:t>
            </a:r>
            <a:r>
              <a:rPr lang="en-US" sz="1600" dirty="0" err="1">
                <a:latin typeface="Aptos"/>
              </a:rPr>
              <a:t>hpd</a:t>
            </a:r>
            <a:r>
              <a:rPr lang="en-US" sz="1600" dirty="0">
                <a:latin typeface="Aptos"/>
              </a:rPr>
              <a:t> </a:t>
            </a:r>
            <a:r>
              <a:rPr lang="en-US" sz="1600" dirty="0" err="1">
                <a:latin typeface="Aptos"/>
              </a:rPr>
              <a:t>xzfd</a:t>
            </a:r>
            <a:r>
              <a:rPr lang="en-US" sz="1600" dirty="0">
                <a:latin typeface="Aptos"/>
              </a:rPr>
              <a:t> </a:t>
            </a:r>
            <a:r>
              <a:rPr lang="en-US" sz="1600" dirty="0" err="1">
                <a:latin typeface="Aptos"/>
              </a:rPr>
              <a:t>nuqad</a:t>
            </a:r>
            <a:r>
              <a:rPr lang="en-US" sz="1600" dirty="0">
                <a:latin typeface="Aptos"/>
              </a:rPr>
              <a:t> mt </a:t>
            </a:r>
            <a:r>
              <a:rPr lang="en-US" sz="1600" dirty="0" err="1">
                <a:latin typeface="Aptos"/>
              </a:rPr>
              <a:t>dbszhzqa</a:t>
            </a:r>
            <a:r>
              <a:rPr lang="en-US" sz="1600" dirty="0">
                <a:latin typeface="Aptos"/>
              </a:rPr>
              <a:t> </a:t>
            </a:r>
            <a:r>
              <a:rPr lang="en-US" sz="1600" dirty="0" err="1">
                <a:latin typeface="Aptos"/>
              </a:rPr>
              <a:t>uggczsuhzmqo</a:t>
            </a:r>
            <a:r>
              <a:rPr lang="en-US" sz="1600" dirty="0">
                <a:latin typeface="Aptos"/>
              </a:rPr>
              <a:t> mt </a:t>
            </a:r>
            <a:r>
              <a:rPr lang="en-US" sz="1600" dirty="0" err="1">
                <a:latin typeface="Aptos"/>
              </a:rPr>
              <a:t>smigkhuhzmq</a:t>
            </a:r>
            <a:r>
              <a:rPr lang="en-US" sz="1600" dirty="0">
                <a:latin typeface="Aptos"/>
              </a:rPr>
              <a:t> </a:t>
            </a:r>
            <a:r>
              <a:rPr lang="en-US" sz="1600" dirty="0" err="1">
                <a:latin typeface="Aptos"/>
              </a:rPr>
              <a:t>uqf</a:t>
            </a:r>
            <a:r>
              <a:rPr lang="en-US" sz="1600" dirty="0">
                <a:latin typeface="Aptos"/>
              </a:rPr>
              <a:t> </a:t>
            </a:r>
            <a:r>
              <a:rPr lang="en-US" sz="1600" dirty="0" err="1">
                <a:latin typeface="Aptos"/>
              </a:rPr>
              <a:t>hdspqmcmal</a:t>
            </a:r>
            <a:r>
              <a:rPr lang="en-US" sz="1600" dirty="0">
                <a:latin typeface="Aptos"/>
              </a:rPr>
              <a:t> </a:t>
            </a:r>
            <a:r>
              <a:rPr lang="en-US" sz="1600" dirty="0" err="1">
                <a:latin typeface="Aptos"/>
              </a:rPr>
              <a:t>zq</a:t>
            </a:r>
            <a:r>
              <a:rPr lang="en-US" sz="1600" dirty="0">
                <a:latin typeface="Aptos"/>
              </a:rPr>
              <a:t> </a:t>
            </a:r>
            <a:r>
              <a:rPr lang="en-US" sz="1600" dirty="0" err="1">
                <a:latin typeface="Aptos"/>
              </a:rPr>
              <a:t>omszdhl</a:t>
            </a:r>
            <a:r>
              <a:rPr lang="en-US" sz="1600" dirty="0">
                <a:latin typeface="Aptos"/>
              </a:rPr>
              <a:t>. </a:t>
            </a:r>
            <a:r>
              <a:rPr lang="en-US" sz="1600" dirty="0" err="1">
                <a:latin typeface="Aptos"/>
              </a:rPr>
              <a:t>xd</a:t>
            </a:r>
            <a:r>
              <a:rPr lang="en-US" sz="1600" dirty="0">
                <a:latin typeface="Aptos"/>
              </a:rPr>
              <a:t> </a:t>
            </a:r>
            <a:r>
              <a:rPr lang="en-US" sz="1600" dirty="0" err="1">
                <a:latin typeface="Aptos"/>
              </a:rPr>
              <a:t>xzcc</a:t>
            </a:r>
            <a:r>
              <a:rPr lang="en-US" sz="1600" dirty="0">
                <a:latin typeface="Aptos"/>
              </a:rPr>
              <a:t> </a:t>
            </a:r>
            <a:r>
              <a:rPr lang="en-US" sz="1600" dirty="0" err="1">
                <a:latin typeface="Aptos"/>
              </a:rPr>
              <a:t>dbgcuzq</a:t>
            </a:r>
            <a:r>
              <a:rPr lang="en-US" sz="1600" dirty="0">
                <a:latin typeface="Aptos"/>
              </a:rPr>
              <a:t> </a:t>
            </a:r>
            <a:r>
              <a:rPr lang="en-US" sz="1600" dirty="0" err="1">
                <a:latin typeface="Aptos"/>
              </a:rPr>
              <a:t>hpuh</a:t>
            </a:r>
            <a:r>
              <a:rPr lang="en-US" sz="1600" dirty="0">
                <a:latin typeface="Aptos"/>
              </a:rPr>
              <a:t> </a:t>
            </a:r>
            <a:r>
              <a:rPr lang="en-US" sz="1600" dirty="0" err="1">
                <a:latin typeface="Aptos"/>
              </a:rPr>
              <a:t>smigkhdn</a:t>
            </a:r>
            <a:r>
              <a:rPr lang="en-US" sz="1600" dirty="0">
                <a:latin typeface="Aptos"/>
              </a:rPr>
              <a:t> </a:t>
            </a:r>
            <a:r>
              <a:rPr lang="en-US" sz="1600" dirty="0" err="1">
                <a:latin typeface="Aptos"/>
              </a:rPr>
              <a:t>oszdqsd</a:t>
            </a:r>
            <a:r>
              <a:rPr lang="en-US" sz="1600" dirty="0">
                <a:latin typeface="Aptos"/>
              </a:rPr>
              <a:t> zo </a:t>
            </a:r>
            <a:r>
              <a:rPr lang="en-US" sz="1600" dirty="0" err="1">
                <a:latin typeface="Aptos"/>
              </a:rPr>
              <a:t>qmh</a:t>
            </a:r>
            <a:r>
              <a:rPr lang="en-US" sz="1600" dirty="0">
                <a:latin typeface="Aptos"/>
              </a:rPr>
              <a:t> </a:t>
            </a:r>
            <a:r>
              <a:rPr lang="en-US" sz="1600" dirty="0" err="1">
                <a:latin typeface="Aptos"/>
              </a:rPr>
              <a:t>vkoh</a:t>
            </a:r>
            <a:r>
              <a:rPr lang="en-US" sz="1600" dirty="0">
                <a:latin typeface="Aptos"/>
              </a:rPr>
              <a:t> </a:t>
            </a:r>
            <a:r>
              <a:rPr lang="en-US" sz="1600" dirty="0" err="1">
                <a:latin typeface="Aptos"/>
              </a:rPr>
              <a:t>uemkh</a:t>
            </a:r>
            <a:r>
              <a:rPr lang="en-US" sz="1600" dirty="0">
                <a:latin typeface="Aptos"/>
              </a:rPr>
              <a:t> </a:t>
            </a:r>
            <a:r>
              <a:rPr lang="en-US" sz="1600" dirty="0" err="1">
                <a:latin typeface="Aptos"/>
              </a:rPr>
              <a:t>gnmanuiizqa</a:t>
            </a:r>
            <a:r>
              <a:rPr lang="en-US" sz="1600" dirty="0">
                <a:latin typeface="Aptos"/>
              </a:rPr>
              <a:t>, </a:t>
            </a:r>
            <a:r>
              <a:rPr lang="en-US" sz="1600" dirty="0" err="1">
                <a:latin typeface="Aptos"/>
              </a:rPr>
              <a:t>ekh</a:t>
            </a:r>
            <a:r>
              <a:rPr lang="en-US" sz="1600" dirty="0">
                <a:latin typeface="Aptos"/>
              </a:rPr>
              <a:t> </a:t>
            </a:r>
            <a:r>
              <a:rPr lang="en-US" sz="1600" dirty="0" err="1">
                <a:latin typeface="Aptos"/>
              </a:rPr>
              <a:t>uemkh</a:t>
            </a:r>
            <a:r>
              <a:rPr lang="en-US" sz="1600" dirty="0">
                <a:latin typeface="Aptos"/>
              </a:rPr>
              <a:t> </a:t>
            </a:r>
            <a:r>
              <a:rPr lang="en-US" sz="1600" dirty="0" err="1">
                <a:latin typeface="Aptos"/>
              </a:rPr>
              <a:t>smigkhuhzmquc</a:t>
            </a:r>
            <a:r>
              <a:rPr lang="en-US" sz="1600" dirty="0">
                <a:latin typeface="Aptos"/>
              </a:rPr>
              <a:t> </a:t>
            </a:r>
            <a:r>
              <a:rPr lang="en-US" sz="1600" dirty="0" err="1">
                <a:latin typeface="Aptos"/>
              </a:rPr>
              <a:t>hpzqrzqa</a:t>
            </a:r>
            <a:r>
              <a:rPr lang="en-US" sz="1600" dirty="0">
                <a:latin typeface="Aptos"/>
              </a:rPr>
              <a:t> </a:t>
            </a:r>
            <a:r>
              <a:rPr lang="en-US" sz="1600" dirty="0" err="1">
                <a:latin typeface="Aptos"/>
              </a:rPr>
              <a:t>uqf</a:t>
            </a:r>
            <a:r>
              <a:rPr lang="en-US" sz="1600" dirty="0">
                <a:latin typeface="Aptos"/>
              </a:rPr>
              <a:t> </a:t>
            </a:r>
            <a:r>
              <a:rPr lang="en-US" sz="1600" dirty="0" err="1">
                <a:latin typeface="Aptos"/>
              </a:rPr>
              <a:t>hpd</a:t>
            </a:r>
            <a:r>
              <a:rPr lang="en-US" sz="1600" dirty="0">
                <a:latin typeface="Aptos"/>
              </a:rPr>
              <a:t> </a:t>
            </a:r>
            <a:r>
              <a:rPr lang="en-US" sz="1600" dirty="0" err="1">
                <a:latin typeface="Aptos"/>
              </a:rPr>
              <a:t>ohkfl</a:t>
            </a:r>
            <a:r>
              <a:rPr lang="en-US" sz="1600" dirty="0">
                <a:latin typeface="Aptos"/>
              </a:rPr>
              <a:t> mt </a:t>
            </a:r>
            <a:r>
              <a:rPr lang="en-US" sz="1600" dirty="0" err="1">
                <a:latin typeface="Aptos"/>
              </a:rPr>
              <a:t>ucamnzhpio</a:t>
            </a:r>
            <a:r>
              <a:rPr lang="en-US" sz="1600" dirty="0">
                <a:latin typeface="Aptos"/>
              </a:rPr>
              <a:t>. </a:t>
            </a:r>
            <a:r>
              <a:rPr lang="en-US" sz="1600" dirty="0" err="1">
                <a:latin typeface="Aptos"/>
              </a:rPr>
              <a:t>zigmnhuqh</a:t>
            </a:r>
            <a:r>
              <a:rPr lang="en-US" sz="1600" dirty="0">
                <a:latin typeface="Aptos"/>
              </a:rPr>
              <a:t> </a:t>
            </a:r>
            <a:r>
              <a:rPr lang="en-US" sz="1600" dirty="0" err="1">
                <a:latin typeface="Aptos"/>
              </a:rPr>
              <a:t>hdnio</a:t>
            </a:r>
            <a:r>
              <a:rPr lang="en-US" sz="1600" dirty="0">
                <a:latin typeface="Aptos"/>
              </a:rPr>
              <a:t> </a:t>
            </a:r>
            <a:r>
              <a:rPr lang="en-US" sz="1600" dirty="0" err="1">
                <a:latin typeface="Aptos"/>
              </a:rPr>
              <a:t>uqf</a:t>
            </a:r>
            <a:r>
              <a:rPr lang="en-US" sz="1600" dirty="0">
                <a:latin typeface="Aptos"/>
              </a:rPr>
              <a:t> </a:t>
            </a:r>
            <a:r>
              <a:rPr lang="en-US" sz="1600" dirty="0" err="1">
                <a:latin typeface="Aptos"/>
              </a:rPr>
              <a:t>smqsdgho</a:t>
            </a:r>
            <a:r>
              <a:rPr lang="en-US" sz="1600" dirty="0">
                <a:latin typeface="Aptos"/>
              </a:rPr>
              <a:t> </a:t>
            </a:r>
            <a:r>
              <a:rPr lang="en-US" sz="1600" dirty="0" err="1">
                <a:latin typeface="Aptos"/>
              </a:rPr>
              <a:t>zq</a:t>
            </a:r>
            <a:r>
              <a:rPr lang="en-US" sz="1600" dirty="0">
                <a:latin typeface="Aptos"/>
              </a:rPr>
              <a:t> </a:t>
            </a:r>
            <a:r>
              <a:rPr lang="en-US" sz="1600" dirty="0" err="1">
                <a:latin typeface="Aptos"/>
              </a:rPr>
              <a:t>hpd</a:t>
            </a:r>
            <a:r>
              <a:rPr lang="en-US" sz="1600" dirty="0">
                <a:latin typeface="Aptos"/>
              </a:rPr>
              <a:t> </a:t>
            </a:r>
            <a:r>
              <a:rPr lang="en-US" sz="1600" dirty="0" err="1">
                <a:latin typeface="Aptos"/>
              </a:rPr>
              <a:t>tzdcf</a:t>
            </a:r>
            <a:r>
              <a:rPr lang="en-US" sz="1600" dirty="0">
                <a:latin typeface="Aptos"/>
              </a:rPr>
              <a:t> </a:t>
            </a:r>
            <a:r>
              <a:rPr lang="en-US" sz="1600" dirty="0" err="1">
                <a:latin typeface="Aptos"/>
              </a:rPr>
              <a:t>xzcc</a:t>
            </a:r>
            <a:r>
              <a:rPr lang="en-US" sz="1600" dirty="0">
                <a:latin typeface="Aptos"/>
              </a:rPr>
              <a:t> ed </a:t>
            </a:r>
            <a:r>
              <a:rPr lang="en-US" sz="1600" dirty="0" err="1">
                <a:latin typeface="Aptos"/>
              </a:rPr>
              <a:t>zqhnmfksdf</a:t>
            </a:r>
            <a:r>
              <a:rPr lang="en-US" sz="1600" dirty="0">
                <a:latin typeface="Aptos"/>
              </a:rPr>
              <a:t>, </a:t>
            </a:r>
            <a:r>
              <a:rPr lang="en-US" sz="1600" dirty="0" err="1">
                <a:latin typeface="Aptos"/>
              </a:rPr>
              <a:t>uo</a:t>
            </a:r>
            <a:r>
              <a:rPr lang="en-US" sz="1600" dirty="0">
                <a:latin typeface="Aptos"/>
              </a:rPr>
              <a:t> u </a:t>
            </a:r>
            <a:r>
              <a:rPr lang="en-US" sz="1600" dirty="0" err="1">
                <a:latin typeface="Aptos"/>
              </a:rPr>
              <a:t>gndjzdx</a:t>
            </a:r>
            <a:r>
              <a:rPr lang="en-US" sz="1600" dirty="0">
                <a:latin typeface="Aptos"/>
              </a:rPr>
              <a:t> hm </a:t>
            </a:r>
            <a:r>
              <a:rPr lang="en-US" sz="1600" dirty="0" err="1">
                <a:latin typeface="Aptos"/>
              </a:rPr>
              <a:t>xpuh</a:t>
            </a:r>
            <a:r>
              <a:rPr lang="en-US" sz="1600" dirty="0">
                <a:latin typeface="Aptos"/>
              </a:rPr>
              <a:t> </a:t>
            </a:r>
            <a:r>
              <a:rPr lang="en-US" sz="1600" dirty="0" err="1">
                <a:latin typeface="Aptos"/>
              </a:rPr>
              <a:t>xzcc</a:t>
            </a:r>
            <a:r>
              <a:rPr lang="en-US" sz="1600" dirty="0">
                <a:latin typeface="Aptos"/>
              </a:rPr>
              <a:t> ed </a:t>
            </a:r>
            <a:r>
              <a:rPr lang="en-US" sz="1600" dirty="0" err="1">
                <a:latin typeface="Aptos"/>
              </a:rPr>
              <a:t>cdunqdf</a:t>
            </a:r>
            <a:r>
              <a:rPr lang="en-US" sz="1600" dirty="0">
                <a:latin typeface="Aptos"/>
              </a:rPr>
              <a:t> </a:t>
            </a:r>
            <a:r>
              <a:rPr lang="en-US" sz="1600" dirty="0" err="1">
                <a:latin typeface="Aptos"/>
              </a:rPr>
              <a:t>zq</a:t>
            </a:r>
            <a:r>
              <a:rPr lang="en-US" sz="1600" dirty="0">
                <a:latin typeface="Aptos"/>
              </a:rPr>
              <a:t> </a:t>
            </a:r>
            <a:r>
              <a:rPr lang="en-US" sz="1600" dirty="0" err="1">
                <a:latin typeface="Aptos"/>
              </a:rPr>
              <a:t>mhpdn</a:t>
            </a:r>
            <a:r>
              <a:rPr lang="en-US" sz="1600" dirty="0">
                <a:latin typeface="Aptos"/>
              </a:rPr>
              <a:t> </a:t>
            </a:r>
            <a:r>
              <a:rPr lang="en-US" sz="1600" dirty="0" err="1">
                <a:latin typeface="Aptos"/>
              </a:rPr>
              <a:t>smknodo</a:t>
            </a:r>
            <a:r>
              <a:rPr lang="en-US" sz="1600" dirty="0">
                <a:latin typeface="Aptos"/>
              </a:rPr>
              <a:t>. </a:t>
            </a:r>
            <a:r>
              <a:rPr lang="en-US" sz="1600" dirty="0" err="1">
                <a:latin typeface="Aptos"/>
              </a:rPr>
              <a:t>xd</a:t>
            </a:r>
            <a:r>
              <a:rPr lang="en-US" sz="1600" dirty="0">
                <a:latin typeface="Aptos"/>
              </a:rPr>
              <a:t> </a:t>
            </a:r>
            <a:r>
              <a:rPr lang="en-US" sz="1600" dirty="0" err="1">
                <a:latin typeface="Aptos"/>
              </a:rPr>
              <a:t>xzcc</a:t>
            </a:r>
            <a:r>
              <a:rPr lang="en-US" sz="1600" dirty="0">
                <a:latin typeface="Aptos"/>
              </a:rPr>
              <a:t> </a:t>
            </a:r>
            <a:r>
              <a:rPr lang="en-US" sz="1600" dirty="0" err="1">
                <a:latin typeface="Aptos"/>
              </a:rPr>
              <a:t>dbgcuzq</a:t>
            </a:r>
            <a:r>
              <a:rPr lang="en-US" sz="1600" dirty="0">
                <a:latin typeface="Aptos"/>
              </a:rPr>
              <a:t> </a:t>
            </a:r>
            <a:r>
              <a:rPr lang="en-US" sz="1600" dirty="0" err="1">
                <a:latin typeface="Aptos"/>
              </a:rPr>
              <a:t>hpd</a:t>
            </a:r>
            <a:r>
              <a:rPr lang="en-US" sz="1600" dirty="0">
                <a:latin typeface="Aptos"/>
              </a:rPr>
              <a:t> </a:t>
            </a:r>
            <a:r>
              <a:rPr lang="en-US" sz="1600" dirty="0" err="1">
                <a:latin typeface="Aptos"/>
              </a:rPr>
              <a:t>imhzjuhzmq</a:t>
            </a:r>
            <a:r>
              <a:rPr lang="en-US" sz="1600" dirty="0">
                <a:latin typeface="Aptos"/>
              </a:rPr>
              <a:t> </a:t>
            </a:r>
            <a:r>
              <a:rPr lang="en-US" sz="1600" dirty="0" err="1">
                <a:latin typeface="Aptos"/>
              </a:rPr>
              <a:t>tmn</a:t>
            </a:r>
            <a:r>
              <a:rPr lang="en-US" sz="1600" dirty="0">
                <a:latin typeface="Aptos"/>
              </a:rPr>
              <a:t> </a:t>
            </a:r>
            <a:r>
              <a:rPr lang="en-US" sz="1600" dirty="0" err="1">
                <a:latin typeface="Aptos"/>
              </a:rPr>
              <a:t>junzmko</a:t>
            </a:r>
            <a:r>
              <a:rPr lang="en-US" sz="1600" dirty="0">
                <a:latin typeface="Aptos"/>
              </a:rPr>
              <a:t> </a:t>
            </a:r>
            <a:r>
              <a:rPr lang="en-US" sz="1600" dirty="0" err="1">
                <a:latin typeface="Aptos"/>
              </a:rPr>
              <a:t>uogdsho</a:t>
            </a:r>
            <a:r>
              <a:rPr lang="en-US" sz="1600" dirty="0">
                <a:latin typeface="Aptos"/>
              </a:rPr>
              <a:t> mt </a:t>
            </a:r>
            <a:r>
              <a:rPr lang="en-US" sz="1600" dirty="0" err="1">
                <a:latin typeface="Aptos"/>
              </a:rPr>
              <a:t>mkn</a:t>
            </a:r>
            <a:r>
              <a:rPr lang="en-US" sz="1600" dirty="0">
                <a:latin typeface="Aptos"/>
              </a:rPr>
              <a:t> </a:t>
            </a:r>
            <a:r>
              <a:rPr lang="en-US" sz="1600" dirty="0" err="1">
                <a:latin typeface="Aptos"/>
              </a:rPr>
              <a:t>iuvmn</a:t>
            </a:r>
            <a:r>
              <a:rPr lang="en-US" sz="1600" dirty="0">
                <a:latin typeface="Aptos"/>
              </a:rPr>
              <a:t>, </a:t>
            </a:r>
            <a:r>
              <a:rPr lang="en-US" sz="1600" dirty="0" err="1">
                <a:latin typeface="Aptos"/>
              </a:rPr>
              <a:t>zqsckfzqa</a:t>
            </a:r>
            <a:r>
              <a:rPr lang="en-US" sz="1600" dirty="0">
                <a:latin typeface="Aptos"/>
              </a:rPr>
              <a:t> </a:t>
            </a:r>
            <a:r>
              <a:rPr lang="en-US" sz="1600" dirty="0" err="1">
                <a:latin typeface="Aptos"/>
              </a:rPr>
              <a:t>hpd</a:t>
            </a:r>
            <a:r>
              <a:rPr lang="en-US" sz="1600" dirty="0">
                <a:latin typeface="Aptos"/>
              </a:rPr>
              <a:t> </a:t>
            </a:r>
            <a:r>
              <a:rPr lang="en-US" sz="1600" dirty="0" err="1">
                <a:latin typeface="Aptos"/>
              </a:rPr>
              <a:t>smnd</a:t>
            </a:r>
            <a:r>
              <a:rPr lang="en-US" sz="1600" dirty="0">
                <a:latin typeface="Aptos"/>
              </a:rPr>
              <a:t> </a:t>
            </a:r>
            <a:r>
              <a:rPr lang="en-US" sz="1600" dirty="0" err="1">
                <a:latin typeface="Aptos"/>
              </a:rPr>
              <a:t>smknod</a:t>
            </a:r>
            <a:r>
              <a:rPr lang="en-US" sz="1600" dirty="0">
                <a:latin typeface="Aptos"/>
              </a:rPr>
              <a:t> </a:t>
            </a:r>
            <a:r>
              <a:rPr lang="en-US" sz="1600" dirty="0" err="1">
                <a:latin typeface="Aptos"/>
              </a:rPr>
              <a:t>odwkdqsd</a:t>
            </a:r>
            <a:r>
              <a:rPr lang="en-US" sz="1600" dirty="0">
                <a:latin typeface="Aptos"/>
              </a:rPr>
              <a:t> </a:t>
            </a:r>
            <a:r>
              <a:rPr lang="en-US" sz="1600" dirty="0" err="1">
                <a:latin typeface="Aptos"/>
              </a:rPr>
              <a:t>zq</a:t>
            </a:r>
            <a:r>
              <a:rPr lang="en-US" sz="1600" dirty="0">
                <a:latin typeface="Aptos"/>
              </a:rPr>
              <a:t> </a:t>
            </a:r>
            <a:r>
              <a:rPr lang="en-US" sz="1600" dirty="0" err="1">
                <a:latin typeface="Aptos"/>
              </a:rPr>
              <a:t>mkn</a:t>
            </a:r>
            <a:r>
              <a:rPr lang="en-US" sz="1600" dirty="0">
                <a:latin typeface="Aptos"/>
              </a:rPr>
              <a:t> </a:t>
            </a:r>
            <a:r>
              <a:rPr lang="en-US" sz="1600" dirty="0" err="1">
                <a:latin typeface="Aptos"/>
              </a:rPr>
              <a:t>sknnzskcki</a:t>
            </a:r>
            <a:r>
              <a:rPr lang="en-US" sz="1600" dirty="0">
                <a:latin typeface="Aptos"/>
              </a:rPr>
              <a:t>, </a:t>
            </a:r>
            <a:r>
              <a:rPr lang="en-US" sz="1600" dirty="0" err="1">
                <a:latin typeface="Aptos"/>
              </a:rPr>
              <a:t>iuhp</a:t>
            </a:r>
            <a:r>
              <a:rPr lang="en-US" sz="1600" dirty="0">
                <a:latin typeface="Aptos"/>
              </a:rPr>
              <a:t> </a:t>
            </a:r>
            <a:r>
              <a:rPr lang="en-US" sz="1600" dirty="0" err="1">
                <a:latin typeface="Aptos"/>
              </a:rPr>
              <a:t>ndwkzndidqho</a:t>
            </a:r>
            <a:r>
              <a:rPr lang="en-US" sz="1600" dirty="0">
                <a:latin typeface="Aptos"/>
              </a:rPr>
              <a:t>, </a:t>
            </a:r>
            <a:r>
              <a:rPr lang="en-US" sz="1600" dirty="0" err="1">
                <a:latin typeface="Aptos"/>
              </a:rPr>
              <a:t>okggmnhzqa</a:t>
            </a:r>
            <a:r>
              <a:rPr lang="en-US" sz="1600" dirty="0">
                <a:latin typeface="Aptos"/>
              </a:rPr>
              <a:t> </a:t>
            </a:r>
            <a:r>
              <a:rPr lang="en-US" sz="1600" dirty="0" err="1">
                <a:latin typeface="Aptos"/>
              </a:rPr>
              <a:t>undu</a:t>
            </a:r>
            <a:r>
              <a:rPr lang="en-US" sz="1600" dirty="0">
                <a:latin typeface="Aptos"/>
              </a:rPr>
              <a:t>, </a:t>
            </a:r>
            <a:r>
              <a:rPr lang="en-US" sz="1600" dirty="0" err="1">
                <a:latin typeface="Aptos"/>
              </a:rPr>
              <a:t>sm-mgo</a:t>
            </a:r>
            <a:r>
              <a:rPr lang="en-US" sz="1600" dirty="0">
                <a:latin typeface="Aptos"/>
              </a:rPr>
              <a:t>, </a:t>
            </a:r>
            <a:r>
              <a:rPr lang="en-US" sz="1600" dirty="0" err="1">
                <a:latin typeface="Aptos"/>
              </a:rPr>
              <a:t>dhs</a:t>
            </a:r>
            <a:r>
              <a:rPr lang="en-US" sz="1600" dirty="0">
                <a:latin typeface="Aptos"/>
              </a:rPr>
              <a:t>. </a:t>
            </a:r>
          </a:p>
        </p:txBody>
      </p:sp>
      <p:sp>
        <p:nvSpPr>
          <p:cNvPr id="7" name="Speech Bubble: Rectangle 6">
            <a:extLst>
              <a:ext uri="{FF2B5EF4-FFF2-40B4-BE49-F238E27FC236}">
                <a16:creationId xmlns:a16="http://schemas.microsoft.com/office/drawing/2014/main" id="{F4FAEC7E-776B-496B-810A-6186FE1AF714}"/>
              </a:ext>
            </a:extLst>
          </p:cNvPr>
          <p:cNvSpPr/>
          <p:nvPr/>
        </p:nvSpPr>
        <p:spPr>
          <a:xfrm>
            <a:off x="1561012" y="1338943"/>
            <a:ext cx="6279443" cy="3046988"/>
          </a:xfrm>
          <a:prstGeom prst="wedgeRectCallout">
            <a:avLst>
              <a:gd name="adj1" fmla="val -56509"/>
              <a:gd name="adj2" fmla="val 30953"/>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647AAC4-BBA6-1020-4332-186D57938A4A}"/>
              </a:ext>
            </a:extLst>
          </p:cNvPr>
          <p:cNvPicPr>
            <a:picLocks noChangeAspect="1"/>
          </p:cNvPicPr>
          <p:nvPr/>
        </p:nvPicPr>
        <p:blipFill>
          <a:blip r:embed="rId3"/>
          <a:stretch>
            <a:fillRect/>
          </a:stretch>
        </p:blipFill>
        <p:spPr>
          <a:xfrm>
            <a:off x="8438198" y="3953032"/>
            <a:ext cx="651563" cy="1041743"/>
          </a:xfrm>
          <a:prstGeom prst="rect">
            <a:avLst/>
          </a:prstGeom>
        </p:spPr>
      </p:pic>
      <p:pic>
        <p:nvPicPr>
          <p:cNvPr id="9" name="Picture 8">
            <a:extLst>
              <a:ext uri="{FF2B5EF4-FFF2-40B4-BE49-F238E27FC236}">
                <a16:creationId xmlns:a16="http://schemas.microsoft.com/office/drawing/2014/main" id="{677758CC-61AB-31A2-085A-7BD1F75662A2}"/>
              </a:ext>
            </a:extLst>
          </p:cNvPr>
          <p:cNvPicPr>
            <a:picLocks noChangeAspect="1"/>
          </p:cNvPicPr>
          <p:nvPr/>
        </p:nvPicPr>
        <p:blipFill>
          <a:blip r:embed="rId4"/>
          <a:stretch>
            <a:fillRect/>
          </a:stretch>
        </p:blipFill>
        <p:spPr>
          <a:xfrm>
            <a:off x="277710" y="3942658"/>
            <a:ext cx="689498" cy="1041742"/>
          </a:xfrm>
          <a:prstGeom prst="rect">
            <a:avLst/>
          </a:prstGeom>
        </p:spPr>
      </p:pic>
      <p:sp>
        <p:nvSpPr>
          <p:cNvPr id="5" name="Rectangle 4">
            <a:extLst>
              <a:ext uri="{FF2B5EF4-FFF2-40B4-BE49-F238E27FC236}">
                <a16:creationId xmlns:a16="http://schemas.microsoft.com/office/drawing/2014/main" id="{9AE64BE8-8826-6274-F709-A0E2B13F061F}"/>
              </a:ext>
            </a:extLst>
          </p:cNvPr>
          <p:cNvSpPr/>
          <p:nvPr/>
        </p:nvSpPr>
        <p:spPr>
          <a:xfrm>
            <a:off x="1660957" y="1418577"/>
            <a:ext cx="6099048" cy="3044952"/>
          </a:xfrm>
          <a:prstGeom prst="rect">
            <a:avLst/>
          </a:prstGeom>
        </p:spPr>
        <p:txBody>
          <a:bodyPr wrap="square">
            <a:spAutoFit/>
          </a:bodyPr>
          <a:lstStyle/>
          <a:p>
            <a:r>
              <a:rPr lang="en-US" sz="1600" dirty="0">
                <a:highlight>
                  <a:srgbClr val="FFFF00"/>
                </a:highlight>
                <a:latin typeface="Aptos"/>
              </a:rPr>
              <a:t>the </a:t>
            </a:r>
            <a:r>
              <a:rPr lang="en-US" sz="1600" dirty="0" err="1">
                <a:highlight>
                  <a:srgbClr val="FFFF00"/>
                </a:highlight>
                <a:latin typeface="Aptos"/>
              </a:rPr>
              <a:t>objectipes</a:t>
            </a:r>
            <a:r>
              <a:rPr lang="en-US" sz="1600" dirty="0">
                <a:highlight>
                  <a:srgbClr val="FFFF00"/>
                </a:highlight>
                <a:latin typeface="Aptos"/>
              </a:rPr>
              <a:t> </a:t>
            </a:r>
            <a:r>
              <a:rPr lang="en-US" sz="1600" dirty="0" err="1">
                <a:highlight>
                  <a:srgbClr val="FFFF00"/>
                </a:highlight>
                <a:latin typeface="Aptos"/>
              </a:rPr>
              <a:t>og</a:t>
            </a:r>
            <a:r>
              <a:rPr lang="en-US" sz="1600" dirty="0">
                <a:highlight>
                  <a:srgbClr val="FFFF00"/>
                </a:highlight>
                <a:latin typeface="Aptos"/>
              </a:rPr>
              <a:t> this course are to </a:t>
            </a:r>
            <a:r>
              <a:rPr lang="en-US" sz="1600" dirty="0" err="1">
                <a:highlight>
                  <a:srgbClr val="FFFF00"/>
                </a:highlight>
                <a:latin typeface="Aptos"/>
              </a:rPr>
              <a:t>ingorm</a:t>
            </a:r>
            <a:r>
              <a:rPr lang="en-US" sz="1600" dirty="0">
                <a:highlight>
                  <a:srgbClr val="FFFF00"/>
                </a:highlight>
                <a:latin typeface="Aptos"/>
              </a:rPr>
              <a:t> students about the </a:t>
            </a:r>
            <a:r>
              <a:rPr lang="en-US" sz="1600" dirty="0" err="1">
                <a:highlight>
                  <a:srgbClr val="FFFF00"/>
                </a:highlight>
                <a:latin typeface="Aptos"/>
              </a:rPr>
              <a:t>gield</a:t>
            </a:r>
            <a:r>
              <a:rPr lang="en-US" sz="1600" dirty="0">
                <a:highlight>
                  <a:srgbClr val="FFFF00"/>
                </a:highlight>
                <a:latin typeface="Aptos"/>
              </a:rPr>
              <a:t> </a:t>
            </a:r>
            <a:r>
              <a:rPr lang="en-US" sz="1600" dirty="0" err="1">
                <a:highlight>
                  <a:srgbClr val="FFFF00"/>
                </a:highlight>
                <a:latin typeface="Aptos"/>
              </a:rPr>
              <a:t>og</a:t>
            </a:r>
            <a:r>
              <a:rPr lang="en-US" sz="1600" dirty="0">
                <a:highlight>
                  <a:srgbClr val="FFFF00"/>
                </a:highlight>
                <a:latin typeface="Aptos"/>
              </a:rPr>
              <a:t> </a:t>
            </a:r>
            <a:r>
              <a:rPr lang="en-US" sz="1600" dirty="0" err="1">
                <a:highlight>
                  <a:srgbClr val="FFFF00"/>
                </a:highlight>
                <a:latin typeface="Aptos"/>
              </a:rPr>
              <a:t>comwuter</a:t>
            </a:r>
            <a:r>
              <a:rPr lang="en-US" sz="1600" dirty="0">
                <a:highlight>
                  <a:srgbClr val="FFFF00"/>
                </a:highlight>
                <a:latin typeface="Aptos"/>
              </a:rPr>
              <a:t> </a:t>
            </a:r>
            <a:r>
              <a:rPr lang="en-US" sz="1600" dirty="0" err="1">
                <a:highlight>
                  <a:srgbClr val="FFFF00"/>
                </a:highlight>
                <a:latin typeface="Aptos"/>
              </a:rPr>
              <a:t>enfineerinf</a:t>
            </a:r>
            <a:r>
              <a:rPr lang="en-US" sz="1600" dirty="0">
                <a:highlight>
                  <a:srgbClr val="FFFF00"/>
                </a:highlight>
                <a:latin typeface="Aptos"/>
              </a:rPr>
              <a:t>, and to introduce them to the </a:t>
            </a:r>
            <a:r>
              <a:rPr lang="en-US" sz="1600" dirty="0" err="1">
                <a:highlight>
                  <a:srgbClr val="FFFF00"/>
                </a:highlight>
                <a:latin typeface="Aptos"/>
              </a:rPr>
              <a:t>yide</a:t>
            </a:r>
            <a:r>
              <a:rPr lang="en-US" sz="1600" dirty="0">
                <a:highlight>
                  <a:srgbClr val="FFFF00"/>
                </a:highlight>
                <a:latin typeface="Aptos"/>
              </a:rPr>
              <a:t> </a:t>
            </a:r>
            <a:r>
              <a:rPr lang="en-US" sz="1600" dirty="0" err="1">
                <a:highlight>
                  <a:srgbClr val="FFFF00"/>
                </a:highlight>
                <a:latin typeface="Aptos"/>
              </a:rPr>
              <a:t>ranfe</a:t>
            </a:r>
            <a:r>
              <a:rPr lang="en-US" sz="1600" dirty="0">
                <a:highlight>
                  <a:srgbClr val="FFFF00"/>
                </a:highlight>
                <a:latin typeface="Aptos"/>
              </a:rPr>
              <a:t> </a:t>
            </a:r>
            <a:r>
              <a:rPr lang="en-US" sz="1600" dirty="0" err="1">
                <a:highlight>
                  <a:srgbClr val="FFFF00"/>
                </a:highlight>
                <a:latin typeface="Aptos"/>
              </a:rPr>
              <a:t>og</a:t>
            </a:r>
            <a:r>
              <a:rPr lang="en-US" sz="1600" dirty="0">
                <a:highlight>
                  <a:srgbClr val="FFFF00"/>
                </a:highlight>
                <a:latin typeface="Aptos"/>
              </a:rPr>
              <a:t> </a:t>
            </a:r>
            <a:r>
              <a:rPr lang="en-US" sz="1600" dirty="0" err="1">
                <a:highlight>
                  <a:srgbClr val="FFFF00"/>
                </a:highlight>
                <a:latin typeface="Aptos"/>
              </a:rPr>
              <a:t>evcitinf</a:t>
            </a:r>
            <a:r>
              <a:rPr lang="en-US" sz="1600" dirty="0">
                <a:highlight>
                  <a:srgbClr val="FFFF00"/>
                </a:highlight>
                <a:latin typeface="Aptos"/>
              </a:rPr>
              <a:t> </a:t>
            </a:r>
            <a:r>
              <a:rPr lang="en-US" sz="1600" dirty="0" err="1">
                <a:highlight>
                  <a:srgbClr val="FFFF00"/>
                </a:highlight>
                <a:latin typeface="Aptos"/>
              </a:rPr>
              <a:t>awwlications</a:t>
            </a:r>
            <a:r>
              <a:rPr lang="en-US" sz="1600" dirty="0">
                <a:highlight>
                  <a:srgbClr val="FFFF00"/>
                </a:highlight>
                <a:latin typeface="Aptos"/>
              </a:rPr>
              <a:t> </a:t>
            </a:r>
            <a:r>
              <a:rPr lang="en-US" sz="1600" dirty="0" err="1">
                <a:highlight>
                  <a:srgbClr val="FFFF00"/>
                </a:highlight>
                <a:latin typeface="Aptos"/>
              </a:rPr>
              <a:t>og</a:t>
            </a:r>
            <a:r>
              <a:rPr lang="en-US" sz="1600" dirty="0">
                <a:highlight>
                  <a:srgbClr val="FFFF00"/>
                </a:highlight>
                <a:latin typeface="Aptos"/>
              </a:rPr>
              <a:t> </a:t>
            </a:r>
            <a:r>
              <a:rPr lang="en-US" sz="1600" dirty="0" err="1">
                <a:highlight>
                  <a:srgbClr val="FFFF00"/>
                </a:highlight>
                <a:latin typeface="Aptos"/>
              </a:rPr>
              <a:t>comwutation</a:t>
            </a:r>
            <a:r>
              <a:rPr lang="en-US" sz="1600" dirty="0">
                <a:highlight>
                  <a:srgbClr val="FFFF00"/>
                </a:highlight>
                <a:latin typeface="Aptos"/>
              </a:rPr>
              <a:t> and </a:t>
            </a:r>
            <a:r>
              <a:rPr lang="en-US" sz="1600" dirty="0" err="1">
                <a:highlight>
                  <a:srgbClr val="FFFF00"/>
                </a:highlight>
                <a:latin typeface="Aptos"/>
              </a:rPr>
              <a:t>technolofk</a:t>
            </a:r>
            <a:r>
              <a:rPr lang="en-US" sz="1600" dirty="0">
                <a:highlight>
                  <a:srgbClr val="FFFF00"/>
                </a:highlight>
                <a:latin typeface="Aptos"/>
              </a:rPr>
              <a:t> in </a:t>
            </a:r>
            <a:r>
              <a:rPr lang="en-US" sz="1600" dirty="0" err="1">
                <a:highlight>
                  <a:srgbClr val="FFFF00"/>
                </a:highlight>
                <a:latin typeface="Aptos"/>
              </a:rPr>
              <a:t>societk</a:t>
            </a:r>
            <a:r>
              <a:rPr lang="en-US" sz="1600" dirty="0">
                <a:highlight>
                  <a:srgbClr val="FFFF00"/>
                </a:highlight>
                <a:latin typeface="Aptos"/>
              </a:rPr>
              <a:t>. ye </a:t>
            </a:r>
            <a:r>
              <a:rPr lang="en-US" sz="1600" dirty="0" err="1">
                <a:highlight>
                  <a:srgbClr val="FFFF00"/>
                </a:highlight>
                <a:latin typeface="Aptos"/>
              </a:rPr>
              <a:t>yill</a:t>
            </a:r>
            <a:r>
              <a:rPr lang="en-US" sz="1600" dirty="0">
                <a:highlight>
                  <a:srgbClr val="FFFF00"/>
                </a:highlight>
                <a:latin typeface="Aptos"/>
              </a:rPr>
              <a:t> </a:t>
            </a:r>
            <a:r>
              <a:rPr lang="en-US" sz="1600" dirty="0" err="1">
                <a:highlight>
                  <a:srgbClr val="FFFF00"/>
                </a:highlight>
                <a:latin typeface="Aptos"/>
              </a:rPr>
              <a:t>evwlain</a:t>
            </a:r>
            <a:r>
              <a:rPr lang="en-US" sz="1600" dirty="0">
                <a:highlight>
                  <a:srgbClr val="FFFF00"/>
                </a:highlight>
                <a:latin typeface="Aptos"/>
              </a:rPr>
              <a:t> that </a:t>
            </a:r>
            <a:r>
              <a:rPr lang="en-US" sz="1600" dirty="0" err="1">
                <a:highlight>
                  <a:srgbClr val="FFFF00"/>
                </a:highlight>
                <a:latin typeface="Aptos"/>
              </a:rPr>
              <a:t>comwuter</a:t>
            </a:r>
            <a:r>
              <a:rPr lang="en-US" sz="1600" dirty="0">
                <a:highlight>
                  <a:srgbClr val="FFFF00"/>
                </a:highlight>
                <a:latin typeface="Aptos"/>
              </a:rPr>
              <a:t> </a:t>
            </a:r>
            <a:r>
              <a:rPr lang="en-US" sz="1600" dirty="0" err="1">
                <a:highlight>
                  <a:srgbClr val="FFFF00"/>
                </a:highlight>
                <a:latin typeface="Aptos"/>
              </a:rPr>
              <a:t>enfineerinf</a:t>
            </a:r>
            <a:r>
              <a:rPr lang="en-US" sz="1600" dirty="0">
                <a:highlight>
                  <a:srgbClr val="FFFF00"/>
                </a:highlight>
                <a:latin typeface="Aptos"/>
              </a:rPr>
              <a:t> is not just about </a:t>
            </a:r>
            <a:r>
              <a:rPr lang="en-US" sz="1600" dirty="0" err="1">
                <a:highlight>
                  <a:srgbClr val="FFFF00"/>
                </a:highlight>
                <a:latin typeface="Aptos"/>
              </a:rPr>
              <a:t>wroframminf</a:t>
            </a:r>
            <a:r>
              <a:rPr lang="en-US" sz="1600" dirty="0">
                <a:highlight>
                  <a:srgbClr val="FFFF00"/>
                </a:highlight>
                <a:latin typeface="Aptos"/>
              </a:rPr>
              <a:t>, but about </a:t>
            </a:r>
            <a:r>
              <a:rPr lang="en-US" sz="1600" dirty="0" err="1">
                <a:highlight>
                  <a:srgbClr val="FFFF00"/>
                </a:highlight>
                <a:latin typeface="Aptos"/>
              </a:rPr>
              <a:t>comwutational</a:t>
            </a:r>
            <a:r>
              <a:rPr lang="en-US" sz="1600" dirty="0">
                <a:highlight>
                  <a:srgbClr val="FFFF00"/>
                </a:highlight>
                <a:latin typeface="Aptos"/>
              </a:rPr>
              <a:t> </a:t>
            </a:r>
            <a:r>
              <a:rPr lang="en-US" sz="1600" dirty="0" err="1">
                <a:highlight>
                  <a:srgbClr val="FFFF00"/>
                </a:highlight>
                <a:latin typeface="Aptos"/>
              </a:rPr>
              <a:t>thinqinf</a:t>
            </a:r>
            <a:r>
              <a:rPr lang="en-US" sz="1600" dirty="0">
                <a:highlight>
                  <a:srgbClr val="FFFF00"/>
                </a:highlight>
                <a:latin typeface="Aptos"/>
              </a:rPr>
              <a:t> and the </a:t>
            </a:r>
            <a:r>
              <a:rPr lang="en-US" sz="1600" dirty="0" err="1">
                <a:highlight>
                  <a:srgbClr val="FFFF00"/>
                </a:highlight>
                <a:latin typeface="Aptos"/>
              </a:rPr>
              <a:t>studk</a:t>
            </a:r>
            <a:r>
              <a:rPr lang="en-US" sz="1600" dirty="0">
                <a:highlight>
                  <a:srgbClr val="FFFF00"/>
                </a:highlight>
                <a:latin typeface="Aptos"/>
              </a:rPr>
              <a:t> </a:t>
            </a:r>
            <a:r>
              <a:rPr lang="en-US" sz="1600" dirty="0" err="1">
                <a:highlight>
                  <a:srgbClr val="FFFF00"/>
                </a:highlight>
                <a:latin typeface="Aptos"/>
              </a:rPr>
              <a:t>og</a:t>
            </a:r>
            <a:r>
              <a:rPr lang="en-US" sz="1600" dirty="0">
                <a:highlight>
                  <a:srgbClr val="FFFF00"/>
                </a:highlight>
                <a:latin typeface="Aptos"/>
              </a:rPr>
              <a:t> </a:t>
            </a:r>
            <a:r>
              <a:rPr lang="en-US" sz="1600" dirty="0" err="1">
                <a:highlight>
                  <a:srgbClr val="FFFF00"/>
                </a:highlight>
                <a:latin typeface="Aptos"/>
              </a:rPr>
              <a:t>alforithms</a:t>
            </a:r>
            <a:r>
              <a:rPr lang="en-US" sz="1600" dirty="0">
                <a:highlight>
                  <a:srgbClr val="FFFF00"/>
                </a:highlight>
                <a:latin typeface="Aptos"/>
              </a:rPr>
              <a:t>. </a:t>
            </a:r>
            <a:r>
              <a:rPr lang="en-US" sz="1600" dirty="0" err="1">
                <a:highlight>
                  <a:srgbClr val="FFFF00"/>
                </a:highlight>
                <a:latin typeface="Aptos"/>
              </a:rPr>
              <a:t>imwortant</a:t>
            </a:r>
            <a:r>
              <a:rPr lang="en-US" sz="1600" dirty="0">
                <a:highlight>
                  <a:srgbClr val="FFFF00"/>
                </a:highlight>
                <a:latin typeface="Aptos"/>
              </a:rPr>
              <a:t> terms and </a:t>
            </a:r>
            <a:r>
              <a:rPr lang="en-US" sz="1600" dirty="0" err="1">
                <a:highlight>
                  <a:srgbClr val="FFFF00"/>
                </a:highlight>
                <a:latin typeface="Aptos"/>
              </a:rPr>
              <a:t>concewts</a:t>
            </a:r>
            <a:r>
              <a:rPr lang="en-US" sz="1600" dirty="0">
                <a:highlight>
                  <a:srgbClr val="FFFF00"/>
                </a:highlight>
                <a:latin typeface="Aptos"/>
              </a:rPr>
              <a:t> in the </a:t>
            </a:r>
            <a:r>
              <a:rPr lang="en-US" sz="1600" dirty="0" err="1">
                <a:highlight>
                  <a:srgbClr val="FFFF00"/>
                </a:highlight>
                <a:latin typeface="Aptos"/>
              </a:rPr>
              <a:t>gield</a:t>
            </a:r>
            <a:r>
              <a:rPr lang="en-US" sz="1600" dirty="0">
                <a:highlight>
                  <a:srgbClr val="FFFF00"/>
                </a:highlight>
                <a:latin typeface="Aptos"/>
              </a:rPr>
              <a:t> </a:t>
            </a:r>
            <a:r>
              <a:rPr lang="en-US" sz="1600" dirty="0" err="1">
                <a:highlight>
                  <a:srgbClr val="FFFF00"/>
                </a:highlight>
                <a:latin typeface="Aptos"/>
              </a:rPr>
              <a:t>yill</a:t>
            </a:r>
            <a:r>
              <a:rPr lang="en-US" sz="1600" dirty="0">
                <a:highlight>
                  <a:srgbClr val="FFFF00"/>
                </a:highlight>
                <a:latin typeface="Aptos"/>
              </a:rPr>
              <a:t> be introduced, as a </a:t>
            </a:r>
            <a:r>
              <a:rPr lang="en-US" sz="1600" dirty="0" err="1">
                <a:highlight>
                  <a:srgbClr val="FFFF00"/>
                </a:highlight>
                <a:latin typeface="Aptos"/>
              </a:rPr>
              <a:t>wrepiey</a:t>
            </a:r>
            <a:r>
              <a:rPr lang="en-US" sz="1600" dirty="0">
                <a:highlight>
                  <a:srgbClr val="FFFF00"/>
                </a:highlight>
                <a:latin typeface="Aptos"/>
              </a:rPr>
              <a:t> to </a:t>
            </a:r>
            <a:r>
              <a:rPr lang="en-US" sz="1600" dirty="0" err="1">
                <a:highlight>
                  <a:srgbClr val="FFFF00"/>
                </a:highlight>
                <a:latin typeface="Aptos"/>
              </a:rPr>
              <a:t>yhat</a:t>
            </a:r>
            <a:r>
              <a:rPr lang="en-US" sz="1600" dirty="0">
                <a:highlight>
                  <a:srgbClr val="FFFF00"/>
                </a:highlight>
                <a:latin typeface="Aptos"/>
              </a:rPr>
              <a:t> </a:t>
            </a:r>
            <a:r>
              <a:rPr lang="en-US" sz="1600" dirty="0" err="1">
                <a:highlight>
                  <a:srgbClr val="FFFF00"/>
                </a:highlight>
                <a:latin typeface="Aptos"/>
              </a:rPr>
              <a:t>yill</a:t>
            </a:r>
            <a:r>
              <a:rPr lang="en-US" sz="1600" dirty="0">
                <a:highlight>
                  <a:srgbClr val="FFFF00"/>
                </a:highlight>
                <a:latin typeface="Aptos"/>
              </a:rPr>
              <a:t> be learned in other courses. ye </a:t>
            </a:r>
            <a:r>
              <a:rPr lang="en-US" sz="1600" dirty="0" err="1">
                <a:highlight>
                  <a:srgbClr val="FFFF00"/>
                </a:highlight>
                <a:latin typeface="Aptos"/>
              </a:rPr>
              <a:t>yill</a:t>
            </a:r>
            <a:r>
              <a:rPr lang="en-US" sz="1600" dirty="0">
                <a:highlight>
                  <a:srgbClr val="FFFF00"/>
                </a:highlight>
                <a:latin typeface="Aptos"/>
              </a:rPr>
              <a:t> </a:t>
            </a:r>
            <a:r>
              <a:rPr lang="en-US" sz="1600" dirty="0" err="1">
                <a:highlight>
                  <a:srgbClr val="FFFF00"/>
                </a:highlight>
                <a:latin typeface="Aptos"/>
              </a:rPr>
              <a:t>evwlain</a:t>
            </a:r>
            <a:r>
              <a:rPr lang="en-US" sz="1600" dirty="0">
                <a:highlight>
                  <a:srgbClr val="FFFF00"/>
                </a:highlight>
                <a:latin typeface="Aptos"/>
              </a:rPr>
              <a:t> the </a:t>
            </a:r>
            <a:r>
              <a:rPr lang="en-US" sz="1600" dirty="0" err="1">
                <a:highlight>
                  <a:srgbClr val="FFFF00"/>
                </a:highlight>
                <a:latin typeface="Aptos"/>
              </a:rPr>
              <a:t>motipation</a:t>
            </a:r>
            <a:r>
              <a:rPr lang="en-US" sz="1600" dirty="0">
                <a:highlight>
                  <a:srgbClr val="FFFF00"/>
                </a:highlight>
                <a:latin typeface="Aptos"/>
              </a:rPr>
              <a:t> </a:t>
            </a:r>
            <a:r>
              <a:rPr lang="en-US" sz="1600" dirty="0" err="1">
                <a:highlight>
                  <a:srgbClr val="FFFF00"/>
                </a:highlight>
                <a:latin typeface="Aptos"/>
              </a:rPr>
              <a:t>gor</a:t>
            </a:r>
            <a:r>
              <a:rPr lang="en-US" sz="1600" dirty="0">
                <a:highlight>
                  <a:srgbClr val="FFFF00"/>
                </a:highlight>
                <a:latin typeface="Aptos"/>
              </a:rPr>
              <a:t> </a:t>
            </a:r>
            <a:r>
              <a:rPr lang="en-US" sz="1600" dirty="0" err="1">
                <a:highlight>
                  <a:srgbClr val="FFFF00"/>
                </a:highlight>
                <a:latin typeface="Aptos"/>
              </a:rPr>
              <a:t>parious</a:t>
            </a:r>
            <a:r>
              <a:rPr lang="en-US" sz="1600" dirty="0">
                <a:highlight>
                  <a:srgbClr val="FFFF00"/>
                </a:highlight>
                <a:latin typeface="Aptos"/>
              </a:rPr>
              <a:t> </a:t>
            </a:r>
            <a:r>
              <a:rPr lang="en-US" sz="1600" dirty="0" err="1">
                <a:highlight>
                  <a:srgbClr val="FFFF00"/>
                </a:highlight>
                <a:latin typeface="Aptos"/>
              </a:rPr>
              <a:t>aswects</a:t>
            </a:r>
            <a:r>
              <a:rPr lang="en-US" sz="1600" dirty="0">
                <a:highlight>
                  <a:srgbClr val="FFFF00"/>
                </a:highlight>
                <a:latin typeface="Aptos"/>
              </a:rPr>
              <a:t> </a:t>
            </a:r>
            <a:r>
              <a:rPr lang="en-US" sz="1600" dirty="0" err="1">
                <a:highlight>
                  <a:srgbClr val="FFFF00"/>
                </a:highlight>
                <a:latin typeface="Aptos"/>
              </a:rPr>
              <a:t>og</a:t>
            </a:r>
            <a:r>
              <a:rPr lang="en-US" sz="1600" dirty="0">
                <a:highlight>
                  <a:srgbClr val="FFFF00"/>
                </a:highlight>
                <a:latin typeface="Aptos"/>
              </a:rPr>
              <a:t> our major, </a:t>
            </a:r>
            <a:r>
              <a:rPr lang="en-US" sz="1600" dirty="0" err="1">
                <a:highlight>
                  <a:srgbClr val="FFFF00"/>
                </a:highlight>
                <a:latin typeface="Aptos"/>
              </a:rPr>
              <a:t>includinf</a:t>
            </a:r>
            <a:r>
              <a:rPr lang="en-US" sz="1600" dirty="0">
                <a:highlight>
                  <a:srgbClr val="FFFF00"/>
                </a:highlight>
                <a:latin typeface="Aptos"/>
              </a:rPr>
              <a:t> the core course </a:t>
            </a:r>
            <a:r>
              <a:rPr lang="en-US" sz="1600" dirty="0" err="1">
                <a:highlight>
                  <a:srgbClr val="FFFF00"/>
                </a:highlight>
                <a:latin typeface="Aptos"/>
              </a:rPr>
              <a:t>sexuence</a:t>
            </a:r>
            <a:r>
              <a:rPr lang="en-US" sz="1600" dirty="0">
                <a:highlight>
                  <a:srgbClr val="FFFF00"/>
                </a:highlight>
                <a:latin typeface="Aptos"/>
              </a:rPr>
              <a:t> in our curriculum, math </a:t>
            </a:r>
            <a:r>
              <a:rPr lang="en-US" sz="1600" dirty="0" err="1">
                <a:highlight>
                  <a:srgbClr val="FFFF00"/>
                </a:highlight>
                <a:latin typeface="Aptos"/>
              </a:rPr>
              <a:t>rexuirements</a:t>
            </a:r>
            <a:r>
              <a:rPr lang="en-US" sz="1600" dirty="0">
                <a:highlight>
                  <a:srgbClr val="FFFF00"/>
                </a:highlight>
                <a:latin typeface="Aptos"/>
              </a:rPr>
              <a:t>, </a:t>
            </a:r>
            <a:r>
              <a:rPr lang="en-US" sz="1600" dirty="0" err="1">
                <a:highlight>
                  <a:srgbClr val="FFFF00"/>
                </a:highlight>
                <a:latin typeface="Aptos"/>
              </a:rPr>
              <a:t>suwwortinf</a:t>
            </a:r>
            <a:r>
              <a:rPr lang="en-US" sz="1600" dirty="0">
                <a:highlight>
                  <a:srgbClr val="FFFF00"/>
                </a:highlight>
                <a:latin typeface="Aptos"/>
              </a:rPr>
              <a:t> area, co-</a:t>
            </a:r>
            <a:r>
              <a:rPr lang="en-US" sz="1600" dirty="0" err="1">
                <a:highlight>
                  <a:srgbClr val="FFFF00"/>
                </a:highlight>
                <a:latin typeface="Aptos"/>
              </a:rPr>
              <a:t>ows</a:t>
            </a:r>
            <a:r>
              <a:rPr lang="en-US" sz="1600" dirty="0">
                <a:highlight>
                  <a:srgbClr val="FFFF00"/>
                </a:highlight>
                <a:latin typeface="Aptos"/>
              </a:rPr>
              <a:t>, etc. </a:t>
            </a:r>
          </a:p>
        </p:txBody>
      </p:sp>
    </p:spTree>
    <p:extLst>
      <p:ext uri="{BB962C8B-B14F-4D97-AF65-F5344CB8AC3E}">
        <p14:creationId xmlns:p14="http://schemas.microsoft.com/office/powerpoint/2010/main" val="1429984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peech Bubble: Rectangle 6">
            <a:extLst>
              <a:ext uri="{FF2B5EF4-FFF2-40B4-BE49-F238E27FC236}">
                <a16:creationId xmlns:a16="http://schemas.microsoft.com/office/drawing/2014/main" id="{4D0181C1-9AC9-48EC-9670-20C59199A64B}"/>
              </a:ext>
            </a:extLst>
          </p:cNvPr>
          <p:cNvSpPr/>
          <p:nvPr/>
        </p:nvSpPr>
        <p:spPr>
          <a:xfrm>
            <a:off x="3108961" y="1456509"/>
            <a:ext cx="6279443" cy="3046988"/>
          </a:xfrm>
          <a:prstGeom prst="wedgeRectCallout">
            <a:avLst>
              <a:gd name="adj1" fmla="val -56509"/>
              <a:gd name="adj2" fmla="val 30953"/>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B822082-ED9A-4527-A6EA-1727C827DAFB}"/>
              </a:ext>
            </a:extLst>
          </p:cNvPr>
          <p:cNvSpPr/>
          <p:nvPr/>
        </p:nvSpPr>
        <p:spPr>
          <a:xfrm>
            <a:off x="3250475" y="1495308"/>
            <a:ext cx="6096000" cy="2554545"/>
          </a:xfrm>
          <a:prstGeom prst="rect">
            <a:avLst/>
          </a:prstGeom>
        </p:spPr>
        <p:txBody>
          <a:bodyPr>
            <a:spAutoFit/>
          </a:bodyPr>
          <a:lstStyle/>
          <a:p>
            <a:r>
              <a:rPr lang="en-US" sz="1600" dirty="0">
                <a:latin typeface="Aptos"/>
              </a:rPr>
              <a:t>The objectives of this course are to inform students about the field of Computer Engineering, and to introduce them to the wide range of exciting applications of computation and technology in society. We will explain that Computer Engineering is not just about programming, but about computational thinking and the study of algorithms. Important terms and concepts in the field will be introduced, as a preview to what will be learned in other courses. We will explain the motivation for various aspects of our major, including the core course sequence in our curriculum, math requirements, supporting area, co-ops, etc. </a:t>
            </a:r>
            <a:endParaRPr lang="en-US" sz="1400" dirty="0">
              <a:latin typeface="Aptos"/>
            </a:endParaRPr>
          </a:p>
        </p:txBody>
      </p:sp>
      <p:pic>
        <p:nvPicPr>
          <p:cNvPr id="2" name="Picture 1">
            <a:extLst>
              <a:ext uri="{FF2B5EF4-FFF2-40B4-BE49-F238E27FC236}">
                <a16:creationId xmlns:a16="http://schemas.microsoft.com/office/drawing/2014/main" id="{57FA86B2-5BAC-9A3B-4EBD-6070BE82C81A}"/>
              </a:ext>
            </a:extLst>
          </p:cNvPr>
          <p:cNvPicPr>
            <a:picLocks noChangeAspect="1"/>
          </p:cNvPicPr>
          <p:nvPr/>
        </p:nvPicPr>
        <p:blipFill>
          <a:blip r:embed="rId3"/>
          <a:stretch>
            <a:fillRect/>
          </a:stretch>
        </p:blipFill>
        <p:spPr>
          <a:xfrm>
            <a:off x="9843416" y="4204261"/>
            <a:ext cx="651563" cy="1041743"/>
          </a:xfrm>
          <a:prstGeom prst="rect">
            <a:avLst/>
          </a:prstGeom>
        </p:spPr>
      </p:pic>
      <p:pic>
        <p:nvPicPr>
          <p:cNvPr id="3" name="Picture 2">
            <a:extLst>
              <a:ext uri="{FF2B5EF4-FFF2-40B4-BE49-F238E27FC236}">
                <a16:creationId xmlns:a16="http://schemas.microsoft.com/office/drawing/2014/main" id="{D7C9FF3D-AE41-F4B4-F63F-D8DF1AF0C20B}"/>
              </a:ext>
            </a:extLst>
          </p:cNvPr>
          <p:cNvPicPr>
            <a:picLocks noChangeAspect="1"/>
          </p:cNvPicPr>
          <p:nvPr/>
        </p:nvPicPr>
        <p:blipFill>
          <a:blip r:embed="rId4"/>
          <a:stretch>
            <a:fillRect/>
          </a:stretch>
        </p:blipFill>
        <p:spPr>
          <a:xfrm>
            <a:off x="1682928" y="4193887"/>
            <a:ext cx="689498" cy="1041742"/>
          </a:xfrm>
          <a:prstGeom prst="rect">
            <a:avLst/>
          </a:prstGeom>
        </p:spPr>
      </p:pic>
    </p:spTree>
    <p:extLst>
      <p:ext uri="{BB962C8B-B14F-4D97-AF65-F5344CB8AC3E}">
        <p14:creationId xmlns:p14="http://schemas.microsoft.com/office/powerpoint/2010/main" val="3461431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7ACCC-8B55-4148-9069-FA1147CE76F0}"/>
              </a:ext>
            </a:extLst>
          </p:cNvPr>
          <p:cNvSpPr>
            <a:spLocks noGrp="1"/>
          </p:cNvSpPr>
          <p:nvPr>
            <p:ph type="title"/>
          </p:nvPr>
        </p:nvSpPr>
        <p:spPr/>
        <p:txBody>
          <a:bodyPr/>
          <a:lstStyle/>
          <a:p>
            <a:r>
              <a:rPr lang="en-US" dirty="0">
                <a:latin typeface="Aptos Display"/>
              </a:rPr>
              <a:t>Vigenère </a:t>
            </a:r>
            <a:r>
              <a:rPr lang="en-US" i="1" dirty="0">
                <a:latin typeface="Aptos Display"/>
              </a:rPr>
              <a:t>(</a:t>
            </a:r>
            <a:r>
              <a:rPr lang="en-US" i="1" dirty="0"/>
              <a:t>vee-</a:t>
            </a:r>
            <a:r>
              <a:rPr lang="en-US" i="1" dirty="0" err="1"/>
              <a:t>zhuh</a:t>
            </a:r>
            <a:r>
              <a:rPr lang="en-US" i="1" dirty="0"/>
              <a:t>-</a:t>
            </a:r>
            <a:r>
              <a:rPr lang="en-US" i="1" dirty="0" err="1"/>
              <a:t>ner</a:t>
            </a:r>
            <a:r>
              <a:rPr lang="en-US" dirty="0">
                <a:latin typeface="Aptos Display"/>
              </a:rPr>
              <a:t>) cipher </a:t>
            </a:r>
          </a:p>
        </p:txBody>
      </p:sp>
      <p:sp>
        <p:nvSpPr>
          <p:cNvPr id="3" name="Content Placeholder 2">
            <a:extLst>
              <a:ext uri="{FF2B5EF4-FFF2-40B4-BE49-F238E27FC236}">
                <a16:creationId xmlns:a16="http://schemas.microsoft.com/office/drawing/2014/main" id="{E1005181-E581-4C7F-91BF-3AE3BD998C68}"/>
              </a:ext>
            </a:extLst>
          </p:cNvPr>
          <p:cNvSpPr>
            <a:spLocks noGrp="1"/>
          </p:cNvSpPr>
          <p:nvPr>
            <p:ph idx="1"/>
          </p:nvPr>
        </p:nvSpPr>
        <p:spPr>
          <a:xfrm>
            <a:off x="959386" y="1449343"/>
            <a:ext cx="10515600" cy="886652"/>
          </a:xfrm>
        </p:spPr>
        <p:txBody>
          <a:bodyPr>
            <a:normAutofit/>
          </a:bodyPr>
          <a:lstStyle/>
          <a:p>
            <a:pPr marL="0" indent="0">
              <a:buNone/>
            </a:pPr>
            <a:r>
              <a:rPr lang="en-US" dirty="0">
                <a:latin typeface="Aptos"/>
              </a:rPr>
              <a:t>Idea 3: rotation by different shifts</a:t>
            </a:r>
          </a:p>
          <a:p>
            <a:pPr marL="0" indent="0">
              <a:buNone/>
            </a:pPr>
            <a:endParaRPr lang="en-US" dirty="0">
              <a:latin typeface="Aptos"/>
            </a:endParaRPr>
          </a:p>
        </p:txBody>
      </p:sp>
      <p:graphicFrame>
        <p:nvGraphicFramePr>
          <p:cNvPr id="14" name="Table 13">
            <a:extLst>
              <a:ext uri="{FF2B5EF4-FFF2-40B4-BE49-F238E27FC236}">
                <a16:creationId xmlns:a16="http://schemas.microsoft.com/office/drawing/2014/main" id="{93BDC3C7-11C9-1DF2-630D-92ED33CB4665}"/>
              </a:ext>
            </a:extLst>
          </p:cNvPr>
          <p:cNvGraphicFramePr>
            <a:graphicFrameLocks noGrp="1"/>
          </p:cNvGraphicFramePr>
          <p:nvPr/>
        </p:nvGraphicFramePr>
        <p:xfrm>
          <a:off x="2490729" y="2369465"/>
          <a:ext cx="7501571" cy="3784700"/>
        </p:xfrm>
        <a:graphic>
          <a:graphicData uri="http://schemas.openxmlformats.org/drawingml/2006/table">
            <a:tbl>
              <a:tblPr/>
              <a:tblGrid>
                <a:gridCol w="919291">
                  <a:extLst>
                    <a:ext uri="{9D8B030D-6E8A-4147-A177-3AD203B41FA5}">
                      <a16:colId xmlns:a16="http://schemas.microsoft.com/office/drawing/2014/main" val="494001186"/>
                    </a:ext>
                  </a:extLst>
                </a:gridCol>
                <a:gridCol w="1592970">
                  <a:extLst>
                    <a:ext uri="{9D8B030D-6E8A-4147-A177-3AD203B41FA5}">
                      <a16:colId xmlns:a16="http://schemas.microsoft.com/office/drawing/2014/main" val="703348822"/>
                    </a:ext>
                  </a:extLst>
                </a:gridCol>
                <a:gridCol w="692634">
                  <a:extLst>
                    <a:ext uri="{9D8B030D-6E8A-4147-A177-3AD203B41FA5}">
                      <a16:colId xmlns:a16="http://schemas.microsoft.com/office/drawing/2014/main" val="3215676881"/>
                    </a:ext>
                  </a:extLst>
                </a:gridCol>
                <a:gridCol w="1256132">
                  <a:extLst>
                    <a:ext uri="{9D8B030D-6E8A-4147-A177-3AD203B41FA5}">
                      <a16:colId xmlns:a16="http://schemas.microsoft.com/office/drawing/2014/main" val="3115921887"/>
                    </a:ext>
                  </a:extLst>
                </a:gridCol>
                <a:gridCol w="1995724">
                  <a:extLst>
                    <a:ext uri="{9D8B030D-6E8A-4147-A177-3AD203B41FA5}">
                      <a16:colId xmlns:a16="http://schemas.microsoft.com/office/drawing/2014/main" val="1632395846"/>
                    </a:ext>
                  </a:extLst>
                </a:gridCol>
                <a:gridCol w="1044820">
                  <a:extLst>
                    <a:ext uri="{9D8B030D-6E8A-4147-A177-3AD203B41FA5}">
                      <a16:colId xmlns:a16="http://schemas.microsoft.com/office/drawing/2014/main" val="2146129159"/>
                    </a:ext>
                  </a:extLst>
                </a:gridCol>
              </a:tblGrid>
              <a:tr h="329589">
                <a:tc>
                  <a:txBody>
                    <a:bodyPr/>
                    <a:lstStyle/>
                    <a:p>
                      <a:r>
                        <a:rPr lang="en-US" sz="1400" b="1">
                          <a:solidFill>
                            <a:srgbClr val="000000"/>
                          </a:solidFill>
                          <a:effectLst/>
                          <a:latin typeface="Helvetica Neue" panose="02000503000000020004" pitchFamily="2" charset="0"/>
                        </a:rPr>
                        <a:t>Plaintext</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dirty="0">
                          <a:solidFill>
                            <a:srgbClr val="000000"/>
                          </a:solidFill>
                          <a:effectLst/>
                          <a:latin typeface="Helvetica Neue" panose="02000503000000020004" pitchFamily="2" charset="0"/>
                        </a:rPr>
                        <a:t>Plaintext value P</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a:solidFill>
                            <a:srgbClr val="000000"/>
                          </a:solidFill>
                          <a:effectLst/>
                          <a:latin typeface="Helvetica Neue" panose="02000503000000020004" pitchFamily="2" charset="0"/>
                        </a:rPr>
                        <a:t>Key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dirty="0">
                          <a:solidFill>
                            <a:srgbClr val="000000"/>
                          </a:solidFill>
                          <a:effectLst/>
                          <a:latin typeface="Helvetica Neue" panose="02000503000000020004" pitchFamily="2" charset="0"/>
                        </a:rPr>
                        <a:t>Key value K</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a:solidFill>
                            <a:srgbClr val="000000"/>
                          </a:solidFill>
                          <a:effectLst/>
                          <a:latin typeface="Helvetica Neue" panose="02000503000000020004" pitchFamily="2" charset="0"/>
                        </a:rPr>
                        <a:t>Ciphertext Value 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dirty="0">
                          <a:solidFill>
                            <a:srgbClr val="000000"/>
                          </a:solidFill>
                          <a:effectLst/>
                          <a:latin typeface="Helvetica Neue" panose="02000503000000020004" pitchFamily="2" charset="0"/>
                        </a:rPr>
                        <a:t>Ciphertext</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extLst>
                  <a:ext uri="{0D108BD9-81ED-4DB2-BD59-A6C34878D82A}">
                    <a16:rowId xmlns:a16="http://schemas.microsoft.com/office/drawing/2014/main" val="3645327454"/>
                  </a:ext>
                </a:extLst>
              </a:tr>
              <a:tr h="281855">
                <a:tc>
                  <a:txBody>
                    <a:bodyPr/>
                    <a:lstStyle/>
                    <a:p>
                      <a:r>
                        <a:rPr lang="en-US" sz="1400" b="1" dirty="0">
                          <a:solidFill>
                            <a:srgbClr val="000000"/>
                          </a:solidFill>
                          <a:effectLst/>
                          <a:latin typeface="Helvetica Neue" panose="02000503000000020004" pitchFamily="2" charset="0"/>
                        </a:rPr>
                        <a:t>C</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2</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K</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10</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12</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M</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1954012406"/>
                  </a:ext>
                </a:extLst>
              </a:tr>
              <a:tr h="281855">
                <a:tc>
                  <a:txBody>
                    <a:bodyPr/>
                    <a:lstStyle/>
                    <a:p>
                      <a:r>
                        <a:rPr lang="en-US" sz="1400" b="1" dirty="0">
                          <a:solidFill>
                            <a:srgbClr val="000000"/>
                          </a:solidFill>
                          <a:effectLst/>
                          <a:latin typeface="Helvetica Neue" panose="02000503000000020004" pitchFamily="2" charset="0"/>
                        </a:rPr>
                        <a:t>R</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17</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21</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V</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079766707"/>
                  </a:ext>
                </a:extLst>
              </a:tr>
              <a:tr h="281855">
                <a:tc>
                  <a:txBody>
                    <a:bodyPr/>
                    <a:lstStyle/>
                    <a:p>
                      <a:r>
                        <a:rPr lang="en-US" sz="1400" b="1" dirty="0">
                          <a:solidFill>
                            <a:srgbClr val="000000"/>
                          </a:solidFill>
                          <a:effectLst/>
                          <a:latin typeface="Helvetica Neue" panose="02000503000000020004" pitchFamily="2" charset="0"/>
                        </a:rPr>
                        <a:t>Y</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24</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22</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W</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524491642"/>
                  </a:ext>
                </a:extLst>
              </a:tr>
              <a:tr h="281855">
                <a:tc>
                  <a:txBody>
                    <a:bodyPr/>
                    <a:lstStyle/>
                    <a:p>
                      <a:r>
                        <a:rPr lang="en-US" sz="1400" b="1" dirty="0">
                          <a:solidFill>
                            <a:srgbClr val="000000"/>
                          </a:solidFill>
                          <a:effectLst/>
                          <a:latin typeface="Helvetica Neue" panose="02000503000000020004" pitchFamily="2" charset="0"/>
                        </a:rPr>
                        <a:t>P</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15</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K</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10</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25</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Z</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2139640264"/>
                  </a:ext>
                </a:extLst>
              </a:tr>
              <a:tr h="281855">
                <a:tc>
                  <a:txBody>
                    <a:bodyPr/>
                    <a:lstStyle/>
                    <a:p>
                      <a:r>
                        <a:rPr lang="en-US" sz="1400" b="1" dirty="0">
                          <a:solidFill>
                            <a:srgbClr val="000000"/>
                          </a:solidFill>
                          <a:effectLst/>
                          <a:latin typeface="Helvetica Neue" panose="02000503000000020004" pitchFamily="2" charset="0"/>
                        </a:rPr>
                        <a:t>T</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19</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23</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X</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961707227"/>
                  </a:ext>
                </a:extLst>
              </a:tr>
              <a:tr h="281855">
                <a:tc>
                  <a:txBody>
                    <a:bodyPr/>
                    <a:lstStyle/>
                    <a:p>
                      <a:r>
                        <a:rPr lang="en-US" sz="1400" b="1" dirty="0">
                          <a:solidFill>
                            <a:srgbClr val="000000"/>
                          </a:solidFill>
                          <a:effectLst/>
                          <a:latin typeface="Helvetica Neue" panose="02000503000000020004" pitchFamily="2" charset="0"/>
                        </a:rPr>
                        <a:t>O</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14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12</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M</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933251704"/>
                  </a:ext>
                </a:extLst>
              </a:tr>
              <a:tr h="281855">
                <a:tc>
                  <a:txBody>
                    <a:bodyPr/>
                    <a:lstStyle/>
                    <a:p>
                      <a:r>
                        <a:rPr lang="en-US" sz="1400" b="1" dirty="0">
                          <a:solidFill>
                            <a:srgbClr val="000000"/>
                          </a:solidFill>
                          <a:effectLst/>
                          <a:latin typeface="Helvetica Neue" panose="02000503000000020004" pitchFamily="2" charset="0"/>
                        </a:rPr>
                        <a:t>G</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6</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K</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10</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16</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Q</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3496658037"/>
                  </a:ext>
                </a:extLst>
              </a:tr>
              <a:tr h="281855">
                <a:tc>
                  <a:txBody>
                    <a:bodyPr/>
                    <a:lstStyle/>
                    <a:p>
                      <a:r>
                        <a:rPr lang="en-US" sz="1400" b="1" dirty="0">
                          <a:solidFill>
                            <a:srgbClr val="000000"/>
                          </a:solidFill>
                          <a:effectLst/>
                          <a:latin typeface="Helvetica Neue" panose="02000503000000020004" pitchFamily="2" charset="0"/>
                        </a:rPr>
                        <a:t>R</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17</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21</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V</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026765274"/>
                  </a:ext>
                </a:extLst>
              </a:tr>
              <a:tr h="354706">
                <a:tc>
                  <a:txBody>
                    <a:bodyPr/>
                    <a:lstStyle/>
                    <a:p>
                      <a:r>
                        <a:rPr lang="en-US" sz="1400" b="1" dirty="0">
                          <a:solidFill>
                            <a:srgbClr val="000000"/>
                          </a:solidFill>
                          <a:effectLst/>
                          <a:latin typeface="Helvetica Neue" panose="02000503000000020004" pitchFamily="2" charset="0"/>
                        </a:rPr>
                        <a:t>A</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0</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Y</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182944818"/>
                  </a:ext>
                </a:extLst>
              </a:tr>
              <a:tr h="281855">
                <a:tc>
                  <a:txBody>
                    <a:bodyPr/>
                    <a:lstStyle/>
                    <a:p>
                      <a:r>
                        <a:rPr lang="en-US" sz="1400" b="1" dirty="0">
                          <a:solidFill>
                            <a:srgbClr val="000000"/>
                          </a:solidFill>
                          <a:effectLst/>
                          <a:latin typeface="Helvetica Neue" panose="02000503000000020004" pitchFamily="2" charset="0"/>
                        </a:rPr>
                        <a:t>P</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15</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K</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10</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25</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Z</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1100751794"/>
                  </a:ext>
                </a:extLst>
              </a:tr>
              <a:tr h="281855">
                <a:tc>
                  <a:txBody>
                    <a:bodyPr/>
                    <a:lstStyle/>
                    <a:p>
                      <a:r>
                        <a:rPr lang="en-US" sz="1400" b="1" dirty="0">
                          <a:solidFill>
                            <a:srgbClr val="000000"/>
                          </a:solidFill>
                          <a:effectLst/>
                          <a:latin typeface="Helvetica Neue" panose="02000503000000020004" pitchFamily="2" charset="0"/>
                        </a:rPr>
                        <a:t>H</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7</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11</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L</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77633335"/>
                  </a:ext>
                </a:extLst>
              </a:tr>
              <a:tr h="281855">
                <a:tc>
                  <a:txBody>
                    <a:bodyPr/>
                    <a:lstStyle/>
                    <a:p>
                      <a:r>
                        <a:rPr lang="en-US" sz="1400" b="1" dirty="0">
                          <a:solidFill>
                            <a:srgbClr val="000000"/>
                          </a:solidFill>
                          <a:effectLst/>
                          <a:latin typeface="Helvetica Neue" panose="02000503000000020004" pitchFamily="2" charset="0"/>
                        </a:rPr>
                        <a:t>Y</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22</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W</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464126730"/>
                  </a:ext>
                </a:extLst>
              </a:tr>
            </a:tbl>
          </a:graphicData>
        </a:graphic>
      </p:graphicFrame>
    </p:spTree>
    <p:extLst>
      <p:ext uri="{BB962C8B-B14F-4D97-AF65-F5344CB8AC3E}">
        <p14:creationId xmlns:p14="http://schemas.microsoft.com/office/powerpoint/2010/main" val="2384605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8C131-16E5-43F6-902C-5C4F862CF73D}"/>
              </a:ext>
            </a:extLst>
          </p:cNvPr>
          <p:cNvSpPr>
            <a:spLocks noGrp="1"/>
          </p:cNvSpPr>
          <p:nvPr>
            <p:ph type="title"/>
          </p:nvPr>
        </p:nvSpPr>
        <p:spPr/>
        <p:txBody>
          <a:bodyPr/>
          <a:lstStyle/>
          <a:p>
            <a:r>
              <a:rPr lang="en-US" dirty="0">
                <a:latin typeface="Aptos Display"/>
              </a:rPr>
              <a:t>Attacking the Vigenère cipher</a:t>
            </a:r>
          </a:p>
        </p:txBody>
      </p:sp>
      <p:sp>
        <p:nvSpPr>
          <p:cNvPr id="3" name="Content Placeholder 2">
            <a:extLst>
              <a:ext uri="{FF2B5EF4-FFF2-40B4-BE49-F238E27FC236}">
                <a16:creationId xmlns:a16="http://schemas.microsoft.com/office/drawing/2014/main" id="{8B74C3C8-05CC-4DCB-8C43-16327C7B5176}"/>
              </a:ext>
            </a:extLst>
          </p:cNvPr>
          <p:cNvSpPr>
            <a:spLocks noGrp="1"/>
          </p:cNvSpPr>
          <p:nvPr>
            <p:ph idx="1"/>
          </p:nvPr>
        </p:nvSpPr>
        <p:spPr>
          <a:xfrm>
            <a:off x="732183" y="1454564"/>
            <a:ext cx="10515600" cy="4351338"/>
          </a:xfrm>
        </p:spPr>
        <p:txBody>
          <a:bodyPr/>
          <a:lstStyle/>
          <a:p>
            <a:r>
              <a:rPr lang="en-US" dirty="0">
                <a:latin typeface="Aptos"/>
              </a:rPr>
              <a:t>If the key length is known</a:t>
            </a:r>
          </a:p>
          <a:p>
            <a:pPr lvl="1"/>
            <a:endParaRPr lang="en-US" dirty="0">
              <a:latin typeface="Aptos"/>
            </a:endParaRPr>
          </a:p>
          <a:p>
            <a:pPr lvl="1"/>
            <a:r>
              <a:rPr lang="en-US" dirty="0">
                <a:latin typeface="Aptos"/>
              </a:rPr>
              <a:t>Every 3rd letter still follows the letter frequency</a:t>
            </a:r>
          </a:p>
          <a:p>
            <a:pPr lvl="1"/>
            <a:endParaRPr lang="en-US" dirty="0">
              <a:latin typeface="Aptos"/>
            </a:endParaRPr>
          </a:p>
        </p:txBody>
      </p:sp>
      <p:graphicFrame>
        <p:nvGraphicFramePr>
          <p:cNvPr id="4" name="Table 3">
            <a:extLst>
              <a:ext uri="{FF2B5EF4-FFF2-40B4-BE49-F238E27FC236}">
                <a16:creationId xmlns:a16="http://schemas.microsoft.com/office/drawing/2014/main" id="{A1C25F44-FDC9-77E3-6B39-2F91213BF9C1}"/>
              </a:ext>
            </a:extLst>
          </p:cNvPr>
          <p:cNvGraphicFramePr>
            <a:graphicFrameLocks noGrp="1"/>
          </p:cNvGraphicFramePr>
          <p:nvPr/>
        </p:nvGraphicFramePr>
        <p:xfrm>
          <a:off x="2349500" y="2794000"/>
          <a:ext cx="7501571" cy="3536052"/>
        </p:xfrm>
        <a:graphic>
          <a:graphicData uri="http://schemas.openxmlformats.org/drawingml/2006/table">
            <a:tbl>
              <a:tblPr/>
              <a:tblGrid>
                <a:gridCol w="919291">
                  <a:extLst>
                    <a:ext uri="{9D8B030D-6E8A-4147-A177-3AD203B41FA5}">
                      <a16:colId xmlns:a16="http://schemas.microsoft.com/office/drawing/2014/main" val="494001186"/>
                    </a:ext>
                  </a:extLst>
                </a:gridCol>
                <a:gridCol w="1592970">
                  <a:extLst>
                    <a:ext uri="{9D8B030D-6E8A-4147-A177-3AD203B41FA5}">
                      <a16:colId xmlns:a16="http://schemas.microsoft.com/office/drawing/2014/main" val="703348822"/>
                    </a:ext>
                  </a:extLst>
                </a:gridCol>
                <a:gridCol w="692634">
                  <a:extLst>
                    <a:ext uri="{9D8B030D-6E8A-4147-A177-3AD203B41FA5}">
                      <a16:colId xmlns:a16="http://schemas.microsoft.com/office/drawing/2014/main" val="3215676881"/>
                    </a:ext>
                  </a:extLst>
                </a:gridCol>
                <a:gridCol w="1256132">
                  <a:extLst>
                    <a:ext uri="{9D8B030D-6E8A-4147-A177-3AD203B41FA5}">
                      <a16:colId xmlns:a16="http://schemas.microsoft.com/office/drawing/2014/main" val="3115921887"/>
                    </a:ext>
                  </a:extLst>
                </a:gridCol>
                <a:gridCol w="1995724">
                  <a:extLst>
                    <a:ext uri="{9D8B030D-6E8A-4147-A177-3AD203B41FA5}">
                      <a16:colId xmlns:a16="http://schemas.microsoft.com/office/drawing/2014/main" val="1632395846"/>
                    </a:ext>
                  </a:extLst>
                </a:gridCol>
                <a:gridCol w="1044820">
                  <a:extLst>
                    <a:ext uri="{9D8B030D-6E8A-4147-A177-3AD203B41FA5}">
                      <a16:colId xmlns:a16="http://schemas.microsoft.com/office/drawing/2014/main" val="2146129159"/>
                    </a:ext>
                  </a:extLst>
                </a:gridCol>
              </a:tblGrid>
              <a:tr h="254000">
                <a:tc>
                  <a:txBody>
                    <a:bodyPr/>
                    <a:lstStyle/>
                    <a:p>
                      <a:r>
                        <a:rPr lang="en-US" sz="1400" b="1">
                          <a:solidFill>
                            <a:srgbClr val="000000"/>
                          </a:solidFill>
                          <a:effectLst/>
                          <a:latin typeface="Helvetica Neue" panose="02000503000000020004" pitchFamily="2" charset="0"/>
                        </a:rPr>
                        <a:t>Plaintext</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dirty="0">
                          <a:solidFill>
                            <a:srgbClr val="000000"/>
                          </a:solidFill>
                          <a:effectLst/>
                          <a:latin typeface="Helvetica Neue" panose="02000503000000020004" pitchFamily="2" charset="0"/>
                        </a:rPr>
                        <a:t>Plaintext value P</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a:solidFill>
                            <a:srgbClr val="000000"/>
                          </a:solidFill>
                          <a:effectLst/>
                          <a:latin typeface="Helvetica Neue" panose="02000503000000020004" pitchFamily="2" charset="0"/>
                        </a:rPr>
                        <a:t>Key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dirty="0">
                          <a:solidFill>
                            <a:srgbClr val="000000"/>
                          </a:solidFill>
                          <a:effectLst/>
                          <a:latin typeface="Helvetica Neue" panose="02000503000000020004" pitchFamily="2" charset="0"/>
                        </a:rPr>
                        <a:t>Key value K</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a:solidFill>
                            <a:srgbClr val="000000"/>
                          </a:solidFill>
                          <a:effectLst/>
                          <a:latin typeface="Helvetica Neue" panose="02000503000000020004" pitchFamily="2" charset="0"/>
                        </a:rPr>
                        <a:t>Ciphertext Value 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dirty="0">
                          <a:solidFill>
                            <a:srgbClr val="000000"/>
                          </a:solidFill>
                          <a:effectLst/>
                          <a:latin typeface="Helvetica Neue" panose="02000503000000020004" pitchFamily="2" charset="0"/>
                        </a:rPr>
                        <a:t>Ciphertext</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extLst>
                  <a:ext uri="{0D108BD9-81ED-4DB2-BD59-A6C34878D82A}">
                    <a16:rowId xmlns:a16="http://schemas.microsoft.com/office/drawing/2014/main" val="3645327454"/>
                  </a:ext>
                </a:extLst>
              </a:tr>
              <a:tr h="254000">
                <a:tc>
                  <a:txBody>
                    <a:bodyPr/>
                    <a:lstStyle/>
                    <a:p>
                      <a:r>
                        <a:rPr lang="en-US" sz="1400" b="1" dirty="0">
                          <a:solidFill>
                            <a:srgbClr val="000000"/>
                          </a:solidFill>
                          <a:effectLst/>
                          <a:latin typeface="Helvetica Neue" panose="02000503000000020004" pitchFamily="2" charset="0"/>
                        </a:rPr>
                        <a:t>C</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2</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K</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10</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12</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M</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1954012406"/>
                  </a:ext>
                </a:extLst>
              </a:tr>
              <a:tr h="254000">
                <a:tc>
                  <a:txBody>
                    <a:bodyPr/>
                    <a:lstStyle/>
                    <a:p>
                      <a:r>
                        <a:rPr lang="en-US" sz="1400" b="1" dirty="0">
                          <a:solidFill>
                            <a:srgbClr val="000000"/>
                          </a:solidFill>
                          <a:effectLst/>
                          <a:latin typeface="Helvetica Neue" panose="02000503000000020004" pitchFamily="2" charset="0"/>
                        </a:rPr>
                        <a:t>R</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17</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21</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V</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079766707"/>
                  </a:ext>
                </a:extLst>
              </a:tr>
              <a:tr h="254000">
                <a:tc>
                  <a:txBody>
                    <a:bodyPr/>
                    <a:lstStyle/>
                    <a:p>
                      <a:r>
                        <a:rPr lang="en-US" sz="1400" b="1" dirty="0">
                          <a:solidFill>
                            <a:srgbClr val="000000"/>
                          </a:solidFill>
                          <a:effectLst/>
                          <a:latin typeface="Helvetica Neue" panose="02000503000000020004" pitchFamily="2" charset="0"/>
                        </a:rPr>
                        <a:t>Y</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24</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22</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W</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524491642"/>
                  </a:ext>
                </a:extLst>
              </a:tr>
              <a:tr h="254000">
                <a:tc>
                  <a:txBody>
                    <a:bodyPr/>
                    <a:lstStyle/>
                    <a:p>
                      <a:r>
                        <a:rPr lang="en-US" sz="1400" b="1" dirty="0">
                          <a:solidFill>
                            <a:srgbClr val="000000"/>
                          </a:solidFill>
                          <a:effectLst/>
                          <a:latin typeface="Helvetica Neue" panose="02000503000000020004" pitchFamily="2" charset="0"/>
                        </a:rPr>
                        <a:t>P</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15</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K</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10</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25</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Z</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2139640264"/>
                  </a:ext>
                </a:extLst>
              </a:tr>
              <a:tr h="254000">
                <a:tc>
                  <a:txBody>
                    <a:bodyPr/>
                    <a:lstStyle/>
                    <a:p>
                      <a:r>
                        <a:rPr lang="en-US" sz="1400" b="1" dirty="0">
                          <a:solidFill>
                            <a:srgbClr val="000000"/>
                          </a:solidFill>
                          <a:effectLst/>
                          <a:latin typeface="Helvetica Neue" panose="02000503000000020004" pitchFamily="2" charset="0"/>
                        </a:rPr>
                        <a:t>T</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19</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23</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X</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961707227"/>
                  </a:ext>
                </a:extLst>
              </a:tr>
              <a:tr h="254000">
                <a:tc>
                  <a:txBody>
                    <a:bodyPr/>
                    <a:lstStyle/>
                    <a:p>
                      <a:r>
                        <a:rPr lang="en-US" sz="1400" b="1" dirty="0">
                          <a:solidFill>
                            <a:srgbClr val="000000"/>
                          </a:solidFill>
                          <a:effectLst/>
                          <a:latin typeface="Helvetica Neue" panose="02000503000000020004" pitchFamily="2" charset="0"/>
                        </a:rPr>
                        <a:t>O</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14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12</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M</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933251704"/>
                  </a:ext>
                </a:extLst>
              </a:tr>
              <a:tr h="254000">
                <a:tc>
                  <a:txBody>
                    <a:bodyPr/>
                    <a:lstStyle/>
                    <a:p>
                      <a:r>
                        <a:rPr lang="en-US" sz="1400" b="1" dirty="0">
                          <a:solidFill>
                            <a:srgbClr val="000000"/>
                          </a:solidFill>
                          <a:effectLst/>
                          <a:latin typeface="Helvetica Neue" panose="02000503000000020004" pitchFamily="2" charset="0"/>
                        </a:rPr>
                        <a:t>G</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6</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K</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10</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16</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Q</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3496658037"/>
                  </a:ext>
                </a:extLst>
              </a:tr>
              <a:tr h="254000">
                <a:tc>
                  <a:txBody>
                    <a:bodyPr/>
                    <a:lstStyle/>
                    <a:p>
                      <a:r>
                        <a:rPr lang="en-US" sz="1400" b="1" dirty="0">
                          <a:solidFill>
                            <a:srgbClr val="000000"/>
                          </a:solidFill>
                          <a:effectLst/>
                          <a:latin typeface="Helvetica Neue" panose="02000503000000020004" pitchFamily="2" charset="0"/>
                        </a:rPr>
                        <a:t>R</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17</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21</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V</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026765274"/>
                  </a:ext>
                </a:extLst>
              </a:tr>
              <a:tr h="254000">
                <a:tc>
                  <a:txBody>
                    <a:bodyPr/>
                    <a:lstStyle/>
                    <a:p>
                      <a:r>
                        <a:rPr lang="en-US" sz="1400" b="1" dirty="0">
                          <a:solidFill>
                            <a:srgbClr val="000000"/>
                          </a:solidFill>
                          <a:effectLst/>
                          <a:latin typeface="Helvetica Neue" panose="02000503000000020004" pitchFamily="2" charset="0"/>
                        </a:rPr>
                        <a:t>A</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0</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Y</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182944818"/>
                  </a:ext>
                </a:extLst>
              </a:tr>
              <a:tr h="254000">
                <a:tc>
                  <a:txBody>
                    <a:bodyPr/>
                    <a:lstStyle/>
                    <a:p>
                      <a:r>
                        <a:rPr lang="en-US" sz="1400" b="1" dirty="0">
                          <a:solidFill>
                            <a:srgbClr val="000000"/>
                          </a:solidFill>
                          <a:effectLst/>
                          <a:latin typeface="Helvetica Neue" panose="02000503000000020004" pitchFamily="2" charset="0"/>
                        </a:rPr>
                        <a:t>P</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15</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K</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10</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25</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Z</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1100751794"/>
                  </a:ext>
                </a:extLst>
              </a:tr>
              <a:tr h="254000">
                <a:tc>
                  <a:txBody>
                    <a:bodyPr/>
                    <a:lstStyle/>
                    <a:p>
                      <a:r>
                        <a:rPr lang="en-US" sz="1400" b="1" dirty="0">
                          <a:solidFill>
                            <a:srgbClr val="000000"/>
                          </a:solidFill>
                          <a:effectLst/>
                          <a:latin typeface="Helvetica Neue" panose="02000503000000020004" pitchFamily="2" charset="0"/>
                        </a:rPr>
                        <a:t>H</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7</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11</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L</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77633335"/>
                  </a:ext>
                </a:extLst>
              </a:tr>
              <a:tr h="254000">
                <a:tc>
                  <a:txBody>
                    <a:bodyPr/>
                    <a:lstStyle/>
                    <a:p>
                      <a:r>
                        <a:rPr lang="en-US" sz="1400" b="1" dirty="0">
                          <a:solidFill>
                            <a:srgbClr val="000000"/>
                          </a:solidFill>
                          <a:effectLst/>
                          <a:latin typeface="Helvetica Neue" panose="02000503000000020004" pitchFamily="2" charset="0"/>
                        </a:rPr>
                        <a:t>Y</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22</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W</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464126730"/>
                  </a:ext>
                </a:extLst>
              </a:tr>
            </a:tbl>
          </a:graphicData>
        </a:graphic>
      </p:graphicFrame>
    </p:spTree>
    <p:extLst>
      <p:ext uri="{BB962C8B-B14F-4D97-AF65-F5344CB8AC3E}">
        <p14:creationId xmlns:p14="http://schemas.microsoft.com/office/powerpoint/2010/main" val="160133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E173-8261-20F5-3C28-F7FD9107FFF3}"/>
              </a:ext>
            </a:extLst>
          </p:cNvPr>
          <p:cNvSpPr>
            <a:spLocks noGrp="1"/>
          </p:cNvSpPr>
          <p:nvPr>
            <p:ph type="title"/>
          </p:nvPr>
        </p:nvSpPr>
        <p:spPr/>
        <p:txBody>
          <a:bodyPr/>
          <a:lstStyle/>
          <a:p>
            <a:r>
              <a:rPr lang="en-US" dirty="0">
                <a:latin typeface="Aptos Display"/>
              </a:rPr>
              <a:t>How to find the key length?</a:t>
            </a:r>
          </a:p>
        </p:txBody>
      </p:sp>
      <p:sp>
        <p:nvSpPr>
          <p:cNvPr id="3" name="Content Placeholder 2">
            <a:extLst>
              <a:ext uri="{FF2B5EF4-FFF2-40B4-BE49-F238E27FC236}">
                <a16:creationId xmlns:a16="http://schemas.microsoft.com/office/drawing/2014/main" id="{22217784-9384-86A3-8FA2-546484AA15B0}"/>
              </a:ext>
            </a:extLst>
          </p:cNvPr>
          <p:cNvSpPr>
            <a:spLocks noGrp="1"/>
          </p:cNvSpPr>
          <p:nvPr>
            <p:ph idx="1"/>
          </p:nvPr>
        </p:nvSpPr>
        <p:spPr/>
        <p:txBody>
          <a:bodyPr/>
          <a:lstStyle/>
          <a:p>
            <a:r>
              <a:rPr lang="en-US" dirty="0">
                <a:latin typeface="Aptos"/>
              </a:rPr>
              <a:t>Try key length of 1, 2, 3,…</a:t>
            </a:r>
          </a:p>
          <a:p>
            <a:pPr marL="0" indent="0">
              <a:buNone/>
            </a:pPr>
            <a:endParaRPr lang="en-US" dirty="0">
              <a:latin typeface="Aptos"/>
            </a:endParaRPr>
          </a:p>
          <a:p>
            <a:pPr lvl="1"/>
            <a:r>
              <a:rPr lang="en-US" dirty="0">
                <a:latin typeface="Aptos"/>
              </a:rPr>
              <a:t>If key length is correct: following letter frequency</a:t>
            </a:r>
          </a:p>
          <a:p>
            <a:pPr lvl="1"/>
            <a:endParaRPr lang="en-US" dirty="0">
              <a:latin typeface="Aptos"/>
            </a:endParaRPr>
          </a:p>
          <a:p>
            <a:pPr marL="0" indent="0">
              <a:buNone/>
            </a:pPr>
            <a:endParaRPr lang="en-US" dirty="0">
              <a:latin typeface="Aptos"/>
            </a:endParaRPr>
          </a:p>
        </p:txBody>
      </p:sp>
    </p:spTree>
    <p:extLst>
      <p:ext uri="{BB962C8B-B14F-4D97-AF65-F5344CB8AC3E}">
        <p14:creationId xmlns:p14="http://schemas.microsoft.com/office/powerpoint/2010/main" val="22116360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F3555-3FDD-7C30-9EFF-1E7F3DAAFB2C}"/>
              </a:ext>
            </a:extLst>
          </p:cNvPr>
          <p:cNvSpPr>
            <a:spLocks noGrp="1"/>
          </p:cNvSpPr>
          <p:nvPr>
            <p:ph type="title"/>
          </p:nvPr>
        </p:nvSpPr>
        <p:spPr/>
        <p:txBody>
          <a:bodyPr/>
          <a:lstStyle/>
          <a:p>
            <a:r>
              <a:rPr lang="en-US" dirty="0">
                <a:latin typeface="Aptos Display"/>
              </a:rPr>
              <a:t>Friedman test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B8944DD-8773-14B0-834F-EA4E6FDB1A14}"/>
                  </a:ext>
                </a:extLst>
              </p:cNvPr>
              <p:cNvSpPr>
                <a:spLocks noGrp="1"/>
              </p:cNvSpPr>
              <p:nvPr>
                <p:ph idx="1"/>
              </p:nvPr>
            </p:nvSpPr>
            <p:spPr>
              <a:xfrm>
                <a:off x="838199" y="1825625"/>
                <a:ext cx="10515600" cy="4351338"/>
              </a:xfrm>
            </p:spPr>
            <p:txBody>
              <a:bodyPr>
                <a:normAutofit fontScale="85000" lnSpcReduction="20000"/>
              </a:bodyPr>
              <a:lstStyle/>
              <a:p>
                <a:pPr marL="0" indent="0">
                  <a:buNone/>
                </a:pPr>
                <a:r>
                  <a:rPr lang="en-US" sz="3200" dirty="0"/>
                  <a:t>Index of coincidence</a:t>
                </a:r>
                <a:r>
                  <a:rPr lang="zh-CN" altLang="en-US" sz="3200" dirty="0"/>
                  <a:t> </a:t>
                </a:r>
                <a14:m>
                  <m:oMath xmlns:m="http://schemas.openxmlformats.org/officeDocument/2006/math">
                    <m:r>
                      <a:rPr lang="en-US" sz="3200" i="1">
                        <a:latin typeface="Cambria Math" panose="02040503050406030204" pitchFamily="18" charset="0"/>
                      </a:rPr>
                      <m:t>𝐼</m:t>
                    </m:r>
                    <m:r>
                      <a:rPr lang="en-US" sz="3200" i="1">
                        <a:latin typeface="Cambria Math" panose="02040503050406030204" pitchFamily="18" charset="0"/>
                      </a:rPr>
                      <m:t> </m:t>
                    </m:r>
                  </m:oMath>
                </a14:m>
                <a:r>
                  <a:rPr lang="en-US" sz="3200" dirty="0"/>
                  <a:t>: probability of two letters the </a:t>
                </a:r>
                <a:r>
                  <a:rPr lang="en-US" sz="3200" b="1" dirty="0"/>
                  <a:t>same</a:t>
                </a:r>
                <a:r>
                  <a:rPr lang="en-US" sz="3200" dirty="0"/>
                  <a:t> when drawing </a:t>
                </a:r>
                <a:r>
                  <a:rPr lang="en-US" sz="3200" b="1" dirty="0"/>
                  <a:t>randomly</a:t>
                </a:r>
              </a:p>
              <a:p>
                <a:pPr marL="0" indent="0">
                  <a:buNone/>
                </a:pPr>
                <a:endParaRPr lang="en-US" sz="3200" dirty="0"/>
              </a:p>
              <a:p>
                <a:pPr marL="0" indent="0">
                  <a:buNone/>
                </a:pPr>
                <a:r>
                  <a:rPr lang="zh-CN" altLang="en-US" sz="3200" b="0" dirty="0"/>
                  <a:t> </a:t>
                </a:r>
                <a14:m>
                  <m:oMath xmlns:m="http://schemas.openxmlformats.org/officeDocument/2006/math">
                    <m:r>
                      <a:rPr lang="en-US" sz="3200" b="0" i="1" smtClean="0">
                        <a:latin typeface="Cambria Math" panose="02040503050406030204" pitchFamily="18" charset="0"/>
                      </a:rPr>
                      <m:t>𝐼</m:t>
                    </m:r>
                    <m:r>
                      <a:rPr lang="en-US" sz="3200" b="0" i="1" smtClean="0">
                        <a:latin typeface="Cambria Math" panose="02040503050406030204" pitchFamily="18" charset="0"/>
                      </a:rPr>
                      <m:t>=</m:t>
                    </m:r>
                    <m:nary>
                      <m:naryPr>
                        <m:chr m:val="∑"/>
                        <m:ctrlPr>
                          <a:rPr lang="en-US" sz="3200" i="1">
                            <a:latin typeface="Cambria Math" panose="02040503050406030204" pitchFamily="18" charset="0"/>
                          </a:rPr>
                        </m:ctrlPr>
                      </m:naryPr>
                      <m:sub>
                        <m:r>
                          <m:rPr>
                            <m:brk m:alnAt="23"/>
                          </m:rPr>
                          <a:rPr lang="en-US" sz="3200" i="1">
                            <a:latin typeface="Cambria Math" panose="02040503050406030204" pitchFamily="18" charset="0"/>
                          </a:rPr>
                          <m:t>𝑖</m:t>
                        </m:r>
                        <m:r>
                          <a:rPr lang="en-US" sz="3200" i="1">
                            <a:latin typeface="Cambria Math" panose="02040503050406030204" pitchFamily="18" charset="0"/>
                          </a:rPr>
                          <m:t>=0</m:t>
                        </m:r>
                      </m:sub>
                      <m:sup>
                        <m:r>
                          <a:rPr lang="en-US" sz="3200" i="1">
                            <a:latin typeface="Cambria Math" panose="02040503050406030204" pitchFamily="18" charset="0"/>
                          </a:rPr>
                          <m:t>25</m:t>
                        </m:r>
                      </m:sup>
                      <m:e>
                        <m:sSubSup>
                          <m:sSubSupPr>
                            <m:ctrlPr>
                              <a:rPr lang="en-US" sz="3200" i="1">
                                <a:latin typeface="Cambria Math" panose="02040503050406030204" pitchFamily="18" charset="0"/>
                              </a:rPr>
                            </m:ctrlPr>
                          </m:sSubSupPr>
                          <m:e>
                            <m:r>
                              <a:rPr lang="en-US" sz="3200" b="0" i="1" smtClean="0">
                                <a:latin typeface="Cambria Math" panose="02040503050406030204" pitchFamily="18" charset="0"/>
                              </a:rPr>
                              <m:t>𝑝</m:t>
                            </m:r>
                          </m:e>
                          <m:sub>
                            <m:r>
                              <a:rPr lang="en-US" sz="3200" i="1">
                                <a:latin typeface="Cambria Math" panose="02040503050406030204" pitchFamily="18" charset="0"/>
                              </a:rPr>
                              <m:t>𝑖</m:t>
                            </m:r>
                          </m:sub>
                          <m:sup>
                            <m:r>
                              <a:rPr lang="en-US" sz="3200" i="1">
                                <a:latin typeface="Cambria Math" panose="02040503050406030204" pitchFamily="18" charset="0"/>
                              </a:rPr>
                              <m:t>2</m:t>
                            </m:r>
                          </m:sup>
                        </m:sSubSup>
                      </m:e>
                    </m:nary>
                  </m:oMath>
                </a14:m>
                <a:r>
                  <a:rPr lang="en-US" altLang="zh-CN" sz="3200" dirty="0"/>
                  <a:t>,</a:t>
                </a:r>
                <a:r>
                  <a:rPr lang="zh-CN" altLang="en-US" sz="3200" dirty="0"/>
                  <a:t> </a:t>
                </a:r>
                <a14:m>
                  <m:oMath xmlns:m="http://schemas.openxmlformats.org/officeDocument/2006/math">
                    <m:r>
                      <a:rPr lang="zh-CN" altLang="en-US" sz="3200" b="0" i="0" smtClean="0">
                        <a:latin typeface="Cambria Math" panose="02040503050406030204" pitchFamily="18" charset="0"/>
                      </a:rPr>
                      <m:t> </m:t>
                    </m:r>
                    <m:sSubSup>
                      <m:sSubSupPr>
                        <m:ctrlPr>
                          <a:rPr lang="en-US" sz="3200" i="1" smtClean="0">
                            <a:latin typeface="Cambria Math" panose="02040503050406030204" pitchFamily="18" charset="0"/>
                          </a:rPr>
                        </m:ctrlPr>
                      </m:sSubSupPr>
                      <m:e>
                        <m:r>
                          <a:rPr lang="en-US" sz="3200" b="0" i="1" smtClean="0">
                            <a:latin typeface="Cambria Math" panose="02040503050406030204" pitchFamily="18" charset="0"/>
                          </a:rPr>
                          <m:t>𝑝</m:t>
                        </m:r>
                      </m:e>
                      <m:sub>
                        <m:r>
                          <a:rPr lang="en-US" sz="3200" i="1">
                            <a:latin typeface="Cambria Math" panose="02040503050406030204" pitchFamily="18" charset="0"/>
                          </a:rPr>
                          <m:t>𝑖</m:t>
                        </m:r>
                      </m:sub>
                      <m:sup/>
                    </m:sSubSup>
                    <m:r>
                      <a:rPr lang="zh-CN" altLang="en-US" sz="3200" b="0" i="1" smtClean="0">
                        <a:latin typeface="Cambria Math" panose="02040503050406030204" pitchFamily="18" charset="0"/>
                      </a:rPr>
                      <m:t> </m:t>
                    </m:r>
                  </m:oMath>
                </a14:m>
                <a:r>
                  <a:rPr lang="en-US" altLang="zh-CN" sz="3200" dirty="0"/>
                  <a:t>is</a:t>
                </a:r>
                <a:r>
                  <a:rPr lang="zh-CN" altLang="en-US" sz="3200" dirty="0"/>
                  <a:t> </a:t>
                </a:r>
                <a:r>
                  <a:rPr lang="en-US" altLang="zh-CN" sz="3200" dirty="0"/>
                  <a:t>the</a:t>
                </a:r>
                <a:r>
                  <a:rPr lang="zh-CN" altLang="en-US" sz="3200" dirty="0"/>
                  <a:t> </a:t>
                </a:r>
                <a:r>
                  <a:rPr lang="en-US" altLang="zh-CN" sz="3200" dirty="0"/>
                  <a:t>frequency</a:t>
                </a:r>
                <a:r>
                  <a:rPr lang="zh-CN" altLang="en-US" sz="3200" dirty="0"/>
                  <a:t> </a:t>
                </a:r>
                <a:r>
                  <a:rPr lang="en-US" altLang="zh-CN" sz="3200" dirty="0"/>
                  <a:t>of</a:t>
                </a:r>
                <a:r>
                  <a:rPr lang="zh-CN" altLang="en-US" sz="3200" dirty="0"/>
                  <a:t> </a:t>
                </a:r>
                <a:r>
                  <a:rPr lang="en-US" altLang="zh-CN" sz="3200" dirty="0"/>
                  <a:t>the</a:t>
                </a:r>
                <a:r>
                  <a:rPr lang="zh-CN" altLang="en-US" sz="3200" dirty="0"/>
                  <a:t> </a:t>
                </a:r>
                <a14:m>
                  <m:oMath xmlns:m="http://schemas.openxmlformats.org/officeDocument/2006/math">
                    <m:r>
                      <a:rPr lang="en-US" altLang="zh-CN" sz="3200" i="1" dirty="0" smtClean="0">
                        <a:latin typeface="Cambria Math" panose="02040503050406030204" pitchFamily="18" charset="0"/>
                      </a:rPr>
                      <m:t>𝑖</m:t>
                    </m:r>
                    <m:r>
                      <a:rPr lang="zh-CN" altLang="en-US" sz="3200" i="1" dirty="0" smtClean="0">
                        <a:latin typeface="Cambria Math" panose="02040503050406030204" pitchFamily="18" charset="0"/>
                      </a:rPr>
                      <m:t> </m:t>
                    </m:r>
                    <m:r>
                      <a:rPr lang="en-US" altLang="zh-CN" sz="3200" i="1" dirty="0" err="1" smtClean="0">
                        <a:latin typeface="Cambria Math" panose="02040503050406030204" pitchFamily="18" charset="0"/>
                      </a:rPr>
                      <m:t>𝑡h</m:t>
                    </m:r>
                    <m:r>
                      <a:rPr lang="zh-CN" altLang="en-US" sz="3200" i="1" dirty="0" smtClean="0">
                        <a:latin typeface="Cambria Math" panose="02040503050406030204" pitchFamily="18" charset="0"/>
                      </a:rPr>
                      <m:t> </m:t>
                    </m:r>
                  </m:oMath>
                </a14:m>
                <a:r>
                  <a:rPr lang="en-US" altLang="zh-CN" sz="3200" dirty="0"/>
                  <a:t>letter</a:t>
                </a:r>
              </a:p>
              <a:p>
                <a:pPr marL="0" indent="0">
                  <a:buNone/>
                </a:pPr>
                <a:endParaRPr lang="en-US" altLang="zh-CN" sz="3200" dirty="0"/>
              </a:p>
              <a:p>
                <a:pPr marL="0" indent="0">
                  <a:buNone/>
                </a:pPr>
                <a:r>
                  <a:rPr lang="en-US" altLang="zh-CN" sz="3200" dirty="0"/>
                  <a:t>English: </a:t>
                </a:r>
                <a14:m>
                  <m:oMath xmlns:m="http://schemas.openxmlformats.org/officeDocument/2006/math">
                    <m:r>
                      <a:rPr lang="en-US" altLang="zh-CN" sz="3200" i="1" dirty="0" smtClean="0">
                        <a:latin typeface="Cambria Math" panose="02040503050406030204" pitchFamily="18" charset="0"/>
                      </a:rPr>
                      <m:t>𝐼</m:t>
                    </m:r>
                    <m:r>
                      <a:rPr lang="en-US" altLang="zh-CN" sz="3200" i="1" dirty="0" smtClean="0">
                        <a:latin typeface="Cambria Math" panose="02040503050406030204" pitchFamily="18" charset="0"/>
                      </a:rPr>
                      <m:t>=0.065</m:t>
                    </m:r>
                  </m:oMath>
                </a14:m>
                <a:endParaRPr lang="en-US" altLang="zh-CN" sz="3200" dirty="0"/>
              </a:p>
              <a:p>
                <a:pPr marL="0" indent="0">
                  <a:buNone/>
                </a:pPr>
                <a:endParaRPr lang="en-US" altLang="zh-CN" sz="3200" dirty="0"/>
              </a:p>
              <a:p>
                <a:pPr marL="0" indent="0">
                  <a:buNone/>
                </a:pPr>
                <a:r>
                  <a:rPr lang="en-US" altLang="zh-CN" sz="3200" dirty="0"/>
                  <a:t>Uniform distribution </a:t>
                </a:r>
                <a14:m>
                  <m:oMath xmlns:m="http://schemas.openxmlformats.org/officeDocument/2006/math">
                    <m:r>
                      <a:rPr lang="en-US" altLang="zh-CN" sz="3200" i="1" dirty="0" smtClean="0">
                        <a:latin typeface="Cambria Math" panose="02040503050406030204" pitchFamily="18" charset="0"/>
                      </a:rPr>
                      <m:t>𝐼</m:t>
                    </m:r>
                    <m:r>
                      <a:rPr lang="en-US" altLang="zh-CN" sz="3200" i="1" dirty="0" smtClean="0">
                        <a:latin typeface="Cambria Math" panose="02040503050406030204" pitchFamily="18" charset="0"/>
                      </a:rPr>
                      <m:t>=0.038</m:t>
                    </m:r>
                  </m:oMath>
                </a14:m>
                <a:r>
                  <a:rPr lang="zh-CN" altLang="en-US" sz="3200" dirty="0"/>
                  <a:t> </a:t>
                </a:r>
                <a:r>
                  <a:rPr lang="en-US" altLang="zh-CN" sz="3200" dirty="0">
                    <a:solidFill>
                      <a:srgbClr val="FF0000"/>
                    </a:solidFill>
                  </a:rPr>
                  <a:t>(why?)</a:t>
                </a:r>
              </a:p>
              <a:p>
                <a:pPr marL="0" indent="0">
                  <a:buNone/>
                </a:pPr>
                <a:endParaRPr lang="en-US" altLang="zh-CN" sz="3200" dirty="0">
                  <a:solidFill>
                    <a:srgbClr val="FF0000"/>
                  </a:solidFill>
                </a:endParaRPr>
              </a:p>
              <a:p>
                <a:pPr marL="0" indent="0">
                  <a:buNone/>
                </a:pPr>
                <a14:m>
                  <m:oMath xmlns:m="http://schemas.openxmlformats.org/officeDocument/2006/math">
                    <m:r>
                      <a:rPr lang="en-US" sz="3200" b="0" i="1" smtClean="0">
                        <a:solidFill>
                          <a:srgbClr val="FF0000"/>
                        </a:solidFill>
                        <a:latin typeface="Cambria Math" panose="02040503050406030204" pitchFamily="18" charset="0"/>
                      </a:rPr>
                      <m:t>𝐼</m:t>
                    </m:r>
                    <m:r>
                      <a:rPr lang="en-US" sz="3200" b="0" i="1" smtClean="0">
                        <a:solidFill>
                          <a:srgbClr val="FF0000"/>
                        </a:solidFill>
                        <a:latin typeface="Cambria Math" panose="02040503050406030204" pitchFamily="18" charset="0"/>
                      </a:rPr>
                      <m:t> </m:t>
                    </m:r>
                  </m:oMath>
                </a14:m>
                <a:r>
                  <a:rPr lang="en-US" altLang="zh-CN" sz="3200" dirty="0">
                    <a:solidFill>
                      <a:srgbClr val="FF0000"/>
                    </a:solidFill>
                  </a:rPr>
                  <a:t> is invariant to rotation </a:t>
                </a:r>
              </a:p>
              <a:p>
                <a:pPr marL="0" indent="0">
                  <a:buNone/>
                </a:pPr>
                <a:endParaRPr lang="en-US" altLang="zh-CN" sz="3200" dirty="0">
                  <a:solidFill>
                    <a:srgbClr val="FF0000"/>
                  </a:solidFill>
                </a:endParaRPr>
              </a:p>
              <a:p>
                <a:pPr marL="0" indent="0">
                  <a:buNone/>
                </a:pPr>
                <a:endParaRPr lang="en-US" altLang="zh-CN" sz="3200" dirty="0">
                  <a:solidFill>
                    <a:srgbClr val="FF0000"/>
                  </a:solidFill>
                </a:endParaRPr>
              </a:p>
              <a:p>
                <a:pPr marL="0" indent="0">
                  <a:buNone/>
                </a:pPr>
                <a:endParaRPr lang="en-US" altLang="zh-CN" sz="3200" dirty="0"/>
              </a:p>
              <a:p>
                <a:pPr marL="0" indent="0">
                  <a:buNone/>
                </a:pPr>
                <a:endParaRPr lang="en-US" altLang="zh-CN" sz="3200" dirty="0"/>
              </a:p>
              <a:p>
                <a:pPr marL="0" indent="0">
                  <a:buNone/>
                </a:pPr>
                <a:endParaRPr lang="en-US" altLang="zh-CN" sz="3200" dirty="0"/>
              </a:p>
              <a:p>
                <a:pPr marL="0" indent="0">
                  <a:buNone/>
                </a:pPr>
                <a:endParaRPr lang="en-US" altLang="zh-CN" sz="3200" dirty="0"/>
              </a:p>
              <a:p>
                <a:pPr marL="0" indent="0">
                  <a:buNone/>
                </a:pPr>
                <a:endParaRPr lang="en-US" sz="3200" dirty="0"/>
              </a:p>
              <a:p>
                <a:pPr marL="0" indent="0">
                  <a:buNone/>
                </a:pPr>
                <a:endParaRPr lang="en-US" sz="3200" dirty="0"/>
              </a:p>
            </p:txBody>
          </p:sp>
        </mc:Choice>
        <mc:Fallback>
          <p:sp>
            <p:nvSpPr>
              <p:cNvPr id="3" name="Content Placeholder 2">
                <a:extLst>
                  <a:ext uri="{FF2B5EF4-FFF2-40B4-BE49-F238E27FC236}">
                    <a16:creationId xmlns:a16="http://schemas.microsoft.com/office/drawing/2014/main" id="{7B8944DD-8773-14B0-834F-EA4E6FDB1A14}"/>
                  </a:ext>
                </a:extLst>
              </p:cNvPr>
              <p:cNvSpPr>
                <a:spLocks noGrp="1" noRot="1" noChangeAspect="1" noMove="1" noResize="1" noEditPoints="1" noAdjustHandles="1" noChangeArrowheads="1" noChangeShapeType="1" noTextEdit="1"/>
              </p:cNvSpPr>
              <p:nvPr>
                <p:ph idx="1"/>
              </p:nvPr>
            </p:nvSpPr>
            <p:spPr>
              <a:xfrm>
                <a:off x="838199" y="1825625"/>
                <a:ext cx="10515600" cy="4351338"/>
              </a:xfrm>
              <a:blipFill>
                <a:blip r:embed="rId3"/>
                <a:stretch>
                  <a:fillRect l="-965" t="-3488"/>
                </a:stretch>
              </a:blipFill>
            </p:spPr>
            <p:txBody>
              <a:bodyPr/>
              <a:lstStyle/>
              <a:p>
                <a:r>
                  <a:rPr lang="en-US">
                    <a:noFill/>
                  </a:rPr>
                  <a:t> </a:t>
                </a:r>
              </a:p>
            </p:txBody>
          </p:sp>
        </mc:Fallback>
      </mc:AlternateContent>
    </p:spTree>
    <p:extLst>
      <p:ext uri="{BB962C8B-B14F-4D97-AF65-F5344CB8AC3E}">
        <p14:creationId xmlns:p14="http://schemas.microsoft.com/office/powerpoint/2010/main" val="3175331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ptos Display"/>
              </a:rPr>
              <a:t>Probability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i="1" dirty="0"/>
                  <a:t>Event</a:t>
                </a:r>
                <a:r>
                  <a:rPr lang="en-US" dirty="0"/>
                  <a:t>: a particular occurrence in some experiment</a:t>
                </a:r>
              </a:p>
              <a:p>
                <a:pPr lvl="1"/>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𝐸</m:t>
                    </m:r>
                    <m:r>
                      <a:rPr lang="en-US" i="1" dirty="0">
                        <a:latin typeface="Cambria Math" panose="02040503050406030204" pitchFamily="18" charset="0"/>
                      </a:rPr>
                      <m:t>]</m:t>
                    </m:r>
                  </m:oMath>
                </a14:m>
                <a:r>
                  <a:rPr lang="en-US" dirty="0"/>
                  <a:t>: probability of event E</a:t>
                </a:r>
              </a:p>
              <a:p>
                <a:endParaRPr lang="en-US" dirty="0"/>
              </a:p>
              <a:p>
                <a:r>
                  <a:rPr lang="en-US" dirty="0"/>
                  <a:t>Law of total probability: say E</a:t>
                </a:r>
                <a:r>
                  <a:rPr lang="en-US" baseline="-25000" dirty="0"/>
                  <a:t>1</a:t>
                </a:r>
                <a:r>
                  <a:rPr lang="en-US" dirty="0"/>
                  <a:t>, …, E</a:t>
                </a:r>
                <a:r>
                  <a:rPr lang="en-US" baseline="-25000" dirty="0"/>
                  <a:t>n</a:t>
                </a:r>
                <a:r>
                  <a:rPr lang="en-US" dirty="0"/>
                  <a:t> are a </a:t>
                </a:r>
                <a:r>
                  <a:rPr lang="en-US" i="1" dirty="0"/>
                  <a:t>partition</a:t>
                </a:r>
                <a:r>
                  <a:rPr lang="en-US" dirty="0"/>
                  <a:t> of all possibilities. Then for any A:</a:t>
                </a:r>
                <a:br>
                  <a:rPr lang="en-US" dirty="0"/>
                </a:br>
                <a:r>
                  <a:rPr lang="en-US" dirty="0"/>
                  <a:t>    </a:t>
                </a:r>
              </a:p>
              <a:p>
                <a:pPr marL="0" indent="0">
                  <a:buNone/>
                </a:pPr>
                <a:r>
                  <a:rPr lang="en-US" dirty="0"/>
                  <a:t>	 </a:t>
                </a:r>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m:t>
                    </m:r>
                    <m:r>
                      <a:rPr lang="en-US" i="1" baseline="-25000" dirty="0" err="1">
                        <a:latin typeface="Cambria Math" panose="02040503050406030204" pitchFamily="18" charset="0"/>
                        <a:sym typeface="Symbol"/>
                      </a:rPr>
                      <m:t>𝑖</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a:latin typeface="Cambria Math" panose="02040503050406030204" pitchFamily="18" charset="0"/>
                        <a:sym typeface="Symbol"/>
                      </a:rPr>
                      <m:t>𝐴</m:t>
                    </m:r>
                    <m:r>
                      <a:rPr lang="en-US" i="1" dirty="0">
                        <a:latin typeface="Cambria Math" panose="02040503050406030204" pitchFamily="18" charset="0"/>
                        <a:sym typeface="Symbol"/>
                      </a:rPr>
                      <m:t> </m:t>
                    </m:r>
                    <m:r>
                      <a:rPr lang="en-US" i="1" dirty="0">
                        <a:latin typeface="Cambria Math" panose="02040503050406030204" pitchFamily="18" charset="0"/>
                        <a:sym typeface="Symbol"/>
                      </a:rPr>
                      <m:t>𝑎𝑛𝑑</m:t>
                    </m:r>
                    <m:r>
                      <a:rPr lang="en-US" i="1" dirty="0">
                        <a:latin typeface="Cambria Math" panose="02040503050406030204" pitchFamily="18" charset="0"/>
                        <a:sym typeface="Symbol"/>
                      </a:rPr>
                      <m:t> </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 </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a:latin typeface="Cambria Math" panose="02040503050406030204" pitchFamily="18" charset="0"/>
                        <a:sym typeface="Symbol"/>
                      </a:rPr>
                      <m:t>𝐴</m:t>
                    </m:r>
                    <m:r>
                      <a:rPr lang="en-US" i="1" dirty="0">
                        <a:latin typeface="Cambria Math" panose="02040503050406030204" pitchFamily="18" charset="0"/>
                        <a:sym typeface="Symbol"/>
                      </a:rPr>
                      <m:t> | </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 </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m:t>
                    </m:r>
                  </m:oMath>
                </a14:m>
                <a:endParaRPr lang="en-US" dirty="0"/>
              </a:p>
              <a:p>
                <a:pPr marL="0" indent="0">
                  <a:buNone/>
                </a:pPr>
                <a:endParaRPr lang="en-US" dirty="0"/>
              </a:p>
              <a:p>
                <a:endParaRPr lang="en-US" dirty="0"/>
              </a:p>
              <a:p>
                <a:pPr lvl="1"/>
                <a:endParaRPr lang="en-US" sz="2800" dirty="0"/>
              </a:p>
              <a:p>
                <a:pPr lvl="1"/>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412484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35C5A7B-C046-1773-4C1A-DDB6A19EA846}"/>
              </a:ext>
            </a:extLst>
          </p:cNvPr>
          <p:cNvSpPr txBox="1">
            <a:spLocks/>
          </p:cNvSpPr>
          <p:nvPr/>
        </p:nvSpPr>
        <p:spPr>
          <a:xfrm>
            <a:off x="838200" y="3556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Aptos Display"/>
              </a:rPr>
              <a:t>Friedman test</a:t>
            </a:r>
          </a:p>
        </p:txBody>
      </p:sp>
      <p:graphicFrame>
        <p:nvGraphicFramePr>
          <p:cNvPr id="8" name="Table 7">
            <a:extLst>
              <a:ext uri="{FF2B5EF4-FFF2-40B4-BE49-F238E27FC236}">
                <a16:creationId xmlns:a16="http://schemas.microsoft.com/office/drawing/2014/main" id="{E455AA89-EA95-3130-0E59-1463526B264C}"/>
              </a:ext>
            </a:extLst>
          </p:cNvPr>
          <p:cNvGraphicFramePr>
            <a:graphicFrameLocks noGrp="1"/>
          </p:cNvGraphicFramePr>
          <p:nvPr/>
        </p:nvGraphicFramePr>
        <p:xfrm>
          <a:off x="2137272" y="1421601"/>
          <a:ext cx="6521987" cy="3159764"/>
        </p:xfrm>
        <a:graphic>
          <a:graphicData uri="http://schemas.openxmlformats.org/drawingml/2006/table">
            <a:tbl>
              <a:tblPr/>
              <a:tblGrid>
                <a:gridCol w="799246">
                  <a:extLst>
                    <a:ext uri="{9D8B030D-6E8A-4147-A177-3AD203B41FA5}">
                      <a16:colId xmlns:a16="http://schemas.microsoft.com/office/drawing/2014/main" val="494001186"/>
                    </a:ext>
                  </a:extLst>
                </a:gridCol>
                <a:gridCol w="1384954">
                  <a:extLst>
                    <a:ext uri="{9D8B030D-6E8A-4147-A177-3AD203B41FA5}">
                      <a16:colId xmlns:a16="http://schemas.microsoft.com/office/drawing/2014/main" val="703348822"/>
                    </a:ext>
                  </a:extLst>
                </a:gridCol>
                <a:gridCol w="602187">
                  <a:extLst>
                    <a:ext uri="{9D8B030D-6E8A-4147-A177-3AD203B41FA5}">
                      <a16:colId xmlns:a16="http://schemas.microsoft.com/office/drawing/2014/main" val="3215676881"/>
                    </a:ext>
                  </a:extLst>
                </a:gridCol>
                <a:gridCol w="1092101">
                  <a:extLst>
                    <a:ext uri="{9D8B030D-6E8A-4147-A177-3AD203B41FA5}">
                      <a16:colId xmlns:a16="http://schemas.microsoft.com/office/drawing/2014/main" val="3115921887"/>
                    </a:ext>
                  </a:extLst>
                </a:gridCol>
                <a:gridCol w="1735115">
                  <a:extLst>
                    <a:ext uri="{9D8B030D-6E8A-4147-A177-3AD203B41FA5}">
                      <a16:colId xmlns:a16="http://schemas.microsoft.com/office/drawing/2014/main" val="1632395846"/>
                    </a:ext>
                  </a:extLst>
                </a:gridCol>
                <a:gridCol w="908384">
                  <a:extLst>
                    <a:ext uri="{9D8B030D-6E8A-4147-A177-3AD203B41FA5}">
                      <a16:colId xmlns:a16="http://schemas.microsoft.com/office/drawing/2014/main" val="2146129159"/>
                    </a:ext>
                  </a:extLst>
                </a:gridCol>
              </a:tblGrid>
              <a:tr h="261476">
                <a:tc>
                  <a:txBody>
                    <a:bodyPr/>
                    <a:lstStyle/>
                    <a:p>
                      <a:r>
                        <a:rPr lang="en-US" sz="1200" b="1">
                          <a:solidFill>
                            <a:srgbClr val="000000"/>
                          </a:solidFill>
                          <a:effectLst/>
                          <a:latin typeface="Helvetica Neue" panose="02000503000000020004" pitchFamily="2" charset="0"/>
                        </a:rPr>
                        <a:t>Plaintext</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200" b="1" dirty="0">
                          <a:solidFill>
                            <a:srgbClr val="000000"/>
                          </a:solidFill>
                          <a:effectLst/>
                          <a:latin typeface="Helvetica Neue" panose="02000503000000020004" pitchFamily="2" charset="0"/>
                        </a:rPr>
                        <a:t>Plaintext value P</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200" b="1">
                          <a:solidFill>
                            <a:srgbClr val="000000"/>
                          </a:solidFill>
                          <a:effectLst/>
                          <a:latin typeface="Helvetica Neue" panose="02000503000000020004" pitchFamily="2" charset="0"/>
                        </a:rPr>
                        <a:t>Key</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200" b="1" dirty="0">
                          <a:solidFill>
                            <a:srgbClr val="000000"/>
                          </a:solidFill>
                          <a:effectLst/>
                          <a:latin typeface="Helvetica Neue" panose="02000503000000020004" pitchFamily="2" charset="0"/>
                        </a:rPr>
                        <a:t>Key value K</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200" b="1" dirty="0">
                          <a:solidFill>
                            <a:srgbClr val="000000"/>
                          </a:solidFill>
                          <a:effectLst/>
                          <a:latin typeface="Helvetica Neue" panose="02000503000000020004" pitchFamily="2" charset="0"/>
                        </a:rPr>
                        <a:t>Ciphertext Value E</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200" b="1" dirty="0">
                          <a:solidFill>
                            <a:srgbClr val="000000"/>
                          </a:solidFill>
                          <a:effectLst/>
                          <a:latin typeface="Helvetica Neue" panose="02000503000000020004" pitchFamily="2" charset="0"/>
                        </a:rPr>
                        <a:t>Ciphertext</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extLst>
                  <a:ext uri="{0D108BD9-81ED-4DB2-BD59-A6C34878D82A}">
                    <a16:rowId xmlns:a16="http://schemas.microsoft.com/office/drawing/2014/main" val="3645327454"/>
                  </a:ext>
                </a:extLst>
              </a:tr>
              <a:tr h="211365">
                <a:tc>
                  <a:txBody>
                    <a:bodyPr/>
                    <a:lstStyle/>
                    <a:p>
                      <a:r>
                        <a:rPr lang="en-US" sz="1200" b="1" dirty="0">
                          <a:solidFill>
                            <a:srgbClr val="000000"/>
                          </a:solidFill>
                          <a:effectLst/>
                          <a:latin typeface="Helvetica Neue" panose="02000503000000020004" pitchFamily="2" charset="0"/>
                        </a:rPr>
                        <a:t>C</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2</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K</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10</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12</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M</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1954012406"/>
                  </a:ext>
                </a:extLst>
              </a:tr>
              <a:tr h="211365">
                <a:tc>
                  <a:txBody>
                    <a:bodyPr/>
                    <a:lstStyle/>
                    <a:p>
                      <a:r>
                        <a:rPr lang="en-US" sz="1200" b="1" dirty="0">
                          <a:solidFill>
                            <a:srgbClr val="000000"/>
                          </a:solidFill>
                          <a:effectLst/>
                          <a:latin typeface="Helvetica Neue" panose="02000503000000020004" pitchFamily="2" charset="0"/>
                        </a:rPr>
                        <a:t>R</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dirty="0">
                          <a:solidFill>
                            <a:srgbClr val="000000"/>
                          </a:solidFill>
                          <a:effectLst/>
                          <a:latin typeface="Helvetica Neue" panose="02000503000000020004" pitchFamily="2" charset="0"/>
                        </a:rPr>
                        <a:t>17</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E</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21</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dirty="0">
                          <a:solidFill>
                            <a:srgbClr val="000000"/>
                          </a:solidFill>
                          <a:effectLst/>
                          <a:latin typeface="Helvetica Neue" panose="02000503000000020004" pitchFamily="2" charset="0"/>
                        </a:rPr>
                        <a:t>V</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079766707"/>
                  </a:ext>
                </a:extLst>
              </a:tr>
              <a:tr h="211365">
                <a:tc>
                  <a:txBody>
                    <a:bodyPr/>
                    <a:lstStyle/>
                    <a:p>
                      <a:r>
                        <a:rPr lang="en-US" sz="1200" b="1" dirty="0">
                          <a:solidFill>
                            <a:srgbClr val="000000"/>
                          </a:solidFill>
                          <a:effectLst/>
                          <a:latin typeface="Helvetica Neue" panose="02000503000000020004" pitchFamily="2" charset="0"/>
                        </a:rPr>
                        <a:t>Y</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dirty="0">
                          <a:solidFill>
                            <a:srgbClr val="000000"/>
                          </a:solidFill>
                          <a:effectLst/>
                          <a:latin typeface="Helvetica Neue" panose="02000503000000020004" pitchFamily="2" charset="0"/>
                        </a:rPr>
                        <a:t>24</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Y</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24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22</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dirty="0">
                          <a:solidFill>
                            <a:srgbClr val="000000"/>
                          </a:solidFill>
                          <a:effectLst/>
                          <a:latin typeface="Helvetica Neue" panose="02000503000000020004" pitchFamily="2" charset="0"/>
                        </a:rPr>
                        <a:t>W</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524491642"/>
                  </a:ext>
                </a:extLst>
              </a:tr>
              <a:tr h="211365">
                <a:tc>
                  <a:txBody>
                    <a:bodyPr/>
                    <a:lstStyle/>
                    <a:p>
                      <a:r>
                        <a:rPr lang="en-US" sz="1200" b="1" dirty="0">
                          <a:solidFill>
                            <a:srgbClr val="000000"/>
                          </a:solidFill>
                          <a:effectLst/>
                          <a:latin typeface="Helvetica Neue" panose="02000503000000020004" pitchFamily="2" charset="0"/>
                        </a:rPr>
                        <a:t>P</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15</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K</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10</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25</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Z</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2139640264"/>
                  </a:ext>
                </a:extLst>
              </a:tr>
              <a:tr h="211365">
                <a:tc>
                  <a:txBody>
                    <a:bodyPr/>
                    <a:lstStyle/>
                    <a:p>
                      <a:r>
                        <a:rPr lang="en-US" sz="1200" b="1" dirty="0">
                          <a:solidFill>
                            <a:srgbClr val="000000"/>
                          </a:solidFill>
                          <a:effectLst/>
                          <a:latin typeface="Helvetica Neue" panose="02000503000000020004" pitchFamily="2" charset="0"/>
                        </a:rPr>
                        <a:t>T</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19</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E</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dirty="0">
                          <a:solidFill>
                            <a:srgbClr val="000000"/>
                          </a:solidFill>
                          <a:effectLst/>
                          <a:latin typeface="Helvetica Neue" panose="02000503000000020004" pitchFamily="2" charset="0"/>
                        </a:rPr>
                        <a:t>23</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dirty="0">
                          <a:solidFill>
                            <a:srgbClr val="000000"/>
                          </a:solidFill>
                          <a:effectLst/>
                          <a:latin typeface="Helvetica Neue" panose="02000503000000020004" pitchFamily="2" charset="0"/>
                        </a:rPr>
                        <a:t>X</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961707227"/>
                  </a:ext>
                </a:extLst>
              </a:tr>
              <a:tr h="211365">
                <a:tc>
                  <a:txBody>
                    <a:bodyPr/>
                    <a:lstStyle/>
                    <a:p>
                      <a:r>
                        <a:rPr lang="en-US" sz="1200" b="1" dirty="0">
                          <a:solidFill>
                            <a:srgbClr val="000000"/>
                          </a:solidFill>
                          <a:effectLst/>
                          <a:latin typeface="Helvetica Neue" panose="02000503000000020004" pitchFamily="2" charset="0"/>
                        </a:rPr>
                        <a:t>O</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14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Y</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24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dirty="0">
                          <a:solidFill>
                            <a:srgbClr val="000000"/>
                          </a:solidFill>
                          <a:effectLst/>
                          <a:latin typeface="Helvetica Neue" panose="02000503000000020004" pitchFamily="2" charset="0"/>
                        </a:rPr>
                        <a:t>12</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dirty="0">
                          <a:solidFill>
                            <a:srgbClr val="000000"/>
                          </a:solidFill>
                          <a:effectLst/>
                          <a:latin typeface="Helvetica Neue" panose="02000503000000020004" pitchFamily="2" charset="0"/>
                        </a:rPr>
                        <a:t>M</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933251704"/>
                  </a:ext>
                </a:extLst>
              </a:tr>
              <a:tr h="211365">
                <a:tc>
                  <a:txBody>
                    <a:bodyPr/>
                    <a:lstStyle/>
                    <a:p>
                      <a:r>
                        <a:rPr lang="en-US" sz="1200" b="1" dirty="0">
                          <a:solidFill>
                            <a:srgbClr val="000000"/>
                          </a:solidFill>
                          <a:effectLst/>
                          <a:latin typeface="Helvetica Neue" panose="02000503000000020004" pitchFamily="2" charset="0"/>
                        </a:rPr>
                        <a:t>G</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6</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K</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10</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16</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Q</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3496658037"/>
                  </a:ext>
                </a:extLst>
              </a:tr>
              <a:tr h="211365">
                <a:tc>
                  <a:txBody>
                    <a:bodyPr/>
                    <a:lstStyle/>
                    <a:p>
                      <a:r>
                        <a:rPr lang="en-US" sz="1200" b="1" dirty="0">
                          <a:solidFill>
                            <a:srgbClr val="000000"/>
                          </a:solidFill>
                          <a:effectLst/>
                          <a:latin typeface="Helvetica Neue" panose="02000503000000020004" pitchFamily="2" charset="0"/>
                        </a:rPr>
                        <a:t>R</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17</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E</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21</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dirty="0">
                          <a:solidFill>
                            <a:srgbClr val="000000"/>
                          </a:solidFill>
                          <a:effectLst/>
                          <a:latin typeface="Helvetica Neue" panose="02000503000000020004" pitchFamily="2" charset="0"/>
                        </a:rPr>
                        <a:t>V</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026765274"/>
                  </a:ext>
                </a:extLst>
              </a:tr>
              <a:tr h="211365">
                <a:tc>
                  <a:txBody>
                    <a:bodyPr/>
                    <a:lstStyle/>
                    <a:p>
                      <a:r>
                        <a:rPr lang="en-US" sz="1200" b="1" dirty="0">
                          <a:solidFill>
                            <a:srgbClr val="000000"/>
                          </a:solidFill>
                          <a:effectLst/>
                          <a:latin typeface="Helvetica Neue" panose="02000503000000020004" pitchFamily="2" charset="0"/>
                        </a:rPr>
                        <a:t>A</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0</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Y</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24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24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dirty="0">
                          <a:solidFill>
                            <a:srgbClr val="000000"/>
                          </a:solidFill>
                          <a:effectLst/>
                          <a:latin typeface="Helvetica Neue" panose="02000503000000020004" pitchFamily="2" charset="0"/>
                        </a:rPr>
                        <a:t>Y</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182944818"/>
                  </a:ext>
                </a:extLst>
              </a:tr>
              <a:tr h="211365">
                <a:tc>
                  <a:txBody>
                    <a:bodyPr/>
                    <a:lstStyle/>
                    <a:p>
                      <a:r>
                        <a:rPr lang="en-US" sz="1200" b="1" dirty="0">
                          <a:solidFill>
                            <a:srgbClr val="000000"/>
                          </a:solidFill>
                          <a:effectLst/>
                          <a:latin typeface="Helvetica Neue" panose="02000503000000020004" pitchFamily="2" charset="0"/>
                        </a:rPr>
                        <a:t>P</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15</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K</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10</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25</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Z</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1100751794"/>
                  </a:ext>
                </a:extLst>
              </a:tr>
              <a:tr h="211365">
                <a:tc>
                  <a:txBody>
                    <a:bodyPr/>
                    <a:lstStyle/>
                    <a:p>
                      <a:r>
                        <a:rPr lang="en-US" sz="1200" b="1" dirty="0">
                          <a:solidFill>
                            <a:srgbClr val="000000"/>
                          </a:solidFill>
                          <a:effectLst/>
                          <a:latin typeface="Helvetica Neue" panose="02000503000000020004" pitchFamily="2" charset="0"/>
                        </a:rPr>
                        <a:t>H</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7</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E</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11</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dirty="0">
                          <a:solidFill>
                            <a:srgbClr val="000000"/>
                          </a:solidFill>
                          <a:effectLst/>
                          <a:latin typeface="Helvetica Neue" panose="02000503000000020004" pitchFamily="2" charset="0"/>
                        </a:rPr>
                        <a:t>L</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77633335"/>
                  </a:ext>
                </a:extLst>
              </a:tr>
              <a:tr h="211365">
                <a:tc>
                  <a:txBody>
                    <a:bodyPr/>
                    <a:lstStyle/>
                    <a:p>
                      <a:r>
                        <a:rPr lang="en-US" sz="1200" b="1" dirty="0">
                          <a:solidFill>
                            <a:srgbClr val="000000"/>
                          </a:solidFill>
                          <a:effectLst/>
                          <a:latin typeface="Helvetica Neue" panose="02000503000000020004" pitchFamily="2" charset="0"/>
                        </a:rPr>
                        <a:t>Y</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24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Y</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24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22</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dirty="0">
                          <a:solidFill>
                            <a:srgbClr val="000000"/>
                          </a:solidFill>
                          <a:effectLst/>
                          <a:latin typeface="Helvetica Neue" panose="02000503000000020004" pitchFamily="2" charset="0"/>
                        </a:rPr>
                        <a:t>W</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464126730"/>
                  </a:ext>
                </a:extLst>
              </a:tr>
            </a:tbl>
          </a:graphicData>
        </a:graphic>
      </p:graphicFrame>
      <mc:AlternateContent xmlns:mc="http://schemas.openxmlformats.org/markup-compatibility/2006">
        <mc:Choice xmlns:a14="http://schemas.microsoft.com/office/drawing/2010/main" Requires="a14">
          <p:sp>
            <p:nvSpPr>
              <p:cNvPr id="9" name="Content Placeholder 2">
                <a:extLst>
                  <a:ext uri="{FF2B5EF4-FFF2-40B4-BE49-F238E27FC236}">
                    <a16:creationId xmlns:a16="http://schemas.microsoft.com/office/drawing/2014/main" id="{1FAE2540-5B93-267C-4672-EE6EF97980A6}"/>
                  </a:ext>
                </a:extLst>
              </p:cNvPr>
              <p:cNvSpPr>
                <a:spLocks noGrp="1"/>
              </p:cNvSpPr>
              <p:nvPr>
                <p:ph idx="1"/>
              </p:nvPr>
            </p:nvSpPr>
            <p:spPr>
              <a:xfrm>
                <a:off x="457200" y="4618673"/>
                <a:ext cx="11277600" cy="2239327"/>
              </a:xfrm>
            </p:spPr>
            <p:txBody>
              <a:bodyPr>
                <a:normAutofit fontScale="92500"/>
              </a:bodyPr>
              <a:lstStyle/>
              <a:p>
                <a:pPr marL="0" indent="0">
                  <a:buNone/>
                </a:pPr>
                <a:r>
                  <a:rPr lang="en-US" sz="1800" b="1" dirty="0"/>
                  <a:t>If the key</a:t>
                </a:r>
                <a:r>
                  <a:rPr lang="zh-CN" altLang="en-US" sz="1800" b="1" dirty="0"/>
                  <a:t> </a:t>
                </a:r>
                <a:r>
                  <a:rPr lang="en-US" sz="1800" b="1" dirty="0"/>
                  <a:t>length guess is </a:t>
                </a:r>
                <a:r>
                  <a:rPr lang="en-US" altLang="zh-CN" sz="1800" b="1" dirty="0"/>
                  <a:t>correct</a:t>
                </a:r>
                <a:r>
                  <a:rPr lang="en-US" sz="1800" b="1" dirty="0"/>
                  <a:t>:</a:t>
                </a:r>
              </a:p>
              <a:p>
                <a14:m>
                  <m:oMath xmlns:m="http://schemas.openxmlformats.org/officeDocument/2006/math">
                    <m:r>
                      <a:rPr lang="en-US" altLang="zh-CN" sz="1800" b="0" i="1" dirty="0" smtClean="0">
                        <a:latin typeface="Cambria Math" panose="02040503050406030204" pitchFamily="18" charset="0"/>
                      </a:rPr>
                      <m:t>𝑙</m:t>
                    </m:r>
                  </m:oMath>
                </a14:m>
                <a:r>
                  <a:rPr lang="zh-CN" altLang="en-US" sz="1800" dirty="0"/>
                  <a:t> </a:t>
                </a:r>
                <a:r>
                  <a:rPr lang="en-US" altLang="zh-CN" sz="1800" dirty="0"/>
                  <a:t>is</a:t>
                </a:r>
                <a:r>
                  <a:rPr lang="zh-CN" altLang="en-US" sz="1800" dirty="0"/>
                  <a:t> </a:t>
                </a:r>
                <a:r>
                  <a:rPr lang="en-US" altLang="zh-CN" sz="1800" dirty="0"/>
                  <a:t>the</a:t>
                </a:r>
                <a:r>
                  <a:rPr lang="zh-CN" altLang="en-US" sz="1800" dirty="0"/>
                  <a:t> </a:t>
                </a:r>
                <a:r>
                  <a:rPr lang="en-US" altLang="zh-CN" sz="1800" dirty="0"/>
                  <a:t>key</a:t>
                </a:r>
                <a:r>
                  <a:rPr lang="zh-CN" altLang="en-US" sz="1800" dirty="0"/>
                  <a:t> </a:t>
                </a:r>
                <a:r>
                  <a:rPr lang="en-US" altLang="zh-CN" sz="1800" dirty="0"/>
                  <a:t>length</a:t>
                </a:r>
                <a:r>
                  <a:rPr lang="zh-CN" altLang="en-US" sz="1800" dirty="0"/>
                  <a:t> </a:t>
                </a:r>
                <a:r>
                  <a:rPr lang="en-US" altLang="zh-CN" sz="1800" dirty="0"/>
                  <a:t>and</a:t>
                </a:r>
                <a:r>
                  <a:rPr lang="zh-CN" altLang="en-US" sz="1800" dirty="0"/>
                  <a:t> </a:t>
                </a:r>
                <a14:m>
                  <m:oMath xmlns:m="http://schemas.openxmlformats.org/officeDocument/2006/math">
                    <m:r>
                      <a:rPr lang="en-US" altLang="zh-CN" sz="1800" b="0" i="1" smtClean="0">
                        <a:latin typeface="Cambria Math" panose="02040503050406030204" pitchFamily="18" charset="0"/>
                      </a:rPr>
                      <m:t>𝑛</m:t>
                    </m:r>
                  </m:oMath>
                </a14:m>
                <a:r>
                  <a:rPr lang="zh-CN" altLang="en-US" sz="1800" dirty="0"/>
                  <a:t>  </a:t>
                </a:r>
                <a:r>
                  <a:rPr lang="en-US" altLang="zh-CN" sz="1800" dirty="0"/>
                  <a:t>is</a:t>
                </a:r>
                <a:r>
                  <a:rPr lang="zh-CN" altLang="en-US" sz="1800" dirty="0"/>
                  <a:t> </a:t>
                </a:r>
                <a:r>
                  <a:rPr lang="en-US" altLang="zh-CN" sz="1800" dirty="0"/>
                  <a:t>the</a:t>
                </a:r>
                <a:r>
                  <a:rPr lang="zh-CN" altLang="en-US" sz="1800" dirty="0"/>
                  <a:t> </a:t>
                </a:r>
                <a:r>
                  <a:rPr lang="en-US" altLang="zh-CN" sz="1800" dirty="0"/>
                  <a:t>cipher</a:t>
                </a:r>
                <a:r>
                  <a:rPr lang="zh-CN" altLang="en-US" sz="1800" dirty="0"/>
                  <a:t> </a:t>
                </a:r>
                <a:r>
                  <a:rPr lang="en-US" altLang="zh-CN" sz="1800" dirty="0"/>
                  <a:t>length.</a:t>
                </a:r>
              </a:p>
              <a:p>
                <a:r>
                  <a:rPr lang="en-US" altLang="zh-CN" sz="1800" dirty="0"/>
                  <a:t>The</a:t>
                </a:r>
                <a:r>
                  <a:rPr lang="zh-CN" altLang="en-US" sz="1800" dirty="0"/>
                  <a:t> </a:t>
                </a:r>
                <a:r>
                  <a:rPr lang="en-US" sz="1800" dirty="0"/>
                  <a:t>probability that both letters are selected from the </a:t>
                </a:r>
                <a:r>
                  <a:rPr lang="en-US" altLang="zh-CN" sz="1800" dirty="0"/>
                  <a:t>same</a:t>
                </a:r>
                <a:r>
                  <a:rPr lang="en-US" sz="1800" dirty="0"/>
                  <a:t> </a:t>
                </a:r>
                <a:r>
                  <a:rPr lang="en-US" altLang="zh-CN" sz="1800" dirty="0"/>
                  <a:t>key</a:t>
                </a:r>
                <a:r>
                  <a:rPr lang="zh-CN" altLang="en-US" sz="1800" dirty="0"/>
                  <a:t> </a:t>
                </a:r>
                <a:r>
                  <a:rPr lang="en-US" altLang="zh-CN" sz="1800" dirty="0"/>
                  <a:t>group</a:t>
                </a:r>
                <a:r>
                  <a:rPr lang="en-US" sz="1800" dirty="0"/>
                  <a:t> and are the same is</a:t>
                </a:r>
                <a:r>
                  <a:rPr lang="zh-CN" altLang="en-US" sz="1800" dirty="0"/>
                  <a:t> </a:t>
                </a:r>
                <a14:m>
                  <m:oMath xmlns:m="http://schemas.openxmlformats.org/officeDocument/2006/math">
                    <m:f>
                      <m:fPr>
                        <m:ctrlPr>
                          <a:rPr lang="en-US" altLang="zh-CN" sz="1800" i="1" smtClean="0">
                            <a:latin typeface="Cambria Math" panose="02040503050406030204" pitchFamily="18" charset="0"/>
                          </a:rPr>
                        </m:ctrlPr>
                      </m:fPr>
                      <m:num>
                        <m:r>
                          <a:rPr lang="en-US" altLang="zh-CN" sz="1800" b="0" i="1" smtClean="0">
                            <a:latin typeface="Cambria Math" panose="02040503050406030204" pitchFamily="18" charset="0"/>
                          </a:rPr>
                          <m:t>𝑛</m:t>
                        </m:r>
                        <m:r>
                          <a:rPr lang="zh-CN" altLang="en-US" sz="1800" b="0" i="1" smtClean="0">
                            <a:latin typeface="Cambria Math" panose="02040503050406030204" pitchFamily="18" charset="0"/>
                          </a:rPr>
                          <m:t> </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𝑙</m:t>
                        </m:r>
                      </m:num>
                      <m:den>
                        <m:r>
                          <a:rPr lang="en-US" altLang="zh-CN" sz="1800" b="0" i="1" smtClean="0">
                            <a:latin typeface="Cambria Math" panose="02040503050406030204" pitchFamily="18" charset="0"/>
                          </a:rPr>
                          <m:t>𝑙</m:t>
                        </m:r>
                        <m:r>
                          <a:rPr lang="zh-CN" altLang="en-US" sz="1800" b="0" i="1" smtClean="0">
                            <a:latin typeface="Cambria Math" panose="02040503050406030204" pitchFamily="18" charset="0"/>
                          </a:rPr>
                          <m:t> </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𝑛</m:t>
                        </m:r>
                        <m:r>
                          <a:rPr lang="en-US" altLang="zh-CN" sz="1800" b="0" i="1" smtClean="0">
                            <a:latin typeface="Cambria Math" panose="02040503050406030204" pitchFamily="18" charset="0"/>
                          </a:rPr>
                          <m:t>−1)</m:t>
                        </m:r>
                      </m:den>
                    </m:f>
                    <m:r>
                      <a:rPr lang="en-US" altLang="zh-CN" sz="1800" b="0" i="1" smtClean="0">
                        <a:latin typeface="Cambria Math" panose="02040503050406030204" pitchFamily="18" charset="0"/>
                      </a:rPr>
                      <m:t>×0.065</m:t>
                    </m:r>
                  </m:oMath>
                </a14:m>
                <a:r>
                  <a:rPr lang="en-US" altLang="zh-CN" sz="1800" dirty="0"/>
                  <a:t>. </a:t>
                </a:r>
              </a:p>
              <a:p>
                <a:r>
                  <a:rPr lang="en-US" altLang="zh-CN" sz="1800" dirty="0"/>
                  <a:t>The</a:t>
                </a:r>
                <a:r>
                  <a:rPr lang="zh-CN" altLang="en-US" sz="1800" dirty="0"/>
                  <a:t> </a:t>
                </a:r>
                <a:r>
                  <a:rPr lang="en-US" sz="1800" dirty="0"/>
                  <a:t>probability that both letters are selected from </a:t>
                </a:r>
                <a:r>
                  <a:rPr lang="en-US" altLang="zh-CN" sz="1800" dirty="0"/>
                  <a:t>different</a:t>
                </a:r>
                <a:r>
                  <a:rPr lang="en-US" sz="1800" dirty="0"/>
                  <a:t>  </a:t>
                </a:r>
                <a:r>
                  <a:rPr lang="en-US" altLang="zh-CN" sz="1800" dirty="0"/>
                  <a:t>key</a:t>
                </a:r>
                <a:r>
                  <a:rPr lang="zh-CN" altLang="en-US" sz="1800" dirty="0"/>
                  <a:t> </a:t>
                </a:r>
                <a:r>
                  <a:rPr lang="en-US" altLang="zh-CN" sz="1800" dirty="0"/>
                  <a:t>groups</a:t>
                </a:r>
                <a:r>
                  <a:rPr lang="en-US" sz="1800" dirty="0"/>
                  <a:t> and are the same letter</a:t>
                </a:r>
                <a:r>
                  <a:rPr lang="zh-CN" altLang="en-US" sz="1800" dirty="0"/>
                  <a:t> </a:t>
                </a:r>
                <a:r>
                  <a:rPr lang="en-US" altLang="zh-CN" sz="1800" dirty="0"/>
                  <a:t> </a:t>
                </a:r>
                <a14:m>
                  <m:oMath xmlns:m="http://schemas.openxmlformats.org/officeDocument/2006/math">
                    <m:f>
                      <m:fPr>
                        <m:ctrlPr>
                          <a:rPr lang="en-US" altLang="zh-CN" sz="1800" i="1" smtClean="0">
                            <a:latin typeface="Cambria Math" panose="02040503050406030204" pitchFamily="18" charset="0"/>
                          </a:rPr>
                        </m:ctrlPr>
                      </m:fPr>
                      <m:num>
                        <m:r>
                          <a:rPr lang="en-US" altLang="zh-CN" sz="1800" b="0" i="1" smtClean="0">
                            <a:latin typeface="Cambria Math" panose="02040503050406030204" pitchFamily="18" charset="0"/>
                          </a:rPr>
                          <m:t>𝑛</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𝑙</m:t>
                        </m:r>
                        <m:r>
                          <a:rPr lang="en-US" altLang="zh-CN" sz="1800" b="0" i="1" smtClean="0">
                            <a:latin typeface="Cambria Math" panose="02040503050406030204" pitchFamily="18" charset="0"/>
                          </a:rPr>
                          <m:t>−1)</m:t>
                        </m:r>
                      </m:num>
                      <m:den>
                        <m:r>
                          <a:rPr lang="en-US" altLang="zh-CN" sz="1800" b="0" i="1" smtClean="0">
                            <a:latin typeface="Cambria Math" panose="02040503050406030204" pitchFamily="18" charset="0"/>
                          </a:rPr>
                          <m:t>𝑙</m:t>
                        </m:r>
                        <m:r>
                          <a:rPr lang="zh-CN" altLang="en-US" sz="1800" b="0" i="1" smtClean="0">
                            <a:latin typeface="Cambria Math" panose="02040503050406030204" pitchFamily="18" charset="0"/>
                          </a:rPr>
                          <m:t> </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𝑛</m:t>
                        </m:r>
                        <m:r>
                          <a:rPr lang="en-US" altLang="zh-CN" sz="1800" b="0" i="1" smtClean="0">
                            <a:latin typeface="Cambria Math" panose="02040503050406030204" pitchFamily="18" charset="0"/>
                          </a:rPr>
                          <m:t>−1)</m:t>
                        </m:r>
                      </m:den>
                    </m:f>
                    <m:r>
                      <a:rPr lang="en-US" altLang="zh-CN" sz="1800" b="0" i="1" smtClean="0">
                        <a:latin typeface="Cambria Math" panose="02040503050406030204" pitchFamily="18" charset="0"/>
                      </a:rPr>
                      <m:t>×0.038</m:t>
                    </m:r>
                  </m:oMath>
                </a14:m>
                <a:r>
                  <a:rPr lang="en-US" altLang="zh-CN" sz="1800" dirty="0"/>
                  <a:t>.</a:t>
                </a:r>
                <a:r>
                  <a:rPr lang="zh-CN" altLang="en-US" sz="1800" dirty="0"/>
                  <a:t> </a:t>
                </a:r>
                <a:r>
                  <a:rPr lang="en-US" altLang="zh-CN" sz="1800" b="1" dirty="0">
                    <a:solidFill>
                      <a:srgbClr val="FF0000"/>
                    </a:solidFill>
                  </a:rPr>
                  <a:t>WHY?</a:t>
                </a:r>
              </a:p>
              <a:p>
                <a:r>
                  <a:rPr lang="zh-CN" altLang="en-US" sz="1800" dirty="0"/>
                  <a:t> </a:t>
                </a:r>
                <a14:m>
                  <m:oMath xmlns:m="http://schemas.openxmlformats.org/officeDocument/2006/math">
                    <m:r>
                      <a:rPr lang="en-US" altLang="zh-CN" sz="1800" b="0" i="1" smtClean="0">
                        <a:latin typeface="Cambria Math" panose="02040503050406030204" pitchFamily="18" charset="0"/>
                      </a:rPr>
                      <m:t>𝐼</m:t>
                    </m:r>
                    <m:r>
                      <a:rPr lang="en-US" altLang="zh-CN" sz="1800" b="0" i="1" smtClean="0">
                        <a:latin typeface="Cambria Math" panose="02040503050406030204" pitchFamily="18" charset="0"/>
                      </a:rPr>
                      <m:t>=</m:t>
                    </m:r>
                    <m:r>
                      <m:rPr>
                        <m:nor/>
                      </m:rPr>
                      <a:rPr lang="zh-CN" altLang="en-US" sz="1800" dirty="0" smtClean="0"/>
                      <m:t> </m:t>
                    </m:r>
                    <m:f>
                      <m:fPr>
                        <m:ctrlPr>
                          <a:rPr lang="en-US" altLang="zh-CN" sz="1800" i="1" smtClean="0">
                            <a:latin typeface="Cambria Math" panose="02040503050406030204" pitchFamily="18" charset="0"/>
                          </a:rPr>
                        </m:ctrlPr>
                      </m:fPr>
                      <m:num>
                        <m:r>
                          <a:rPr lang="en-US" altLang="zh-CN" sz="1800" b="0" i="1" smtClean="0">
                            <a:latin typeface="Cambria Math" panose="02040503050406030204" pitchFamily="18" charset="0"/>
                          </a:rPr>
                          <m:t>𝑛</m:t>
                        </m:r>
                        <m:r>
                          <a:rPr lang="zh-CN" altLang="en-US" sz="1800" b="0" i="1" smtClean="0">
                            <a:latin typeface="Cambria Math" panose="02040503050406030204" pitchFamily="18" charset="0"/>
                          </a:rPr>
                          <m:t> </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𝑙</m:t>
                        </m:r>
                      </m:num>
                      <m:den>
                        <m:r>
                          <a:rPr lang="en-US" altLang="zh-CN" sz="1800" b="0" i="1" smtClean="0">
                            <a:latin typeface="Cambria Math" panose="02040503050406030204" pitchFamily="18" charset="0"/>
                          </a:rPr>
                          <m:t>𝑙</m:t>
                        </m:r>
                        <m:r>
                          <a:rPr lang="zh-CN" altLang="en-US" sz="1800" b="0" i="1" smtClean="0">
                            <a:latin typeface="Cambria Math" panose="02040503050406030204" pitchFamily="18" charset="0"/>
                          </a:rPr>
                          <m:t> </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𝑛</m:t>
                        </m:r>
                        <m:r>
                          <a:rPr lang="en-US" altLang="zh-CN" sz="1800" b="0" i="1" smtClean="0">
                            <a:latin typeface="Cambria Math" panose="02040503050406030204" pitchFamily="18" charset="0"/>
                          </a:rPr>
                          <m:t>−1)</m:t>
                        </m:r>
                      </m:den>
                    </m:f>
                    <m:r>
                      <a:rPr lang="en-US" altLang="zh-CN" sz="1800" b="0" i="1" smtClean="0">
                        <a:latin typeface="Cambria Math" panose="02040503050406030204" pitchFamily="18" charset="0"/>
                      </a:rPr>
                      <m:t>×0.065+</m:t>
                    </m:r>
                    <m:f>
                      <m:fPr>
                        <m:ctrlPr>
                          <a:rPr lang="en-US" altLang="zh-CN" sz="1800" i="1" smtClean="0">
                            <a:latin typeface="Cambria Math" panose="02040503050406030204" pitchFamily="18" charset="0"/>
                          </a:rPr>
                        </m:ctrlPr>
                      </m:fPr>
                      <m:num>
                        <m:r>
                          <a:rPr lang="en-US" altLang="zh-CN" sz="1800" b="0" i="1" smtClean="0">
                            <a:latin typeface="Cambria Math" panose="02040503050406030204" pitchFamily="18" charset="0"/>
                          </a:rPr>
                          <m:t>𝑛</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𝑙</m:t>
                        </m:r>
                        <m:r>
                          <a:rPr lang="en-US" altLang="zh-CN" sz="1800" b="0" i="1" smtClean="0">
                            <a:latin typeface="Cambria Math" panose="02040503050406030204" pitchFamily="18" charset="0"/>
                          </a:rPr>
                          <m:t>−1)</m:t>
                        </m:r>
                      </m:num>
                      <m:den>
                        <m:r>
                          <a:rPr lang="en-US" altLang="zh-CN" sz="1800" b="0" i="1" smtClean="0">
                            <a:latin typeface="Cambria Math" panose="02040503050406030204" pitchFamily="18" charset="0"/>
                          </a:rPr>
                          <m:t>𝑙</m:t>
                        </m:r>
                        <m:r>
                          <a:rPr lang="zh-CN" altLang="en-US" sz="1800" b="0" i="1" smtClean="0">
                            <a:latin typeface="Cambria Math" panose="02040503050406030204" pitchFamily="18" charset="0"/>
                          </a:rPr>
                          <m:t> </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𝑛</m:t>
                        </m:r>
                        <m:r>
                          <a:rPr lang="en-US" altLang="zh-CN" sz="1800" b="0" i="1" smtClean="0">
                            <a:latin typeface="Cambria Math" panose="02040503050406030204" pitchFamily="18" charset="0"/>
                          </a:rPr>
                          <m:t>−1)</m:t>
                        </m:r>
                      </m:den>
                    </m:f>
                    <m:r>
                      <a:rPr lang="en-US" altLang="zh-CN" sz="1800" b="0" i="1" smtClean="0">
                        <a:latin typeface="Cambria Math" panose="02040503050406030204" pitchFamily="18" charset="0"/>
                      </a:rPr>
                      <m:t> ×0.038≈0.038+</m:t>
                    </m:r>
                    <m:r>
                      <a:rPr lang="zh-CN" altLang="en-US" sz="1800" b="0" i="1" smtClean="0">
                        <a:latin typeface="Cambria Math" panose="02040503050406030204" pitchFamily="18" charset="0"/>
                      </a:rPr>
                      <m:t> </m:t>
                    </m:r>
                    <m:f>
                      <m:fPr>
                        <m:ctrlPr>
                          <a:rPr lang="en-US" altLang="zh-CN" sz="1800" b="0" i="1" smtClean="0">
                            <a:latin typeface="Cambria Math" panose="02040503050406030204" pitchFamily="18" charset="0"/>
                          </a:rPr>
                        </m:ctrlPr>
                      </m:fPr>
                      <m:num>
                        <m:r>
                          <a:rPr lang="en-US" altLang="zh-CN" sz="1800" b="0" i="1" smtClean="0">
                            <a:latin typeface="Cambria Math" panose="02040503050406030204" pitchFamily="18" charset="0"/>
                          </a:rPr>
                          <m:t>1</m:t>
                        </m:r>
                      </m:num>
                      <m:den>
                        <m:r>
                          <a:rPr lang="en-US" altLang="zh-CN" sz="1800" b="0" i="1" smtClean="0">
                            <a:latin typeface="Cambria Math" panose="02040503050406030204" pitchFamily="18" charset="0"/>
                          </a:rPr>
                          <m:t>𝑙</m:t>
                        </m:r>
                      </m:den>
                    </m:f>
                    <m:r>
                      <a:rPr lang="zh-CN" altLang="en-US" sz="1800" b="0" i="1" smtClean="0">
                        <a:latin typeface="Cambria Math" panose="02040503050406030204" pitchFamily="18" charset="0"/>
                      </a:rPr>
                      <m:t> </m:t>
                    </m:r>
                    <m:r>
                      <a:rPr lang="en-US" altLang="zh-CN" sz="1800" b="0" i="1" smtClean="0">
                        <a:latin typeface="Cambria Math" panose="02040503050406030204" pitchFamily="18" charset="0"/>
                      </a:rPr>
                      <m:t>×</m:t>
                    </m:r>
                    <m:r>
                      <a:rPr lang="zh-CN" altLang="en-US" sz="1800" b="0" i="1" smtClean="0">
                        <a:latin typeface="Cambria Math" panose="02040503050406030204" pitchFamily="18" charset="0"/>
                      </a:rPr>
                      <m:t> </m:t>
                    </m:r>
                    <m:r>
                      <a:rPr lang="en-US" altLang="zh-CN" sz="1800" b="0" i="1" smtClean="0">
                        <a:latin typeface="Cambria Math" panose="02040503050406030204" pitchFamily="18" charset="0"/>
                      </a:rPr>
                      <m:t>0.027</m:t>
                    </m:r>
                  </m:oMath>
                </a14:m>
                <a:endParaRPr lang="en-US" altLang="zh-CN" sz="1800" b="0" dirty="0"/>
              </a:p>
              <a:p>
                <a:endParaRPr lang="en-US" sz="1800" dirty="0"/>
              </a:p>
              <a:p>
                <a:endParaRPr lang="en-US" sz="1800" dirty="0"/>
              </a:p>
              <a:p>
                <a:endParaRPr lang="en-US" sz="1800" dirty="0"/>
              </a:p>
              <a:p>
                <a:pPr marL="0" indent="0">
                  <a:buNone/>
                </a:pPr>
                <a:endParaRPr lang="en-US" sz="1800" dirty="0"/>
              </a:p>
            </p:txBody>
          </p:sp>
        </mc:Choice>
        <mc:Fallback>
          <p:sp>
            <p:nvSpPr>
              <p:cNvPr id="9" name="Content Placeholder 2">
                <a:extLst>
                  <a:ext uri="{FF2B5EF4-FFF2-40B4-BE49-F238E27FC236}">
                    <a16:creationId xmlns:a16="http://schemas.microsoft.com/office/drawing/2014/main" id="{1FAE2540-5B93-267C-4672-EE6EF97980A6}"/>
                  </a:ext>
                </a:extLst>
              </p:cNvPr>
              <p:cNvSpPr>
                <a:spLocks noGrp="1" noRot="1" noChangeAspect="1" noMove="1" noResize="1" noEditPoints="1" noAdjustHandles="1" noChangeArrowheads="1" noChangeShapeType="1" noTextEdit="1"/>
              </p:cNvSpPr>
              <p:nvPr>
                <p:ph idx="1"/>
              </p:nvPr>
            </p:nvSpPr>
            <p:spPr>
              <a:xfrm>
                <a:off x="457200" y="4618673"/>
                <a:ext cx="11277600" cy="2239327"/>
              </a:xfrm>
              <a:blipFill>
                <a:blip r:embed="rId3"/>
                <a:stretch>
                  <a:fillRect l="-337" t="-1695"/>
                </a:stretch>
              </a:blipFill>
            </p:spPr>
            <p:txBody>
              <a:bodyPr/>
              <a:lstStyle/>
              <a:p>
                <a:r>
                  <a:rPr lang="en-US">
                    <a:noFill/>
                  </a:rPr>
                  <a:t> </a:t>
                </a:r>
              </a:p>
            </p:txBody>
          </p:sp>
        </mc:Fallback>
      </mc:AlternateContent>
    </p:spTree>
    <p:extLst>
      <p:ext uri="{BB962C8B-B14F-4D97-AF65-F5344CB8AC3E}">
        <p14:creationId xmlns:p14="http://schemas.microsoft.com/office/powerpoint/2010/main" val="2523097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49C28-350C-7A8D-A3F3-1ED365A0D798}"/>
              </a:ext>
            </a:extLst>
          </p:cNvPr>
          <p:cNvSpPr>
            <a:spLocks noGrp="1"/>
          </p:cNvSpPr>
          <p:nvPr>
            <p:ph type="title"/>
          </p:nvPr>
        </p:nvSpPr>
        <p:spPr/>
        <p:txBody>
          <a:bodyPr/>
          <a:lstStyle/>
          <a:p>
            <a:r>
              <a:rPr lang="en-US" altLang="zh-CN" dirty="0">
                <a:latin typeface="Aptos Display"/>
              </a:rPr>
              <a:t>Some other old things</a:t>
            </a:r>
            <a:endParaRPr lang="en-US" dirty="0">
              <a:latin typeface="Aptos Display"/>
            </a:endParaRPr>
          </a:p>
        </p:txBody>
      </p:sp>
      <p:sp>
        <p:nvSpPr>
          <p:cNvPr id="3" name="Content Placeholder 2">
            <a:extLst>
              <a:ext uri="{FF2B5EF4-FFF2-40B4-BE49-F238E27FC236}">
                <a16:creationId xmlns:a16="http://schemas.microsoft.com/office/drawing/2014/main" id="{29FA6115-2793-0CB3-61DD-0A59786A8C34}"/>
              </a:ext>
            </a:extLst>
          </p:cNvPr>
          <p:cNvSpPr>
            <a:spLocks noGrp="1"/>
          </p:cNvSpPr>
          <p:nvPr>
            <p:ph idx="1"/>
          </p:nvPr>
        </p:nvSpPr>
        <p:spPr>
          <a:xfrm>
            <a:off x="3760177" y="2160000"/>
            <a:ext cx="4671646" cy="4351338"/>
          </a:xfrm>
        </p:spPr>
        <p:txBody>
          <a:bodyPr/>
          <a:lstStyle/>
          <a:p>
            <a:pPr marL="0" indent="0">
              <a:buNone/>
            </a:pPr>
            <a:r>
              <a:rPr lang="en-US" dirty="0">
                <a:latin typeface="Aptos"/>
              </a:rPr>
              <a:t>Enigma Machine</a:t>
            </a:r>
          </a:p>
        </p:txBody>
      </p:sp>
      <p:pic>
        <p:nvPicPr>
          <p:cNvPr id="5122" name="Picture 2" descr="The Imitation Game (2014) - IMDb">
            <a:extLst>
              <a:ext uri="{FF2B5EF4-FFF2-40B4-BE49-F238E27FC236}">
                <a16:creationId xmlns:a16="http://schemas.microsoft.com/office/drawing/2014/main" id="{607EB390-4C93-AFFD-D284-6A54FBB253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591" y="1910694"/>
            <a:ext cx="2213095" cy="3253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7753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C46C8-5C13-ED49-163F-4ED01BD2CCF0}"/>
              </a:ext>
            </a:extLst>
          </p:cNvPr>
          <p:cNvSpPr>
            <a:spLocks noGrp="1"/>
          </p:cNvSpPr>
          <p:nvPr>
            <p:ph type="title"/>
          </p:nvPr>
        </p:nvSpPr>
        <p:spPr/>
        <p:txBody>
          <a:bodyPr/>
          <a:lstStyle/>
          <a:p>
            <a:r>
              <a:rPr lang="en-US" dirty="0">
                <a:latin typeface="Aptos Display"/>
              </a:rPr>
              <a:t>Classical cryptography</a:t>
            </a:r>
          </a:p>
        </p:txBody>
      </p:sp>
      <p:sp>
        <p:nvSpPr>
          <p:cNvPr id="4" name="Rectangle: Rounded Corners 3">
            <a:extLst>
              <a:ext uri="{FF2B5EF4-FFF2-40B4-BE49-F238E27FC236}">
                <a16:creationId xmlns:a16="http://schemas.microsoft.com/office/drawing/2014/main" id="{3B10ED21-34C7-3131-77A4-5B368EFF954D}"/>
              </a:ext>
            </a:extLst>
          </p:cNvPr>
          <p:cNvSpPr/>
          <p:nvPr/>
        </p:nvSpPr>
        <p:spPr>
          <a:xfrm>
            <a:off x="1808629" y="1632460"/>
            <a:ext cx="2178424" cy="1203511"/>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ptos"/>
              </a:rPr>
              <a:t>Design</a:t>
            </a:r>
          </a:p>
        </p:txBody>
      </p:sp>
      <p:sp>
        <p:nvSpPr>
          <p:cNvPr id="5" name="Rectangle: Rounded Corners 4">
            <a:extLst>
              <a:ext uri="{FF2B5EF4-FFF2-40B4-BE49-F238E27FC236}">
                <a16:creationId xmlns:a16="http://schemas.microsoft.com/office/drawing/2014/main" id="{EDBD97D9-3193-8AE8-0B4A-6C7197CF9EF4}"/>
              </a:ext>
            </a:extLst>
          </p:cNvPr>
          <p:cNvSpPr/>
          <p:nvPr/>
        </p:nvSpPr>
        <p:spPr>
          <a:xfrm>
            <a:off x="6582335" y="1632459"/>
            <a:ext cx="2178424" cy="1203511"/>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ptos"/>
              </a:rPr>
              <a:t>Try to break</a:t>
            </a:r>
          </a:p>
        </p:txBody>
      </p:sp>
      <p:sp>
        <p:nvSpPr>
          <p:cNvPr id="6" name="Arrow: Curved Down 5">
            <a:extLst>
              <a:ext uri="{FF2B5EF4-FFF2-40B4-BE49-F238E27FC236}">
                <a16:creationId xmlns:a16="http://schemas.microsoft.com/office/drawing/2014/main" id="{D4923413-4717-24D1-E6D4-25FD6A00A572}"/>
              </a:ext>
            </a:extLst>
          </p:cNvPr>
          <p:cNvSpPr/>
          <p:nvPr/>
        </p:nvSpPr>
        <p:spPr>
          <a:xfrm>
            <a:off x="4363571" y="1442197"/>
            <a:ext cx="1869141" cy="638735"/>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Arrow: Curved Down 7">
            <a:extLst>
              <a:ext uri="{FF2B5EF4-FFF2-40B4-BE49-F238E27FC236}">
                <a16:creationId xmlns:a16="http://schemas.microsoft.com/office/drawing/2014/main" id="{FCEB99D0-73A6-2407-F975-A1FB1F937BCF}"/>
              </a:ext>
            </a:extLst>
          </p:cNvPr>
          <p:cNvSpPr/>
          <p:nvPr/>
        </p:nvSpPr>
        <p:spPr>
          <a:xfrm rot="10800000">
            <a:off x="4303058" y="2835970"/>
            <a:ext cx="1869141" cy="638735"/>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52E0FF17-F3AD-666B-D5B5-0C6FDA5A82AB}"/>
              </a:ext>
            </a:extLst>
          </p:cNvPr>
          <p:cNvSpPr txBox="1"/>
          <p:nvPr/>
        </p:nvSpPr>
        <p:spPr>
          <a:xfrm>
            <a:off x="4809566" y="2635915"/>
            <a:ext cx="1021976" cy="400110"/>
          </a:xfrm>
          <a:prstGeom prst="rect">
            <a:avLst/>
          </a:prstGeom>
          <a:noFill/>
        </p:spPr>
        <p:txBody>
          <a:bodyPr wrap="square" rtlCol="0">
            <a:spAutoFit/>
          </a:bodyPr>
          <a:lstStyle/>
          <a:p>
            <a:r>
              <a:rPr lang="en-US" sz="2000" dirty="0">
                <a:latin typeface="Aptos"/>
              </a:rPr>
              <a:t>broken</a:t>
            </a:r>
          </a:p>
        </p:txBody>
      </p:sp>
      <p:cxnSp>
        <p:nvCxnSpPr>
          <p:cNvPr id="11" name="Straight Arrow Connector 10">
            <a:extLst>
              <a:ext uri="{FF2B5EF4-FFF2-40B4-BE49-F238E27FC236}">
                <a16:creationId xmlns:a16="http://schemas.microsoft.com/office/drawing/2014/main" id="{154079DC-4AB3-A6AD-4B5D-543CC06E05D8}"/>
              </a:ext>
            </a:extLst>
          </p:cNvPr>
          <p:cNvCxnSpPr>
            <a:cxnSpLocks/>
            <a:stCxn id="5" idx="2"/>
          </p:cNvCxnSpPr>
          <p:nvPr/>
        </p:nvCxnSpPr>
        <p:spPr>
          <a:xfrm>
            <a:off x="7671547" y="2835970"/>
            <a:ext cx="0" cy="219323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5B42733A-53BB-4150-1619-15198A9FD793}"/>
              </a:ext>
            </a:extLst>
          </p:cNvPr>
          <p:cNvSpPr txBox="1"/>
          <p:nvPr/>
        </p:nvSpPr>
        <p:spPr>
          <a:xfrm>
            <a:off x="6958854" y="5225541"/>
            <a:ext cx="1647264" cy="523220"/>
          </a:xfrm>
          <a:prstGeom prst="rect">
            <a:avLst/>
          </a:prstGeom>
          <a:noFill/>
        </p:spPr>
        <p:txBody>
          <a:bodyPr wrap="square" rtlCol="0">
            <a:spAutoFit/>
          </a:bodyPr>
          <a:lstStyle/>
          <a:p>
            <a:r>
              <a:rPr lang="en-US" sz="2800" dirty="0">
                <a:latin typeface="Aptos"/>
              </a:rPr>
              <a:t>Deploy</a:t>
            </a:r>
          </a:p>
        </p:txBody>
      </p:sp>
      <p:cxnSp>
        <p:nvCxnSpPr>
          <p:cNvPr id="14" name="Straight Arrow Connector 13">
            <a:extLst>
              <a:ext uri="{FF2B5EF4-FFF2-40B4-BE49-F238E27FC236}">
                <a16:creationId xmlns:a16="http://schemas.microsoft.com/office/drawing/2014/main" id="{25C201CB-8F64-F18C-8EE6-FB1DA772E889}"/>
              </a:ext>
            </a:extLst>
          </p:cNvPr>
          <p:cNvCxnSpPr>
            <a:cxnSpLocks/>
            <a:stCxn id="13" idx="1"/>
          </p:cNvCxnSpPr>
          <p:nvPr/>
        </p:nvCxnSpPr>
        <p:spPr>
          <a:xfrm flipH="1">
            <a:off x="4558553" y="5487151"/>
            <a:ext cx="240030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3711981D-F0E5-3170-8816-3463B6DC6132}"/>
              </a:ext>
            </a:extLst>
          </p:cNvPr>
          <p:cNvSpPr txBox="1"/>
          <p:nvPr/>
        </p:nvSpPr>
        <p:spPr>
          <a:xfrm>
            <a:off x="2198593" y="5029200"/>
            <a:ext cx="2400301" cy="830997"/>
          </a:xfrm>
          <a:prstGeom prst="rect">
            <a:avLst/>
          </a:prstGeom>
          <a:noFill/>
        </p:spPr>
        <p:txBody>
          <a:bodyPr wrap="square">
            <a:spAutoFit/>
          </a:bodyPr>
          <a:lstStyle/>
          <a:p>
            <a:r>
              <a:rPr lang="en-US" sz="2400" dirty="0">
                <a:latin typeface="Aptos"/>
              </a:rPr>
              <a:t>Catastrophic </a:t>
            </a:r>
          </a:p>
          <a:p>
            <a:r>
              <a:rPr lang="en-US" sz="2400" dirty="0">
                <a:latin typeface="Aptos"/>
              </a:rPr>
              <a:t>failure</a:t>
            </a:r>
          </a:p>
        </p:txBody>
      </p:sp>
    </p:spTree>
    <p:extLst>
      <p:ext uri="{BB962C8B-B14F-4D97-AF65-F5344CB8AC3E}">
        <p14:creationId xmlns:p14="http://schemas.microsoft.com/office/powerpoint/2010/main" val="3528479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1097A-AAC3-4FE2-AB3E-5E14BCFFE2B9}"/>
              </a:ext>
            </a:extLst>
          </p:cNvPr>
          <p:cNvSpPr>
            <a:spLocks noGrp="1"/>
          </p:cNvSpPr>
          <p:nvPr>
            <p:ph type="title"/>
          </p:nvPr>
        </p:nvSpPr>
        <p:spPr/>
        <p:txBody>
          <a:bodyPr/>
          <a:lstStyle/>
          <a:p>
            <a:r>
              <a:rPr lang="en-US" dirty="0">
                <a:latin typeface="Aptos Display"/>
              </a:rPr>
              <a:t>Modern cryptography</a:t>
            </a:r>
          </a:p>
        </p:txBody>
      </p:sp>
      <p:sp>
        <p:nvSpPr>
          <p:cNvPr id="6" name="Rectangle 5">
            <a:extLst>
              <a:ext uri="{FF2B5EF4-FFF2-40B4-BE49-F238E27FC236}">
                <a16:creationId xmlns:a16="http://schemas.microsoft.com/office/drawing/2014/main" id="{63CFCF88-C4AC-475E-8DD0-04CD389F3592}"/>
              </a:ext>
            </a:extLst>
          </p:cNvPr>
          <p:cNvSpPr/>
          <p:nvPr/>
        </p:nvSpPr>
        <p:spPr>
          <a:xfrm>
            <a:off x="2667000" y="1737386"/>
            <a:ext cx="1449638" cy="99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650" b="1" dirty="0">
                <a:solidFill>
                  <a:prstClr val="white"/>
                </a:solidFill>
                <a:latin typeface="Aptos"/>
              </a:rPr>
              <a:t>Definitions</a:t>
            </a:r>
          </a:p>
        </p:txBody>
      </p:sp>
      <p:sp>
        <p:nvSpPr>
          <p:cNvPr id="7" name="Rectangle 6">
            <a:extLst>
              <a:ext uri="{FF2B5EF4-FFF2-40B4-BE49-F238E27FC236}">
                <a16:creationId xmlns:a16="http://schemas.microsoft.com/office/drawing/2014/main" id="{55999C47-F592-4D96-8A8E-25F33250F5F1}"/>
              </a:ext>
            </a:extLst>
          </p:cNvPr>
          <p:cNvSpPr/>
          <p:nvPr/>
        </p:nvSpPr>
        <p:spPr>
          <a:xfrm>
            <a:off x="4912007" y="1733135"/>
            <a:ext cx="1843495" cy="99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650" b="1" dirty="0">
                <a:solidFill>
                  <a:prstClr val="white"/>
                </a:solidFill>
                <a:latin typeface="Aptos"/>
              </a:rPr>
              <a:t>Constructions</a:t>
            </a:r>
          </a:p>
        </p:txBody>
      </p:sp>
      <p:sp>
        <p:nvSpPr>
          <p:cNvPr id="15" name="Oval 14">
            <a:extLst>
              <a:ext uri="{FF2B5EF4-FFF2-40B4-BE49-F238E27FC236}">
                <a16:creationId xmlns:a16="http://schemas.microsoft.com/office/drawing/2014/main" id="{99F92670-CF4E-47FF-AA8A-05E8D6726162}"/>
              </a:ext>
            </a:extLst>
          </p:cNvPr>
          <p:cNvSpPr/>
          <p:nvPr/>
        </p:nvSpPr>
        <p:spPr>
          <a:xfrm>
            <a:off x="5672531" y="3598093"/>
            <a:ext cx="2333762" cy="81732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2000" dirty="0">
                <a:solidFill>
                  <a:prstClr val="white"/>
                </a:solidFill>
                <a:latin typeface="Aptos"/>
              </a:rPr>
              <a:t>reductions</a:t>
            </a:r>
          </a:p>
        </p:txBody>
      </p:sp>
      <p:sp>
        <p:nvSpPr>
          <p:cNvPr id="16" name="Oval 15">
            <a:extLst>
              <a:ext uri="{FF2B5EF4-FFF2-40B4-BE49-F238E27FC236}">
                <a16:creationId xmlns:a16="http://schemas.microsoft.com/office/drawing/2014/main" id="{E9E70701-E1CA-449A-958F-9FD958A7842F}"/>
              </a:ext>
            </a:extLst>
          </p:cNvPr>
          <p:cNvSpPr/>
          <p:nvPr/>
        </p:nvSpPr>
        <p:spPr>
          <a:xfrm>
            <a:off x="9157530" y="3598093"/>
            <a:ext cx="2408664" cy="81732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2000" dirty="0">
                <a:solidFill>
                  <a:prstClr val="white"/>
                </a:solidFill>
                <a:latin typeface="Aptos"/>
              </a:rPr>
              <a:t>assumptions</a:t>
            </a:r>
          </a:p>
        </p:txBody>
      </p:sp>
      <p:sp>
        <p:nvSpPr>
          <p:cNvPr id="17" name="Rectangle 16">
            <a:extLst>
              <a:ext uri="{FF2B5EF4-FFF2-40B4-BE49-F238E27FC236}">
                <a16:creationId xmlns:a16="http://schemas.microsoft.com/office/drawing/2014/main" id="{345F117B-C9A5-48A0-971F-C27A274FF299}"/>
              </a:ext>
            </a:extLst>
          </p:cNvPr>
          <p:cNvSpPr/>
          <p:nvPr/>
        </p:nvSpPr>
        <p:spPr>
          <a:xfrm>
            <a:off x="7640311" y="1733135"/>
            <a:ext cx="1843495" cy="99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650" b="1" dirty="0">
                <a:solidFill>
                  <a:prstClr val="white"/>
                </a:solidFill>
                <a:latin typeface="Aptos"/>
              </a:rPr>
              <a:t>Proof</a:t>
            </a:r>
          </a:p>
        </p:txBody>
      </p:sp>
      <p:sp>
        <p:nvSpPr>
          <p:cNvPr id="21" name="Arrow: Right 20">
            <a:extLst>
              <a:ext uri="{FF2B5EF4-FFF2-40B4-BE49-F238E27FC236}">
                <a16:creationId xmlns:a16="http://schemas.microsoft.com/office/drawing/2014/main" id="{30AEFA8A-0D38-4AD9-BEFF-651773655768}"/>
              </a:ext>
            </a:extLst>
          </p:cNvPr>
          <p:cNvSpPr/>
          <p:nvPr/>
        </p:nvSpPr>
        <p:spPr>
          <a:xfrm rot="8873894">
            <a:off x="7337608" y="3045471"/>
            <a:ext cx="757732" cy="255730"/>
          </a:xfrm>
          <a:prstGeom prst="rightArrow">
            <a:avLst>
              <a:gd name="adj1" fmla="val 50000"/>
              <a:gd name="adj2" fmla="val 8659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A76C7111-4A35-47E2-A380-2B07E5BF7F71}"/>
              </a:ext>
            </a:extLst>
          </p:cNvPr>
          <p:cNvSpPr/>
          <p:nvPr/>
        </p:nvSpPr>
        <p:spPr>
          <a:xfrm rot="2145852">
            <a:off x="9104939" y="3132042"/>
            <a:ext cx="757732" cy="255730"/>
          </a:xfrm>
          <a:prstGeom prst="rightArrow">
            <a:avLst>
              <a:gd name="adj1" fmla="val 50000"/>
              <a:gd name="adj2" fmla="val 8659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175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21" grpId="0" animBg="1"/>
      <p:bldP spid="2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symmetric encryption">
            <a:extLst>
              <a:ext uri="{FF2B5EF4-FFF2-40B4-BE49-F238E27FC236}">
                <a16:creationId xmlns:a16="http://schemas.microsoft.com/office/drawing/2014/main" id="{67E2A111-96F2-4CEF-B692-EA79CB0145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934" y="1158473"/>
            <a:ext cx="7227227" cy="3949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76078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5CA6A-C822-4E19-B1C0-D052760707C2}"/>
              </a:ext>
            </a:extLst>
          </p:cNvPr>
          <p:cNvSpPr>
            <a:spLocks noGrp="1"/>
          </p:cNvSpPr>
          <p:nvPr>
            <p:ph type="title"/>
          </p:nvPr>
        </p:nvSpPr>
        <p:spPr/>
        <p:txBody>
          <a:bodyPr/>
          <a:lstStyle/>
          <a:p>
            <a:r>
              <a:rPr lang="en-US" dirty="0">
                <a:latin typeface="Aptos Display"/>
              </a:rPr>
              <a:t>Definitions for encryption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300187A-FE99-4C59-9E46-A6883838BC95}"/>
                  </a:ext>
                </a:extLst>
              </p:cNvPr>
              <p:cNvSpPr>
                <a:spLocks noGrp="1"/>
              </p:cNvSpPr>
              <p:nvPr>
                <p:ph idx="1"/>
              </p:nvPr>
            </p:nvSpPr>
            <p:spPr>
              <a:xfrm>
                <a:off x="2152650" y="1524000"/>
                <a:ext cx="7886700" cy="4876800"/>
              </a:xfrm>
            </p:spPr>
            <p:txBody>
              <a:bodyPr>
                <a:normAutofit/>
              </a:bodyPr>
              <a:lstStyle/>
              <a:p>
                <a:pPr marL="0" indent="0">
                  <a:buNone/>
                </a:pPr>
                <a:r>
                  <a:rPr lang="en-US" dirty="0"/>
                  <a:t>Algorithms: </a:t>
                </a:r>
              </a:p>
              <a:p>
                <a:pPr lvl="1"/>
                <a:r>
                  <a:rPr lang="en-US" sz="2800" b="1" i="1" dirty="0">
                    <a:solidFill>
                      <a:srgbClr val="0070C0"/>
                    </a:solidFill>
                  </a:rPr>
                  <a:t>k</a:t>
                </a:r>
                <a:r>
                  <a:rPr lang="en-US" sz="2800" dirty="0"/>
                  <a:t>: secret key, </a:t>
                </a:r>
                <a:r>
                  <a:rPr lang="en-US" sz="2800" b="1" i="1" dirty="0">
                    <a:solidFill>
                      <a:srgbClr val="0070C0"/>
                    </a:solidFill>
                  </a:rPr>
                  <a:t>m</a:t>
                </a:r>
                <a:r>
                  <a:rPr lang="en-US" sz="2800" dirty="0"/>
                  <a:t>: message, </a:t>
                </a:r>
                <a:r>
                  <a:rPr lang="en-US" sz="2800" b="1" i="1" dirty="0">
                    <a:solidFill>
                      <a:srgbClr val="0070C0"/>
                    </a:solidFill>
                  </a:rPr>
                  <a:t>c</a:t>
                </a:r>
                <a:r>
                  <a:rPr lang="en-US" sz="2800" dirty="0"/>
                  <a:t>: ciphertext</a:t>
                </a:r>
              </a:p>
              <a:p>
                <a:pPr lvl="1"/>
                <a14:m>
                  <m:oMath xmlns:m="http://schemas.openxmlformats.org/officeDocument/2006/math">
                    <m:r>
                      <a:rPr lang="en-US" sz="2800" b="0" i="1" smtClean="0">
                        <a:latin typeface="Cambria Math" panose="02040503050406030204" pitchFamily="18" charset="0"/>
                      </a:rPr>
                      <m:t>𝑘</m:t>
                    </m:r>
                    <m:r>
                      <a:rPr lang="en-US" sz="2800" i="1">
                        <a:latin typeface="Cambria Math" panose="02040503050406030204" pitchFamily="18" charset="0"/>
                      </a:rPr>
                      <m:t>=</m:t>
                    </m:r>
                    <m:r>
                      <a:rPr lang="en-US" sz="2800" b="1" i="0" smtClean="0">
                        <a:latin typeface="Cambria Math" panose="02040503050406030204" pitchFamily="18" charset="0"/>
                      </a:rPr>
                      <m:t>𝐆𝐞𝐧</m:t>
                    </m:r>
                    <m:r>
                      <a:rPr lang="en-US" sz="2800" i="1">
                        <a:latin typeface="Cambria Math" panose="02040503050406030204" pitchFamily="18" charset="0"/>
                      </a:rPr>
                      <m:t>(</m:t>
                    </m:r>
                    <m:r>
                      <a:rPr lang="en-US" sz="2800" b="0" i="1" smtClean="0">
                        <a:latin typeface="Cambria Math" panose="02040503050406030204" pitchFamily="18" charset="0"/>
                      </a:rPr>
                      <m:t> </m:t>
                    </m:r>
                    <m:r>
                      <a:rPr lang="en-US" sz="2800" i="1">
                        <a:latin typeface="Cambria Math" panose="02040503050406030204" pitchFamily="18" charset="0"/>
                      </a:rPr>
                      <m:t>)</m:t>
                    </m:r>
                  </m:oMath>
                </a14:m>
                <a:endParaRPr lang="en-US" sz="2800" dirty="0"/>
              </a:p>
              <a:p>
                <a:pPr lvl="1"/>
                <a14:m>
                  <m:oMath xmlns:m="http://schemas.openxmlformats.org/officeDocument/2006/math">
                    <m:r>
                      <a:rPr lang="en-US" sz="2800" i="1">
                        <a:latin typeface="Cambria Math" panose="02040503050406030204" pitchFamily="18" charset="0"/>
                      </a:rPr>
                      <m:t>𝑐</m:t>
                    </m:r>
                    <m:r>
                      <a:rPr lang="en-US" sz="2800" i="1">
                        <a:latin typeface="Cambria Math" panose="02040503050406030204" pitchFamily="18" charset="0"/>
                      </a:rPr>
                      <m:t>= </m:t>
                    </m:r>
                    <m:r>
                      <a:rPr lang="en-US" sz="2800" b="1" i="1">
                        <a:latin typeface="Cambria Math" panose="02040503050406030204" pitchFamily="18" charset="0"/>
                      </a:rPr>
                      <m:t>𝐄𝐧𝐜</m:t>
                    </m:r>
                    <m:r>
                      <a:rPr lang="en-US" sz="2800" i="1">
                        <a:latin typeface="Cambria Math" panose="02040503050406030204" pitchFamily="18" charset="0"/>
                      </a:rPr>
                      <m:t>(</m:t>
                    </m:r>
                    <m:r>
                      <a:rPr lang="en-US" sz="2800" i="1">
                        <a:latin typeface="Cambria Math" panose="02040503050406030204" pitchFamily="18" charset="0"/>
                      </a:rPr>
                      <m:t>𝑘</m:t>
                    </m:r>
                    <m:r>
                      <a:rPr lang="en-US" sz="2800" i="1">
                        <a:latin typeface="Cambria Math" panose="02040503050406030204" pitchFamily="18" charset="0"/>
                      </a:rPr>
                      <m:t>,</m:t>
                    </m:r>
                    <m:r>
                      <a:rPr lang="en-US" sz="2800" i="1">
                        <a:latin typeface="Cambria Math" panose="02040503050406030204" pitchFamily="18" charset="0"/>
                      </a:rPr>
                      <m:t>𝑚</m:t>
                    </m:r>
                    <m:r>
                      <a:rPr lang="en-US" sz="2800" i="1">
                        <a:latin typeface="Cambria Math" panose="02040503050406030204" pitchFamily="18" charset="0"/>
                      </a:rPr>
                      <m:t>)</m:t>
                    </m:r>
                  </m:oMath>
                </a14:m>
                <a:endParaRPr lang="en-US" sz="2800" dirty="0"/>
              </a:p>
              <a:p>
                <a:pPr lvl="1"/>
                <a14:m>
                  <m:oMath xmlns:m="http://schemas.openxmlformats.org/officeDocument/2006/math">
                    <m:r>
                      <a:rPr lang="en-US" sz="2800" i="1">
                        <a:latin typeface="Cambria Math" panose="02040503050406030204" pitchFamily="18" charset="0"/>
                      </a:rPr>
                      <m:t>𝑚</m:t>
                    </m:r>
                    <m:r>
                      <a:rPr lang="en-US" sz="2800" i="1">
                        <a:latin typeface="Cambria Math" panose="02040503050406030204" pitchFamily="18" charset="0"/>
                      </a:rPr>
                      <m:t>=</m:t>
                    </m:r>
                    <m:r>
                      <a:rPr lang="en-US" sz="2800" b="1" i="1">
                        <a:latin typeface="Cambria Math" panose="02040503050406030204" pitchFamily="18" charset="0"/>
                      </a:rPr>
                      <m:t>𝐃𝐞𝐜</m:t>
                    </m:r>
                    <m:r>
                      <a:rPr lang="en-US" sz="2800" i="1">
                        <a:latin typeface="Cambria Math" panose="02040503050406030204" pitchFamily="18" charset="0"/>
                      </a:rPr>
                      <m:t>(</m:t>
                    </m:r>
                    <m:r>
                      <a:rPr lang="en-US" sz="2800" i="1">
                        <a:latin typeface="Cambria Math" panose="02040503050406030204" pitchFamily="18" charset="0"/>
                      </a:rPr>
                      <m:t>𝑘</m:t>
                    </m:r>
                    <m:r>
                      <a:rPr lang="en-US" sz="2800" i="1">
                        <a:latin typeface="Cambria Math" panose="02040503050406030204" pitchFamily="18" charset="0"/>
                      </a:rPr>
                      <m:t>,</m:t>
                    </m:r>
                    <m:r>
                      <a:rPr lang="en-US" sz="2800" i="1">
                        <a:latin typeface="Cambria Math" panose="02040503050406030204" pitchFamily="18" charset="0"/>
                      </a:rPr>
                      <m:t>𝑐</m:t>
                    </m:r>
                    <m:r>
                      <a:rPr lang="en-US" sz="2800" i="1">
                        <a:latin typeface="Cambria Math" panose="02040503050406030204" pitchFamily="18" charset="0"/>
                      </a:rPr>
                      <m:t>)</m:t>
                    </m:r>
                  </m:oMath>
                </a14:m>
                <a:endParaRPr lang="en-US" sz="2800" dirty="0"/>
              </a:p>
              <a:p>
                <a:pPr lvl="1"/>
                <a:endParaRPr lang="en-US" sz="2000" dirty="0"/>
              </a:p>
            </p:txBody>
          </p:sp>
        </mc:Choice>
        <mc:Fallback>
          <p:sp>
            <p:nvSpPr>
              <p:cNvPr id="3" name="Content Placeholder 2">
                <a:extLst>
                  <a:ext uri="{FF2B5EF4-FFF2-40B4-BE49-F238E27FC236}">
                    <a16:creationId xmlns:a16="http://schemas.microsoft.com/office/drawing/2014/main" id="{E300187A-FE99-4C59-9E46-A6883838BC95}"/>
                  </a:ext>
                </a:extLst>
              </p:cNvPr>
              <p:cNvSpPr>
                <a:spLocks noGrp="1" noRot="1" noChangeAspect="1" noMove="1" noResize="1" noEditPoints="1" noAdjustHandles="1" noChangeArrowheads="1" noChangeShapeType="1" noTextEdit="1"/>
              </p:cNvSpPr>
              <p:nvPr>
                <p:ph idx="1"/>
              </p:nvPr>
            </p:nvSpPr>
            <p:spPr>
              <a:xfrm>
                <a:off x="2152650" y="1524000"/>
                <a:ext cx="7886700" cy="4876800"/>
              </a:xfrm>
              <a:blipFill>
                <a:blip r:embed="rId3"/>
                <a:stretch>
                  <a:fillRect l="-1608" t="-2338"/>
                </a:stretch>
              </a:blipFill>
            </p:spPr>
            <p:txBody>
              <a:bodyPr/>
              <a:lstStyle/>
              <a:p>
                <a:r>
                  <a:rPr lang="en-US">
                    <a:noFill/>
                  </a:rPr>
                  <a:t> </a:t>
                </a:r>
              </a:p>
            </p:txBody>
          </p:sp>
        </mc:Fallback>
      </mc:AlternateContent>
    </p:spTree>
    <p:extLst>
      <p:ext uri="{BB962C8B-B14F-4D97-AF65-F5344CB8AC3E}">
        <p14:creationId xmlns:p14="http://schemas.microsoft.com/office/powerpoint/2010/main" val="12745625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ptos Display"/>
              </a:rPr>
              <a:t>Notation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14:m>
                  <m:oMath xmlns:m="http://schemas.openxmlformats.org/officeDocument/2006/math">
                    <m:r>
                      <a:rPr lang="en-US" b="0" i="1" smtClean="0">
                        <a:latin typeface="Cambria Math" panose="02040503050406030204" pitchFamily="18" charset="0"/>
                      </a:rPr>
                      <m:t>𝒦</m:t>
                    </m:r>
                  </m:oMath>
                </a14:m>
                <a:r>
                  <a:rPr lang="en-US" dirty="0"/>
                  <a:t> (key space) – set of all possible keys</a:t>
                </a:r>
              </a:p>
              <a:p>
                <a:endParaRPr lang="en-US" dirty="0"/>
              </a:p>
              <a:p>
                <a14:m>
                  <m:oMath xmlns:m="http://schemas.openxmlformats.org/officeDocument/2006/math">
                    <m:r>
                      <a:rPr lang="en-US" b="0" i="1" smtClean="0">
                        <a:latin typeface="Cambria Math" panose="02040503050406030204" pitchFamily="18" charset="0"/>
                      </a:rPr>
                      <m:t>𝒞</m:t>
                    </m:r>
                  </m:oMath>
                </a14:m>
                <a:r>
                  <a:rPr lang="en-US" dirty="0"/>
                  <a:t> (ciphertext space) – set of all possible ciphertexts</a:t>
                </a:r>
              </a:p>
              <a:p>
                <a:endParaRPr lang="en-US" dirty="0"/>
              </a:p>
              <a:p>
                <a14:m>
                  <m:oMath xmlns:m="http://schemas.openxmlformats.org/officeDocument/2006/math">
                    <m:r>
                      <a:rPr lang="en-US" b="0" i="1" smtClean="0">
                        <a:latin typeface="Cambria Math" panose="02040503050406030204" pitchFamily="18" charset="0"/>
                      </a:rPr>
                      <m:t>ℳ</m:t>
                    </m:r>
                  </m:oMath>
                </a14:m>
                <a:r>
                  <a:rPr lang="en-US" dirty="0"/>
                  <a:t> (message space) – set of all possible messages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5413852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5CA6A-C822-4E19-B1C0-D052760707C2}"/>
              </a:ext>
            </a:extLst>
          </p:cNvPr>
          <p:cNvSpPr>
            <a:spLocks noGrp="1"/>
          </p:cNvSpPr>
          <p:nvPr>
            <p:ph type="title"/>
          </p:nvPr>
        </p:nvSpPr>
        <p:spPr/>
        <p:txBody>
          <a:bodyPr/>
          <a:lstStyle/>
          <a:p>
            <a:r>
              <a:rPr lang="en-US" dirty="0">
                <a:latin typeface="Aptos Display"/>
              </a:rPr>
              <a:t>Definitions for encryption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300187A-FE99-4C59-9E46-A6883838BC95}"/>
                  </a:ext>
                </a:extLst>
              </p:cNvPr>
              <p:cNvSpPr>
                <a:spLocks noGrp="1"/>
              </p:cNvSpPr>
              <p:nvPr>
                <p:ph idx="1"/>
              </p:nvPr>
            </p:nvSpPr>
            <p:spPr>
              <a:xfrm>
                <a:off x="658906" y="1524000"/>
                <a:ext cx="10428194" cy="4876800"/>
              </a:xfrm>
            </p:spPr>
            <p:txBody>
              <a:bodyPr>
                <a:normAutofit/>
              </a:bodyPr>
              <a:lstStyle/>
              <a:p>
                <a:r>
                  <a:rPr lang="en-US" dirty="0"/>
                  <a:t>Algorithms: </a:t>
                </a:r>
              </a:p>
              <a:p>
                <a:pPr lvl="1"/>
                <a:r>
                  <a:rPr lang="en-US" sz="2000" b="1" i="1" dirty="0">
                    <a:solidFill>
                      <a:srgbClr val="0070C0"/>
                    </a:solidFill>
                  </a:rPr>
                  <a:t>k</a:t>
                </a:r>
                <a:r>
                  <a:rPr lang="en-US" sz="2000" dirty="0"/>
                  <a:t>: secret key, </a:t>
                </a:r>
                <a:r>
                  <a:rPr lang="en-US" sz="2000" b="1" i="1" dirty="0">
                    <a:solidFill>
                      <a:srgbClr val="0070C0"/>
                    </a:solidFill>
                  </a:rPr>
                  <a:t>m</a:t>
                </a:r>
                <a:r>
                  <a:rPr lang="en-US" sz="2000" dirty="0"/>
                  <a:t>: message, </a:t>
                </a:r>
                <a:r>
                  <a:rPr lang="en-US" sz="2000" b="1" i="1" dirty="0">
                    <a:solidFill>
                      <a:srgbClr val="0070C0"/>
                    </a:solidFill>
                  </a:rPr>
                  <a:t>c</a:t>
                </a:r>
                <a:r>
                  <a:rPr lang="en-US" sz="2000" dirty="0"/>
                  <a:t>: ciphertext</a:t>
                </a:r>
              </a:p>
              <a:p>
                <a:pPr lvl="1"/>
                <a14:m>
                  <m:oMath xmlns:m="http://schemas.openxmlformats.org/officeDocument/2006/math">
                    <m:r>
                      <a:rPr lang="en-US" sz="2000" b="0" i="1" smtClean="0">
                        <a:latin typeface="Cambria Math" panose="02040503050406030204" pitchFamily="18" charset="0"/>
                      </a:rPr>
                      <m:t>𝑘</m:t>
                    </m:r>
                    <m:r>
                      <a:rPr lang="en-US" sz="2000" i="1">
                        <a:latin typeface="Cambria Math" panose="02040503050406030204" pitchFamily="18" charset="0"/>
                      </a:rPr>
                      <m:t>=</m:t>
                    </m:r>
                    <m:r>
                      <m:rPr>
                        <m:sty m:val="p"/>
                      </m:rPr>
                      <a:rPr lang="en-US" sz="2000" b="0" i="0" smtClean="0">
                        <a:latin typeface="Cambria Math" panose="02040503050406030204" pitchFamily="18" charset="0"/>
                      </a:rPr>
                      <m:t>Gen</m:t>
                    </m:r>
                    <m:r>
                      <a:rPr lang="en-US" sz="2000" i="1">
                        <a:latin typeface="Cambria Math" panose="02040503050406030204" pitchFamily="18" charset="0"/>
                      </a:rPr>
                      <m:t>(</m:t>
                    </m:r>
                    <m:r>
                      <a:rPr lang="en-US" sz="2000" b="0" i="1" smtClean="0">
                        <a:latin typeface="Cambria Math" panose="02040503050406030204" pitchFamily="18" charset="0"/>
                      </a:rPr>
                      <m:t> </m:t>
                    </m:r>
                    <m:r>
                      <a:rPr lang="en-US" sz="2000" i="1">
                        <a:latin typeface="Cambria Math" panose="02040503050406030204" pitchFamily="18" charset="0"/>
                      </a:rPr>
                      <m:t>)</m:t>
                    </m:r>
                  </m:oMath>
                </a14:m>
                <a:endParaRPr lang="en-US" sz="2000" dirty="0"/>
              </a:p>
              <a:p>
                <a:pPr lvl="1"/>
                <a14:m>
                  <m:oMath xmlns:m="http://schemas.openxmlformats.org/officeDocument/2006/math">
                    <m:r>
                      <a:rPr lang="en-US" sz="2000" i="1">
                        <a:latin typeface="Cambria Math" panose="02040503050406030204" pitchFamily="18" charset="0"/>
                      </a:rPr>
                      <m:t>𝑐</m:t>
                    </m:r>
                    <m:r>
                      <a:rPr lang="en-US" sz="2000" i="1">
                        <a:latin typeface="Cambria Math" panose="02040503050406030204" pitchFamily="18" charset="0"/>
                      </a:rPr>
                      <m:t>= </m:t>
                    </m:r>
                    <m:r>
                      <m:rPr>
                        <m:sty m:val="p"/>
                      </m:rPr>
                      <a:rPr lang="en-US" sz="2000">
                        <a:latin typeface="Cambria Math" panose="02040503050406030204" pitchFamily="18" charset="0"/>
                      </a:rPr>
                      <m:t>Enc</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𝑚</m:t>
                    </m:r>
                    <m:r>
                      <a:rPr lang="en-US" sz="2000" i="1">
                        <a:latin typeface="Cambria Math" panose="02040503050406030204" pitchFamily="18" charset="0"/>
                      </a:rPr>
                      <m:t>)</m:t>
                    </m:r>
                  </m:oMath>
                </a14:m>
                <a:endParaRPr lang="en-US" sz="2000" dirty="0"/>
              </a:p>
              <a:p>
                <a:pPr lvl="1"/>
                <a14:m>
                  <m:oMath xmlns:m="http://schemas.openxmlformats.org/officeDocument/2006/math">
                    <m:r>
                      <a:rPr lang="en-US" sz="2000" i="1">
                        <a:latin typeface="Cambria Math" panose="02040503050406030204" pitchFamily="18" charset="0"/>
                      </a:rPr>
                      <m:t>𝑚</m:t>
                    </m:r>
                    <m:r>
                      <a:rPr lang="en-US" sz="2000" i="1">
                        <a:latin typeface="Cambria Math" panose="02040503050406030204" pitchFamily="18" charset="0"/>
                      </a:rPr>
                      <m:t>=</m:t>
                    </m:r>
                    <m:r>
                      <m:rPr>
                        <m:sty m:val="p"/>
                      </m:rPr>
                      <a:rPr lang="en-US" sz="2000">
                        <a:latin typeface="Cambria Math" panose="02040503050406030204" pitchFamily="18" charset="0"/>
                      </a:rPr>
                      <m:t>Dec</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𝑐</m:t>
                    </m:r>
                    <m:r>
                      <a:rPr lang="en-US" sz="2000" i="1">
                        <a:latin typeface="Cambria Math" panose="02040503050406030204" pitchFamily="18" charset="0"/>
                      </a:rPr>
                      <m:t>)</m:t>
                    </m:r>
                  </m:oMath>
                </a14:m>
                <a:endParaRPr lang="en-US" sz="2000" dirty="0"/>
              </a:p>
              <a:p>
                <a:pPr lvl="1"/>
                <a:endParaRPr lang="en-US" sz="2000" dirty="0"/>
              </a:p>
              <a:p>
                <a:r>
                  <a:rPr lang="en-US" b="1" dirty="0"/>
                  <a:t>Correctness</a:t>
                </a:r>
                <a:r>
                  <a:rPr lang="en-US" dirty="0"/>
                  <a:t>: for every message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ℳ</m:t>
                    </m:r>
                    <m:r>
                      <a:rPr lang="en-US" b="0" i="1" smtClean="0">
                        <a:latin typeface="Cambria Math" panose="02040503050406030204" pitchFamily="18" charset="0"/>
                      </a:rPr>
                      <m:t>,</m:t>
                    </m:r>
                  </m:oMath>
                </a14:m>
                <a:r>
                  <a:rPr lang="en-US" dirty="0"/>
                  <a:t> any secret key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𝒦</m:t>
                    </m:r>
                  </m:oMath>
                </a14:m>
                <a:endParaRPr lang="en-US" dirty="0"/>
              </a:p>
              <a:p>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𝑚</m:t>
                      </m:r>
                      <m:r>
                        <a:rPr lang="en-US">
                          <a:latin typeface="Cambria Math" panose="02040503050406030204" pitchFamily="18" charset="0"/>
                        </a:rPr>
                        <m:t>=</m:t>
                      </m:r>
                      <m:r>
                        <m:rPr>
                          <m:sty m:val="p"/>
                        </m:rPr>
                        <a:rPr lang="en-US">
                          <a:latin typeface="Cambria Math" panose="02040503050406030204" pitchFamily="18" charset="0"/>
                        </a:rPr>
                        <m:t>Dec</m:t>
                      </m:r>
                      <m:r>
                        <a:rPr lang="en-US">
                          <a:latin typeface="Cambria Math" panose="02040503050406030204" pitchFamily="18" charset="0"/>
                        </a:rPr>
                        <m:t>(</m:t>
                      </m:r>
                      <m:r>
                        <a:rPr lang="en-US" i="1">
                          <a:latin typeface="Cambria Math" panose="02040503050406030204" pitchFamily="18" charset="0"/>
                        </a:rPr>
                        <m:t>𝑘</m:t>
                      </m:r>
                      <m:r>
                        <a:rPr lang="en-US">
                          <a:latin typeface="Cambria Math" panose="02040503050406030204" pitchFamily="18" charset="0"/>
                        </a:rPr>
                        <m:t>,</m:t>
                      </m:r>
                      <m:r>
                        <m:rPr>
                          <m:sty m:val="p"/>
                        </m:rPr>
                        <a:rPr lang="en-US">
                          <a:latin typeface="Cambria Math" panose="02040503050406030204" pitchFamily="18" charset="0"/>
                        </a:rPr>
                        <m:t>Enc</m:t>
                      </m:r>
                      <m:d>
                        <m:dPr>
                          <m:ctrlPr>
                            <a:rPr lang="en-US" i="1">
                              <a:latin typeface="Cambria Math" panose="02040503050406030204" pitchFamily="18" charset="0"/>
                            </a:rPr>
                          </m:ctrlPr>
                        </m:dPr>
                        <m:e>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𝑚</m:t>
                          </m:r>
                        </m:e>
                      </m:d>
                      <m:r>
                        <a:rPr lang="en-US" i="1">
                          <a:latin typeface="Cambria Math" panose="02040503050406030204" pitchFamily="18" charset="0"/>
                        </a:rPr>
                        <m:t>)</m:t>
                      </m:r>
                    </m:oMath>
                  </m:oMathPara>
                </a14:m>
                <a:endParaRPr lang="en-US" dirty="0"/>
              </a:p>
            </p:txBody>
          </p:sp>
        </mc:Choice>
        <mc:Fallback>
          <p:sp>
            <p:nvSpPr>
              <p:cNvPr id="3" name="Content Placeholder 2">
                <a:extLst>
                  <a:ext uri="{FF2B5EF4-FFF2-40B4-BE49-F238E27FC236}">
                    <a16:creationId xmlns:a16="http://schemas.microsoft.com/office/drawing/2014/main" id="{E300187A-FE99-4C59-9E46-A6883838BC95}"/>
                  </a:ext>
                </a:extLst>
              </p:cNvPr>
              <p:cNvSpPr>
                <a:spLocks noGrp="1" noRot="1" noChangeAspect="1" noMove="1" noResize="1" noEditPoints="1" noAdjustHandles="1" noChangeArrowheads="1" noChangeShapeType="1" noTextEdit="1"/>
              </p:cNvSpPr>
              <p:nvPr>
                <p:ph idx="1"/>
              </p:nvPr>
            </p:nvSpPr>
            <p:spPr>
              <a:xfrm>
                <a:off x="658906" y="1524000"/>
                <a:ext cx="10428194" cy="4876800"/>
              </a:xfrm>
              <a:blipFill>
                <a:blip r:embed="rId3"/>
                <a:stretch>
                  <a:fillRect l="-972" t="-2338"/>
                </a:stretch>
              </a:blipFill>
            </p:spPr>
            <p:txBody>
              <a:bodyPr/>
              <a:lstStyle/>
              <a:p>
                <a:r>
                  <a:rPr lang="en-US">
                    <a:noFill/>
                  </a:rPr>
                  <a:t> </a:t>
                </a:r>
              </a:p>
            </p:txBody>
          </p:sp>
        </mc:Fallback>
      </mc:AlternateContent>
    </p:spTree>
    <p:extLst>
      <p:ext uri="{BB962C8B-B14F-4D97-AF65-F5344CB8AC3E}">
        <p14:creationId xmlns:p14="http://schemas.microsoft.com/office/powerpoint/2010/main" val="11273253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ptos Display"/>
              </a:rPr>
              <a:t>Probability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i="1" dirty="0"/>
                  <a:t>Event</a:t>
                </a:r>
                <a:r>
                  <a:rPr lang="en-US" dirty="0"/>
                  <a:t>: a particular occurrence in some experiment</a:t>
                </a:r>
              </a:p>
              <a:p>
                <a:pPr lvl="1"/>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𝐸</m:t>
                    </m:r>
                    <m:r>
                      <a:rPr lang="en-US" i="1" dirty="0">
                        <a:latin typeface="Cambria Math" panose="02040503050406030204" pitchFamily="18" charset="0"/>
                      </a:rPr>
                      <m:t>]</m:t>
                    </m:r>
                  </m:oMath>
                </a14:m>
                <a:r>
                  <a:rPr lang="en-US" dirty="0"/>
                  <a:t>: probability of event E</a:t>
                </a:r>
              </a:p>
              <a:p>
                <a:pPr lvl="1"/>
                <a:endParaRPr lang="en-US" sz="2800" dirty="0"/>
              </a:p>
              <a:p>
                <a:r>
                  <a:rPr lang="en-US" dirty="0"/>
                  <a:t>Conditional probability: probability that one event occurs, </a:t>
                </a:r>
                <a:r>
                  <a:rPr lang="en-US" i="1" dirty="0"/>
                  <a:t>given that </a:t>
                </a:r>
                <a:r>
                  <a:rPr lang="en-US" dirty="0"/>
                  <a:t>some other event occurred</a:t>
                </a:r>
              </a:p>
              <a:p>
                <a:pPr lvl="1"/>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 </m:t>
                    </m:r>
                    <m:r>
                      <a:rPr lang="en-US" i="1" dirty="0">
                        <a:latin typeface="Cambria Math" panose="02040503050406030204" pitchFamily="18" charset="0"/>
                      </a:rPr>
                      <m:t>𝐵</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m:t>
                    </m:r>
                    <m:r>
                      <a:rPr lang="en-US" i="1" dirty="0">
                        <a:latin typeface="Cambria Math" panose="02040503050406030204" pitchFamily="18" charset="0"/>
                      </a:rPr>
                      <m:t>𝑎𝑛𝑑</m:t>
                    </m:r>
                    <m:r>
                      <a:rPr lang="en-US" i="1" dirty="0">
                        <a:latin typeface="Cambria Math" panose="02040503050406030204" pitchFamily="18" charset="0"/>
                      </a:rPr>
                      <m:t> </m:t>
                    </m:r>
                    <m:r>
                      <a:rPr lang="en-US" i="1" dirty="0">
                        <a:latin typeface="Cambria Math" panose="02040503050406030204" pitchFamily="18" charset="0"/>
                      </a:rPr>
                      <m:t>𝐵</m:t>
                    </m:r>
                    <m:r>
                      <a:rPr lang="en-US" i="1" dirty="0">
                        <a:latin typeface="Cambria Math" panose="02040503050406030204" pitchFamily="18" charset="0"/>
                      </a:rPr>
                      <m:t>]/</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𝐵</m:t>
                    </m:r>
                    <m:r>
                      <a:rPr lang="en-US" i="1" dirty="0">
                        <a:latin typeface="Cambria Math" panose="02040503050406030204" pitchFamily="18" charset="0"/>
                      </a:rPr>
                      <m:t>]</m:t>
                    </m:r>
                  </m:oMath>
                </a14:m>
                <a:endParaRPr lang="en-US" dirty="0"/>
              </a:p>
              <a:p>
                <a:pPr lvl="1"/>
                <a:endParaRPr lang="en-US" dirty="0"/>
              </a:p>
              <a:p>
                <a:r>
                  <a:rPr lang="en-US" dirty="0"/>
                  <a:t>Two </a:t>
                </a:r>
                <a:r>
                  <a:rPr lang="en-US" dirty="0" err="1"/>
                  <a:t>r.v.’s</a:t>
                </a:r>
                <a:r>
                  <a:rPr lang="en-US" dirty="0"/>
                  <a:t> X, Y are </a:t>
                </a:r>
                <a:r>
                  <a:rPr lang="en-US" i="1" dirty="0"/>
                  <a:t>independent</a:t>
                </a:r>
                <a:r>
                  <a:rPr lang="en-US" dirty="0"/>
                  <a:t> if</a:t>
                </a:r>
                <a:br>
                  <a:rPr lang="en-US" dirty="0"/>
                </a:br>
                <a:r>
                  <a:rPr lang="en-US" dirty="0"/>
                  <a:t>  for all x, y: </a:t>
                </a:r>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𝑋</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𝑌</m:t>
                    </m:r>
                    <m:r>
                      <a:rPr lang="en-US" i="1" dirty="0">
                        <a:latin typeface="Cambria Math" panose="02040503050406030204" pitchFamily="18" charset="0"/>
                      </a:rPr>
                      <m:t>=</m:t>
                    </m:r>
                    <m:r>
                      <a:rPr lang="en-US" i="1" dirty="0">
                        <a:latin typeface="Cambria Math" panose="02040503050406030204" pitchFamily="18" charset="0"/>
                      </a:rPr>
                      <m:t>𝑦</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𝑋</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oMath>
                </a14:m>
                <a:endParaRPr lang="en-US" dirty="0"/>
              </a:p>
              <a:p>
                <a:pPr lvl="1"/>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1143028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5CA6A-C822-4E19-B1C0-D052760707C2}"/>
              </a:ext>
            </a:extLst>
          </p:cNvPr>
          <p:cNvSpPr>
            <a:spLocks noGrp="1"/>
          </p:cNvSpPr>
          <p:nvPr>
            <p:ph type="title"/>
          </p:nvPr>
        </p:nvSpPr>
        <p:spPr/>
        <p:txBody>
          <a:bodyPr/>
          <a:lstStyle/>
          <a:p>
            <a:r>
              <a:rPr lang="en-US" dirty="0">
                <a:latin typeface="Aptos Display"/>
              </a:rPr>
              <a:t>Definitions for encryption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300187A-FE99-4C59-9E46-A6883838BC95}"/>
                  </a:ext>
                </a:extLst>
              </p:cNvPr>
              <p:cNvSpPr>
                <a:spLocks noGrp="1"/>
              </p:cNvSpPr>
              <p:nvPr>
                <p:ph idx="1"/>
              </p:nvPr>
            </p:nvSpPr>
            <p:spPr>
              <a:xfrm>
                <a:off x="1169895" y="1524000"/>
                <a:ext cx="10448364" cy="4876800"/>
              </a:xfrm>
            </p:spPr>
            <p:txBody>
              <a:bodyPr>
                <a:normAutofit/>
              </a:bodyPr>
              <a:lstStyle/>
              <a:p>
                <a:r>
                  <a:rPr lang="en-US" dirty="0"/>
                  <a:t>Algorithms: </a:t>
                </a:r>
              </a:p>
              <a:p>
                <a:pPr lvl="1"/>
                <a:r>
                  <a:rPr lang="en-US" sz="2000" b="1" i="1" dirty="0">
                    <a:solidFill>
                      <a:srgbClr val="0070C0"/>
                    </a:solidFill>
                  </a:rPr>
                  <a:t>k</a:t>
                </a:r>
                <a:r>
                  <a:rPr lang="en-US" sz="2000" dirty="0"/>
                  <a:t>: secret key, </a:t>
                </a:r>
                <a:r>
                  <a:rPr lang="en-US" sz="2000" b="1" i="1" dirty="0">
                    <a:solidFill>
                      <a:srgbClr val="0070C0"/>
                    </a:solidFill>
                  </a:rPr>
                  <a:t>m</a:t>
                </a:r>
                <a:r>
                  <a:rPr lang="en-US" sz="2000" dirty="0"/>
                  <a:t>: message, </a:t>
                </a:r>
                <a:r>
                  <a:rPr lang="en-US" sz="2000" b="1" i="1" dirty="0">
                    <a:solidFill>
                      <a:srgbClr val="0070C0"/>
                    </a:solidFill>
                  </a:rPr>
                  <a:t>c</a:t>
                </a:r>
                <a:r>
                  <a:rPr lang="en-US" sz="2000" dirty="0"/>
                  <a:t>: ciphertext</a:t>
                </a:r>
              </a:p>
              <a:p>
                <a:pPr lvl="1"/>
                <a14:m>
                  <m:oMath xmlns:m="http://schemas.openxmlformats.org/officeDocument/2006/math">
                    <m:r>
                      <a:rPr lang="en-US" sz="2000" b="0" i="1" smtClean="0">
                        <a:latin typeface="Cambria Math" panose="02040503050406030204" pitchFamily="18" charset="0"/>
                      </a:rPr>
                      <m:t>𝑘</m:t>
                    </m:r>
                    <m:r>
                      <a:rPr lang="en-US" sz="2000" i="1">
                        <a:latin typeface="Cambria Math" panose="02040503050406030204" pitchFamily="18" charset="0"/>
                      </a:rPr>
                      <m:t>=</m:t>
                    </m:r>
                    <m:r>
                      <m:rPr>
                        <m:sty m:val="p"/>
                      </m:rPr>
                      <a:rPr lang="en-US" sz="2000" b="0" i="0" smtClean="0">
                        <a:latin typeface="Cambria Math" panose="02040503050406030204" pitchFamily="18" charset="0"/>
                      </a:rPr>
                      <m:t>Gen</m:t>
                    </m:r>
                    <m:r>
                      <a:rPr lang="en-US" sz="2000" i="1">
                        <a:latin typeface="Cambria Math" panose="02040503050406030204" pitchFamily="18" charset="0"/>
                      </a:rPr>
                      <m:t>(</m:t>
                    </m:r>
                    <m:r>
                      <a:rPr lang="en-US" sz="2000" b="0" i="1" smtClean="0">
                        <a:latin typeface="Cambria Math" panose="02040503050406030204" pitchFamily="18" charset="0"/>
                      </a:rPr>
                      <m:t> </m:t>
                    </m:r>
                    <m:r>
                      <a:rPr lang="en-US" sz="2000" i="1">
                        <a:latin typeface="Cambria Math" panose="02040503050406030204" pitchFamily="18" charset="0"/>
                      </a:rPr>
                      <m:t>)</m:t>
                    </m:r>
                  </m:oMath>
                </a14:m>
                <a:endParaRPr lang="en-US" sz="2000" dirty="0"/>
              </a:p>
              <a:p>
                <a:pPr lvl="1"/>
                <a14:m>
                  <m:oMath xmlns:m="http://schemas.openxmlformats.org/officeDocument/2006/math">
                    <m:r>
                      <a:rPr lang="en-US" sz="2000" i="1">
                        <a:latin typeface="Cambria Math" panose="02040503050406030204" pitchFamily="18" charset="0"/>
                      </a:rPr>
                      <m:t>𝑐</m:t>
                    </m:r>
                    <m:r>
                      <a:rPr lang="en-US" sz="2000" i="1">
                        <a:latin typeface="Cambria Math" panose="02040503050406030204" pitchFamily="18" charset="0"/>
                      </a:rPr>
                      <m:t>= </m:t>
                    </m:r>
                    <m:r>
                      <m:rPr>
                        <m:sty m:val="p"/>
                      </m:rPr>
                      <a:rPr lang="en-US" sz="2000">
                        <a:latin typeface="Cambria Math" panose="02040503050406030204" pitchFamily="18" charset="0"/>
                      </a:rPr>
                      <m:t>Enc</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𝑚</m:t>
                    </m:r>
                    <m:r>
                      <a:rPr lang="en-US" sz="2000" i="1">
                        <a:latin typeface="Cambria Math" panose="02040503050406030204" pitchFamily="18" charset="0"/>
                      </a:rPr>
                      <m:t>)</m:t>
                    </m:r>
                  </m:oMath>
                </a14:m>
                <a:endParaRPr lang="en-US" sz="2000" dirty="0"/>
              </a:p>
              <a:p>
                <a:pPr lvl="1"/>
                <a14:m>
                  <m:oMath xmlns:m="http://schemas.openxmlformats.org/officeDocument/2006/math">
                    <m:r>
                      <a:rPr lang="en-US" sz="2000" i="1">
                        <a:latin typeface="Cambria Math" panose="02040503050406030204" pitchFamily="18" charset="0"/>
                      </a:rPr>
                      <m:t>𝑚</m:t>
                    </m:r>
                    <m:r>
                      <a:rPr lang="en-US" sz="2000" i="1">
                        <a:latin typeface="Cambria Math" panose="02040503050406030204" pitchFamily="18" charset="0"/>
                      </a:rPr>
                      <m:t>=</m:t>
                    </m:r>
                    <m:r>
                      <m:rPr>
                        <m:sty m:val="p"/>
                      </m:rPr>
                      <a:rPr lang="en-US" sz="2000">
                        <a:latin typeface="Cambria Math" panose="02040503050406030204" pitchFamily="18" charset="0"/>
                      </a:rPr>
                      <m:t>Dec</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𝑐</m:t>
                    </m:r>
                    <m:r>
                      <a:rPr lang="en-US" sz="2000" i="1">
                        <a:latin typeface="Cambria Math" panose="02040503050406030204" pitchFamily="18" charset="0"/>
                      </a:rPr>
                      <m:t>)</m:t>
                    </m:r>
                  </m:oMath>
                </a14:m>
                <a:endParaRPr lang="en-US" sz="2000" dirty="0"/>
              </a:p>
              <a:p>
                <a:pPr lvl="1"/>
                <a:endParaRPr lang="en-US" sz="2000" dirty="0"/>
              </a:p>
              <a:p>
                <a:r>
                  <a:rPr lang="en-US" b="1" dirty="0"/>
                  <a:t>Perfect secrecy</a:t>
                </a:r>
                <a:r>
                  <a:rPr lang="en-US" dirty="0"/>
                  <a:t>: for any distribution over the message space </a:t>
                </a:r>
                <a14:m>
                  <m:oMath xmlns:m="http://schemas.openxmlformats.org/officeDocument/2006/math">
                    <m:r>
                      <a:rPr lang="en-US" i="1">
                        <a:latin typeface="Cambria Math" panose="02040503050406030204" pitchFamily="18" charset="0"/>
                      </a:rPr>
                      <m:t>ℳ</m:t>
                    </m:r>
                  </m:oMath>
                </a14:m>
                <a:r>
                  <a:rPr lang="en-US" dirty="0"/>
                  <a:t>, for every message </a:t>
                </a:r>
                <a14:m>
                  <m:oMath xmlns:m="http://schemas.openxmlformats.org/officeDocument/2006/math">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ℳ</m:t>
                    </m:r>
                  </m:oMath>
                </a14:m>
                <a:r>
                  <a:rPr lang="en-US" dirty="0"/>
                  <a:t> and every ciphertext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𝒞</m:t>
                    </m:r>
                  </m:oMath>
                </a14:m>
                <a:r>
                  <a:rPr lang="en-US" dirty="0"/>
                  <a:t>, </a:t>
                </a:r>
              </a:p>
              <a:p>
                <a:endParaRPr lang="en-US" dirty="0"/>
              </a:p>
              <a:p>
                <a:pPr marL="685800" lvl="2" indent="0">
                  <a:buNone/>
                </a:pPr>
                <a14:m>
                  <m:oMathPara xmlns:m="http://schemas.openxmlformats.org/officeDocument/2006/math">
                    <m:oMathParaPr>
                      <m:jc m:val="centerGroup"/>
                    </m:oMathParaPr>
                    <m:oMath xmlns:m="http://schemas.openxmlformats.org/officeDocument/2006/math">
                      <m:r>
                        <m:rPr>
                          <m:sty m:val="p"/>
                        </m:rPr>
                        <a:rPr lang="en-US" sz="2800" i="1" dirty="0" smtClean="0">
                          <a:latin typeface="Cambria Math" panose="02040503050406030204" pitchFamily="18" charset="0"/>
                        </a:rPr>
                        <m:t>Pr</m:t>
                      </m:r>
                      <m:r>
                        <a:rPr lang="en-US" sz="2800" i="1" dirty="0">
                          <a:latin typeface="Cambria Math" panose="02040503050406030204" pitchFamily="18" charset="0"/>
                        </a:rPr>
                        <m:t>⁡[ </m:t>
                      </m:r>
                      <m:r>
                        <a:rPr lang="en-US" sz="2800" i="1" dirty="0">
                          <a:latin typeface="Cambria Math" panose="02040503050406030204" pitchFamily="18" charset="0"/>
                        </a:rPr>
                        <m:t>𝑀</m:t>
                      </m:r>
                      <m:r>
                        <a:rPr lang="en-US" sz="2800" i="1" dirty="0">
                          <a:latin typeface="Cambria Math" panose="02040503050406030204" pitchFamily="18" charset="0"/>
                        </a:rPr>
                        <m:t> = </m:t>
                      </m:r>
                      <m:r>
                        <a:rPr lang="en-US" sz="2800" i="1" dirty="0">
                          <a:latin typeface="Cambria Math" panose="02040503050406030204" pitchFamily="18" charset="0"/>
                        </a:rPr>
                        <m:t>𝑚</m:t>
                      </m:r>
                      <m:r>
                        <a:rPr lang="en-US" sz="2800" i="1" dirty="0">
                          <a:latin typeface="Cambria Math" panose="02040503050406030204" pitchFamily="18" charset="0"/>
                        </a:rPr>
                        <m:t> | </m:t>
                      </m:r>
                      <m:r>
                        <a:rPr lang="en-US" sz="2800" i="1" dirty="0">
                          <a:latin typeface="Cambria Math" panose="02040503050406030204" pitchFamily="18" charset="0"/>
                        </a:rPr>
                        <m:t>𝐶</m:t>
                      </m:r>
                      <m:r>
                        <a:rPr lang="en-US" sz="2800" i="1" dirty="0">
                          <a:latin typeface="Cambria Math" panose="02040503050406030204" pitchFamily="18" charset="0"/>
                        </a:rPr>
                        <m:t>=</m:t>
                      </m:r>
                      <m:r>
                        <a:rPr lang="en-US" sz="2800" i="1" dirty="0">
                          <a:latin typeface="Cambria Math" panose="02040503050406030204" pitchFamily="18" charset="0"/>
                        </a:rPr>
                        <m:t>𝑐</m:t>
                      </m:r>
                      <m:r>
                        <a:rPr lang="en-US" sz="2800" i="1" dirty="0">
                          <a:latin typeface="Cambria Math" panose="02040503050406030204" pitchFamily="18" charset="0"/>
                        </a:rPr>
                        <m:t> ] = </m:t>
                      </m:r>
                      <m:r>
                        <m:rPr>
                          <m:sty m:val="p"/>
                        </m:rPr>
                        <a:rPr lang="en-US" sz="2800" i="1" dirty="0" err="1">
                          <a:latin typeface="Cambria Math" panose="02040503050406030204" pitchFamily="18" charset="0"/>
                        </a:rPr>
                        <m:t>Pr</m:t>
                      </m:r>
                      <m:r>
                        <a:rPr lang="en-US" sz="2800" i="1" dirty="0">
                          <a:latin typeface="Cambria Math" panose="02040503050406030204" pitchFamily="18" charset="0"/>
                        </a:rPr>
                        <m:t>⁡[</m:t>
                      </m:r>
                      <m:r>
                        <a:rPr lang="en-US" sz="2800" i="1" dirty="0">
                          <a:latin typeface="Cambria Math" panose="02040503050406030204" pitchFamily="18" charset="0"/>
                        </a:rPr>
                        <m:t>𝑀</m:t>
                      </m:r>
                      <m:r>
                        <a:rPr lang="en-US" sz="2800" i="1" dirty="0">
                          <a:latin typeface="Cambria Math" panose="02040503050406030204" pitchFamily="18" charset="0"/>
                        </a:rPr>
                        <m:t> = </m:t>
                      </m:r>
                      <m:r>
                        <a:rPr lang="en-US" sz="2800" i="1" dirty="0">
                          <a:latin typeface="Cambria Math" panose="02040503050406030204" pitchFamily="18" charset="0"/>
                        </a:rPr>
                        <m:t>𝑚</m:t>
                      </m:r>
                      <m:r>
                        <a:rPr lang="en-US" sz="2800" i="1" dirty="0">
                          <a:latin typeface="Cambria Math" panose="02040503050406030204" pitchFamily="18" charset="0"/>
                        </a:rPr>
                        <m:t>]</m:t>
                      </m:r>
                    </m:oMath>
                  </m:oMathPara>
                </a14:m>
                <a:endParaRPr lang="en-US" sz="2800" dirty="0"/>
              </a:p>
            </p:txBody>
          </p:sp>
        </mc:Choice>
        <mc:Fallback>
          <p:sp>
            <p:nvSpPr>
              <p:cNvPr id="3" name="Content Placeholder 2">
                <a:extLst>
                  <a:ext uri="{FF2B5EF4-FFF2-40B4-BE49-F238E27FC236}">
                    <a16:creationId xmlns:a16="http://schemas.microsoft.com/office/drawing/2014/main" id="{E300187A-FE99-4C59-9E46-A6883838BC95}"/>
                  </a:ext>
                </a:extLst>
              </p:cNvPr>
              <p:cNvSpPr>
                <a:spLocks noGrp="1" noRot="1" noChangeAspect="1" noMove="1" noResize="1" noEditPoints="1" noAdjustHandles="1" noChangeArrowheads="1" noChangeShapeType="1" noTextEdit="1"/>
              </p:cNvSpPr>
              <p:nvPr>
                <p:ph idx="1"/>
              </p:nvPr>
            </p:nvSpPr>
            <p:spPr>
              <a:xfrm>
                <a:off x="1169895" y="1524000"/>
                <a:ext cx="10448364" cy="4876800"/>
              </a:xfrm>
              <a:blipFill>
                <a:blip r:embed="rId3"/>
                <a:stretch>
                  <a:fillRect l="-1094" t="-2338" r="-729"/>
                </a:stretch>
              </a:blipFill>
            </p:spPr>
            <p:txBody>
              <a:bodyPr/>
              <a:lstStyle/>
              <a:p>
                <a:r>
                  <a:rPr lang="en-US">
                    <a:noFill/>
                  </a:rPr>
                  <a:t> </a:t>
                </a:r>
              </a:p>
            </p:txBody>
          </p:sp>
        </mc:Fallback>
      </mc:AlternateContent>
    </p:spTree>
    <p:extLst>
      <p:ext uri="{BB962C8B-B14F-4D97-AF65-F5344CB8AC3E}">
        <p14:creationId xmlns:p14="http://schemas.microsoft.com/office/powerpoint/2010/main" val="12042178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458A1-A2D1-F03E-FC1B-21EE2579D293}"/>
              </a:ext>
            </a:extLst>
          </p:cNvPr>
          <p:cNvSpPr>
            <a:spLocks noGrp="1"/>
          </p:cNvSpPr>
          <p:nvPr>
            <p:ph type="title"/>
          </p:nvPr>
        </p:nvSpPr>
        <p:spPr/>
        <p:txBody>
          <a:bodyPr/>
          <a:lstStyle/>
          <a:p>
            <a:r>
              <a:rPr lang="en-US" dirty="0">
                <a:latin typeface="Aptos Display"/>
              </a:rPr>
              <a:t>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0513174-EA83-2032-D9EB-035A00426908}"/>
                  </a:ext>
                </a:extLst>
              </p:cNvPr>
              <p:cNvSpPr>
                <a:spLocks noGrp="1"/>
              </p:cNvSpPr>
              <p:nvPr>
                <p:ph idx="1"/>
              </p:nvPr>
            </p:nvSpPr>
            <p:spPr/>
            <p:txBody>
              <a:bodyPr/>
              <a:lstStyle/>
              <a:p>
                <a14:m>
                  <m:oMath xmlns:m="http://schemas.openxmlformats.org/officeDocument/2006/math">
                    <m:r>
                      <a:rPr lang="en-US" sz="2400" i="1" smtClean="0">
                        <a:latin typeface="Cambria Math" panose="02040503050406030204" pitchFamily="18" charset="0"/>
                      </a:rPr>
                      <m:t>ℳ</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0,1</m:t>
                            </m:r>
                          </m:e>
                        </m:d>
                      </m:e>
                      <m:sup>
                        <m:r>
                          <a:rPr lang="en-US" sz="2400" b="0" i="1" smtClean="0">
                            <a:latin typeface="Cambria Math" panose="02040503050406030204" pitchFamily="18" charset="0"/>
                          </a:rPr>
                          <m:t>𝑛</m:t>
                        </m:r>
                      </m:sup>
                    </m:sSup>
                  </m:oMath>
                </a14:m>
                <a:r>
                  <a:rPr lang="en-US" sz="2400" dirty="0"/>
                  <a:t>,</a:t>
                </a:r>
                <a14:m>
                  <m:oMath xmlns:m="http://schemas.openxmlformats.org/officeDocument/2006/math">
                    <m:r>
                      <a:rPr lang="en-US" sz="2400" i="1">
                        <a:latin typeface="Cambria Math" panose="02040503050406030204" pitchFamily="18" charset="0"/>
                      </a:rPr>
                      <m:t>𝒦</m:t>
                    </m:r>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0,1</m:t>
                            </m:r>
                          </m:e>
                        </m:d>
                      </m:e>
                      <m:sup>
                        <m:r>
                          <a:rPr lang="en-US" sz="2400" i="1">
                            <a:latin typeface="Cambria Math" panose="02040503050406030204" pitchFamily="18" charset="0"/>
                          </a:rPr>
                          <m:t>𝑛</m:t>
                        </m:r>
                      </m:sup>
                    </m:sSup>
                  </m:oMath>
                </a14:m>
                <a:r>
                  <a:rPr lang="en-US" sz="2400" dirty="0"/>
                  <a:t>,</a:t>
                </a:r>
                <a14:m>
                  <m:oMath xmlns:m="http://schemas.openxmlformats.org/officeDocument/2006/math">
                    <m:r>
                      <a:rPr lang="en-US" sz="2400" i="1">
                        <a:latin typeface="Cambria Math" panose="02040503050406030204" pitchFamily="18" charset="0"/>
                      </a:rPr>
                      <m:t>𝒞</m:t>
                    </m:r>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0,1</m:t>
                            </m:r>
                          </m:e>
                        </m:d>
                      </m:e>
                      <m:sup>
                        <m:r>
                          <a:rPr lang="en-US" sz="2400" i="1">
                            <a:latin typeface="Cambria Math" panose="02040503050406030204" pitchFamily="18" charset="0"/>
                          </a:rPr>
                          <m:t>𝑛</m:t>
                        </m:r>
                      </m:sup>
                    </m:sSup>
                  </m:oMath>
                </a14:m>
                <a:endParaRPr lang="en-US" sz="2400" dirty="0"/>
              </a:p>
              <a:p>
                <a:endParaRPr lang="en-US" sz="2400" dirty="0"/>
              </a:p>
              <a:p>
                <a:r>
                  <a:rPr lang="en-US" sz="2400" dirty="0"/>
                  <a:t>for any distribution over the message space </a:t>
                </a:r>
                <a14:m>
                  <m:oMath xmlns:m="http://schemas.openxmlformats.org/officeDocument/2006/math">
                    <m:r>
                      <a:rPr lang="en-US" sz="2400" i="1">
                        <a:latin typeface="Cambria Math" panose="02040503050406030204" pitchFamily="18" charset="0"/>
                      </a:rPr>
                      <m:t>ℳ</m:t>
                    </m:r>
                  </m:oMath>
                </a14:m>
                <a:r>
                  <a:rPr lang="en-US" sz="2400" dirty="0"/>
                  <a:t>: English words encoded as ASCII code and then binary string</a:t>
                </a:r>
              </a:p>
              <a:p>
                <a:pPr marL="0" indent="0">
                  <a:buNone/>
                </a:pPr>
                <a:endParaRPr lang="en-US" sz="2400" dirty="0"/>
              </a:p>
              <a:p>
                <a:r>
                  <a:rPr lang="en-US" sz="2400" dirty="0"/>
                  <a:t> for every message </a:t>
                </a:r>
                <a14:m>
                  <m:oMath xmlns:m="http://schemas.openxmlformats.org/officeDocument/2006/math">
                    <m:r>
                      <a:rPr lang="en-US" sz="2400" i="1">
                        <a:latin typeface="Cambria Math" panose="02040503050406030204" pitchFamily="18" charset="0"/>
                      </a:rPr>
                      <m:t>𝑚</m:t>
                    </m:r>
                    <m:r>
                      <a:rPr lang="en-US" sz="2400" i="1">
                        <a:latin typeface="Cambria Math" panose="02040503050406030204" pitchFamily="18" charset="0"/>
                      </a:rPr>
                      <m:t>∈</m:t>
                    </m:r>
                    <m:r>
                      <a:rPr lang="en-US" sz="2400" i="1">
                        <a:latin typeface="Cambria Math" panose="02040503050406030204" pitchFamily="18" charset="0"/>
                      </a:rPr>
                      <m:t>ℳ</m:t>
                    </m:r>
                  </m:oMath>
                </a14:m>
                <a:r>
                  <a:rPr lang="en-US" sz="2400" dirty="0"/>
                  <a:t>: </a:t>
                </a:r>
                <a14:m>
                  <m:oMath xmlns:m="http://schemas.openxmlformats.org/officeDocument/2006/math">
                    <m:r>
                      <a:rPr lang="en-US" sz="2400" b="0" i="1" smtClean="0">
                        <a:latin typeface="Cambria Math" panose="02040503050406030204" pitchFamily="18" charset="0"/>
                      </a:rPr>
                      <m:t>𝑚</m:t>
                    </m:r>
                    <m:r>
                      <a:rPr lang="en-US" sz="2400" b="0" i="1" smtClean="0">
                        <a:latin typeface="Cambria Math" panose="02040503050406030204" pitchFamily="18" charset="0"/>
                      </a:rPr>
                      <m:t>=0000000</m:t>
                    </m:r>
                  </m:oMath>
                </a14:m>
                <a:endParaRPr lang="en-US" sz="2400" dirty="0"/>
              </a:p>
              <a:p>
                <a:r>
                  <a:rPr lang="en-US" sz="2400" dirty="0"/>
                  <a:t>every ciphertext </a:t>
                </a:r>
                <a14:m>
                  <m:oMath xmlns:m="http://schemas.openxmlformats.org/officeDocument/2006/math">
                    <m:r>
                      <a:rPr lang="en-US" sz="2400" b="0" i="1" smtClean="0">
                        <a:latin typeface="Cambria Math" panose="02040503050406030204" pitchFamily="18" charset="0"/>
                      </a:rPr>
                      <m:t>𝑐</m:t>
                    </m:r>
                    <m:r>
                      <a:rPr lang="en-US" sz="2400" b="0" i="1" smtClean="0">
                        <a:latin typeface="Cambria Math" panose="02040503050406030204" pitchFamily="18" charset="0"/>
                      </a:rPr>
                      <m:t>∈</m:t>
                    </m:r>
                    <m:r>
                      <a:rPr lang="en-US" sz="2400" b="0" i="1" smtClean="0">
                        <a:latin typeface="Cambria Math" panose="02040503050406030204" pitchFamily="18" charset="0"/>
                      </a:rPr>
                      <m:t>𝒞</m:t>
                    </m:r>
                  </m:oMath>
                </a14:m>
                <a:r>
                  <a:rPr lang="en-US" sz="2400" dirty="0"/>
                  <a:t>: </a:t>
                </a:r>
                <a14:m>
                  <m:oMath xmlns:m="http://schemas.openxmlformats.org/officeDocument/2006/math">
                    <m:r>
                      <a:rPr lang="en-US" sz="2400" b="0" i="1" smtClean="0">
                        <a:latin typeface="Cambria Math" panose="02040503050406030204" pitchFamily="18" charset="0"/>
                      </a:rPr>
                      <m:t>𝑐</m:t>
                    </m:r>
                    <m:r>
                      <a:rPr lang="en-US" sz="2400" i="1">
                        <a:latin typeface="Cambria Math" panose="02040503050406030204" pitchFamily="18" charset="0"/>
                      </a:rPr>
                      <m:t>=0</m:t>
                    </m:r>
                    <m:r>
                      <a:rPr lang="en-US" sz="2400" b="0" i="1" smtClean="0">
                        <a:latin typeface="Cambria Math" panose="02040503050406030204" pitchFamily="18" charset="0"/>
                      </a:rPr>
                      <m:t>1</m:t>
                    </m:r>
                    <m:r>
                      <a:rPr lang="en-US" sz="2400" i="1">
                        <a:latin typeface="Cambria Math" panose="02040503050406030204" pitchFamily="18" charset="0"/>
                      </a:rPr>
                      <m:t>00</m:t>
                    </m:r>
                    <m:r>
                      <a:rPr lang="en-US" sz="2400" b="0" i="1" smtClean="0">
                        <a:latin typeface="Cambria Math" panose="02040503050406030204" pitchFamily="18" charset="0"/>
                      </a:rPr>
                      <m:t>1</m:t>
                    </m:r>
                    <m:r>
                      <a:rPr lang="en-US" sz="2400" i="1">
                        <a:latin typeface="Cambria Math" panose="02040503050406030204" pitchFamily="18" charset="0"/>
                      </a:rPr>
                      <m:t>00</m:t>
                    </m:r>
                  </m:oMath>
                </a14:m>
                <a:endParaRPr lang="en-US" sz="2400" dirty="0"/>
              </a:p>
              <a:p>
                <a:pPr marL="0" indent="0">
                  <a:buNone/>
                </a:pPr>
                <a:endParaRPr lang="en-US" sz="28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m:rPr>
                          <m:sty m:val="p"/>
                        </m:rPr>
                        <a:rPr lang="en-US" sz="2800" i="1" dirty="0" smtClean="0">
                          <a:latin typeface="Cambria Math" panose="02040503050406030204" pitchFamily="18" charset="0"/>
                        </a:rPr>
                        <m:t>Pr</m:t>
                      </m:r>
                      <m:r>
                        <a:rPr lang="en-US" sz="2800" i="1" dirty="0">
                          <a:latin typeface="Cambria Math" panose="02040503050406030204" pitchFamily="18" charset="0"/>
                        </a:rPr>
                        <m:t>⁡[ </m:t>
                      </m:r>
                      <m:r>
                        <a:rPr lang="en-US" sz="2800" i="1" dirty="0">
                          <a:latin typeface="Cambria Math" panose="02040503050406030204" pitchFamily="18" charset="0"/>
                        </a:rPr>
                        <m:t>𝑀</m:t>
                      </m:r>
                      <m:r>
                        <a:rPr lang="en-US" sz="2800" i="1" dirty="0">
                          <a:latin typeface="Cambria Math" panose="02040503050406030204" pitchFamily="18" charset="0"/>
                        </a:rPr>
                        <m:t> =</m:t>
                      </m:r>
                      <m:r>
                        <a:rPr lang="en-US" i="1">
                          <a:latin typeface="Cambria Math" panose="02040503050406030204" pitchFamily="18" charset="0"/>
                        </a:rPr>
                        <m:t>0000000</m:t>
                      </m:r>
                      <m:r>
                        <a:rPr lang="en-US" sz="2800" i="1" dirty="0">
                          <a:latin typeface="Cambria Math" panose="02040503050406030204" pitchFamily="18" charset="0"/>
                        </a:rPr>
                        <m:t>| </m:t>
                      </m:r>
                      <m:r>
                        <a:rPr lang="en-US" sz="2800" i="1" dirty="0">
                          <a:latin typeface="Cambria Math" panose="02040503050406030204" pitchFamily="18" charset="0"/>
                        </a:rPr>
                        <m:t>𝐶</m:t>
                      </m:r>
                      <m:r>
                        <a:rPr lang="en-US" sz="2800" i="1" dirty="0">
                          <a:latin typeface="Cambria Math" panose="02040503050406030204" pitchFamily="18" charset="0"/>
                        </a:rPr>
                        <m:t>=</m:t>
                      </m:r>
                      <m:r>
                        <a:rPr lang="en-US" i="1">
                          <a:latin typeface="Cambria Math" panose="02040503050406030204" pitchFamily="18" charset="0"/>
                        </a:rPr>
                        <m:t>0100100</m:t>
                      </m:r>
                      <m:r>
                        <a:rPr lang="en-US" sz="2800" i="1" dirty="0">
                          <a:latin typeface="Cambria Math" panose="02040503050406030204" pitchFamily="18" charset="0"/>
                        </a:rPr>
                        <m:t>] = </m:t>
                      </m:r>
                      <m:r>
                        <m:rPr>
                          <m:sty m:val="p"/>
                        </m:rPr>
                        <a:rPr lang="en-US" sz="2800" i="1" dirty="0" err="1">
                          <a:latin typeface="Cambria Math" panose="02040503050406030204" pitchFamily="18" charset="0"/>
                        </a:rPr>
                        <m:t>Pr</m:t>
                      </m:r>
                      <m:r>
                        <a:rPr lang="en-US" sz="2800" i="1" dirty="0">
                          <a:latin typeface="Cambria Math" panose="02040503050406030204" pitchFamily="18" charset="0"/>
                        </a:rPr>
                        <m:t>⁡[</m:t>
                      </m:r>
                      <m:r>
                        <a:rPr lang="en-US" sz="2800" i="1" dirty="0">
                          <a:latin typeface="Cambria Math" panose="02040503050406030204" pitchFamily="18" charset="0"/>
                        </a:rPr>
                        <m:t>𝑀</m:t>
                      </m:r>
                      <m:r>
                        <a:rPr lang="en-US" sz="2800" i="1" dirty="0">
                          <a:latin typeface="Cambria Math" panose="02040503050406030204" pitchFamily="18" charset="0"/>
                        </a:rPr>
                        <m:t> =</m:t>
                      </m:r>
                      <m:r>
                        <a:rPr lang="en-US" i="1">
                          <a:latin typeface="Cambria Math" panose="02040503050406030204" pitchFamily="18" charset="0"/>
                        </a:rPr>
                        <m:t>0000000</m:t>
                      </m:r>
                      <m:r>
                        <a:rPr lang="en-US" sz="2800" i="1" dirty="0">
                          <a:latin typeface="Cambria Math" panose="02040503050406030204" pitchFamily="18" charset="0"/>
                        </a:rPr>
                        <m:t>]</m:t>
                      </m:r>
                    </m:oMath>
                  </m:oMathPara>
                </a14:m>
                <a:endParaRPr lang="en-US" sz="2800" dirty="0"/>
              </a:p>
              <a:p>
                <a:endParaRPr lang="en-US" dirty="0"/>
              </a:p>
            </p:txBody>
          </p:sp>
        </mc:Choice>
        <mc:Fallback>
          <p:sp>
            <p:nvSpPr>
              <p:cNvPr id="3" name="Content Placeholder 2">
                <a:extLst>
                  <a:ext uri="{FF2B5EF4-FFF2-40B4-BE49-F238E27FC236}">
                    <a16:creationId xmlns:a16="http://schemas.microsoft.com/office/drawing/2014/main" id="{80513174-EA83-2032-D9EB-035A00426908}"/>
                  </a:ext>
                </a:extLst>
              </p:cNvPr>
              <p:cNvSpPr>
                <a:spLocks noGrp="1" noRot="1" noChangeAspect="1" noMove="1" noResize="1" noEditPoints="1" noAdjustHandles="1" noChangeArrowheads="1" noChangeShapeType="1" noTextEdit="1"/>
              </p:cNvSpPr>
              <p:nvPr>
                <p:ph idx="1"/>
              </p:nvPr>
            </p:nvSpPr>
            <p:spPr>
              <a:blipFill>
                <a:blip r:embed="rId3"/>
                <a:stretch>
                  <a:fillRect l="-844" t="-2035"/>
                </a:stretch>
              </a:blipFill>
            </p:spPr>
            <p:txBody>
              <a:bodyPr/>
              <a:lstStyle/>
              <a:p>
                <a:r>
                  <a:rPr lang="en-US">
                    <a:noFill/>
                  </a:rPr>
                  <a:t> </a:t>
                </a:r>
              </a:p>
            </p:txBody>
          </p:sp>
        </mc:Fallback>
      </mc:AlternateContent>
    </p:spTree>
    <p:extLst>
      <p:ext uri="{BB962C8B-B14F-4D97-AF65-F5344CB8AC3E}">
        <p14:creationId xmlns:p14="http://schemas.microsoft.com/office/powerpoint/2010/main" val="11863022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825A8-19F9-AA27-DDDF-00E75981D448}"/>
              </a:ext>
            </a:extLst>
          </p:cNvPr>
          <p:cNvSpPr>
            <a:spLocks noGrp="1"/>
          </p:cNvSpPr>
          <p:nvPr>
            <p:ph type="title"/>
          </p:nvPr>
        </p:nvSpPr>
        <p:spPr>
          <a:xfrm>
            <a:off x="445477" y="286726"/>
            <a:ext cx="11031588" cy="1325563"/>
          </a:xfrm>
        </p:spPr>
        <p:txBody>
          <a:bodyPr/>
          <a:lstStyle/>
          <a:p>
            <a:r>
              <a:rPr lang="en-US" dirty="0">
                <a:latin typeface="Aptos Display"/>
              </a:rPr>
              <a:t>Example: rotation cipher (k = 3)</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3F2F323-706F-5FF3-3DF5-62270D70CC7A}"/>
                  </a:ext>
                </a:extLst>
              </p:cNvPr>
              <p:cNvSpPr>
                <a:spLocks noGrp="1"/>
              </p:cNvSpPr>
              <p:nvPr>
                <p:ph idx="1"/>
              </p:nvPr>
            </p:nvSpPr>
            <p:spPr>
              <a:xfrm>
                <a:off x="838199" y="1825625"/>
                <a:ext cx="11031587" cy="4351338"/>
              </a:xfrm>
            </p:spPr>
            <p:txBody>
              <a:bodyPr>
                <a:noAutofit/>
              </a:bodyPr>
              <a:lstStyle/>
              <a:p>
                <a:pPr>
                  <a:lnSpc>
                    <a:spcPct val="90000"/>
                  </a:lnSpc>
                  <a:spcBef>
                    <a:spcPts val="900"/>
                  </a:spcBef>
                </a:pPr>
                <a:r>
                  <a:rPr lang="en-US" dirty="0"/>
                  <a:t>Rotation shifts every letter by the same </a:t>
                </a:r>
                <a:r>
                  <a:rPr lang="en-US" i="1" dirty="0"/>
                  <a:t>k</a:t>
                </a:r>
                <a:r>
                  <a:rPr lang="en-US" dirty="0"/>
                  <a:t>, so repeated letters stay repeated.</a:t>
                </a:r>
              </a:p>
              <a:p>
                <a:pPr>
                  <a:lnSpc>
                    <a:spcPct val="90000"/>
                  </a:lnSpc>
                  <a:spcBef>
                    <a:spcPts val="900"/>
                  </a:spcBef>
                </a:pPr>
                <a:r>
                  <a:rPr lang="en-US" dirty="0"/>
                  <a:t>The ciphertext </a:t>
                </a:r>
                <a:r>
                  <a:rPr lang="en-US" b="1" dirty="0"/>
                  <a:t>xx</a:t>
                </a:r>
                <a:r>
                  <a:rPr lang="en-US" dirty="0"/>
                  <a:t> has two identical letters; the message </a:t>
                </a:r>
                <a:r>
                  <a:rPr lang="en-US" b="1" dirty="0"/>
                  <a:t>ab</a:t>
                </a:r>
                <a:r>
                  <a:rPr lang="en-US" dirty="0"/>
                  <a:t> does not .</a:t>
                </a:r>
              </a:p>
              <a:p>
                <a:pPr>
                  <a:lnSpc>
                    <a:spcPct val="90000"/>
                  </a:lnSpc>
                  <a:spcBef>
                    <a:spcPts val="900"/>
                  </a:spcBef>
                </a:pPr>
                <a:r>
                  <a:rPr lang="en-US" dirty="0"/>
                  <a:t> no key can map </a:t>
                </a:r>
                <a:r>
                  <a:rPr lang="en-US" b="1" dirty="0"/>
                  <a:t>ab</a:t>
                </a:r>
                <a:r>
                  <a:rPr lang="en-US" dirty="0"/>
                  <a:t> to </a:t>
                </a:r>
                <a:r>
                  <a:rPr lang="en-US" b="1" dirty="0"/>
                  <a:t>xx</a:t>
                </a:r>
                <a:r>
                  <a:rPr lang="en-US" dirty="0"/>
                  <a:t>:</a:t>
                </a:r>
              </a:p>
              <a:p>
                <a:pPr marL="457200" indent="0">
                  <a:lnSpc>
                    <a:spcPct val="90000"/>
                  </a:lnSpc>
                  <a:spcBef>
                    <a:spcPts val="900"/>
                  </a:spcBef>
                  <a:buNone/>
                </a:pPr>
                <a:r>
                  <a:rPr lang="en-US" dirty="0"/>
                  <a:t>If </a:t>
                </a:r>
                <a14:m>
                  <m:oMath xmlns:m="http://schemas.openxmlformats.org/officeDocument/2006/math">
                    <m:r>
                      <a:rPr lang="en-US" i="1" dirty="0" smtClean="0">
                        <a:latin typeface="Cambria Math" panose="02040503050406030204" pitchFamily="18" charset="0"/>
                      </a:rPr>
                      <m:t>𝐶</m:t>
                    </m:r>
                    <m:r>
                      <a:rPr lang="en-US" i="1" dirty="0" smtClean="0">
                        <a:latin typeface="Cambria Math" panose="02040503050406030204" pitchFamily="18" charset="0"/>
                      </a:rPr>
                      <m:t> = </m:t>
                    </m:r>
                    <m:r>
                      <a:rPr lang="en-US" i="1" dirty="0" smtClean="0">
                        <a:latin typeface="Cambria Math" panose="02040503050406030204" pitchFamily="18" charset="0"/>
                      </a:rPr>
                      <m:t>𝑥𝑥</m:t>
                    </m:r>
                    <m:r>
                      <a:rPr lang="en-US" i="1" dirty="0" smtClean="0">
                        <a:latin typeface="Cambria Math" panose="02040503050406030204" pitchFamily="18" charset="0"/>
                      </a:rPr>
                      <m:t>,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𝑀</m:t>
                    </m:r>
                    <m:r>
                      <a:rPr lang="en-US" i="1" dirty="0">
                        <a:latin typeface="Cambria Math" panose="02040503050406030204" pitchFamily="18" charset="0"/>
                      </a:rPr>
                      <m:t>=</m:t>
                    </m:r>
                    <m:r>
                      <a:rPr lang="en-US" i="1" dirty="0" err="1">
                        <a:latin typeface="Cambria Math" panose="02040503050406030204" pitchFamily="18" charset="0"/>
                      </a:rPr>
                      <m:t>𝑎𝑏</m:t>
                    </m:r>
                    <m:r>
                      <a:rPr lang="en-US" i="1" dirty="0" err="1">
                        <a:latin typeface="Cambria Math" panose="02040503050406030204" pitchFamily="18" charset="0"/>
                      </a:rPr>
                      <m:t>|</m:t>
                    </m:r>
                    <m:r>
                      <a:rPr lang="en-US" i="1" dirty="0" err="1">
                        <a:latin typeface="Cambria Math" panose="02040503050406030204" pitchFamily="18" charset="0"/>
                      </a:rPr>
                      <m:t>𝐶</m:t>
                    </m:r>
                    <m:r>
                      <a:rPr lang="en-US" i="1" dirty="0">
                        <a:latin typeface="Cambria Math" panose="02040503050406030204" pitchFamily="18" charset="0"/>
                      </a:rPr>
                      <m:t>=</m:t>
                    </m:r>
                    <m:r>
                      <a:rPr lang="en-US" i="1" dirty="0">
                        <a:latin typeface="Cambria Math" panose="02040503050406030204" pitchFamily="18" charset="0"/>
                      </a:rPr>
                      <m:t>𝑥𝑥</m:t>
                    </m:r>
                    <m:r>
                      <a:rPr lang="en-US" i="1" dirty="0">
                        <a:latin typeface="Cambria Math" panose="02040503050406030204" pitchFamily="18" charset="0"/>
                      </a:rPr>
                      <m:t>] = 0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𝑀</m:t>
                    </m:r>
                    <m:r>
                      <a:rPr lang="en-US" i="1" dirty="0">
                        <a:latin typeface="Cambria Math" panose="02040503050406030204" pitchFamily="18" charset="0"/>
                      </a:rPr>
                      <m:t>=</m:t>
                    </m:r>
                    <m:r>
                      <a:rPr lang="en-US" i="1" dirty="0">
                        <a:latin typeface="Cambria Math" panose="02040503050406030204" pitchFamily="18" charset="0"/>
                      </a:rPr>
                      <m:t>𝑎𝑏</m:t>
                    </m:r>
                    <m:r>
                      <a:rPr lang="en-US" i="1" dirty="0">
                        <a:latin typeface="Cambria Math" panose="02040503050406030204" pitchFamily="18" charset="0"/>
                      </a:rPr>
                      <m:t>]</m:t>
                    </m:r>
                  </m:oMath>
                </a14:m>
                <a:endParaRPr lang="en-US" dirty="0"/>
              </a:p>
              <a:p>
                <a:pPr>
                  <a:lnSpc>
                    <a:spcPct val="90000"/>
                  </a:lnSpc>
                  <a:spcBef>
                    <a:spcPts val="900"/>
                  </a:spcBef>
                </a:pPr>
                <a:r>
                  <a:rPr lang="en-US" dirty="0"/>
                  <a:t>So the rotation cipher is </a:t>
                </a:r>
                <a:r>
                  <a:rPr lang="en-US" b="1" dirty="0"/>
                  <a:t>not</a:t>
                </a:r>
                <a:r>
                  <a:rPr lang="en-US" dirty="0"/>
                  <a:t> perfectly secret — the ciphertext leaks whether the two letters are the same.</a:t>
                </a:r>
              </a:p>
            </p:txBody>
          </p:sp>
        </mc:Choice>
        <mc:Fallback>
          <p:sp>
            <p:nvSpPr>
              <p:cNvPr id="3" name="Content Placeholder 2">
                <a:extLst>
                  <a:ext uri="{FF2B5EF4-FFF2-40B4-BE49-F238E27FC236}">
                    <a16:creationId xmlns:a16="http://schemas.microsoft.com/office/drawing/2014/main" id="{23F2F323-706F-5FF3-3DF5-62270D70CC7A}"/>
                  </a:ext>
                </a:extLst>
              </p:cNvPr>
              <p:cNvSpPr>
                <a:spLocks noGrp="1" noRot="1" noChangeAspect="1" noMove="1" noResize="1" noEditPoints="1" noAdjustHandles="1" noChangeArrowheads="1" noChangeShapeType="1" noTextEdit="1"/>
              </p:cNvSpPr>
              <p:nvPr>
                <p:ph idx="1"/>
              </p:nvPr>
            </p:nvSpPr>
            <p:spPr>
              <a:xfrm>
                <a:off x="838199" y="1825625"/>
                <a:ext cx="11031587" cy="4351338"/>
              </a:xfrm>
              <a:blipFill>
                <a:blip r:embed="rId3"/>
                <a:stretch>
                  <a:fillRect l="-920" t="-2326" r="-115"/>
                </a:stretch>
              </a:blipFill>
            </p:spPr>
            <p:txBody>
              <a:bodyPr/>
              <a:lstStyle/>
              <a:p>
                <a:r>
                  <a:rPr lang="en-US">
                    <a:noFill/>
                  </a:rPr>
                  <a:t> </a:t>
                </a:r>
              </a:p>
            </p:txBody>
          </p:sp>
        </mc:Fallback>
      </mc:AlternateContent>
    </p:spTree>
    <p:extLst>
      <p:ext uri="{BB962C8B-B14F-4D97-AF65-F5344CB8AC3E}">
        <p14:creationId xmlns:p14="http://schemas.microsoft.com/office/powerpoint/2010/main" val="37723706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FD3EC-8D2A-2CEF-3DF0-12E696537C2C}"/>
              </a:ext>
            </a:extLst>
          </p:cNvPr>
          <p:cNvSpPr>
            <a:spLocks noGrp="1"/>
          </p:cNvSpPr>
          <p:nvPr>
            <p:ph type="title"/>
          </p:nvPr>
        </p:nvSpPr>
        <p:spPr/>
        <p:txBody>
          <a:bodyPr/>
          <a:lstStyle/>
          <a:p>
            <a:r>
              <a:rPr lang="en-US" dirty="0">
                <a:latin typeface="Aptos Display"/>
              </a:rPr>
              <a:t>An equivalent definition</a:t>
            </a:r>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27CA5A4A-59CC-869D-6BBA-07B08C8D5610}"/>
                  </a:ext>
                </a:extLst>
              </p:cNvPr>
              <p:cNvSpPr>
                <a:spLocks noGrp="1"/>
              </p:cNvSpPr>
              <p:nvPr>
                <p:ph idx="1"/>
              </p:nvPr>
            </p:nvSpPr>
            <p:spPr>
              <a:xfrm>
                <a:off x="551329" y="1524000"/>
                <a:ext cx="10152529" cy="4876800"/>
              </a:xfrm>
            </p:spPr>
            <p:txBody>
              <a:bodyPr>
                <a:normAutofit/>
              </a:bodyPr>
              <a:lstStyle/>
              <a:p>
                <a:r>
                  <a:rPr lang="en-US" dirty="0"/>
                  <a:t>Algorithms: </a:t>
                </a:r>
              </a:p>
              <a:p>
                <a:pPr lvl="1"/>
                <a:r>
                  <a:rPr lang="en-US" sz="2000" b="1" i="1" dirty="0">
                    <a:solidFill>
                      <a:srgbClr val="0070C0"/>
                    </a:solidFill>
                  </a:rPr>
                  <a:t>k</a:t>
                </a:r>
                <a:r>
                  <a:rPr lang="en-US" sz="2000" dirty="0"/>
                  <a:t>: secret key, </a:t>
                </a:r>
                <a:r>
                  <a:rPr lang="en-US" sz="2000" b="1" i="1" dirty="0">
                    <a:solidFill>
                      <a:srgbClr val="0070C0"/>
                    </a:solidFill>
                  </a:rPr>
                  <a:t>m</a:t>
                </a:r>
                <a:r>
                  <a:rPr lang="en-US" sz="2000" dirty="0"/>
                  <a:t>: message, </a:t>
                </a:r>
                <a:r>
                  <a:rPr lang="en-US" sz="2000" b="1" i="1" dirty="0">
                    <a:solidFill>
                      <a:srgbClr val="0070C0"/>
                    </a:solidFill>
                  </a:rPr>
                  <a:t>c</a:t>
                </a:r>
                <a:r>
                  <a:rPr lang="en-US" sz="2000" dirty="0"/>
                  <a:t>: ciphertext</a:t>
                </a:r>
              </a:p>
              <a:p>
                <a:pPr lvl="1"/>
                <a14:m>
                  <m:oMath xmlns:m="http://schemas.openxmlformats.org/officeDocument/2006/math">
                    <m:r>
                      <a:rPr lang="en-US" sz="2000" b="0" i="1" smtClean="0">
                        <a:latin typeface="Cambria Math" panose="02040503050406030204" pitchFamily="18" charset="0"/>
                      </a:rPr>
                      <m:t>𝑘</m:t>
                    </m:r>
                    <m:r>
                      <a:rPr lang="en-US" sz="2000" i="1">
                        <a:latin typeface="Cambria Math" panose="02040503050406030204" pitchFamily="18" charset="0"/>
                      </a:rPr>
                      <m:t>=</m:t>
                    </m:r>
                    <m:r>
                      <m:rPr>
                        <m:sty m:val="p"/>
                      </m:rPr>
                      <a:rPr lang="en-US" sz="2000" b="0" i="0" smtClean="0">
                        <a:latin typeface="Cambria Math" panose="02040503050406030204" pitchFamily="18" charset="0"/>
                      </a:rPr>
                      <m:t>Gen</m:t>
                    </m:r>
                    <m:r>
                      <a:rPr lang="en-US" sz="2000" i="1">
                        <a:latin typeface="Cambria Math" panose="02040503050406030204" pitchFamily="18" charset="0"/>
                      </a:rPr>
                      <m:t>()</m:t>
                    </m:r>
                  </m:oMath>
                </a14:m>
                <a:endParaRPr lang="en-US" sz="2000" dirty="0"/>
              </a:p>
              <a:p>
                <a:pPr lvl="1"/>
                <a14:m>
                  <m:oMath xmlns:m="http://schemas.openxmlformats.org/officeDocument/2006/math">
                    <m:r>
                      <a:rPr lang="en-US" sz="2000" i="1">
                        <a:latin typeface="Cambria Math" panose="02040503050406030204" pitchFamily="18" charset="0"/>
                      </a:rPr>
                      <m:t>𝑐</m:t>
                    </m:r>
                    <m:r>
                      <a:rPr lang="en-US" sz="2000" i="1">
                        <a:latin typeface="Cambria Math" panose="02040503050406030204" pitchFamily="18" charset="0"/>
                      </a:rPr>
                      <m:t>= </m:t>
                    </m:r>
                    <m:r>
                      <m:rPr>
                        <m:sty m:val="p"/>
                      </m:rPr>
                      <a:rPr lang="en-US" sz="2000">
                        <a:latin typeface="Cambria Math" panose="02040503050406030204" pitchFamily="18" charset="0"/>
                      </a:rPr>
                      <m:t>Enc</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𝑚</m:t>
                    </m:r>
                    <m:r>
                      <a:rPr lang="en-US" sz="2000" i="1">
                        <a:latin typeface="Cambria Math" panose="02040503050406030204" pitchFamily="18" charset="0"/>
                      </a:rPr>
                      <m:t>)</m:t>
                    </m:r>
                  </m:oMath>
                </a14:m>
                <a:endParaRPr lang="en-US" sz="2000" dirty="0"/>
              </a:p>
              <a:p>
                <a:pPr lvl="1"/>
                <a14:m>
                  <m:oMath xmlns:m="http://schemas.openxmlformats.org/officeDocument/2006/math">
                    <m:r>
                      <a:rPr lang="en-US" sz="2000" i="1">
                        <a:latin typeface="Cambria Math" panose="02040503050406030204" pitchFamily="18" charset="0"/>
                      </a:rPr>
                      <m:t>𝑚</m:t>
                    </m:r>
                    <m:r>
                      <a:rPr lang="en-US" sz="2000" i="1">
                        <a:latin typeface="Cambria Math" panose="02040503050406030204" pitchFamily="18" charset="0"/>
                      </a:rPr>
                      <m:t>=</m:t>
                    </m:r>
                    <m:r>
                      <m:rPr>
                        <m:sty m:val="p"/>
                      </m:rPr>
                      <a:rPr lang="en-US" sz="2000">
                        <a:latin typeface="Cambria Math" panose="02040503050406030204" pitchFamily="18" charset="0"/>
                      </a:rPr>
                      <m:t>Dec</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𝑐</m:t>
                    </m:r>
                    <m:r>
                      <a:rPr lang="en-US" sz="2000" i="1">
                        <a:latin typeface="Cambria Math" panose="02040503050406030204" pitchFamily="18" charset="0"/>
                      </a:rPr>
                      <m:t>)</m:t>
                    </m:r>
                  </m:oMath>
                </a14:m>
                <a:endParaRPr lang="en-US" sz="2000" dirty="0"/>
              </a:p>
              <a:p>
                <a:pPr lvl="1"/>
                <a:endParaRPr lang="en-US" sz="2000" dirty="0"/>
              </a:p>
              <a:p>
                <a:r>
                  <a:rPr lang="en-US" b="1" dirty="0"/>
                  <a:t>Perfect secrecy</a:t>
                </a:r>
                <a:r>
                  <a:rPr lang="en-US" dirty="0"/>
                  <a:t>: for any distribution over the message space </a:t>
                </a:r>
                <a14:m>
                  <m:oMath xmlns:m="http://schemas.openxmlformats.org/officeDocument/2006/math">
                    <m:r>
                      <a:rPr lang="en-US" i="1">
                        <a:latin typeface="Cambria Math" panose="02040503050406030204" pitchFamily="18" charset="0"/>
                      </a:rPr>
                      <m:t>ℳ</m:t>
                    </m:r>
                  </m:oMath>
                </a14:m>
                <a:r>
                  <a:rPr lang="en-US" dirty="0"/>
                  <a:t>, for every message </a:t>
                </a:r>
                <a14:m>
                  <m:oMath xmlns:m="http://schemas.openxmlformats.org/officeDocument/2006/math">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ℳ</m:t>
                    </m:r>
                  </m:oMath>
                </a14:m>
                <a:r>
                  <a:rPr lang="en-US" dirty="0"/>
                  <a:t> and every ciphertext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𝒞</m:t>
                    </m:r>
                  </m:oMath>
                </a14:m>
                <a:r>
                  <a:rPr lang="en-US" dirty="0"/>
                  <a:t>, </a:t>
                </a:r>
              </a:p>
              <a:p>
                <a:endParaRPr lang="en-US" dirty="0"/>
              </a:p>
              <a:p>
                <a:pPr marL="685800" lvl="2" indent="0">
                  <a:buNone/>
                </a:pPr>
                <a14:m>
                  <m:oMathPara xmlns:m="http://schemas.openxmlformats.org/officeDocument/2006/math">
                    <m:oMathParaPr>
                      <m:jc m:val="centerGroup"/>
                    </m:oMathParaPr>
                    <m:oMath xmlns:m="http://schemas.openxmlformats.org/officeDocument/2006/math">
                      <m:r>
                        <m:rPr>
                          <m:sty m:val="p"/>
                        </m:rPr>
                        <a:rPr lang="en-US" sz="2800" i="1" dirty="0" smtClean="0">
                          <a:latin typeface="Cambria Math" panose="02040503050406030204" pitchFamily="18" charset="0"/>
                        </a:rPr>
                        <m:t>Pr</m:t>
                      </m:r>
                      <m:r>
                        <a:rPr lang="en-US" sz="2800" i="1" dirty="0">
                          <a:latin typeface="Cambria Math" panose="02040503050406030204" pitchFamily="18" charset="0"/>
                        </a:rPr>
                        <m:t>⁡[</m:t>
                      </m:r>
                      <m:r>
                        <a:rPr lang="en-US" sz="2800" i="1" dirty="0">
                          <a:latin typeface="Cambria Math" panose="02040503050406030204" pitchFamily="18" charset="0"/>
                        </a:rPr>
                        <m:t>𝐶</m:t>
                      </m:r>
                      <m:r>
                        <a:rPr lang="en-US" sz="2800" i="1" dirty="0">
                          <a:latin typeface="Cambria Math" panose="02040503050406030204" pitchFamily="18" charset="0"/>
                        </a:rPr>
                        <m:t>=</m:t>
                      </m:r>
                      <m:r>
                        <a:rPr lang="en-US" sz="2800" i="1" dirty="0">
                          <a:latin typeface="Cambria Math" panose="02040503050406030204" pitchFamily="18" charset="0"/>
                        </a:rPr>
                        <m:t>𝑐</m:t>
                      </m:r>
                      <m:r>
                        <a:rPr lang="en-US" sz="2800" b="0" i="1" dirty="0" smtClean="0">
                          <a:latin typeface="Cambria Math" panose="02040503050406030204" pitchFamily="18" charset="0"/>
                        </a:rPr>
                        <m:t>|</m:t>
                      </m:r>
                      <m:r>
                        <a:rPr lang="en-US" sz="2800" b="0" i="1" dirty="0" smtClean="0">
                          <a:latin typeface="Cambria Math" panose="02040503050406030204" pitchFamily="18" charset="0"/>
                        </a:rPr>
                        <m:t>𝑀</m:t>
                      </m:r>
                      <m:r>
                        <a:rPr lang="en-US" sz="2800" b="0" i="1" dirty="0" smtClean="0">
                          <a:latin typeface="Cambria Math" panose="02040503050406030204" pitchFamily="18" charset="0"/>
                        </a:rPr>
                        <m:t>=</m:t>
                      </m:r>
                      <m:r>
                        <a:rPr lang="en-US" sz="2800" b="0" i="1" dirty="0" smtClean="0">
                          <a:latin typeface="Cambria Math" panose="02040503050406030204" pitchFamily="18" charset="0"/>
                        </a:rPr>
                        <m:t>𝑚</m:t>
                      </m:r>
                      <m:r>
                        <a:rPr lang="en-US" sz="2800" i="1" dirty="0">
                          <a:latin typeface="Cambria Math" panose="02040503050406030204" pitchFamily="18" charset="0"/>
                        </a:rPr>
                        <m:t> ] = </m:t>
                      </m:r>
                      <m:r>
                        <m:rPr>
                          <m:sty m:val="p"/>
                        </m:rPr>
                        <a:rPr lang="en-US" sz="2800" i="1" dirty="0" err="1">
                          <a:latin typeface="Cambria Math" panose="02040503050406030204" pitchFamily="18" charset="0"/>
                        </a:rPr>
                        <m:t>Pr</m:t>
                      </m:r>
                      <m:r>
                        <a:rPr lang="en-US" sz="2800" i="1" dirty="0">
                          <a:latin typeface="Cambria Math" panose="02040503050406030204" pitchFamily="18" charset="0"/>
                        </a:rPr>
                        <m:t>⁡[</m:t>
                      </m:r>
                      <m:r>
                        <a:rPr lang="en-US" sz="2800" b="0" i="1" dirty="0" smtClean="0">
                          <a:latin typeface="Cambria Math" panose="02040503050406030204" pitchFamily="18" charset="0"/>
                        </a:rPr>
                        <m:t>𝐶</m:t>
                      </m:r>
                      <m:r>
                        <a:rPr lang="en-US" sz="2800" b="0" i="1" dirty="0" smtClean="0">
                          <a:latin typeface="Cambria Math" panose="02040503050406030204" pitchFamily="18" charset="0"/>
                        </a:rPr>
                        <m:t>=</m:t>
                      </m:r>
                      <m:r>
                        <a:rPr lang="en-US" sz="2800" b="0" i="1" dirty="0" smtClean="0">
                          <a:latin typeface="Cambria Math" panose="02040503050406030204" pitchFamily="18" charset="0"/>
                        </a:rPr>
                        <m:t>𝑐</m:t>
                      </m:r>
                      <m:r>
                        <a:rPr lang="en-US" sz="2800" i="1" dirty="0">
                          <a:latin typeface="Cambria Math" panose="02040503050406030204" pitchFamily="18" charset="0"/>
                        </a:rPr>
                        <m:t>]</m:t>
                      </m:r>
                    </m:oMath>
                  </m:oMathPara>
                </a14:m>
                <a:endParaRPr lang="en-US" sz="2800" dirty="0"/>
              </a:p>
            </p:txBody>
          </p:sp>
        </mc:Choice>
        <mc:Fallback>
          <p:sp>
            <p:nvSpPr>
              <p:cNvPr id="4" name="Content Placeholder 2">
                <a:extLst>
                  <a:ext uri="{FF2B5EF4-FFF2-40B4-BE49-F238E27FC236}">
                    <a16:creationId xmlns:a16="http://schemas.microsoft.com/office/drawing/2014/main" id="{27CA5A4A-59CC-869D-6BBA-07B08C8D5610}"/>
                  </a:ext>
                </a:extLst>
              </p:cNvPr>
              <p:cNvSpPr>
                <a:spLocks noGrp="1" noRot="1" noChangeAspect="1" noMove="1" noResize="1" noEditPoints="1" noAdjustHandles="1" noChangeArrowheads="1" noChangeShapeType="1" noTextEdit="1"/>
              </p:cNvSpPr>
              <p:nvPr>
                <p:ph idx="1"/>
              </p:nvPr>
            </p:nvSpPr>
            <p:spPr>
              <a:xfrm>
                <a:off x="551329" y="1524000"/>
                <a:ext cx="10152529" cy="4876800"/>
              </a:xfrm>
              <a:blipFill>
                <a:blip r:embed="rId3"/>
                <a:stretch>
                  <a:fillRect l="-1000" t="-2338"/>
                </a:stretch>
              </a:blipFill>
            </p:spPr>
            <p:txBody>
              <a:bodyPr/>
              <a:lstStyle/>
              <a:p>
                <a:r>
                  <a:rPr lang="en-US">
                    <a:noFill/>
                  </a:rPr>
                  <a:t> </a:t>
                </a:r>
              </a:p>
            </p:txBody>
          </p:sp>
        </mc:Fallback>
      </mc:AlternateContent>
    </p:spTree>
    <p:extLst>
      <p:ext uri="{BB962C8B-B14F-4D97-AF65-F5344CB8AC3E}">
        <p14:creationId xmlns:p14="http://schemas.microsoft.com/office/powerpoint/2010/main" val="2976954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08536-6141-10C1-A361-ED3A370F8D7C}"/>
              </a:ext>
            </a:extLst>
          </p:cNvPr>
          <p:cNvSpPr>
            <a:spLocks noGrp="1"/>
          </p:cNvSpPr>
          <p:nvPr>
            <p:ph type="title"/>
          </p:nvPr>
        </p:nvSpPr>
        <p:spPr/>
        <p:txBody>
          <a:bodyPr/>
          <a:lstStyle/>
          <a:p>
            <a:r>
              <a:rPr lang="en-US" dirty="0">
                <a:latin typeface="Aptos Display"/>
              </a:rPr>
              <a:t>Proof</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173465D-CD49-E1D6-3BEB-C9DC765441A9}"/>
                  </a:ext>
                </a:extLst>
              </p:cNvPr>
              <p:cNvSpPr>
                <a:spLocks noGrp="1"/>
              </p:cNvSpPr>
              <p:nvPr>
                <p:ph idx="1"/>
              </p:nvPr>
            </p:nvSpPr>
            <p:spPr>
              <a:xfrm>
                <a:off x="445477" y="1743197"/>
                <a:ext cx="11596364" cy="4351338"/>
              </a:xfrm>
            </p:spPr>
            <p:txBody>
              <a:bodyPr/>
              <a:lstStyle/>
              <a:p>
                <a:r>
                  <a:rPr lang="en-US" dirty="0" err="1"/>
                  <a:t>Bayes’s</a:t>
                </a:r>
                <a:r>
                  <a:rPr lang="en-US" dirty="0"/>
                  <a:t> theorem: </a:t>
                </a:r>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 </m:t>
                    </m:r>
                    <m:r>
                      <a:rPr lang="en-US" i="1" dirty="0">
                        <a:latin typeface="Cambria Math" panose="02040503050406030204" pitchFamily="18" charset="0"/>
                      </a:rPr>
                      <m:t>𝐵</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𝐵</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𝐵</m:t>
                    </m:r>
                    <m:r>
                      <a:rPr lang="en-US" i="1" dirty="0">
                        <a:latin typeface="Cambria Math" panose="02040503050406030204" pitchFamily="18" charset="0"/>
                      </a:rPr>
                      <m:t> | </m:t>
                    </m:r>
                    <m:r>
                      <a:rPr lang="en-US" i="1" dirty="0">
                        <a:latin typeface="Cambria Math" panose="02040503050406030204" pitchFamily="18" charset="0"/>
                      </a:rPr>
                      <m:t>𝐴</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m:t>
                    </m:r>
                  </m:oMath>
                </a14:m>
                <a:endParaRPr lang="en-US" dirty="0"/>
              </a:p>
              <a:p>
                <a:endParaRPr lang="en-US" dirty="0"/>
              </a:p>
              <a:p>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 </m:t>
                    </m:r>
                    <m:r>
                      <a:rPr lang="en-US" i="1" dirty="0">
                        <a:latin typeface="Cambria Math" panose="02040503050406030204" pitchFamily="18" charset="0"/>
                      </a:rPr>
                      <m:t>𝑀</m:t>
                    </m:r>
                    <m:r>
                      <a:rPr lang="en-US" i="1" dirty="0">
                        <a:latin typeface="Cambria Math" panose="02040503050406030204" pitchFamily="18" charset="0"/>
                      </a:rPr>
                      <m:t> = </m:t>
                    </m:r>
                    <m:r>
                      <a:rPr lang="en-US" i="1" dirty="0">
                        <a:latin typeface="Cambria Math" panose="02040503050406030204" pitchFamily="18" charset="0"/>
                      </a:rPr>
                      <m:t>𝑚</m:t>
                    </m:r>
                    <m:r>
                      <a:rPr lang="en-US" i="1" dirty="0">
                        <a:latin typeface="Cambria Math" panose="02040503050406030204" pitchFamily="18" charset="0"/>
                      </a:rPr>
                      <m:t> | </m:t>
                    </m:r>
                    <m:r>
                      <a:rPr lang="en-US" i="1" dirty="0">
                        <a:latin typeface="Cambria Math" panose="02040503050406030204" pitchFamily="18" charset="0"/>
                      </a:rPr>
                      <m:t>𝐶</m:t>
                    </m:r>
                    <m:r>
                      <a:rPr lang="en-US" i="1" dirty="0">
                        <a:latin typeface="Cambria Math" panose="02040503050406030204" pitchFamily="18" charset="0"/>
                      </a:rPr>
                      <m:t>=</m:t>
                    </m:r>
                    <m:r>
                      <a:rPr lang="en-US" i="1" dirty="0">
                        <a:latin typeface="Cambria Math" panose="02040503050406030204" pitchFamily="18" charset="0"/>
                      </a:rPr>
                      <m:t>𝑐</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𝐶</m:t>
                    </m:r>
                    <m:r>
                      <a:rPr lang="en-US" i="1" dirty="0">
                        <a:latin typeface="Cambria Math" panose="02040503050406030204" pitchFamily="18" charset="0"/>
                      </a:rPr>
                      <m:t> = </m:t>
                    </m:r>
                    <m:r>
                      <a:rPr lang="en-US" i="1" dirty="0">
                        <a:latin typeface="Cambria Math" panose="02040503050406030204" pitchFamily="18" charset="0"/>
                      </a:rPr>
                      <m:t>𝑐</m:t>
                    </m:r>
                    <m:r>
                      <a:rPr lang="en-US" i="1" dirty="0">
                        <a:latin typeface="Cambria Math" panose="02040503050406030204" pitchFamily="18" charset="0"/>
                      </a:rPr>
                      <m:t>]= </m:t>
                    </m:r>
                    <m:r>
                      <m:rPr>
                        <m:sty m:val="p"/>
                      </m:rPr>
                      <a:rPr lang="en-US" i="1" dirty="0" err="1">
                        <a:latin typeface="Cambria Math" panose="02040503050406030204" pitchFamily="18" charset="0"/>
                      </a:rPr>
                      <m:t>Pr</m:t>
                    </m:r>
                    <m:r>
                      <a:rPr lang="en-US" i="1" dirty="0">
                        <a:latin typeface="Cambria Math" panose="02040503050406030204" pitchFamily="18" charset="0"/>
                      </a:rPr>
                      <m:t>⁡[ </m:t>
                    </m:r>
                    <m:r>
                      <a:rPr lang="en-US" i="1" dirty="0">
                        <a:latin typeface="Cambria Math" panose="02040503050406030204" pitchFamily="18" charset="0"/>
                      </a:rPr>
                      <m:t>𝐶</m:t>
                    </m:r>
                    <m:r>
                      <a:rPr lang="en-US" i="1" dirty="0">
                        <a:latin typeface="Cambria Math" panose="02040503050406030204" pitchFamily="18" charset="0"/>
                      </a:rPr>
                      <m:t> = </m:t>
                    </m:r>
                    <m:r>
                      <a:rPr lang="en-US" i="1" dirty="0">
                        <a:latin typeface="Cambria Math" panose="02040503050406030204" pitchFamily="18" charset="0"/>
                      </a:rPr>
                      <m:t>𝑐</m:t>
                    </m:r>
                    <m:r>
                      <a:rPr lang="en-US" i="1" dirty="0">
                        <a:latin typeface="Cambria Math" panose="02040503050406030204" pitchFamily="18" charset="0"/>
                      </a:rPr>
                      <m:t> | </m:t>
                    </m:r>
                    <m:r>
                      <a:rPr lang="en-US" i="1" dirty="0">
                        <a:latin typeface="Cambria Math" panose="02040503050406030204" pitchFamily="18" charset="0"/>
                      </a:rPr>
                      <m:t>𝑀</m:t>
                    </m:r>
                    <m:r>
                      <a:rPr lang="en-US" i="1" dirty="0">
                        <a:latin typeface="Cambria Math" panose="02040503050406030204" pitchFamily="18" charset="0"/>
                      </a:rPr>
                      <m:t>=</m:t>
                    </m:r>
                    <m:r>
                      <a:rPr lang="en-US" i="1" dirty="0">
                        <a:latin typeface="Cambria Math" panose="02040503050406030204" pitchFamily="18" charset="0"/>
                      </a:rPr>
                      <m:t>𝑚</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𝑀</m:t>
                    </m:r>
                    <m:r>
                      <a:rPr lang="en-US" i="1" dirty="0">
                        <a:latin typeface="Cambria Math" panose="02040503050406030204" pitchFamily="18" charset="0"/>
                      </a:rPr>
                      <m:t> = </m:t>
                    </m:r>
                    <m:r>
                      <a:rPr lang="en-US" i="1" dirty="0">
                        <a:latin typeface="Cambria Math" panose="02040503050406030204" pitchFamily="18" charset="0"/>
                      </a:rPr>
                      <m:t>𝑚</m:t>
                    </m:r>
                    <m:r>
                      <a:rPr lang="en-US" i="1" dirty="0">
                        <a:latin typeface="Cambria Math" panose="02040503050406030204" pitchFamily="18" charset="0"/>
                      </a:rPr>
                      <m:t>]</m:t>
                    </m:r>
                  </m:oMath>
                </a14:m>
                <a:endParaRPr lang="en-US" dirty="0"/>
              </a:p>
              <a:p>
                <a:endParaRPr lang="en-US" dirty="0"/>
              </a:p>
              <a:p>
                <a:r>
                  <a:rPr lang="en-US" dirty="0"/>
                  <a:t>If </a:t>
                </a:r>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 </m:t>
                    </m:r>
                    <m:r>
                      <a:rPr lang="en-US" i="1" dirty="0">
                        <a:latin typeface="Cambria Math" panose="02040503050406030204" pitchFamily="18" charset="0"/>
                      </a:rPr>
                      <m:t>𝑀</m:t>
                    </m:r>
                    <m:r>
                      <a:rPr lang="en-US" i="1" dirty="0">
                        <a:latin typeface="Cambria Math" panose="02040503050406030204" pitchFamily="18" charset="0"/>
                      </a:rPr>
                      <m:t> = </m:t>
                    </m:r>
                    <m:r>
                      <a:rPr lang="en-US" i="1" dirty="0">
                        <a:latin typeface="Cambria Math" panose="02040503050406030204" pitchFamily="18" charset="0"/>
                      </a:rPr>
                      <m:t>𝑚</m:t>
                    </m:r>
                    <m:r>
                      <a:rPr lang="en-US" i="1" dirty="0">
                        <a:latin typeface="Cambria Math" panose="02040503050406030204" pitchFamily="18" charset="0"/>
                      </a:rPr>
                      <m:t> | </m:t>
                    </m:r>
                    <m:r>
                      <a:rPr lang="en-US" i="1" dirty="0">
                        <a:latin typeface="Cambria Math" panose="02040503050406030204" pitchFamily="18" charset="0"/>
                      </a:rPr>
                      <m:t>𝐶</m:t>
                    </m:r>
                    <m:r>
                      <a:rPr lang="en-US" i="1" dirty="0">
                        <a:latin typeface="Cambria Math" panose="02040503050406030204" pitchFamily="18" charset="0"/>
                      </a:rPr>
                      <m:t>=</m:t>
                    </m:r>
                    <m:r>
                      <a:rPr lang="en-US" i="1" dirty="0">
                        <a:latin typeface="Cambria Math" panose="02040503050406030204" pitchFamily="18" charset="0"/>
                      </a:rPr>
                      <m:t>𝑐</m:t>
                    </m:r>
                    <m:r>
                      <a:rPr lang="en-US" i="1" dirty="0">
                        <a:latin typeface="Cambria Math" panose="02040503050406030204" pitchFamily="18" charset="0"/>
                      </a:rPr>
                      <m:t> ]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𝑀</m:t>
                    </m:r>
                    <m:r>
                      <a:rPr lang="en-US" i="1" dirty="0">
                        <a:latin typeface="Cambria Math" panose="02040503050406030204" pitchFamily="18" charset="0"/>
                      </a:rPr>
                      <m:t> = </m:t>
                    </m:r>
                    <m:r>
                      <a:rPr lang="en-US" i="1" dirty="0">
                        <a:latin typeface="Cambria Math" panose="02040503050406030204" pitchFamily="18" charset="0"/>
                      </a:rPr>
                      <m:t>𝑚</m:t>
                    </m:r>
                    <m:r>
                      <a:rPr lang="en-US" i="1" dirty="0">
                        <a:latin typeface="Cambria Math" panose="02040503050406030204" pitchFamily="18" charset="0"/>
                      </a:rPr>
                      <m:t>]</m:t>
                    </m:r>
                  </m:oMath>
                </a14:m>
                <a:r>
                  <a:rPr lang="en-US" dirty="0"/>
                  <a:t>, </a:t>
                </a:r>
              </a:p>
              <a:p>
                <a:pPr marL="0" indent="0">
                  <a:buNone/>
                </a:pPr>
                <a:r>
                  <a:rPr lang="en-US" dirty="0"/>
                  <a:t>	then </a:t>
                </a:r>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 </m:t>
                    </m:r>
                    <m:r>
                      <a:rPr lang="en-US" i="1" dirty="0">
                        <a:latin typeface="Cambria Math" panose="02040503050406030204" pitchFamily="18" charset="0"/>
                      </a:rPr>
                      <m:t>𝐶</m:t>
                    </m:r>
                    <m:r>
                      <a:rPr lang="en-US" i="1" dirty="0">
                        <a:latin typeface="Cambria Math" panose="02040503050406030204" pitchFamily="18" charset="0"/>
                      </a:rPr>
                      <m:t> = </m:t>
                    </m:r>
                    <m:r>
                      <a:rPr lang="en-US" i="1" dirty="0">
                        <a:latin typeface="Cambria Math" panose="02040503050406030204" pitchFamily="18" charset="0"/>
                      </a:rPr>
                      <m:t>𝑐</m:t>
                    </m:r>
                    <m:r>
                      <a:rPr lang="en-US" i="1" dirty="0">
                        <a:latin typeface="Cambria Math" panose="02040503050406030204" pitchFamily="18" charset="0"/>
                      </a:rPr>
                      <m:t> | </m:t>
                    </m:r>
                    <m:r>
                      <a:rPr lang="en-US" i="1" dirty="0">
                        <a:latin typeface="Cambria Math" panose="02040503050406030204" pitchFamily="18" charset="0"/>
                      </a:rPr>
                      <m:t>𝑀</m:t>
                    </m:r>
                    <m:r>
                      <a:rPr lang="en-US" i="1" dirty="0">
                        <a:latin typeface="Cambria Math" panose="02040503050406030204" pitchFamily="18" charset="0"/>
                      </a:rPr>
                      <m:t>=</m:t>
                    </m:r>
                    <m:r>
                      <a:rPr lang="en-US" i="1" dirty="0">
                        <a:latin typeface="Cambria Math" panose="02040503050406030204" pitchFamily="18" charset="0"/>
                      </a:rPr>
                      <m:t>𝑚</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𝐶</m:t>
                    </m:r>
                    <m:r>
                      <a:rPr lang="en-US" i="1" dirty="0">
                        <a:latin typeface="Cambria Math" panose="02040503050406030204" pitchFamily="18" charset="0"/>
                      </a:rPr>
                      <m:t> = </m:t>
                    </m:r>
                    <m:r>
                      <a:rPr lang="en-US" i="1" dirty="0">
                        <a:latin typeface="Cambria Math" panose="02040503050406030204" pitchFamily="18" charset="0"/>
                      </a:rPr>
                      <m:t>𝑐</m:t>
                    </m:r>
                    <m:r>
                      <a:rPr lang="en-US" i="1" dirty="0">
                        <a:latin typeface="Cambria Math" panose="02040503050406030204" pitchFamily="18" charset="0"/>
                      </a:rPr>
                      <m:t>]</m:t>
                    </m:r>
                  </m:oMath>
                </a14:m>
                <a:endParaRPr lang="en-US" dirty="0"/>
              </a:p>
              <a:p>
                <a:endParaRPr lang="en-US" dirty="0"/>
              </a:p>
              <a:p>
                <a:endParaRPr lang="en-US" dirty="0"/>
              </a:p>
              <a:p>
                <a:endParaRPr lang="en-US" dirty="0"/>
              </a:p>
              <a:p>
                <a:endParaRPr lang="en-US" dirty="0"/>
              </a:p>
              <a:p>
                <a:endParaRPr lang="en-US" dirty="0"/>
              </a:p>
            </p:txBody>
          </p:sp>
        </mc:Choice>
        <mc:Fallback>
          <p:sp>
            <p:nvSpPr>
              <p:cNvPr id="3" name="Content Placeholder 2">
                <a:extLst>
                  <a:ext uri="{FF2B5EF4-FFF2-40B4-BE49-F238E27FC236}">
                    <a16:creationId xmlns:a16="http://schemas.microsoft.com/office/drawing/2014/main" id="{9173465D-CD49-E1D6-3BEB-C9DC765441A9}"/>
                  </a:ext>
                </a:extLst>
              </p:cNvPr>
              <p:cNvSpPr>
                <a:spLocks noGrp="1" noRot="1" noChangeAspect="1" noMove="1" noResize="1" noEditPoints="1" noAdjustHandles="1" noChangeArrowheads="1" noChangeShapeType="1" noTextEdit="1"/>
              </p:cNvSpPr>
              <p:nvPr>
                <p:ph idx="1"/>
              </p:nvPr>
            </p:nvSpPr>
            <p:spPr>
              <a:xfrm>
                <a:off x="445477" y="1743197"/>
                <a:ext cx="11596364" cy="4351338"/>
              </a:xfrm>
              <a:blipFill>
                <a:blip r:embed="rId3"/>
                <a:stretch>
                  <a:fillRect l="-985" t="-2326"/>
                </a:stretch>
              </a:blipFill>
            </p:spPr>
            <p:txBody>
              <a:bodyPr/>
              <a:lstStyle/>
              <a:p>
                <a:r>
                  <a:rPr lang="en-US">
                    <a:noFill/>
                  </a:rPr>
                  <a:t> </a:t>
                </a:r>
              </a:p>
            </p:txBody>
          </p:sp>
        </mc:Fallback>
      </mc:AlternateContent>
    </p:spTree>
    <p:extLst>
      <p:ext uri="{BB962C8B-B14F-4D97-AF65-F5344CB8AC3E}">
        <p14:creationId xmlns:p14="http://schemas.microsoft.com/office/powerpoint/2010/main" val="9760110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41082-422A-441E-95B0-DC2D1CD01824}"/>
              </a:ext>
            </a:extLst>
          </p:cNvPr>
          <p:cNvSpPr>
            <a:spLocks noGrp="1"/>
          </p:cNvSpPr>
          <p:nvPr>
            <p:ph type="title"/>
          </p:nvPr>
        </p:nvSpPr>
        <p:spPr/>
        <p:txBody>
          <a:bodyPr/>
          <a:lstStyle/>
          <a:p>
            <a:r>
              <a:rPr lang="en-US" dirty="0">
                <a:latin typeface="Aptos Display"/>
              </a:rPr>
              <a:t>One-time pad</a:t>
            </a:r>
          </a:p>
        </p:txBody>
      </p:sp>
      <p:sp>
        <p:nvSpPr>
          <p:cNvPr id="3" name="Content Placeholder 2">
            <a:extLst>
              <a:ext uri="{FF2B5EF4-FFF2-40B4-BE49-F238E27FC236}">
                <a16:creationId xmlns:a16="http://schemas.microsoft.com/office/drawing/2014/main" id="{1EAF57F0-3824-4C36-B690-E5C73E5B3508}"/>
              </a:ext>
            </a:extLst>
          </p:cNvPr>
          <p:cNvSpPr>
            <a:spLocks noGrp="1"/>
          </p:cNvSpPr>
          <p:nvPr>
            <p:ph idx="1"/>
          </p:nvPr>
        </p:nvSpPr>
        <p:spPr/>
        <p:txBody>
          <a:bodyPr/>
          <a:lstStyle/>
          <a:p>
            <a:r>
              <a:rPr lang="en-US" dirty="0">
                <a:latin typeface="Aptos"/>
              </a:rPr>
              <a:t>rotation by different shifts</a:t>
            </a:r>
          </a:p>
          <a:p>
            <a:r>
              <a:rPr lang="en-US" dirty="0">
                <a:latin typeface="Aptos"/>
              </a:rPr>
              <a:t>Key length the same as message length</a:t>
            </a:r>
          </a:p>
        </p:txBody>
      </p:sp>
      <p:sp>
        <p:nvSpPr>
          <p:cNvPr id="4" name="Date Placeholder 3">
            <a:extLst>
              <a:ext uri="{FF2B5EF4-FFF2-40B4-BE49-F238E27FC236}">
                <a16:creationId xmlns:a16="http://schemas.microsoft.com/office/drawing/2014/main" id="{70FB080E-E6BB-4227-9933-0FDA391F134E}"/>
              </a:ext>
            </a:extLst>
          </p:cNvPr>
          <p:cNvSpPr>
            <a:spLocks noGrp="1"/>
          </p:cNvSpPr>
          <p:nvPr>
            <p:ph type="dt" sz="half" idx="4294967295"/>
          </p:nvPr>
        </p:nvSpPr>
        <p:spPr>
          <a:xfrm>
            <a:off x="1981200" y="6356351"/>
            <a:ext cx="2133600" cy="365125"/>
          </a:xfrm>
        </p:spPr>
        <p:txBody>
          <a:bodyPr/>
          <a:lstStyle/>
          <a:p>
            <a:pPr>
              <a:defRPr/>
            </a:pPr>
            <a:fld id="{A7DE4472-E95E-430B-AA46-2D76F67E4D17}" type="datetime1">
              <a:rPr lang="en-US" smtClean="0"/>
              <a:pPr>
                <a:defRPr/>
              </a:pPr>
              <a:t>8/26/26</a:t>
            </a:fld>
            <a:endParaRPr lang="en-GB"/>
          </a:p>
        </p:txBody>
      </p:sp>
      <p:sp>
        <p:nvSpPr>
          <p:cNvPr id="5" name="Footer Placeholder 4">
            <a:extLst>
              <a:ext uri="{FF2B5EF4-FFF2-40B4-BE49-F238E27FC236}">
                <a16:creationId xmlns:a16="http://schemas.microsoft.com/office/drawing/2014/main" id="{3657CA41-42D5-4E67-A08E-6854E3BF094B}"/>
              </a:ext>
            </a:extLst>
          </p:cNvPr>
          <p:cNvSpPr>
            <a:spLocks noGrp="1"/>
          </p:cNvSpPr>
          <p:nvPr>
            <p:ph type="ftr" sz="quarter" idx="4294967295"/>
          </p:nvPr>
        </p:nvSpPr>
        <p:spPr>
          <a:xfrm>
            <a:off x="4648200" y="6356351"/>
            <a:ext cx="2895600" cy="365125"/>
          </a:xfrm>
        </p:spPr>
        <p:txBody>
          <a:bodyPr/>
          <a:lstStyle/>
          <a:p>
            <a:pPr>
              <a:defRPr/>
            </a:pPr>
            <a:r>
              <a:rPr lang="en-GB">
                <a:latin typeface="Aptos"/>
              </a:rPr>
              <a:t>Cryptography</a:t>
            </a:r>
          </a:p>
        </p:txBody>
      </p:sp>
      <p:sp>
        <p:nvSpPr>
          <p:cNvPr id="6" name="Slide Number Placeholder 5">
            <a:extLst>
              <a:ext uri="{FF2B5EF4-FFF2-40B4-BE49-F238E27FC236}">
                <a16:creationId xmlns:a16="http://schemas.microsoft.com/office/drawing/2014/main" id="{74837034-C552-4F65-91E4-2B2B83013876}"/>
              </a:ext>
            </a:extLst>
          </p:cNvPr>
          <p:cNvSpPr>
            <a:spLocks noGrp="1"/>
          </p:cNvSpPr>
          <p:nvPr>
            <p:ph type="sldNum" sz="quarter" idx="4294967295"/>
          </p:nvPr>
        </p:nvSpPr>
        <p:spPr>
          <a:xfrm>
            <a:off x="8077200" y="6356351"/>
            <a:ext cx="2133600" cy="365125"/>
          </a:xfrm>
        </p:spPr>
        <p:txBody>
          <a:bodyPr/>
          <a:lstStyle/>
          <a:p>
            <a:pPr>
              <a:defRPr/>
            </a:pPr>
            <a:fld id="{40430D0A-94E0-4A9E-8011-005B3BE16F20}" type="slidenum">
              <a:rPr lang="en-GB" smtClean="0">
                <a:latin typeface="Aptos"/>
              </a:rPr>
              <a:pPr>
                <a:defRPr/>
              </a:pPr>
              <a:t>36</a:t>
            </a:fld>
            <a:endParaRPr lang="en-GB">
              <a:latin typeface="Aptos"/>
            </a:endParaRPr>
          </a:p>
        </p:txBody>
      </p:sp>
    </p:spTree>
    <p:extLst>
      <p:ext uri="{BB962C8B-B14F-4D97-AF65-F5344CB8AC3E}">
        <p14:creationId xmlns:p14="http://schemas.microsoft.com/office/powerpoint/2010/main" val="4446396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43F74-034E-4BDE-B982-7F6D0854C450}"/>
              </a:ext>
            </a:extLst>
          </p:cNvPr>
          <p:cNvSpPr>
            <a:spLocks noGrp="1"/>
          </p:cNvSpPr>
          <p:nvPr>
            <p:ph type="title"/>
          </p:nvPr>
        </p:nvSpPr>
        <p:spPr/>
        <p:txBody>
          <a:bodyPr/>
          <a:lstStyle/>
          <a:p>
            <a:r>
              <a:rPr lang="en-US" dirty="0">
                <a:latin typeface="Aptos Display"/>
              </a:rPr>
              <a:t>Rotation vs modular addition </a:t>
            </a:r>
          </a:p>
        </p:txBody>
      </p:sp>
      <p:sp>
        <p:nvSpPr>
          <p:cNvPr id="3" name="Content Placeholder 2">
            <a:extLst>
              <a:ext uri="{FF2B5EF4-FFF2-40B4-BE49-F238E27FC236}">
                <a16:creationId xmlns:a16="http://schemas.microsoft.com/office/drawing/2014/main" id="{A331CB3C-B56D-4719-8BED-2BED4E1E1662}"/>
              </a:ext>
            </a:extLst>
          </p:cNvPr>
          <p:cNvSpPr>
            <a:spLocks noGrp="1"/>
          </p:cNvSpPr>
          <p:nvPr>
            <p:ph idx="1"/>
          </p:nvPr>
        </p:nvSpPr>
        <p:spPr>
          <a:xfrm>
            <a:off x="838200" y="1803400"/>
            <a:ext cx="10515600" cy="558800"/>
          </a:xfrm>
        </p:spPr>
        <p:txBody>
          <a:bodyPr/>
          <a:lstStyle/>
          <a:p>
            <a:pPr marL="0" indent="0">
              <a:buNone/>
            </a:pPr>
            <a:r>
              <a:rPr lang="en-US" sz="2000" dirty="0"/>
              <a:t>Plaintext </a:t>
            </a:r>
            <a:r>
              <a:rPr lang="en-US" sz="2000" b="1" dirty="0"/>
              <a:t>r</a:t>
            </a:r>
            <a:r>
              <a:rPr lang="en-US" sz="2000" dirty="0"/>
              <a:t>   with key </a:t>
            </a:r>
            <a:r>
              <a:rPr lang="en-US" sz="2000" b="1" dirty="0"/>
              <a:t>k = 24</a:t>
            </a:r>
            <a:r>
              <a:rPr lang="en-US" sz="2000" dirty="0"/>
              <a:t>   gives ciphertext </a:t>
            </a:r>
            <a:r>
              <a:rPr lang="en-US" sz="2000" b="1" dirty="0"/>
              <a:t>p</a:t>
            </a:r>
          </a:p>
        </p:txBody>
      </p:sp>
      <p:sp>
        <p:nvSpPr>
          <p:cNvPr id="40" name="Card 40"/>
          <p:cNvSpPr txBox="1"/>
          <p:nvPr/>
        </p:nvSpPr>
        <p:spPr>
          <a:xfrm>
            <a:off x="838200" y="2641600"/>
            <a:ext cx="5029200" cy="3098800"/>
          </a:xfrm>
          <a:prstGeom prst="roundRect">
            <a:avLst>
              <a:gd name="adj" fmla="val 6000"/>
            </a:avLst>
          </a:prstGeom>
          <a:solidFill>
            <a:srgbClr val="F4F6F9"/>
          </a:solidFill>
          <a:ln w="12700">
            <a:solidFill>
              <a:srgbClr val="C9D2E0"/>
            </a:solidFill>
          </a:ln>
        </p:spPr>
        <p:txBody>
          <a:bodyPr lIns="228600" tIns="182880" rIns="228600" bIns="182880" anchor="t"/>
          <a:lstStyle/>
          <a:p>
            <a:pPr marL="0" indent="0" algn="l">
              <a:buNone/>
            </a:pPr>
            <a:r>
              <a:rPr lang="en-US" sz="2000" b="1" dirty="0">
                <a:solidFill>
                  <a:srgbClr val="1F3864"/>
                </a:solidFill>
              </a:rPr>
              <a:t>Rotation</a:t>
            </a:r>
          </a:p>
          <a:p>
            <a:pPr marL="0" indent="0" algn="l">
              <a:buNone/>
            </a:pPr>
            <a:r>
              <a:rPr lang="en-US" sz="1800" b="0" dirty="0">
                <a:solidFill>
                  <a:srgbClr val="000000"/>
                </a:solidFill>
              </a:rPr>
              <a:t>Slide the alphabet 24 places forward:</a:t>
            </a:r>
          </a:p>
          <a:p>
            <a:pPr marL="0" indent="0" algn="l">
              <a:buNone/>
            </a:pPr>
            <a:r>
              <a:rPr lang="en-US" sz="1800" b="1" dirty="0">
                <a:solidFill>
                  <a:srgbClr val="1F3864"/>
                </a:solidFill>
              </a:rPr>
              <a:t>r → s → t → … → o → p</a:t>
            </a:r>
          </a:p>
          <a:p>
            <a:pPr marL="0" indent="0" algn="l">
              <a:buNone/>
            </a:pPr>
            <a:r>
              <a:rPr lang="en-US" sz="1800" b="0" dirty="0">
                <a:solidFill>
                  <a:srgbClr val="000000"/>
                </a:solidFill>
              </a:rPr>
              <a:t>Same as sliding back 2 places,</a:t>
            </a:r>
          </a:p>
          <a:p>
            <a:pPr marL="0" indent="0" algn="l">
              <a:buNone/>
            </a:pPr>
            <a:r>
              <a:rPr lang="en-US" sz="1800" b="0" dirty="0">
                <a:solidFill>
                  <a:srgbClr val="000000"/>
                </a:solidFill>
              </a:rPr>
              <a:t>since 24 ≡ −2 (mod 26)</a:t>
            </a:r>
          </a:p>
        </p:txBody>
      </p:sp>
      <p:sp>
        <p:nvSpPr>
          <p:cNvPr id="41" name="Card 41"/>
          <p:cNvSpPr txBox="1"/>
          <p:nvPr/>
        </p:nvSpPr>
        <p:spPr>
          <a:xfrm>
            <a:off x="6324600" y="2641600"/>
            <a:ext cx="5029200" cy="3098800"/>
          </a:xfrm>
          <a:prstGeom prst="roundRect">
            <a:avLst>
              <a:gd name="adj" fmla="val 6000"/>
            </a:avLst>
          </a:prstGeom>
          <a:solidFill>
            <a:srgbClr val="F4F6F9"/>
          </a:solidFill>
          <a:ln w="12700">
            <a:solidFill>
              <a:srgbClr val="C9D2E0"/>
            </a:solidFill>
          </a:ln>
        </p:spPr>
        <p:txBody>
          <a:bodyPr lIns="228600" tIns="182880" rIns="228600" bIns="182880" anchor="t"/>
          <a:lstStyle/>
          <a:p>
            <a:pPr marL="0" indent="0" algn="l">
              <a:buNone/>
            </a:pPr>
            <a:r>
              <a:rPr lang="en-US" sz="2000" b="1" dirty="0">
                <a:solidFill>
                  <a:srgbClr val="1F3864"/>
                </a:solidFill>
              </a:rPr>
              <a:t>Modular addition</a:t>
            </a:r>
          </a:p>
          <a:p>
            <a:pPr marL="0" indent="0" algn="l">
              <a:buNone/>
            </a:pPr>
            <a:r>
              <a:rPr lang="en-US" sz="1800" b="0" dirty="0">
                <a:solidFill>
                  <a:srgbClr val="000000"/>
                </a:solidFill>
              </a:rPr>
              <a:t>Index the letters a = 1 … z = 26:</a:t>
            </a:r>
          </a:p>
          <a:p>
            <a:pPr marL="0" indent="0" algn="l">
              <a:buNone/>
            </a:pPr>
            <a:r>
              <a:rPr lang="en-US" sz="1800" b="0" dirty="0">
                <a:solidFill>
                  <a:srgbClr val="000000"/>
                </a:solidFill>
              </a:rPr>
              <a:t>r = 18,   k = 24</a:t>
            </a:r>
          </a:p>
          <a:p>
            <a:pPr marL="0" indent="0" algn="l">
              <a:buNone/>
            </a:pPr>
            <a:r>
              <a:rPr lang="en-US" sz="1800" b="0" dirty="0">
                <a:solidFill>
                  <a:srgbClr val="000000"/>
                </a:solidFill>
              </a:rPr>
              <a:t>18 + 24 = 42</a:t>
            </a:r>
          </a:p>
          <a:p>
            <a:pPr marL="0" indent="0" algn="l">
              <a:buNone/>
            </a:pPr>
            <a:r>
              <a:rPr lang="en-US" sz="1800" b="1" dirty="0">
                <a:solidFill>
                  <a:srgbClr val="1F3864"/>
                </a:solidFill>
              </a:rPr>
              <a:t>42 mod 26 = 16 = p</a:t>
            </a:r>
          </a:p>
        </p:txBody>
      </p:sp>
      <p:sp>
        <p:nvSpPr>
          <p:cNvPr id="42" name="Takeaway"/>
          <p:cNvSpPr txBox="1"/>
          <p:nvPr/>
        </p:nvSpPr>
        <p:spPr>
          <a:xfrm>
            <a:off x="838200" y="6045200"/>
            <a:ext cx="10515600" cy="508000"/>
          </a:xfrm>
          <a:prstGeom prst="rect">
            <a:avLst/>
          </a:prstGeom>
          <a:noFill/>
          <a:ln w="19050" cap="flat">
            <a:noFill/>
          </a:ln>
        </p:spPr>
        <p:txBody>
          <a:bodyPr lIns="0" tIns="0" rIns="0" bIns="0" anchor="ctr"/>
          <a:lstStyle/>
          <a:p>
            <a:pPr marL="0" indent="0">
              <a:buNone/>
            </a:pPr>
            <a:r>
              <a:rPr lang="en-US" sz="1800" i="1" dirty="0">
                <a:solidFill>
                  <a:srgbClr val="404040"/>
                </a:solidFill>
              </a:rPr>
              <a:t>Rotating by k and adding k mod 26 are two views of the same operation.</a:t>
            </a:r>
          </a:p>
        </p:txBody>
      </p:sp>
    </p:spTree>
    <p:extLst>
      <p:ext uri="{BB962C8B-B14F-4D97-AF65-F5344CB8AC3E}">
        <p14:creationId xmlns:p14="http://schemas.microsoft.com/office/powerpoint/2010/main" val="27807661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30530-4BC6-40C8-8D0A-6A19BD91CA21}"/>
              </a:ext>
            </a:extLst>
          </p:cNvPr>
          <p:cNvSpPr>
            <a:spLocks noGrp="1"/>
          </p:cNvSpPr>
          <p:nvPr>
            <p:ph type="title"/>
          </p:nvPr>
        </p:nvSpPr>
        <p:spPr/>
        <p:txBody>
          <a:bodyPr/>
          <a:lstStyle/>
          <a:p>
            <a:r>
              <a:rPr lang="en-US" dirty="0">
                <a:latin typeface="Aptos Display"/>
              </a:rPr>
              <a:t>XOR</a:t>
            </a:r>
          </a:p>
        </p:txBody>
      </p:sp>
      <p:sp>
        <p:nvSpPr>
          <p:cNvPr id="3" name="Content Placeholder 2">
            <a:extLst>
              <a:ext uri="{FF2B5EF4-FFF2-40B4-BE49-F238E27FC236}">
                <a16:creationId xmlns:a16="http://schemas.microsoft.com/office/drawing/2014/main" id="{56B8F183-2A46-4506-8ABA-F27E5442C7B3}"/>
              </a:ext>
            </a:extLst>
          </p:cNvPr>
          <p:cNvSpPr>
            <a:spLocks noGrp="1"/>
          </p:cNvSpPr>
          <p:nvPr>
            <p:ph idx="1"/>
          </p:nvPr>
        </p:nvSpPr>
        <p:spPr/>
        <p:txBody>
          <a:bodyPr/>
          <a:lstStyle/>
          <a:p>
            <a:r>
              <a:rPr lang="en-US" dirty="0">
                <a:sym typeface="Symbol"/>
              </a:rPr>
              <a:t>A  B</a:t>
            </a:r>
          </a:p>
          <a:p>
            <a:endParaRPr lang="en-US" dirty="0">
              <a:sym typeface="Symbol"/>
            </a:endParaRPr>
          </a:p>
          <a:p>
            <a:endParaRPr lang="en-US" dirty="0">
              <a:sym typeface="Symbol"/>
            </a:endParaRPr>
          </a:p>
          <a:p>
            <a:endParaRPr lang="en-US" dirty="0">
              <a:sym typeface="Symbol"/>
            </a:endParaRPr>
          </a:p>
          <a:p>
            <a:endParaRPr lang="en-US" dirty="0">
              <a:sym typeface="Symbol"/>
            </a:endParaRPr>
          </a:p>
          <a:p>
            <a:endParaRPr lang="en-US" dirty="0">
              <a:sym typeface="Symbol"/>
            </a:endParaRPr>
          </a:p>
          <a:p>
            <a:pPr marL="0" indent="0">
              <a:buNone/>
            </a:pPr>
            <a:r>
              <a:rPr lang="en-US" dirty="0">
                <a:sym typeface="Symbol"/>
              </a:rPr>
              <a:t>Equivalent to addition mod 2</a:t>
            </a:r>
          </a:p>
        </p:txBody>
      </p:sp>
      <p:graphicFrame>
        <p:nvGraphicFramePr>
          <p:cNvPr id="5" name="Table 4">
            <a:extLst>
              <a:ext uri="{FF2B5EF4-FFF2-40B4-BE49-F238E27FC236}">
                <a16:creationId xmlns:a16="http://schemas.microsoft.com/office/drawing/2014/main" id="{1FAB121A-2F6F-487B-9475-B8C1C645F561}"/>
              </a:ext>
            </a:extLst>
          </p:cNvPr>
          <p:cNvGraphicFramePr>
            <a:graphicFrameLocks noGrp="1"/>
          </p:cNvGraphicFramePr>
          <p:nvPr/>
        </p:nvGraphicFramePr>
        <p:xfrm>
          <a:off x="2082802" y="2514600"/>
          <a:ext cx="8127999" cy="2286000"/>
        </p:xfrm>
        <a:graphic>
          <a:graphicData uri="http://schemas.openxmlformats.org/drawingml/2006/table">
            <a:tbl>
              <a:tblPr>
                <a:tableStyleId>{073A0DAA-6AF3-43AB-8588-CEC1D06C72B9}</a:tableStyleId>
              </a:tblPr>
              <a:tblGrid>
                <a:gridCol w="2709333">
                  <a:extLst>
                    <a:ext uri="{9D8B030D-6E8A-4147-A177-3AD203B41FA5}">
                      <a16:colId xmlns:a16="http://schemas.microsoft.com/office/drawing/2014/main" val="1737638922"/>
                    </a:ext>
                  </a:extLst>
                </a:gridCol>
                <a:gridCol w="2709333">
                  <a:extLst>
                    <a:ext uri="{9D8B030D-6E8A-4147-A177-3AD203B41FA5}">
                      <a16:colId xmlns:a16="http://schemas.microsoft.com/office/drawing/2014/main" val="467017472"/>
                    </a:ext>
                  </a:extLst>
                </a:gridCol>
                <a:gridCol w="2709333">
                  <a:extLst>
                    <a:ext uri="{9D8B030D-6E8A-4147-A177-3AD203B41FA5}">
                      <a16:colId xmlns:a16="http://schemas.microsoft.com/office/drawing/2014/main" val="1158571416"/>
                    </a:ext>
                  </a:extLst>
                </a:gridCol>
              </a:tblGrid>
              <a:tr h="370840">
                <a:tc gridSpan="2">
                  <a:txBody>
                    <a:bodyPr/>
                    <a:lstStyle/>
                    <a:p>
                      <a:pPr algn="ctr"/>
                      <a:r>
                        <a:rPr lang="en-US" sz="2400" dirty="0"/>
                        <a:t>input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3023773"/>
                  </a:ext>
                </a:extLst>
              </a:tr>
              <a:tr h="370840">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8262903"/>
                  </a:ext>
                </a:extLst>
              </a:tr>
              <a:tr h="370840">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580065"/>
                  </a:ext>
                </a:extLst>
              </a:tr>
              <a:tr h="370840">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7964816"/>
                  </a:ext>
                </a:extLst>
              </a:tr>
              <a:tr h="370840">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77084805"/>
                  </a:ext>
                </a:extLst>
              </a:tr>
            </a:tbl>
          </a:graphicData>
        </a:graphic>
      </p:graphicFrame>
    </p:spTree>
    <p:extLst>
      <p:ext uri="{BB962C8B-B14F-4D97-AF65-F5344CB8AC3E}">
        <p14:creationId xmlns:p14="http://schemas.microsoft.com/office/powerpoint/2010/main" val="42013095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ptos Display"/>
              </a:rPr>
              <a:t>One-time pad</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dirty="0"/>
                  <a:t>Let </a:t>
                </a:r>
                <a14:m>
                  <m:oMath xmlns:m="http://schemas.openxmlformats.org/officeDocument/2006/math">
                    <m:r>
                      <a:rPr lang="en-US" b="1" i="1" dirty="0" smtClean="0">
                        <a:latin typeface="Cambria Math" panose="02040503050406030204" pitchFamily="18" charset="0"/>
                      </a:rPr>
                      <m:t>ℳ</m:t>
                    </m:r>
                    <m:r>
                      <a:rPr lang="en-US" i="1" dirty="0">
                        <a:latin typeface="Cambria Math" panose="02040503050406030204" pitchFamily="18" charset="0"/>
                      </a:rPr>
                      <m:t>= {0,1}</m:t>
                    </m:r>
                    <m:r>
                      <a:rPr lang="en-US" i="1" baseline="30000" dirty="0">
                        <a:latin typeface="Cambria Math" panose="02040503050406030204" pitchFamily="18" charset="0"/>
                      </a:rPr>
                      <m:t>𝑛</m:t>
                    </m:r>
                  </m:oMath>
                </a14:m>
                <a:endParaRPr lang="en-US" dirty="0"/>
              </a:p>
              <a:p>
                <a14:m>
                  <m:oMath xmlns:m="http://schemas.openxmlformats.org/officeDocument/2006/math">
                    <m:r>
                      <m:rPr>
                        <m:sty m:val="p"/>
                      </m:rPr>
                      <a:rPr lang="en-US" i="0" dirty="0" smtClean="0">
                        <a:latin typeface="Cambria Math" panose="02040503050406030204" pitchFamily="18" charset="0"/>
                      </a:rPr>
                      <m:t>Gen</m:t>
                    </m:r>
                    <m:r>
                      <a:rPr lang="en-US" b="0" i="0" dirty="0" smtClean="0">
                        <a:latin typeface="Cambria Math" panose="02040503050406030204" pitchFamily="18" charset="0"/>
                      </a:rPr>
                      <m:t>()</m:t>
                    </m:r>
                  </m:oMath>
                </a14:m>
                <a:r>
                  <a:rPr lang="en-US" dirty="0"/>
                  <a:t>: choose a uniform key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  {0,1}</m:t>
                    </m:r>
                    <m:r>
                      <a:rPr lang="en-US" i="1" baseline="30000" dirty="0">
                        <a:latin typeface="Cambria Math" panose="02040503050406030204" pitchFamily="18" charset="0"/>
                        <a:sym typeface="Symbol"/>
                      </a:rPr>
                      <m:t>𝑛</m:t>
                    </m:r>
                  </m:oMath>
                </a14:m>
                <a:endParaRPr lang="en-US" dirty="0">
                  <a:sym typeface="Symbol"/>
                </a:endParaRPr>
              </a:p>
              <a:p>
                <a14:m>
                  <m:oMath xmlns:m="http://schemas.openxmlformats.org/officeDocument/2006/math">
                    <m:r>
                      <m:rPr>
                        <m:sty m:val="p"/>
                      </m:rPr>
                      <a:rPr lang="en-US" i="0" dirty="0" smtClean="0">
                        <a:latin typeface="Cambria Math" panose="02040503050406030204" pitchFamily="18" charset="0"/>
                        <a:sym typeface="Symbol"/>
                      </a:rPr>
                      <m:t>Enc</m:t>
                    </m:r>
                    <m:r>
                      <a:rPr lang="en-US" i="1" baseline="-25000" dirty="0" err="1">
                        <a:latin typeface="Cambria Math" panose="02040503050406030204" pitchFamily="18" charset="0"/>
                        <a:sym typeface="Symbol"/>
                      </a:rPr>
                      <m:t>𝑘</m:t>
                    </m:r>
                    <m:r>
                      <a:rPr lang="en-US" i="1" dirty="0">
                        <a:latin typeface="Cambria Math" panose="02040503050406030204" pitchFamily="18" charset="0"/>
                        <a:sym typeface="Symbol"/>
                      </a:rPr>
                      <m:t>(</m:t>
                    </m:r>
                    <m:r>
                      <a:rPr lang="en-US" i="1" dirty="0">
                        <a:latin typeface="Cambria Math" panose="02040503050406030204" pitchFamily="18" charset="0"/>
                        <a:sym typeface="Symbol"/>
                      </a:rPr>
                      <m:t>𝑚</m:t>
                    </m:r>
                    <m:r>
                      <a:rPr lang="en-US" i="1" dirty="0">
                        <a:latin typeface="Cambria Math" panose="02040503050406030204" pitchFamily="18" charset="0"/>
                        <a:sym typeface="Symbol"/>
                      </a:rPr>
                      <m:t>)</m:t>
                    </m:r>
                  </m:oMath>
                </a14:m>
                <a:r>
                  <a:rPr lang="en-US" dirty="0">
                    <a:sym typeface="Symbol"/>
                  </a:rPr>
                  <a:t>: </a:t>
                </a:r>
                <a14:m>
                  <m:oMath xmlns:m="http://schemas.openxmlformats.org/officeDocument/2006/math">
                    <m:r>
                      <a:rPr lang="en-US" b="0" i="1" dirty="0" smtClean="0">
                        <a:latin typeface="Cambria Math" panose="02040503050406030204" pitchFamily="18" charset="0"/>
                        <a:sym typeface="Symbol"/>
                      </a:rPr>
                      <m:t>𝑐</m:t>
                    </m:r>
                    <m:r>
                      <a:rPr lang="en-US" b="0" i="1" dirty="0" smtClean="0">
                        <a:latin typeface="Cambria Math" panose="02040503050406030204" pitchFamily="18" charset="0"/>
                        <a:sym typeface="Symbol"/>
                      </a:rPr>
                      <m:t>= </m:t>
                    </m:r>
                    <m:r>
                      <a:rPr lang="en-US" i="1" dirty="0" smtClean="0">
                        <a:latin typeface="Cambria Math" panose="02040503050406030204" pitchFamily="18" charset="0"/>
                        <a:sym typeface="Symbol"/>
                      </a:rPr>
                      <m:t>𝑘</m:t>
                    </m:r>
                    <m:r>
                      <a:rPr lang="en-US" i="1" dirty="0" smtClean="0">
                        <a:latin typeface="Cambria Math" panose="02040503050406030204" pitchFamily="18" charset="0"/>
                        <a:sym typeface="Symbol"/>
                      </a:rPr>
                      <m:t>  </m:t>
                    </m:r>
                    <m:r>
                      <a:rPr lang="en-US" i="1" dirty="0" smtClean="0">
                        <a:latin typeface="Cambria Math" panose="02040503050406030204" pitchFamily="18" charset="0"/>
                        <a:sym typeface="Symbol"/>
                      </a:rPr>
                      <m:t>𝑚</m:t>
                    </m:r>
                  </m:oMath>
                </a14:m>
                <a:r>
                  <a:rPr lang="en-US" dirty="0">
                    <a:sym typeface="Symbol"/>
                  </a:rPr>
                  <a:t>              </a:t>
                </a:r>
              </a:p>
              <a:p>
                <a14:m>
                  <m:oMath xmlns:m="http://schemas.openxmlformats.org/officeDocument/2006/math">
                    <m:r>
                      <m:rPr>
                        <m:sty m:val="p"/>
                      </m:rPr>
                      <a:rPr lang="en-US" i="0" dirty="0" smtClean="0">
                        <a:latin typeface="Cambria Math" panose="02040503050406030204" pitchFamily="18" charset="0"/>
                        <a:sym typeface="Symbol"/>
                      </a:rPr>
                      <m:t>Dec</m:t>
                    </m:r>
                    <m:r>
                      <a:rPr lang="en-US" i="1" baseline="-25000" dirty="0">
                        <a:latin typeface="Cambria Math" panose="02040503050406030204" pitchFamily="18" charset="0"/>
                        <a:sym typeface="Symbol"/>
                      </a:rPr>
                      <m:t>𝑘</m:t>
                    </m:r>
                    <m:r>
                      <a:rPr lang="en-US" i="1" dirty="0">
                        <a:latin typeface="Cambria Math" panose="02040503050406030204" pitchFamily="18" charset="0"/>
                        <a:sym typeface="Symbol"/>
                      </a:rPr>
                      <m:t>(</m:t>
                    </m:r>
                    <m:r>
                      <a:rPr lang="en-US" i="1" dirty="0">
                        <a:latin typeface="Cambria Math" panose="02040503050406030204" pitchFamily="18" charset="0"/>
                        <a:sym typeface="Symbol"/>
                      </a:rPr>
                      <m:t>𝑐</m:t>
                    </m:r>
                    <m:r>
                      <a:rPr lang="en-US" i="1" dirty="0">
                        <a:latin typeface="Cambria Math" panose="02040503050406030204" pitchFamily="18" charset="0"/>
                        <a:sym typeface="Symbol"/>
                      </a:rPr>
                      <m:t>)</m:t>
                    </m:r>
                  </m:oMath>
                </a14:m>
                <a:r>
                  <a:rPr lang="en-US" dirty="0">
                    <a:sym typeface="Symbol"/>
                  </a:rPr>
                  <a:t>: </a:t>
                </a:r>
                <a14:m>
                  <m:oMath xmlns:m="http://schemas.openxmlformats.org/officeDocument/2006/math">
                    <m:r>
                      <a:rPr lang="en-US" b="0" i="1" dirty="0" smtClean="0">
                        <a:latin typeface="Cambria Math" panose="02040503050406030204" pitchFamily="18" charset="0"/>
                        <a:sym typeface="Symbol"/>
                      </a:rPr>
                      <m:t>𝑚</m:t>
                    </m:r>
                    <m:r>
                      <a:rPr lang="en-US" b="0" i="1" dirty="0" smtClean="0">
                        <a:latin typeface="Cambria Math" panose="02040503050406030204" pitchFamily="18" charset="0"/>
                        <a:sym typeface="Symbol"/>
                      </a:rPr>
                      <m:t>= </m:t>
                    </m:r>
                    <m:r>
                      <a:rPr lang="en-US" i="1" dirty="0">
                        <a:latin typeface="Cambria Math" panose="02040503050406030204" pitchFamily="18" charset="0"/>
                        <a:sym typeface="Symbol"/>
                      </a:rPr>
                      <m:t>𝑘</m:t>
                    </m:r>
                    <m:r>
                      <a:rPr lang="en-US" i="1" dirty="0">
                        <a:latin typeface="Cambria Math" panose="02040503050406030204" pitchFamily="18" charset="0"/>
                        <a:sym typeface="Symbol"/>
                      </a:rPr>
                      <m:t>  </m:t>
                    </m:r>
                    <m:r>
                      <a:rPr lang="en-US" i="1" dirty="0">
                        <a:latin typeface="Cambria Math" panose="02040503050406030204" pitchFamily="18" charset="0"/>
                        <a:sym typeface="Symbol"/>
                      </a:rPr>
                      <m:t>𝑐</m:t>
                    </m:r>
                  </m:oMath>
                </a14:m>
                <a:endParaRPr lang="en-US" dirty="0">
                  <a:sym typeface="Symbol"/>
                </a:endParaRPr>
              </a:p>
              <a:p>
                <a:endParaRPr lang="en-US" dirty="0">
                  <a:sym typeface="Symbol"/>
                </a:endParaRPr>
              </a:p>
              <a:p>
                <a:r>
                  <a:rPr lang="en-US" dirty="0">
                    <a:sym typeface="Symbol"/>
                  </a:rPr>
                  <a:t>Correctness:</a:t>
                </a:r>
                <a:br>
                  <a:rPr lang="en-US" dirty="0">
                    <a:sym typeface="Symbol"/>
                  </a:rPr>
                </a:br>
                <a14:m>
                  <m:oMath xmlns:m="http://schemas.openxmlformats.org/officeDocument/2006/math">
                    <m:r>
                      <m:rPr>
                        <m:sty m:val="p"/>
                      </m:rPr>
                      <a:rPr lang="en-US" i="0" dirty="0" smtClean="0">
                        <a:latin typeface="Cambria Math" panose="02040503050406030204" pitchFamily="18" charset="0"/>
                        <a:sym typeface="Symbol"/>
                      </a:rPr>
                      <m:t>Dec</m:t>
                    </m:r>
                    <m:r>
                      <a:rPr lang="en-US" i="1" baseline="-25000" dirty="0">
                        <a:latin typeface="Cambria Math" panose="02040503050406030204" pitchFamily="18" charset="0"/>
                        <a:sym typeface="Symbol"/>
                      </a:rPr>
                      <m:t>𝑘</m:t>
                    </m:r>
                    <m:r>
                      <a:rPr lang="en-US" i="1" dirty="0">
                        <a:latin typeface="Cambria Math" panose="02040503050406030204" pitchFamily="18" charset="0"/>
                        <a:sym typeface="Symbol"/>
                      </a:rPr>
                      <m:t>( </m:t>
                    </m:r>
                    <m:r>
                      <m:rPr>
                        <m:sty m:val="p"/>
                      </m:rPr>
                      <a:rPr lang="en-US" i="0" dirty="0" err="1">
                        <a:latin typeface="Cambria Math" panose="02040503050406030204" pitchFamily="18" charset="0"/>
                        <a:sym typeface="Symbol"/>
                      </a:rPr>
                      <m:t>Enc</m:t>
                    </m:r>
                    <m:r>
                      <a:rPr lang="en-US" i="1" baseline="-25000" dirty="0" err="1">
                        <a:latin typeface="Cambria Math" panose="02040503050406030204" pitchFamily="18" charset="0"/>
                        <a:sym typeface="Symbol"/>
                      </a:rPr>
                      <m:t>𝑘</m:t>
                    </m:r>
                    <m:r>
                      <a:rPr lang="en-US" i="1" dirty="0">
                        <a:latin typeface="Cambria Math" panose="02040503050406030204" pitchFamily="18" charset="0"/>
                        <a:sym typeface="Symbol"/>
                      </a:rPr>
                      <m:t>(</m:t>
                    </m:r>
                    <m:r>
                      <a:rPr lang="en-US" i="1" dirty="0">
                        <a:latin typeface="Cambria Math" panose="02040503050406030204" pitchFamily="18" charset="0"/>
                        <a:sym typeface="Symbol"/>
                      </a:rPr>
                      <m:t>𝑚</m:t>
                    </m:r>
                    <m:r>
                      <a:rPr lang="en-US" i="1" dirty="0">
                        <a:latin typeface="Cambria Math" panose="02040503050406030204" pitchFamily="18" charset="0"/>
                        <a:sym typeface="Symbol"/>
                      </a:rPr>
                      <m:t>) ) = </m:t>
                    </m:r>
                    <m:r>
                      <a:rPr lang="en-US" i="1" dirty="0">
                        <a:latin typeface="Cambria Math" panose="02040503050406030204" pitchFamily="18" charset="0"/>
                        <a:sym typeface="Symbol"/>
                      </a:rPr>
                      <m:t>𝑘</m:t>
                    </m:r>
                    <m:r>
                      <a:rPr lang="en-US" i="1" dirty="0">
                        <a:latin typeface="Cambria Math" panose="02040503050406030204" pitchFamily="18" charset="0"/>
                        <a:sym typeface="Symbol"/>
                      </a:rPr>
                      <m:t>  (</m:t>
                    </m:r>
                    <m:r>
                      <a:rPr lang="en-US" i="1" dirty="0">
                        <a:latin typeface="Cambria Math" panose="02040503050406030204" pitchFamily="18" charset="0"/>
                        <a:sym typeface="Symbol"/>
                      </a:rPr>
                      <m:t>𝑘</m:t>
                    </m:r>
                    <m:r>
                      <a:rPr lang="en-US" i="1" dirty="0">
                        <a:latin typeface="Cambria Math" panose="02040503050406030204" pitchFamily="18" charset="0"/>
                        <a:sym typeface="Symbol"/>
                      </a:rPr>
                      <m:t>  </m:t>
                    </m:r>
                    <m:r>
                      <a:rPr lang="en-US" i="1" dirty="0">
                        <a:latin typeface="Cambria Math" panose="02040503050406030204" pitchFamily="18" charset="0"/>
                        <a:sym typeface="Symbol"/>
                      </a:rPr>
                      <m:t>𝑚</m:t>
                    </m:r>
                    <m:r>
                      <a:rPr lang="en-US" i="1" dirty="0">
                        <a:latin typeface="Cambria Math" panose="02040503050406030204" pitchFamily="18" charset="0"/>
                        <a:sym typeface="Symbol"/>
                      </a:rPr>
                      <m:t>) </m:t>
                    </m:r>
                  </m:oMath>
                </a14:m>
                <a:br>
                  <a:rPr lang="en-US" dirty="0">
                    <a:sym typeface="Symbol"/>
                  </a:rPr>
                </a:br>
                <a14:m>
                  <m:oMath xmlns:m="http://schemas.openxmlformats.org/officeDocument/2006/math">
                    <m:r>
                      <a:rPr lang="en-US" i="1" dirty="0" smtClean="0">
                        <a:latin typeface="Cambria Math" panose="02040503050406030204" pitchFamily="18" charset="0"/>
                        <a:sym typeface="Symbol"/>
                      </a:rPr>
                      <m:t>                            = (</m:t>
                    </m:r>
                    <m:r>
                      <a:rPr lang="en-US" i="1" dirty="0" smtClean="0">
                        <a:latin typeface="Cambria Math" panose="02040503050406030204" pitchFamily="18" charset="0"/>
                        <a:sym typeface="Symbol"/>
                      </a:rPr>
                      <m:t>𝑘</m:t>
                    </m:r>
                    <m:r>
                      <a:rPr lang="en-US" i="1" dirty="0" smtClean="0">
                        <a:latin typeface="Cambria Math" panose="02040503050406030204" pitchFamily="18" charset="0"/>
                        <a:sym typeface="Symbol"/>
                      </a:rPr>
                      <m:t>  </m:t>
                    </m:r>
                    <m:r>
                      <a:rPr lang="en-US" i="1" dirty="0" smtClean="0">
                        <a:latin typeface="Cambria Math" panose="02040503050406030204" pitchFamily="18" charset="0"/>
                        <a:sym typeface="Symbol"/>
                      </a:rPr>
                      <m:t>𝑘</m:t>
                    </m:r>
                    <m:r>
                      <a:rPr lang="en-US" i="1" dirty="0" smtClean="0">
                        <a:latin typeface="Cambria Math" panose="02040503050406030204" pitchFamily="18" charset="0"/>
                        <a:sym typeface="Symbol"/>
                      </a:rPr>
                      <m:t>)  </m:t>
                    </m:r>
                    <m:r>
                      <a:rPr lang="en-US" i="1" dirty="0" smtClean="0">
                        <a:latin typeface="Cambria Math" panose="02040503050406030204" pitchFamily="18" charset="0"/>
                        <a:sym typeface="Symbol"/>
                      </a:rPr>
                      <m:t>𝑚</m:t>
                    </m:r>
                    <m:r>
                      <a:rPr lang="en-US" i="1" dirty="0" smtClean="0">
                        <a:latin typeface="Cambria Math" panose="02040503050406030204" pitchFamily="18" charset="0"/>
                        <a:sym typeface="Symbol"/>
                      </a:rPr>
                      <m:t> = </m:t>
                    </m:r>
                    <m:r>
                      <a:rPr lang="en-US" i="1" dirty="0" smtClean="0">
                        <a:latin typeface="Cambria Math" panose="02040503050406030204" pitchFamily="18" charset="0"/>
                        <a:sym typeface="Symbol"/>
                      </a:rPr>
                      <m:t>𝑚</m:t>
                    </m:r>
                  </m:oMath>
                </a14:m>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1488387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AutoShape 2"/>
          <p:cNvSpPr>
            <a:spLocks noGrp="1" noChangeArrowheads="1"/>
          </p:cNvSpPr>
          <p:nvPr>
            <p:ph type="title"/>
          </p:nvPr>
        </p:nvSpPr>
        <p:spPr/>
        <p:txBody>
          <a:bodyPr/>
          <a:lstStyle/>
          <a:p>
            <a:pPr eaLnBrk="1" hangingPunct="1"/>
            <a:r>
              <a:rPr lang="en-US" altLang="en-US" dirty="0">
                <a:latin typeface="Aptos"/>
              </a:rPr>
              <a:t>One-time pad</a:t>
            </a:r>
          </a:p>
        </p:txBody>
      </p:sp>
      <p:sp>
        <p:nvSpPr>
          <p:cNvPr id="32771" name="Rectangle 5"/>
          <p:cNvSpPr>
            <a:spLocks noChangeArrowheads="1"/>
          </p:cNvSpPr>
          <p:nvPr/>
        </p:nvSpPr>
        <p:spPr bwMode="auto">
          <a:xfrm>
            <a:off x="5334000" y="2433936"/>
            <a:ext cx="1487982" cy="461665"/>
          </a:xfrm>
          <a:prstGeom prst="rect">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rgbClr val="000000"/>
                </a:solidFill>
              </a:defRPr>
            </a:lvl1pPr>
            <a:lvl2pPr marL="742950" indent="-285750">
              <a:defRPr sz="2400">
                <a:solidFill>
                  <a:srgbClr val="000000"/>
                </a:solidFill>
              </a:defRPr>
            </a:lvl2pPr>
            <a:lvl3pPr marL="1143000" indent="-228600">
              <a:defRPr sz="2400">
                <a:solidFill>
                  <a:srgbClr val="000000"/>
                </a:solidFill>
              </a:defRPr>
            </a:lvl3pPr>
            <a:lvl4pPr marL="1600200" indent="-228600">
              <a:defRPr sz="2400">
                <a:solidFill>
                  <a:srgbClr val="000000"/>
                </a:solidFill>
              </a:defRPr>
            </a:lvl4pPr>
            <a:lvl5pPr marL="2057400" indent="-228600">
              <a:defRPr sz="2400">
                <a:solidFill>
                  <a:srgbClr val="000000"/>
                </a:solidFill>
              </a:defRPr>
            </a:lvl5pPr>
            <a:lvl6pPr marL="2514600" indent="-228600" algn="ctr" eaLnBrk="0" fontAlgn="base" hangingPunct="0">
              <a:spcBef>
                <a:spcPct val="0"/>
              </a:spcBef>
              <a:spcAft>
                <a:spcPct val="0"/>
              </a:spcAft>
              <a:defRPr sz="2400">
                <a:solidFill>
                  <a:srgbClr val="000000"/>
                </a:solidFill>
              </a:defRPr>
            </a:lvl6pPr>
            <a:lvl7pPr marL="2971800" indent="-228600" algn="ctr" eaLnBrk="0" fontAlgn="base" hangingPunct="0">
              <a:spcBef>
                <a:spcPct val="0"/>
              </a:spcBef>
              <a:spcAft>
                <a:spcPct val="0"/>
              </a:spcAft>
              <a:defRPr sz="2400">
                <a:solidFill>
                  <a:srgbClr val="000000"/>
                </a:solidFill>
              </a:defRPr>
            </a:lvl7pPr>
            <a:lvl8pPr marL="3429000" indent="-228600" algn="ctr" eaLnBrk="0" fontAlgn="base" hangingPunct="0">
              <a:spcBef>
                <a:spcPct val="0"/>
              </a:spcBef>
              <a:spcAft>
                <a:spcPct val="0"/>
              </a:spcAft>
              <a:defRPr sz="2400">
                <a:solidFill>
                  <a:srgbClr val="000000"/>
                </a:solidFill>
              </a:defRPr>
            </a:lvl8pPr>
            <a:lvl9pPr marL="3886200" indent="-228600" algn="ctr" eaLnBrk="0" fontAlgn="base" hangingPunct="0">
              <a:spcBef>
                <a:spcPct val="0"/>
              </a:spcBef>
              <a:spcAft>
                <a:spcPct val="0"/>
              </a:spcAft>
              <a:defRPr sz="2400">
                <a:solidFill>
                  <a:srgbClr val="000000"/>
                </a:solidFill>
              </a:defRPr>
            </a:lvl9pPr>
          </a:lstStyle>
          <a:p>
            <a:pPr algn="ctr">
              <a:defRPr/>
            </a:pPr>
            <a:r>
              <a:rPr lang="en-US" altLang="en-US" dirty="0">
                <a:latin typeface="Aptos"/>
              </a:rPr>
              <a:t>key</a:t>
            </a:r>
          </a:p>
        </p:txBody>
      </p:sp>
      <p:sp>
        <p:nvSpPr>
          <p:cNvPr id="32774" name="Line 14"/>
          <p:cNvSpPr>
            <a:spLocks noChangeShapeType="1"/>
          </p:cNvSpPr>
          <p:nvPr/>
        </p:nvSpPr>
        <p:spPr bwMode="auto">
          <a:xfrm>
            <a:off x="4572000" y="4195019"/>
            <a:ext cx="1295400" cy="0"/>
          </a:xfrm>
          <a:prstGeom prst="line">
            <a:avLst/>
          </a:prstGeom>
          <a:noFill/>
          <a:ln w="19050">
            <a:solidFill>
              <a:srgbClr val="000000"/>
            </a:solidFill>
            <a:round/>
            <a:headEnd w="lg" len="me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en-US">
              <a:solidFill>
                <a:prstClr val="black"/>
              </a:solidFill>
            </a:endParaRPr>
          </a:p>
        </p:txBody>
      </p:sp>
      <p:sp>
        <p:nvSpPr>
          <p:cNvPr id="32775" name="Line 18"/>
          <p:cNvSpPr>
            <a:spLocks noChangeShapeType="1"/>
          </p:cNvSpPr>
          <p:nvPr/>
        </p:nvSpPr>
        <p:spPr bwMode="auto">
          <a:xfrm flipV="1">
            <a:off x="6119976" y="2971800"/>
            <a:ext cx="0" cy="990600"/>
          </a:xfrm>
          <a:prstGeom prst="line">
            <a:avLst/>
          </a:prstGeom>
          <a:noFill/>
          <a:ln w="19050">
            <a:solidFill>
              <a:srgbClr val="000000"/>
            </a:solidFill>
            <a:round/>
            <a:headEnd type="triangle" w="lg" len="med"/>
            <a:tailEnd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en-US">
              <a:solidFill>
                <a:prstClr val="black"/>
              </a:solidFill>
            </a:endParaRPr>
          </a:p>
        </p:txBody>
      </p:sp>
      <p:sp>
        <p:nvSpPr>
          <p:cNvPr id="32776" name="Line 19"/>
          <p:cNvSpPr>
            <a:spLocks noChangeShapeType="1"/>
          </p:cNvSpPr>
          <p:nvPr/>
        </p:nvSpPr>
        <p:spPr bwMode="auto">
          <a:xfrm>
            <a:off x="6324600" y="4195019"/>
            <a:ext cx="1316736" cy="0"/>
          </a:xfrm>
          <a:prstGeom prst="line">
            <a:avLst/>
          </a:prstGeom>
          <a:noFill/>
          <a:ln w="19050">
            <a:solidFill>
              <a:srgbClr val="000000"/>
            </a:solidFill>
            <a:round/>
            <a:headEnd w="lg" len="me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en-US">
              <a:solidFill>
                <a:prstClr val="black"/>
              </a:solidFill>
            </a:endParaRPr>
          </a:p>
        </p:txBody>
      </p:sp>
      <p:sp>
        <p:nvSpPr>
          <p:cNvPr id="32780" name="Text Box 26"/>
          <p:cNvSpPr txBox="1">
            <a:spLocks noChangeArrowheads="1"/>
          </p:cNvSpPr>
          <p:nvPr/>
        </p:nvSpPr>
        <p:spPr bwMode="auto">
          <a:xfrm>
            <a:off x="5642617" y="1595736"/>
            <a:ext cx="870751"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rgbClr val="000000"/>
                </a:solidFill>
              </a:defRPr>
            </a:lvl1pPr>
            <a:lvl2pPr marL="742950" indent="-285750">
              <a:defRPr sz="2400">
                <a:solidFill>
                  <a:srgbClr val="000000"/>
                </a:solidFill>
              </a:defRPr>
            </a:lvl2pPr>
            <a:lvl3pPr marL="1143000" indent="-228600">
              <a:defRPr sz="2400">
                <a:solidFill>
                  <a:srgbClr val="000000"/>
                </a:solidFill>
              </a:defRPr>
            </a:lvl3pPr>
            <a:lvl4pPr marL="1600200" indent="-228600">
              <a:defRPr sz="2400">
                <a:solidFill>
                  <a:srgbClr val="000000"/>
                </a:solidFill>
              </a:defRPr>
            </a:lvl4pPr>
            <a:lvl5pPr marL="2057400" indent="-228600">
              <a:defRPr sz="2400">
                <a:solidFill>
                  <a:srgbClr val="000000"/>
                </a:solidFill>
              </a:defRPr>
            </a:lvl5pPr>
            <a:lvl6pPr marL="2514600" indent="-228600" algn="ctr" eaLnBrk="0" fontAlgn="base" hangingPunct="0">
              <a:spcBef>
                <a:spcPct val="0"/>
              </a:spcBef>
              <a:spcAft>
                <a:spcPct val="0"/>
              </a:spcAft>
              <a:defRPr sz="2400">
                <a:solidFill>
                  <a:srgbClr val="000000"/>
                </a:solidFill>
              </a:defRPr>
            </a:lvl6pPr>
            <a:lvl7pPr marL="2971800" indent="-228600" algn="ctr" eaLnBrk="0" fontAlgn="base" hangingPunct="0">
              <a:spcBef>
                <a:spcPct val="0"/>
              </a:spcBef>
              <a:spcAft>
                <a:spcPct val="0"/>
              </a:spcAft>
              <a:defRPr sz="2400">
                <a:solidFill>
                  <a:srgbClr val="000000"/>
                </a:solidFill>
              </a:defRPr>
            </a:lvl7pPr>
            <a:lvl8pPr marL="3429000" indent="-228600" algn="ctr" eaLnBrk="0" fontAlgn="base" hangingPunct="0">
              <a:spcBef>
                <a:spcPct val="0"/>
              </a:spcBef>
              <a:spcAft>
                <a:spcPct val="0"/>
              </a:spcAft>
              <a:defRPr sz="2400">
                <a:solidFill>
                  <a:srgbClr val="000000"/>
                </a:solidFill>
              </a:defRPr>
            </a:lvl8pPr>
            <a:lvl9pPr marL="3886200" indent="-228600" algn="ctr" eaLnBrk="0" fontAlgn="base" hangingPunct="0">
              <a:spcBef>
                <a:spcPct val="0"/>
              </a:spcBef>
              <a:spcAft>
                <a:spcPct val="0"/>
              </a:spcAft>
              <a:defRPr sz="2400">
                <a:solidFill>
                  <a:srgbClr val="000000"/>
                </a:solidFill>
              </a:defRPr>
            </a:lvl9pPr>
          </a:lstStyle>
          <a:p>
            <a:pPr>
              <a:defRPr/>
            </a:pPr>
            <a:r>
              <a:rPr lang="en-US" altLang="en-US" dirty="0">
                <a:latin typeface="Aptos"/>
              </a:rPr>
              <a:t>n bits</a:t>
            </a:r>
          </a:p>
        </p:txBody>
      </p:sp>
      <p:sp>
        <p:nvSpPr>
          <p:cNvPr id="20" name="Rectangle 5"/>
          <p:cNvSpPr>
            <a:spLocks noChangeArrowheads="1"/>
          </p:cNvSpPr>
          <p:nvPr/>
        </p:nvSpPr>
        <p:spPr bwMode="auto">
          <a:xfrm>
            <a:off x="3007818" y="3964188"/>
            <a:ext cx="1487982" cy="461665"/>
          </a:xfrm>
          <a:prstGeom prst="rect">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rgbClr val="000000"/>
                </a:solidFill>
              </a:defRPr>
            </a:lvl1pPr>
            <a:lvl2pPr marL="742950" indent="-285750">
              <a:defRPr sz="2400">
                <a:solidFill>
                  <a:srgbClr val="000000"/>
                </a:solidFill>
              </a:defRPr>
            </a:lvl2pPr>
            <a:lvl3pPr marL="1143000" indent="-228600">
              <a:defRPr sz="2400">
                <a:solidFill>
                  <a:srgbClr val="000000"/>
                </a:solidFill>
              </a:defRPr>
            </a:lvl3pPr>
            <a:lvl4pPr marL="1600200" indent="-228600">
              <a:defRPr sz="2400">
                <a:solidFill>
                  <a:srgbClr val="000000"/>
                </a:solidFill>
              </a:defRPr>
            </a:lvl4pPr>
            <a:lvl5pPr marL="2057400" indent="-228600">
              <a:defRPr sz="2400">
                <a:solidFill>
                  <a:srgbClr val="000000"/>
                </a:solidFill>
              </a:defRPr>
            </a:lvl5pPr>
            <a:lvl6pPr marL="2514600" indent="-228600" algn="ctr" eaLnBrk="0" fontAlgn="base" hangingPunct="0">
              <a:spcBef>
                <a:spcPct val="0"/>
              </a:spcBef>
              <a:spcAft>
                <a:spcPct val="0"/>
              </a:spcAft>
              <a:defRPr sz="2400">
                <a:solidFill>
                  <a:srgbClr val="000000"/>
                </a:solidFill>
              </a:defRPr>
            </a:lvl6pPr>
            <a:lvl7pPr marL="2971800" indent="-228600" algn="ctr" eaLnBrk="0" fontAlgn="base" hangingPunct="0">
              <a:spcBef>
                <a:spcPct val="0"/>
              </a:spcBef>
              <a:spcAft>
                <a:spcPct val="0"/>
              </a:spcAft>
              <a:defRPr sz="2400">
                <a:solidFill>
                  <a:srgbClr val="000000"/>
                </a:solidFill>
              </a:defRPr>
            </a:lvl7pPr>
            <a:lvl8pPr marL="3429000" indent="-228600" algn="ctr" eaLnBrk="0" fontAlgn="base" hangingPunct="0">
              <a:spcBef>
                <a:spcPct val="0"/>
              </a:spcBef>
              <a:spcAft>
                <a:spcPct val="0"/>
              </a:spcAft>
              <a:defRPr sz="2400">
                <a:solidFill>
                  <a:srgbClr val="000000"/>
                </a:solidFill>
              </a:defRPr>
            </a:lvl8pPr>
            <a:lvl9pPr marL="3886200" indent="-228600" algn="ctr" eaLnBrk="0" fontAlgn="base" hangingPunct="0">
              <a:spcBef>
                <a:spcPct val="0"/>
              </a:spcBef>
              <a:spcAft>
                <a:spcPct val="0"/>
              </a:spcAft>
              <a:defRPr sz="2400">
                <a:solidFill>
                  <a:srgbClr val="000000"/>
                </a:solidFill>
              </a:defRPr>
            </a:lvl9pPr>
          </a:lstStyle>
          <a:p>
            <a:pPr algn="ctr">
              <a:defRPr/>
            </a:pPr>
            <a:r>
              <a:rPr lang="en-US" altLang="en-US" dirty="0">
                <a:latin typeface="Aptos"/>
              </a:rPr>
              <a:t>message</a:t>
            </a:r>
          </a:p>
        </p:txBody>
      </p:sp>
      <p:sp>
        <p:nvSpPr>
          <p:cNvPr id="22" name="Text Box 26"/>
          <p:cNvSpPr txBox="1">
            <a:spLocks noChangeArrowheads="1"/>
          </p:cNvSpPr>
          <p:nvPr/>
        </p:nvSpPr>
        <p:spPr bwMode="auto">
          <a:xfrm>
            <a:off x="3312620" y="3200401"/>
            <a:ext cx="870751"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rgbClr val="000000"/>
                </a:solidFill>
              </a:defRPr>
            </a:lvl1pPr>
            <a:lvl2pPr marL="742950" indent="-285750">
              <a:defRPr sz="2400">
                <a:solidFill>
                  <a:srgbClr val="000000"/>
                </a:solidFill>
              </a:defRPr>
            </a:lvl2pPr>
            <a:lvl3pPr marL="1143000" indent="-228600">
              <a:defRPr sz="2400">
                <a:solidFill>
                  <a:srgbClr val="000000"/>
                </a:solidFill>
              </a:defRPr>
            </a:lvl3pPr>
            <a:lvl4pPr marL="1600200" indent="-228600">
              <a:defRPr sz="2400">
                <a:solidFill>
                  <a:srgbClr val="000000"/>
                </a:solidFill>
              </a:defRPr>
            </a:lvl4pPr>
            <a:lvl5pPr marL="2057400" indent="-228600">
              <a:defRPr sz="2400">
                <a:solidFill>
                  <a:srgbClr val="000000"/>
                </a:solidFill>
              </a:defRPr>
            </a:lvl5pPr>
            <a:lvl6pPr marL="2514600" indent="-228600" algn="ctr" eaLnBrk="0" fontAlgn="base" hangingPunct="0">
              <a:spcBef>
                <a:spcPct val="0"/>
              </a:spcBef>
              <a:spcAft>
                <a:spcPct val="0"/>
              </a:spcAft>
              <a:defRPr sz="2400">
                <a:solidFill>
                  <a:srgbClr val="000000"/>
                </a:solidFill>
              </a:defRPr>
            </a:lvl6pPr>
            <a:lvl7pPr marL="2971800" indent="-228600" algn="ctr" eaLnBrk="0" fontAlgn="base" hangingPunct="0">
              <a:spcBef>
                <a:spcPct val="0"/>
              </a:spcBef>
              <a:spcAft>
                <a:spcPct val="0"/>
              </a:spcAft>
              <a:defRPr sz="2400">
                <a:solidFill>
                  <a:srgbClr val="000000"/>
                </a:solidFill>
              </a:defRPr>
            </a:lvl7pPr>
            <a:lvl8pPr marL="3429000" indent="-228600" algn="ctr" eaLnBrk="0" fontAlgn="base" hangingPunct="0">
              <a:spcBef>
                <a:spcPct val="0"/>
              </a:spcBef>
              <a:spcAft>
                <a:spcPct val="0"/>
              </a:spcAft>
              <a:defRPr sz="2400">
                <a:solidFill>
                  <a:srgbClr val="000000"/>
                </a:solidFill>
              </a:defRPr>
            </a:lvl8pPr>
            <a:lvl9pPr marL="3886200" indent="-228600" algn="ctr" eaLnBrk="0" fontAlgn="base" hangingPunct="0">
              <a:spcBef>
                <a:spcPct val="0"/>
              </a:spcBef>
              <a:spcAft>
                <a:spcPct val="0"/>
              </a:spcAft>
              <a:defRPr sz="2400">
                <a:solidFill>
                  <a:srgbClr val="000000"/>
                </a:solidFill>
              </a:defRPr>
            </a:lvl9pPr>
          </a:lstStyle>
          <a:p>
            <a:pPr>
              <a:defRPr/>
            </a:pPr>
            <a:r>
              <a:rPr lang="en-US" altLang="en-US" dirty="0">
                <a:latin typeface="Aptos"/>
              </a:rPr>
              <a:t>n bits</a:t>
            </a:r>
          </a:p>
        </p:txBody>
      </p:sp>
      <p:sp>
        <p:nvSpPr>
          <p:cNvPr id="23" name="Rectangle 5"/>
          <p:cNvSpPr>
            <a:spLocks noChangeArrowheads="1"/>
          </p:cNvSpPr>
          <p:nvPr/>
        </p:nvSpPr>
        <p:spPr bwMode="auto">
          <a:xfrm>
            <a:off x="7677354" y="3964188"/>
            <a:ext cx="1638924" cy="461665"/>
          </a:xfrm>
          <a:prstGeom prst="rect">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rgbClr val="000000"/>
                </a:solidFill>
              </a:defRPr>
            </a:lvl1pPr>
            <a:lvl2pPr marL="742950" indent="-285750">
              <a:defRPr sz="2400">
                <a:solidFill>
                  <a:srgbClr val="000000"/>
                </a:solidFill>
              </a:defRPr>
            </a:lvl2pPr>
            <a:lvl3pPr marL="1143000" indent="-228600">
              <a:defRPr sz="2400">
                <a:solidFill>
                  <a:srgbClr val="000000"/>
                </a:solidFill>
              </a:defRPr>
            </a:lvl3pPr>
            <a:lvl4pPr marL="1600200" indent="-228600">
              <a:defRPr sz="2400">
                <a:solidFill>
                  <a:srgbClr val="000000"/>
                </a:solidFill>
              </a:defRPr>
            </a:lvl4pPr>
            <a:lvl5pPr marL="2057400" indent="-228600">
              <a:defRPr sz="2400">
                <a:solidFill>
                  <a:srgbClr val="000000"/>
                </a:solidFill>
              </a:defRPr>
            </a:lvl5pPr>
            <a:lvl6pPr marL="2514600" indent="-228600" algn="ctr" eaLnBrk="0" fontAlgn="base" hangingPunct="0">
              <a:spcBef>
                <a:spcPct val="0"/>
              </a:spcBef>
              <a:spcAft>
                <a:spcPct val="0"/>
              </a:spcAft>
              <a:defRPr sz="2400">
                <a:solidFill>
                  <a:srgbClr val="000000"/>
                </a:solidFill>
              </a:defRPr>
            </a:lvl6pPr>
            <a:lvl7pPr marL="2971800" indent="-228600" algn="ctr" eaLnBrk="0" fontAlgn="base" hangingPunct="0">
              <a:spcBef>
                <a:spcPct val="0"/>
              </a:spcBef>
              <a:spcAft>
                <a:spcPct val="0"/>
              </a:spcAft>
              <a:defRPr sz="2400">
                <a:solidFill>
                  <a:srgbClr val="000000"/>
                </a:solidFill>
              </a:defRPr>
            </a:lvl7pPr>
            <a:lvl8pPr marL="3429000" indent="-228600" algn="ctr" eaLnBrk="0" fontAlgn="base" hangingPunct="0">
              <a:spcBef>
                <a:spcPct val="0"/>
              </a:spcBef>
              <a:spcAft>
                <a:spcPct val="0"/>
              </a:spcAft>
              <a:defRPr sz="2400">
                <a:solidFill>
                  <a:srgbClr val="000000"/>
                </a:solidFill>
              </a:defRPr>
            </a:lvl8pPr>
            <a:lvl9pPr marL="3886200" indent="-228600" algn="ctr" eaLnBrk="0" fontAlgn="base" hangingPunct="0">
              <a:spcBef>
                <a:spcPct val="0"/>
              </a:spcBef>
              <a:spcAft>
                <a:spcPct val="0"/>
              </a:spcAft>
              <a:defRPr sz="2400">
                <a:solidFill>
                  <a:srgbClr val="000000"/>
                </a:solidFill>
              </a:defRPr>
            </a:lvl9pPr>
          </a:lstStyle>
          <a:p>
            <a:pPr algn="ctr">
              <a:defRPr/>
            </a:pPr>
            <a:r>
              <a:rPr lang="en-US" altLang="en-US" dirty="0">
                <a:latin typeface="Aptos"/>
              </a:rPr>
              <a:t>ciphertext</a:t>
            </a:r>
          </a:p>
        </p:txBody>
      </p:sp>
      <p:sp>
        <p:nvSpPr>
          <p:cNvPr id="25" name="Text Box 26"/>
          <p:cNvSpPr txBox="1">
            <a:spLocks noChangeArrowheads="1"/>
          </p:cNvSpPr>
          <p:nvPr/>
        </p:nvSpPr>
        <p:spPr bwMode="auto">
          <a:xfrm>
            <a:off x="7982156" y="3124201"/>
            <a:ext cx="870751"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rgbClr val="000000"/>
                </a:solidFill>
              </a:defRPr>
            </a:lvl1pPr>
            <a:lvl2pPr marL="742950" indent="-285750">
              <a:defRPr sz="2400">
                <a:solidFill>
                  <a:srgbClr val="000000"/>
                </a:solidFill>
              </a:defRPr>
            </a:lvl2pPr>
            <a:lvl3pPr marL="1143000" indent="-228600">
              <a:defRPr sz="2400">
                <a:solidFill>
                  <a:srgbClr val="000000"/>
                </a:solidFill>
              </a:defRPr>
            </a:lvl3pPr>
            <a:lvl4pPr marL="1600200" indent="-228600">
              <a:defRPr sz="2400">
                <a:solidFill>
                  <a:srgbClr val="000000"/>
                </a:solidFill>
              </a:defRPr>
            </a:lvl4pPr>
            <a:lvl5pPr marL="2057400" indent="-228600">
              <a:defRPr sz="2400">
                <a:solidFill>
                  <a:srgbClr val="000000"/>
                </a:solidFill>
              </a:defRPr>
            </a:lvl5pPr>
            <a:lvl6pPr marL="2514600" indent="-228600" algn="ctr" eaLnBrk="0" fontAlgn="base" hangingPunct="0">
              <a:spcBef>
                <a:spcPct val="0"/>
              </a:spcBef>
              <a:spcAft>
                <a:spcPct val="0"/>
              </a:spcAft>
              <a:defRPr sz="2400">
                <a:solidFill>
                  <a:srgbClr val="000000"/>
                </a:solidFill>
              </a:defRPr>
            </a:lvl6pPr>
            <a:lvl7pPr marL="2971800" indent="-228600" algn="ctr" eaLnBrk="0" fontAlgn="base" hangingPunct="0">
              <a:spcBef>
                <a:spcPct val="0"/>
              </a:spcBef>
              <a:spcAft>
                <a:spcPct val="0"/>
              </a:spcAft>
              <a:defRPr sz="2400">
                <a:solidFill>
                  <a:srgbClr val="000000"/>
                </a:solidFill>
              </a:defRPr>
            </a:lvl7pPr>
            <a:lvl8pPr marL="3429000" indent="-228600" algn="ctr" eaLnBrk="0" fontAlgn="base" hangingPunct="0">
              <a:spcBef>
                <a:spcPct val="0"/>
              </a:spcBef>
              <a:spcAft>
                <a:spcPct val="0"/>
              </a:spcAft>
              <a:defRPr sz="2400">
                <a:solidFill>
                  <a:srgbClr val="000000"/>
                </a:solidFill>
              </a:defRPr>
            </a:lvl8pPr>
            <a:lvl9pPr marL="3886200" indent="-228600" algn="ctr" eaLnBrk="0" fontAlgn="base" hangingPunct="0">
              <a:spcBef>
                <a:spcPct val="0"/>
              </a:spcBef>
              <a:spcAft>
                <a:spcPct val="0"/>
              </a:spcAft>
              <a:defRPr sz="2400">
                <a:solidFill>
                  <a:srgbClr val="000000"/>
                </a:solidFill>
              </a:defRPr>
            </a:lvl9pPr>
          </a:lstStyle>
          <a:p>
            <a:pPr>
              <a:defRPr/>
            </a:pPr>
            <a:r>
              <a:rPr lang="en-US" altLang="en-US" dirty="0">
                <a:latin typeface="Aptos"/>
              </a:rPr>
              <a:t>n bits</a:t>
            </a:r>
          </a:p>
        </p:txBody>
      </p:sp>
      <p:sp>
        <p:nvSpPr>
          <p:cNvPr id="5" name="TextBox 4"/>
          <p:cNvSpPr txBox="1"/>
          <p:nvPr/>
        </p:nvSpPr>
        <p:spPr>
          <a:xfrm>
            <a:off x="5791200" y="3779522"/>
            <a:ext cx="657552" cy="830997"/>
          </a:xfrm>
          <a:prstGeom prst="rect">
            <a:avLst/>
          </a:prstGeom>
          <a:noFill/>
        </p:spPr>
        <p:txBody>
          <a:bodyPr wrap="none" rtlCol="0">
            <a:spAutoFit/>
          </a:bodyPr>
          <a:lstStyle/>
          <a:p>
            <a:pPr>
              <a:defRPr/>
            </a:pPr>
            <a:r>
              <a:rPr lang="en-US" sz="4800" dirty="0">
                <a:solidFill>
                  <a:prstClr val="black"/>
                </a:solidFill>
                <a:sym typeface="Symbol"/>
              </a:rPr>
              <a:t></a:t>
            </a:r>
            <a:endParaRPr lang="en-US" sz="4800" dirty="0">
              <a:solidFill>
                <a:prstClr val="black"/>
              </a:solidFill>
            </a:endParaRPr>
          </a:p>
        </p:txBody>
      </p:sp>
      <p:sp>
        <p:nvSpPr>
          <p:cNvPr id="2" name="Right Brace 1"/>
          <p:cNvSpPr/>
          <p:nvPr/>
        </p:nvSpPr>
        <p:spPr>
          <a:xfrm rot="16200000">
            <a:off x="3587665" y="3001554"/>
            <a:ext cx="328288" cy="1487982"/>
          </a:xfrm>
          <a:prstGeom prst="rightBrac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US">
              <a:solidFill>
                <a:prstClr val="black"/>
              </a:solidFill>
            </a:endParaRPr>
          </a:p>
        </p:txBody>
      </p:sp>
      <p:sp>
        <p:nvSpPr>
          <p:cNvPr id="17" name="Right Brace 16"/>
          <p:cNvSpPr/>
          <p:nvPr/>
        </p:nvSpPr>
        <p:spPr>
          <a:xfrm rot="16200000">
            <a:off x="5913847" y="1454065"/>
            <a:ext cx="328288" cy="1487982"/>
          </a:xfrm>
          <a:prstGeom prst="rightBrac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US">
              <a:solidFill>
                <a:prstClr val="black"/>
              </a:solidFill>
            </a:endParaRPr>
          </a:p>
        </p:txBody>
      </p:sp>
      <p:sp>
        <p:nvSpPr>
          <p:cNvPr id="18" name="Right Brace 17"/>
          <p:cNvSpPr/>
          <p:nvPr/>
        </p:nvSpPr>
        <p:spPr>
          <a:xfrm rot="16200000">
            <a:off x="8332672" y="2902594"/>
            <a:ext cx="328288" cy="1638924"/>
          </a:xfrm>
          <a:prstGeom prst="rightBrac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US">
              <a:solidFill>
                <a:prstClr val="black"/>
              </a:solidFill>
            </a:endParaRPr>
          </a:p>
        </p:txBody>
      </p:sp>
    </p:spTree>
    <p:extLst>
      <p:ext uri="{BB962C8B-B14F-4D97-AF65-F5344CB8AC3E}">
        <p14:creationId xmlns:p14="http://schemas.microsoft.com/office/powerpoint/2010/main" val="12257177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DD13A-4518-8BB6-DDC3-A7460369C2B8}"/>
              </a:ext>
            </a:extLst>
          </p:cNvPr>
          <p:cNvSpPr>
            <a:spLocks noGrp="1"/>
          </p:cNvSpPr>
          <p:nvPr>
            <p:ph type="title"/>
          </p:nvPr>
        </p:nvSpPr>
        <p:spPr/>
        <p:txBody>
          <a:bodyPr/>
          <a:lstStyle/>
          <a:p>
            <a:r>
              <a:rPr lang="en-US" dirty="0">
                <a:latin typeface="Aptos Display"/>
              </a:rPr>
              <a:t>Theorem</a:t>
            </a:r>
          </a:p>
        </p:txBody>
      </p:sp>
      <p:sp>
        <p:nvSpPr>
          <p:cNvPr id="3" name="Content Placeholder 2">
            <a:extLst>
              <a:ext uri="{FF2B5EF4-FFF2-40B4-BE49-F238E27FC236}">
                <a16:creationId xmlns:a16="http://schemas.microsoft.com/office/drawing/2014/main" id="{85443E5C-9DF8-FDF4-2795-28F6D0C47459}"/>
              </a:ext>
            </a:extLst>
          </p:cNvPr>
          <p:cNvSpPr>
            <a:spLocks noGrp="1"/>
          </p:cNvSpPr>
          <p:nvPr>
            <p:ph idx="1"/>
          </p:nvPr>
        </p:nvSpPr>
        <p:spPr/>
        <p:txBody>
          <a:bodyPr/>
          <a:lstStyle/>
          <a:p>
            <a:r>
              <a:rPr lang="en-US" dirty="0">
                <a:latin typeface="Aptos"/>
              </a:rPr>
              <a:t>Theorem 1: One-time pad encryption is perfectly secure. </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510EE25E-86F8-29C2-0706-04B335197133}"/>
                  </a:ext>
                </a:extLst>
              </p:cNvPr>
              <p:cNvSpPr txBox="1"/>
              <p:nvPr/>
            </p:nvSpPr>
            <p:spPr>
              <a:xfrm>
                <a:off x="1030380" y="4045504"/>
                <a:ext cx="9626413" cy="1538883"/>
              </a:xfrm>
              <a:prstGeom prst="rect">
                <a:avLst/>
              </a:prstGeom>
              <a:noFill/>
            </p:spPr>
            <p:txBody>
              <a:bodyPr wrap="square">
                <a:spAutoFit/>
              </a:bodyPr>
              <a:lstStyle/>
              <a:p>
                <a:r>
                  <a:rPr lang="en-US" sz="2400" b="1" dirty="0"/>
                  <a:t>Perfect secrecy</a:t>
                </a:r>
                <a:r>
                  <a:rPr lang="en-US" sz="2400" dirty="0"/>
                  <a:t>: for any distribution over the message space </a:t>
                </a:r>
                <a14:m>
                  <m:oMath xmlns:m="http://schemas.openxmlformats.org/officeDocument/2006/math">
                    <m:r>
                      <a:rPr lang="en-US" sz="2400" i="1">
                        <a:latin typeface="Cambria Math" panose="02040503050406030204" pitchFamily="18" charset="0"/>
                      </a:rPr>
                      <m:t>ℳ</m:t>
                    </m:r>
                  </m:oMath>
                </a14:m>
                <a:r>
                  <a:rPr lang="en-US" sz="2400" dirty="0"/>
                  <a:t>, for every message </a:t>
                </a:r>
                <a14:m>
                  <m:oMath xmlns:m="http://schemas.openxmlformats.org/officeDocument/2006/math">
                    <m:r>
                      <a:rPr lang="en-US" sz="2400" i="1">
                        <a:latin typeface="Cambria Math" panose="02040503050406030204" pitchFamily="18" charset="0"/>
                      </a:rPr>
                      <m:t>𝑚</m:t>
                    </m:r>
                    <m:r>
                      <a:rPr lang="en-US" sz="2400" i="1">
                        <a:latin typeface="Cambria Math" panose="02040503050406030204" pitchFamily="18" charset="0"/>
                      </a:rPr>
                      <m:t>∈</m:t>
                    </m:r>
                    <m:r>
                      <a:rPr lang="en-US" sz="2400" i="1">
                        <a:latin typeface="Cambria Math" panose="02040503050406030204" pitchFamily="18" charset="0"/>
                      </a:rPr>
                      <m:t>ℳ</m:t>
                    </m:r>
                  </m:oMath>
                </a14:m>
                <a:r>
                  <a:rPr lang="en-US" sz="2400" dirty="0"/>
                  <a:t> and every ciphertext </a:t>
                </a:r>
                <a14:m>
                  <m:oMath xmlns:m="http://schemas.openxmlformats.org/officeDocument/2006/math">
                    <m:r>
                      <a:rPr lang="en-US" sz="2400" b="0" i="1" smtClean="0">
                        <a:latin typeface="Cambria Math" panose="02040503050406030204" pitchFamily="18" charset="0"/>
                      </a:rPr>
                      <m:t>𝑐</m:t>
                    </m:r>
                    <m:r>
                      <a:rPr lang="en-US" sz="2400" b="0" i="1" smtClean="0">
                        <a:latin typeface="Cambria Math" panose="02040503050406030204" pitchFamily="18" charset="0"/>
                      </a:rPr>
                      <m:t>∈</m:t>
                    </m:r>
                    <m:r>
                      <a:rPr lang="en-US" sz="2400" b="0" i="1" smtClean="0">
                        <a:latin typeface="Cambria Math" panose="02040503050406030204" pitchFamily="18" charset="0"/>
                      </a:rPr>
                      <m:t>𝒞</m:t>
                    </m:r>
                  </m:oMath>
                </a14:m>
                <a:r>
                  <a:rPr lang="en-US" sz="2400" dirty="0"/>
                  <a:t>, </a:t>
                </a:r>
              </a:p>
              <a:p>
                <a:endParaRPr lang="en-US" dirty="0"/>
              </a:p>
              <a:p>
                <a:pPr marL="685800" lvl="2" indent="0">
                  <a:buNone/>
                </a:pPr>
                <a14:m>
                  <m:oMathPara xmlns:m="http://schemas.openxmlformats.org/officeDocument/2006/math">
                    <m:oMathParaPr>
                      <m:jc m:val="centerGroup"/>
                    </m:oMathParaPr>
                    <m:oMath xmlns:m="http://schemas.openxmlformats.org/officeDocument/2006/math">
                      <m:r>
                        <m:rPr>
                          <m:sty m:val="p"/>
                        </m:rPr>
                        <a:rPr lang="en-US" sz="2800" i="1" dirty="0" smtClean="0">
                          <a:latin typeface="Cambria Math" panose="02040503050406030204" pitchFamily="18" charset="0"/>
                        </a:rPr>
                        <m:t>Pr</m:t>
                      </m:r>
                      <m:r>
                        <a:rPr lang="en-US" sz="2800" i="1" dirty="0">
                          <a:latin typeface="Cambria Math" panose="02040503050406030204" pitchFamily="18" charset="0"/>
                        </a:rPr>
                        <m:t>⁡[</m:t>
                      </m:r>
                      <m:r>
                        <a:rPr lang="en-US" sz="2800" i="1" dirty="0">
                          <a:latin typeface="Cambria Math" panose="02040503050406030204" pitchFamily="18" charset="0"/>
                        </a:rPr>
                        <m:t>𝐶</m:t>
                      </m:r>
                      <m:r>
                        <a:rPr lang="en-US" sz="2800" i="1" dirty="0">
                          <a:latin typeface="Cambria Math" panose="02040503050406030204" pitchFamily="18" charset="0"/>
                        </a:rPr>
                        <m:t>=</m:t>
                      </m:r>
                      <m:r>
                        <a:rPr lang="en-US" sz="2800" i="1" dirty="0">
                          <a:latin typeface="Cambria Math" panose="02040503050406030204" pitchFamily="18" charset="0"/>
                        </a:rPr>
                        <m:t>𝑐</m:t>
                      </m:r>
                      <m:r>
                        <a:rPr lang="en-US" sz="2800" b="0" i="1" dirty="0" smtClean="0">
                          <a:latin typeface="Cambria Math" panose="02040503050406030204" pitchFamily="18" charset="0"/>
                        </a:rPr>
                        <m:t>|</m:t>
                      </m:r>
                      <m:r>
                        <a:rPr lang="en-US" sz="2800" b="0" i="1" dirty="0" smtClean="0">
                          <a:latin typeface="Cambria Math" panose="02040503050406030204" pitchFamily="18" charset="0"/>
                        </a:rPr>
                        <m:t>𝑀</m:t>
                      </m:r>
                      <m:r>
                        <a:rPr lang="en-US" sz="2800" b="0" i="1" dirty="0" smtClean="0">
                          <a:latin typeface="Cambria Math" panose="02040503050406030204" pitchFamily="18" charset="0"/>
                        </a:rPr>
                        <m:t>=</m:t>
                      </m:r>
                      <m:r>
                        <a:rPr lang="en-US" sz="2800" b="0" i="1" dirty="0" smtClean="0">
                          <a:latin typeface="Cambria Math" panose="02040503050406030204" pitchFamily="18" charset="0"/>
                        </a:rPr>
                        <m:t>𝑚</m:t>
                      </m:r>
                      <m:r>
                        <a:rPr lang="en-US" sz="2800" i="1" dirty="0">
                          <a:latin typeface="Cambria Math" panose="02040503050406030204" pitchFamily="18" charset="0"/>
                        </a:rPr>
                        <m:t> ] = </m:t>
                      </m:r>
                      <m:r>
                        <m:rPr>
                          <m:sty m:val="p"/>
                        </m:rPr>
                        <a:rPr lang="en-US" sz="2800" i="1" dirty="0" err="1">
                          <a:latin typeface="Cambria Math" panose="02040503050406030204" pitchFamily="18" charset="0"/>
                        </a:rPr>
                        <m:t>Pr</m:t>
                      </m:r>
                      <m:r>
                        <a:rPr lang="en-US" sz="2800" i="1" dirty="0">
                          <a:latin typeface="Cambria Math" panose="02040503050406030204" pitchFamily="18" charset="0"/>
                        </a:rPr>
                        <m:t>⁡[</m:t>
                      </m:r>
                      <m:r>
                        <a:rPr lang="en-US" sz="2800" b="0" i="1" dirty="0" smtClean="0">
                          <a:latin typeface="Cambria Math" panose="02040503050406030204" pitchFamily="18" charset="0"/>
                        </a:rPr>
                        <m:t>𝐶</m:t>
                      </m:r>
                      <m:r>
                        <a:rPr lang="en-US" sz="2800" b="0" i="1" dirty="0" smtClean="0">
                          <a:latin typeface="Cambria Math" panose="02040503050406030204" pitchFamily="18" charset="0"/>
                        </a:rPr>
                        <m:t>=</m:t>
                      </m:r>
                      <m:r>
                        <a:rPr lang="en-US" sz="2800" b="0" i="1" dirty="0" smtClean="0">
                          <a:latin typeface="Cambria Math" panose="02040503050406030204" pitchFamily="18" charset="0"/>
                        </a:rPr>
                        <m:t>𝑐</m:t>
                      </m:r>
                      <m:r>
                        <a:rPr lang="en-US" sz="2800" i="1" dirty="0">
                          <a:latin typeface="Cambria Math" panose="02040503050406030204" pitchFamily="18" charset="0"/>
                        </a:rPr>
                        <m:t>]</m:t>
                      </m:r>
                    </m:oMath>
                  </m:oMathPara>
                </a14:m>
                <a:endParaRPr lang="en-US" sz="2800" dirty="0"/>
              </a:p>
            </p:txBody>
          </p:sp>
        </mc:Choice>
        <mc:Fallback>
          <p:sp>
            <p:nvSpPr>
              <p:cNvPr id="5" name="TextBox 4">
                <a:extLst>
                  <a:ext uri="{FF2B5EF4-FFF2-40B4-BE49-F238E27FC236}">
                    <a16:creationId xmlns:a16="http://schemas.microsoft.com/office/drawing/2014/main" id="{510EE25E-86F8-29C2-0706-04B335197133}"/>
                  </a:ext>
                </a:extLst>
              </p:cNvPr>
              <p:cNvSpPr txBox="1">
                <a:spLocks noRot="1" noChangeAspect="1" noMove="1" noResize="1" noEditPoints="1" noAdjustHandles="1" noChangeArrowheads="1" noChangeShapeType="1" noTextEdit="1"/>
              </p:cNvSpPr>
              <p:nvPr/>
            </p:nvSpPr>
            <p:spPr>
              <a:xfrm>
                <a:off x="1030380" y="4045504"/>
                <a:ext cx="9626413" cy="1538883"/>
              </a:xfrm>
              <a:prstGeom prst="rect">
                <a:avLst/>
              </a:prstGeom>
              <a:blipFill>
                <a:blip r:embed="rId3"/>
                <a:stretch>
                  <a:fillRect l="-1054" t="-3279" b="-6557"/>
                </a:stretch>
              </a:blipFill>
            </p:spPr>
            <p:txBody>
              <a:bodyPr/>
              <a:lstStyle/>
              <a:p>
                <a:r>
                  <a:rPr lang="en-US">
                    <a:noFill/>
                  </a:rPr>
                  <a:t> </a:t>
                </a:r>
              </a:p>
            </p:txBody>
          </p:sp>
        </mc:Fallback>
      </mc:AlternateContent>
    </p:spTree>
    <p:extLst>
      <p:ext uri="{BB962C8B-B14F-4D97-AF65-F5344CB8AC3E}">
        <p14:creationId xmlns:p14="http://schemas.microsoft.com/office/powerpoint/2010/main" val="3969545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0ACFB-6E83-56F6-BD13-3F62F53947B4}"/>
              </a:ext>
            </a:extLst>
          </p:cNvPr>
          <p:cNvSpPr>
            <a:spLocks noGrp="1"/>
          </p:cNvSpPr>
          <p:nvPr>
            <p:ph type="title"/>
          </p:nvPr>
        </p:nvSpPr>
        <p:spPr/>
        <p:txBody>
          <a:bodyPr/>
          <a:lstStyle/>
          <a:p>
            <a:r>
              <a:rPr lang="en-US" dirty="0">
                <a:latin typeface="Aptos Display"/>
              </a:rPr>
              <a:t>Proof</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E23A994-E5E0-E35E-D0D8-BDD52A9C80C4}"/>
                  </a:ext>
                </a:extLst>
              </p:cNvPr>
              <p:cNvSpPr>
                <a:spLocks noGrp="1"/>
              </p:cNvSpPr>
              <p:nvPr>
                <p:ph idx="1"/>
              </p:nvPr>
            </p:nvSpPr>
            <p:spPr/>
            <p:txBody>
              <a:bodyPr/>
              <a:lstStyle/>
              <a:p>
                <a14:m>
                  <m:oMath xmlns:m="http://schemas.openxmlformats.org/officeDocument/2006/math">
                    <m:r>
                      <m:rPr>
                        <m:sty m:val="p"/>
                      </m:rPr>
                      <a:rPr lang="en-US" i="1" dirty="0" smtClean="0">
                        <a:latin typeface="Cambria Math" panose="02040503050406030204" pitchFamily="18" charset="0"/>
                      </a:rPr>
                      <m:t>Pr</m:t>
                    </m:r>
                    <m:r>
                      <a:rPr lang="en-US" i="1" dirty="0" smtClean="0">
                        <a:latin typeface="Cambria Math" panose="02040503050406030204" pitchFamily="18" charset="0"/>
                      </a:rPr>
                      <m:t>⁡[</m:t>
                    </m:r>
                    <m:r>
                      <a:rPr lang="en-US" i="1" dirty="0" smtClean="0">
                        <a:latin typeface="Cambria Math" panose="02040503050406030204" pitchFamily="18" charset="0"/>
                      </a:rPr>
                      <m:t>𝐶</m:t>
                    </m:r>
                    <m:r>
                      <a:rPr lang="en-US" i="1" dirty="0" smtClean="0">
                        <a:latin typeface="Cambria Math" panose="02040503050406030204" pitchFamily="18" charset="0"/>
                      </a:rPr>
                      <m:t>=</m:t>
                    </m:r>
                    <m:r>
                      <a:rPr lang="en-US" i="1" dirty="0" err="1">
                        <a:latin typeface="Cambria Math" panose="02040503050406030204" pitchFamily="18" charset="0"/>
                      </a:rPr>
                      <m:t>𝑐</m:t>
                    </m:r>
                    <m:r>
                      <a:rPr lang="en-US" i="1" dirty="0" err="1">
                        <a:latin typeface="Cambria Math" panose="02040503050406030204" pitchFamily="18" charset="0"/>
                      </a:rPr>
                      <m:t>|</m:t>
                    </m:r>
                    <m:r>
                      <a:rPr lang="en-US" i="1" dirty="0" err="1">
                        <a:latin typeface="Cambria Math" panose="02040503050406030204" pitchFamily="18" charset="0"/>
                      </a:rPr>
                      <m:t>𝑀</m:t>
                    </m:r>
                    <m:r>
                      <a:rPr lang="en-US" i="1" dirty="0">
                        <a:latin typeface="Cambria Math" panose="02040503050406030204" pitchFamily="18" charset="0"/>
                      </a:rPr>
                      <m:t>=</m:t>
                    </m:r>
                    <m:r>
                      <a:rPr lang="en-US" i="1" dirty="0">
                        <a:latin typeface="Cambria Math" panose="02040503050406030204" pitchFamily="18" charset="0"/>
                      </a:rPr>
                      <m:t>𝑚</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sym typeface="Symbol"/>
                      </a:rPr>
                      <m:t>𝑘</m:t>
                    </m:r>
                    <m:r>
                      <a:rPr lang="en-US" i="1" dirty="0">
                        <a:latin typeface="Cambria Math" panose="02040503050406030204" pitchFamily="18" charset="0"/>
                        <a:sym typeface="Symbol"/>
                      </a:rPr>
                      <m:t>  </m:t>
                    </m:r>
                    <m:r>
                      <a:rPr lang="en-US" i="1" dirty="0">
                        <a:latin typeface="Cambria Math" panose="02040503050406030204" pitchFamily="18" charset="0"/>
                        <a:sym typeface="Symbol"/>
                      </a:rPr>
                      <m:t>𝑚</m:t>
                    </m:r>
                    <m:r>
                      <a:rPr lang="en-US" i="1" dirty="0">
                        <a:latin typeface="Cambria Math" panose="02040503050406030204" pitchFamily="18" charset="0"/>
                        <a:sym typeface="Symbol"/>
                      </a:rPr>
                      <m:t> =</m:t>
                    </m:r>
                    <m:r>
                      <a:rPr lang="en-US" i="1" dirty="0" err="1">
                        <a:latin typeface="Cambria Math" panose="02040503050406030204" pitchFamily="18" charset="0"/>
                        <a:sym typeface="Symbol"/>
                      </a:rPr>
                      <m:t>𝑐</m:t>
                    </m:r>
                    <m:r>
                      <a:rPr lang="en-US" i="1" dirty="0" err="1">
                        <a:latin typeface="Cambria Math" panose="02040503050406030204" pitchFamily="18" charset="0"/>
                        <a:sym typeface="Symbol"/>
                      </a:rPr>
                      <m:t>|</m:t>
                    </m:r>
                    <m:r>
                      <a:rPr lang="en-US" i="1" dirty="0" err="1">
                        <a:latin typeface="Cambria Math" panose="02040503050406030204" pitchFamily="18" charset="0"/>
                        <a:sym typeface="Symbol"/>
                      </a:rPr>
                      <m:t>𝑀</m:t>
                    </m:r>
                    <m:r>
                      <a:rPr lang="en-US" i="1" dirty="0">
                        <a:latin typeface="Cambria Math" panose="02040503050406030204" pitchFamily="18" charset="0"/>
                        <a:sym typeface="Symbol"/>
                      </a:rPr>
                      <m:t>=</m:t>
                    </m:r>
                    <m:r>
                      <a:rPr lang="en-US" i="1" dirty="0">
                        <a:latin typeface="Cambria Math" panose="02040503050406030204" pitchFamily="18" charset="0"/>
                        <a:sym typeface="Symbol"/>
                      </a:rPr>
                      <m:t>𝑚</m:t>
                    </m:r>
                    <m:r>
                      <a:rPr lang="en-US" i="1" dirty="0">
                        <a:latin typeface="Cambria Math" panose="02040503050406030204" pitchFamily="18" charset="0"/>
                      </a:rPr>
                      <m:t>]</m:t>
                    </m:r>
                  </m:oMath>
                </a14:m>
                <a:endParaRPr lang="en-US" dirty="0"/>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𝑘</m:t>
                      </m:r>
                      <m:r>
                        <a:rPr lang="en-US" i="1" dirty="0">
                          <a:latin typeface="Cambria Math" panose="02040503050406030204" pitchFamily="18" charset="0"/>
                        </a:rPr>
                        <m:t>=</m:t>
                      </m:r>
                      <m:r>
                        <a:rPr lang="en-US" i="1" dirty="0">
                          <a:latin typeface="Cambria Math" panose="02040503050406030204" pitchFamily="18" charset="0"/>
                        </a:rPr>
                        <m:t>𝑚</m:t>
                      </m:r>
                      <m:r>
                        <a:rPr lang="en-US" i="1" dirty="0">
                          <a:latin typeface="Cambria Math" panose="02040503050406030204" pitchFamily="18" charset="0"/>
                          <a:sym typeface="Symbol"/>
                        </a:rPr>
                        <m:t>  </m:t>
                      </m:r>
                      <m:r>
                        <a:rPr lang="en-US" i="1" dirty="0">
                          <a:latin typeface="Cambria Math" panose="02040503050406030204" pitchFamily="18" charset="0"/>
                          <a:sym typeface="Symbol"/>
                        </a:rPr>
                        <m:t>𝑐</m:t>
                      </m:r>
                      <m:r>
                        <a:rPr lang="en-US" i="1" dirty="0">
                          <a:latin typeface="Cambria Math" panose="02040503050406030204" pitchFamily="18" charset="0"/>
                          <a:sym typeface="Symbol"/>
                        </a:rPr>
                        <m:t> | </m:t>
                      </m:r>
                      <m:r>
                        <a:rPr lang="en-US" i="1" dirty="0">
                          <a:latin typeface="Cambria Math" panose="02040503050406030204" pitchFamily="18" charset="0"/>
                          <a:sym typeface="Symbol"/>
                        </a:rPr>
                        <m:t>𝑀</m:t>
                      </m:r>
                      <m:r>
                        <a:rPr lang="en-US" i="1" dirty="0">
                          <a:latin typeface="Cambria Math" panose="02040503050406030204" pitchFamily="18" charset="0"/>
                          <a:sym typeface="Symbol"/>
                        </a:rPr>
                        <m:t>=</m:t>
                      </m:r>
                      <m:r>
                        <a:rPr lang="en-US" i="1" dirty="0">
                          <a:latin typeface="Cambria Math" panose="02040503050406030204" pitchFamily="18" charset="0"/>
                          <a:sym typeface="Symbol"/>
                        </a:rPr>
                        <m:t>𝑚</m:t>
                      </m:r>
                      <m:r>
                        <a:rPr lang="en-US" i="1" dirty="0">
                          <a:latin typeface="Cambria Math" panose="02040503050406030204" pitchFamily="18" charset="0"/>
                        </a:rPr>
                        <m:t>] = </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m:t>
                          </m:r>
                          <m:r>
                            <a:rPr lang="en-US" b="0" i="1" smtClean="0">
                              <a:latin typeface="Cambria Math" panose="02040503050406030204" pitchFamily="18" charset="0"/>
                            </a:rPr>
                            <m:t>𝑛</m:t>
                          </m:r>
                        </m:sup>
                      </m:sSup>
                    </m:oMath>
                  </m:oMathPara>
                </a14:m>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9E23A994-E5E0-E35E-D0D8-BDD52A9C80C4}"/>
                  </a:ext>
                </a:extLst>
              </p:cNvPr>
              <p:cNvSpPr>
                <a:spLocks noGrp="1" noRot="1" noChangeAspect="1" noMove="1" noResize="1" noEditPoints="1" noAdjustHandles="1" noChangeArrowheads="1" noChangeShapeType="1" noTextEdit="1"/>
              </p:cNvSpPr>
              <p:nvPr>
                <p:ph idx="1"/>
              </p:nvPr>
            </p:nvSpPr>
            <p:spPr>
              <a:blipFill>
                <a:blip r:embed="rId3"/>
                <a:stretch>
                  <a:fillRect l="-1086" t="-1744"/>
                </a:stretch>
              </a:blipFill>
            </p:spPr>
            <p:txBody>
              <a:bodyPr/>
              <a:lstStyle/>
              <a:p>
                <a:r>
                  <a:rPr lang="en-US">
                    <a:noFill/>
                  </a:rPr>
                  <a:t> </a:t>
                </a:r>
              </a:p>
            </p:txBody>
          </p:sp>
        </mc:Fallback>
      </mc:AlternateContent>
    </p:spTree>
    <p:extLst>
      <p:ext uri="{BB962C8B-B14F-4D97-AF65-F5344CB8AC3E}">
        <p14:creationId xmlns:p14="http://schemas.microsoft.com/office/powerpoint/2010/main" val="13128755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ptos Display"/>
              </a:rPr>
              <a:t>Probability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t>Law of total probability: say E</a:t>
                </a:r>
                <a:r>
                  <a:rPr lang="en-US" baseline="-25000" dirty="0"/>
                  <a:t>1</a:t>
                </a:r>
                <a:r>
                  <a:rPr lang="en-US" dirty="0"/>
                  <a:t>, …, E</a:t>
                </a:r>
                <a:r>
                  <a:rPr lang="en-US" baseline="-25000" dirty="0"/>
                  <a:t>n</a:t>
                </a:r>
                <a:r>
                  <a:rPr lang="en-US" dirty="0"/>
                  <a:t> are a </a:t>
                </a:r>
                <a:r>
                  <a:rPr lang="en-US" i="1" dirty="0"/>
                  <a:t>partition</a:t>
                </a:r>
                <a:r>
                  <a:rPr lang="en-US" dirty="0"/>
                  <a:t> of all possibilities. Then for any A:</a:t>
                </a:r>
                <a:br>
                  <a:rPr lang="en-US" dirty="0"/>
                </a:br>
                <a:r>
                  <a:rPr lang="en-US" dirty="0"/>
                  <a:t>    </a:t>
                </a:r>
              </a:p>
              <a:p>
                <a:pPr marL="0" indent="0">
                  <a:buNone/>
                </a:pPr>
                <a:r>
                  <a:rPr lang="en-US" dirty="0"/>
                  <a:t>	 </a:t>
                </a:r>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a:latin typeface="Cambria Math" panose="02040503050406030204" pitchFamily="18" charset="0"/>
                        <a:sym typeface="Symbol"/>
                      </a:rPr>
                      <m:t>𝐴</m:t>
                    </m:r>
                    <m:r>
                      <a:rPr lang="en-US" i="1" dirty="0">
                        <a:latin typeface="Cambria Math" panose="02040503050406030204" pitchFamily="18" charset="0"/>
                        <a:sym typeface="Symbol"/>
                      </a:rPr>
                      <m:t> </m:t>
                    </m:r>
                    <m:r>
                      <a:rPr lang="en-US" i="1" dirty="0">
                        <a:latin typeface="Cambria Math" panose="02040503050406030204" pitchFamily="18" charset="0"/>
                        <a:sym typeface="Symbol"/>
                      </a:rPr>
                      <m:t>𝑎𝑛𝑑</m:t>
                    </m:r>
                    <m:r>
                      <a:rPr lang="en-US" i="1" dirty="0">
                        <a:latin typeface="Cambria Math" panose="02040503050406030204" pitchFamily="18" charset="0"/>
                        <a:sym typeface="Symbol"/>
                      </a:rPr>
                      <m:t> </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 </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a:latin typeface="Cambria Math" panose="02040503050406030204" pitchFamily="18" charset="0"/>
                        <a:sym typeface="Symbol"/>
                      </a:rPr>
                      <m:t>𝐴</m:t>
                    </m:r>
                    <m:r>
                      <a:rPr lang="en-US" i="1" dirty="0">
                        <a:latin typeface="Cambria Math" panose="02040503050406030204" pitchFamily="18" charset="0"/>
                        <a:sym typeface="Symbol"/>
                      </a:rPr>
                      <m:t> | </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 </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m:t>
                    </m:r>
                  </m:oMath>
                </a14:m>
                <a:endParaRPr lang="en-US" dirty="0"/>
              </a:p>
              <a:p>
                <a:pPr marL="0" indent="0">
                  <a:buNone/>
                </a:pPr>
                <a:endParaRPr lang="en-US" dirty="0"/>
              </a:p>
              <a:p>
                <a:pPr marL="0"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7952434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0ACFB-6E83-56F6-BD13-3F62F53947B4}"/>
              </a:ext>
            </a:extLst>
          </p:cNvPr>
          <p:cNvSpPr>
            <a:spLocks noGrp="1"/>
          </p:cNvSpPr>
          <p:nvPr>
            <p:ph type="title"/>
          </p:nvPr>
        </p:nvSpPr>
        <p:spPr/>
        <p:txBody>
          <a:bodyPr/>
          <a:lstStyle/>
          <a:p>
            <a:r>
              <a:rPr lang="en-US" dirty="0">
                <a:latin typeface="Aptos Display"/>
              </a:rPr>
              <a:t>Proof</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E23A994-E5E0-E35E-D0D8-BDD52A9C80C4}"/>
                  </a:ext>
                </a:extLst>
              </p:cNvPr>
              <p:cNvSpPr>
                <a:spLocks noGrp="1"/>
              </p:cNvSpPr>
              <p:nvPr>
                <p:ph idx="1"/>
              </p:nvPr>
            </p:nvSpPr>
            <p:spPr/>
            <p:txBody>
              <a:bodyPr/>
              <a:lstStyle/>
              <a:p>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𝐶</m:t>
                    </m:r>
                    <m:r>
                      <a:rPr lang="en-US" i="1" dirty="0">
                        <a:latin typeface="Cambria Math" panose="02040503050406030204" pitchFamily="18" charset="0"/>
                      </a:rPr>
                      <m:t>=</m:t>
                    </m:r>
                    <m:r>
                      <a:rPr lang="en-US" i="1" dirty="0">
                        <a:latin typeface="Cambria Math" panose="02040503050406030204" pitchFamily="18" charset="0"/>
                      </a:rPr>
                      <m:t>𝑐</m:t>
                    </m:r>
                    <m:r>
                      <a:rPr lang="en-US" i="1" dirty="0">
                        <a:latin typeface="Cambria Math" panose="02040503050406030204" pitchFamily="18" charset="0"/>
                      </a:rPr>
                      <m:t>] =</m:t>
                    </m:r>
                    <m:nary>
                      <m:naryPr>
                        <m:chr m:val="∑"/>
                        <m:limLoc m:val="subSup"/>
                        <m:supHide m:val="on"/>
                        <m:ctrlPr>
                          <a:rPr lang="en-US" i="1" smtClean="0">
                            <a:latin typeface="Cambria Math" panose="02040503050406030204" pitchFamily="18" charset="0"/>
                          </a:rPr>
                        </m:ctrlPr>
                      </m:naryPr>
                      <m:sub>
                        <m:r>
                          <m:rPr>
                            <m:brk m:alnAt="9"/>
                          </m:rP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ℳ</m:t>
                        </m:r>
                      </m:sub>
                      <m:sup/>
                      <m:e>
                        <m:func>
                          <m:funcPr>
                            <m:ctrlPr>
                              <a:rPr lang="en-US" i="1" dirty="0">
                                <a:latin typeface="Cambria Math" panose="02040503050406030204" pitchFamily="18" charset="0"/>
                              </a:rPr>
                            </m:ctrlPr>
                          </m:funcPr>
                          <m:fName>
                            <m:r>
                              <m:rPr>
                                <m:sty m:val="p"/>
                              </m:rPr>
                              <a:rPr lang="en-US" i="0" dirty="0">
                                <a:latin typeface="Cambria Math" panose="02040503050406030204" pitchFamily="18" charset="0"/>
                              </a:rPr>
                              <m:t>Pr</m:t>
                            </m:r>
                          </m:fName>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𝐶</m:t>
                                </m:r>
                                <m:r>
                                  <a:rPr lang="en-US" i="1" dirty="0">
                                    <a:latin typeface="Cambria Math" panose="02040503050406030204" pitchFamily="18" charset="0"/>
                                  </a:rPr>
                                  <m:t>=</m:t>
                                </m:r>
                                <m:r>
                                  <a:rPr lang="en-US" i="1" dirty="0">
                                    <a:latin typeface="Cambria Math" panose="02040503050406030204" pitchFamily="18" charset="0"/>
                                  </a:rPr>
                                  <m:t>𝑐</m:t>
                                </m:r>
                              </m:e>
                              <m:e>
                                <m:r>
                                  <a:rPr lang="en-US" i="1" dirty="0">
                                    <a:latin typeface="Cambria Math" panose="02040503050406030204" pitchFamily="18" charset="0"/>
                                  </a:rPr>
                                  <m:t>𝑀</m:t>
                                </m:r>
                                <m:r>
                                  <a:rPr lang="en-US" i="1" dirty="0">
                                    <a:latin typeface="Cambria Math" panose="02040503050406030204" pitchFamily="18" charset="0"/>
                                  </a:rPr>
                                  <m:t>=</m:t>
                                </m:r>
                                <m:r>
                                  <a:rPr lang="en-US" i="1" dirty="0">
                                    <a:latin typeface="Cambria Math" panose="02040503050406030204" pitchFamily="18" charset="0"/>
                                  </a:rPr>
                                  <m:t>𝑚</m:t>
                                </m:r>
                                <m:r>
                                  <a:rPr lang="en-US" i="1" dirty="0">
                                    <a:latin typeface="Cambria Math" panose="02040503050406030204" pitchFamily="18" charset="0"/>
                                  </a:rPr>
                                  <m:t> </m:t>
                                </m:r>
                              </m:e>
                            </m:d>
                          </m:e>
                        </m:func>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Pr</m:t>
                            </m:r>
                          </m:fName>
                          <m:e>
                            <m:r>
                              <a:rPr lang="en-US" b="0" i="1" dirty="0" smtClean="0">
                                <a:latin typeface="Cambria Math" panose="02040503050406030204" pitchFamily="18" charset="0"/>
                              </a:rPr>
                              <m:t>[</m:t>
                            </m:r>
                            <m:r>
                              <a:rPr lang="en-US" b="0" i="1" dirty="0" smtClean="0">
                                <a:latin typeface="Cambria Math" panose="02040503050406030204" pitchFamily="18" charset="0"/>
                              </a:rPr>
                              <m:t>𝑀</m:t>
                            </m:r>
                            <m:r>
                              <a:rPr lang="en-US" b="0" i="1" dirty="0" smtClean="0">
                                <a:latin typeface="Cambria Math" panose="02040503050406030204" pitchFamily="18" charset="0"/>
                              </a:rPr>
                              <m:t>=</m:t>
                            </m:r>
                            <m:r>
                              <a:rPr lang="en-US" b="0" i="1" dirty="0" smtClean="0">
                                <a:latin typeface="Cambria Math" panose="02040503050406030204" pitchFamily="18" charset="0"/>
                              </a:rPr>
                              <m:t>𝑚</m:t>
                            </m:r>
                            <m:r>
                              <a:rPr lang="en-US" b="0" i="1" dirty="0" smtClean="0">
                                <a:latin typeface="Cambria Math" panose="02040503050406030204" pitchFamily="18" charset="0"/>
                              </a:rPr>
                              <m:t>]</m:t>
                            </m:r>
                          </m:e>
                        </m:func>
                      </m:e>
                    </m:nary>
                  </m:oMath>
                </a14:m>
                <a:r>
                  <a:rPr lang="en-US" dirty="0"/>
                  <a:t> </a:t>
                </a:r>
              </a:p>
              <a:p>
                <a:pPr marL="0" indent="0">
                  <a:buNone/>
                </a:pPr>
                <a:r>
                  <a:rPr lang="en-US" dirty="0"/>
                  <a:t>	= </a:t>
                </a:r>
                <a14:m>
                  <m:oMath xmlns:m="http://schemas.openxmlformats.org/officeDocument/2006/math">
                    <m:nary>
                      <m:naryPr>
                        <m:chr m:val="∑"/>
                        <m:limLoc m:val="subSup"/>
                        <m:supHide m:val="on"/>
                        <m:ctrlPr>
                          <a:rPr lang="en-US" i="1">
                            <a:latin typeface="Cambria Math" panose="02040503050406030204" pitchFamily="18" charset="0"/>
                          </a:rPr>
                        </m:ctrlPr>
                      </m:naryPr>
                      <m:sub>
                        <m:r>
                          <m:rPr>
                            <m:brk m:alnAt="9"/>
                          </m:rP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ℳ</m:t>
                        </m:r>
                      </m:sub>
                      <m:sup/>
                      <m:e>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m:t>
                            </m:r>
                            <m:r>
                              <a:rPr lang="en-US" i="1">
                                <a:latin typeface="Cambria Math" panose="02040503050406030204" pitchFamily="18" charset="0"/>
                              </a:rPr>
                              <m:t>𝑛</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 </m:t>
                            </m:r>
                          </m:e>
                        </m:func>
                      </m:e>
                    </m:nary>
                  </m:oMath>
                </a14:m>
                <a:endParaRPr lang="en-US" dirty="0"/>
              </a:p>
              <a:p>
                <a:pPr marL="0" indent="0">
                  <a:buNone/>
                </a:pPr>
                <a:r>
                  <a:rPr lang="en-US" dirty="0"/>
                  <a:t>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m:t>
                        </m:r>
                        <m:r>
                          <a:rPr lang="en-US" i="1">
                            <a:latin typeface="Cambria Math" panose="02040503050406030204" pitchFamily="18" charset="0"/>
                          </a:rPr>
                          <m:t>𝑛</m:t>
                        </m:r>
                      </m:sup>
                    </m:sSup>
                    <m:r>
                      <a:rPr lang="en-US" i="1">
                        <a:latin typeface="Cambria Math" panose="02040503050406030204" pitchFamily="18" charset="0"/>
                      </a:rPr>
                      <m:t> </m:t>
                    </m:r>
                    <m:nary>
                      <m:naryPr>
                        <m:chr m:val="∑"/>
                        <m:limLoc m:val="subSup"/>
                        <m:supHide m:val="on"/>
                        <m:ctrlPr>
                          <a:rPr lang="en-US" i="1">
                            <a:latin typeface="Cambria Math" panose="02040503050406030204" pitchFamily="18" charset="0"/>
                          </a:rPr>
                        </m:ctrlPr>
                      </m:naryPr>
                      <m:sub>
                        <m:r>
                          <m:rPr>
                            <m:brk m:alnAt="9"/>
                          </m:rP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ℳ</m:t>
                        </m:r>
                      </m:sub>
                      <m:sup/>
                      <m:e>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 </m:t>
                            </m:r>
                          </m:e>
                        </m:func>
                      </m:e>
                    </m:nary>
                  </m:oMath>
                </a14:m>
                <a:endParaRPr lang="en-US" dirty="0"/>
              </a:p>
              <a:p>
                <a:pPr marL="0" indent="0">
                  <a:buNone/>
                </a:pPr>
                <a:r>
                  <a:rPr lang="en-US" dirty="0"/>
                  <a:t>	</a:t>
                </a:r>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m:t>
                        </m:r>
                        <m:r>
                          <a:rPr lang="en-US" b="0" i="1" smtClean="0">
                            <a:latin typeface="Cambria Math" panose="02040503050406030204" pitchFamily="18" charset="0"/>
                          </a:rPr>
                          <m:t>𝑛</m:t>
                        </m:r>
                      </m:sup>
                    </m:sSup>
                  </m:oMath>
                </a14:m>
                <a:endParaRPr lang="en-US" dirty="0"/>
              </a:p>
              <a:p>
                <a:pPr marL="0" indent="0">
                  <a:buNone/>
                </a:pPr>
                <a:endParaRPr lang="en-US" dirty="0"/>
              </a:p>
              <a:p>
                <a:pPr marL="0" indent="0">
                  <a:buNone/>
                </a:pPr>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9E23A994-E5E0-E35E-D0D8-BDD52A9C80C4}"/>
                  </a:ext>
                </a:extLst>
              </p:cNvPr>
              <p:cNvSpPr>
                <a:spLocks noGrp="1" noRot="1" noChangeAspect="1" noMove="1" noResize="1" noEditPoints="1" noAdjustHandles="1" noChangeArrowheads="1" noChangeShapeType="1" noTextEdit="1"/>
              </p:cNvSpPr>
              <p:nvPr>
                <p:ph idx="1"/>
              </p:nvPr>
            </p:nvSpPr>
            <p:spPr>
              <a:blipFill>
                <a:blip r:embed="rId3"/>
                <a:stretch>
                  <a:fillRect l="-1086" t="-16570"/>
                </a:stretch>
              </a:blipFill>
            </p:spPr>
            <p:txBody>
              <a:bodyPr/>
              <a:lstStyle/>
              <a:p>
                <a:r>
                  <a:rPr lang="en-US">
                    <a:noFill/>
                  </a:rPr>
                  <a:t> </a:t>
                </a:r>
              </a:p>
            </p:txBody>
          </p:sp>
        </mc:Fallback>
      </mc:AlternateContent>
    </p:spTree>
    <p:extLst>
      <p:ext uri="{BB962C8B-B14F-4D97-AF65-F5344CB8AC3E}">
        <p14:creationId xmlns:p14="http://schemas.microsoft.com/office/powerpoint/2010/main" val="2811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5CA6A-C822-4E19-B1C0-D052760707C2}"/>
              </a:ext>
            </a:extLst>
          </p:cNvPr>
          <p:cNvSpPr>
            <a:spLocks noGrp="1"/>
          </p:cNvSpPr>
          <p:nvPr>
            <p:ph type="title"/>
          </p:nvPr>
        </p:nvSpPr>
        <p:spPr>
          <a:xfrm>
            <a:off x="445476" y="286726"/>
            <a:ext cx="11697217" cy="1325563"/>
          </a:xfrm>
        </p:spPr>
        <p:txBody>
          <a:bodyPr/>
          <a:lstStyle/>
          <a:p>
            <a:r>
              <a:rPr lang="en-US" dirty="0">
                <a:latin typeface="Aptos Display"/>
              </a:rPr>
              <a:t>Another definition: perfect indistinguishability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300187A-FE99-4C59-9E46-A6883838BC95}"/>
                  </a:ext>
                </a:extLst>
              </p:cNvPr>
              <p:cNvSpPr>
                <a:spLocks noGrp="1"/>
              </p:cNvSpPr>
              <p:nvPr>
                <p:ph idx="1"/>
              </p:nvPr>
            </p:nvSpPr>
            <p:spPr>
              <a:xfrm>
                <a:off x="968188" y="1550894"/>
                <a:ext cx="10226488" cy="4876800"/>
              </a:xfrm>
            </p:spPr>
            <p:txBody>
              <a:bodyPr>
                <a:normAutofit/>
              </a:bodyPr>
              <a:lstStyle/>
              <a:p>
                <a:pPr marL="0" indent="0">
                  <a:buNone/>
                </a:pPr>
                <a:r>
                  <a:rPr lang="en-US" sz="3200" dirty="0"/>
                  <a:t>Experiment:</a:t>
                </a:r>
              </a:p>
              <a:p>
                <a:pPr marL="571500" lvl="1" indent="-342900">
                  <a:buFont typeface="+mj-lt"/>
                  <a:buAutoNum type="arabicPeriod"/>
                </a:pPr>
                <a:r>
                  <a:rPr lang="en-US" sz="2800" dirty="0"/>
                  <a:t>Adversary A chooses any two messages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𝑚</m:t>
                        </m:r>
                      </m:e>
                      <m:sub>
                        <m:r>
                          <a:rPr lang="en-US" sz="2800" i="1">
                            <a:latin typeface="Cambria Math" panose="02040503050406030204" pitchFamily="18" charset="0"/>
                          </a:rPr>
                          <m:t>0</m:t>
                        </m:r>
                      </m:sub>
                    </m:sSub>
                    <m:r>
                      <a:rPr lang="en-US" sz="2800" i="1">
                        <a:latin typeface="Cambria Math" panose="02040503050406030204" pitchFamily="18" charset="0"/>
                      </a:rPr>
                      <m:t>, </m:t>
                    </m:r>
                    <m:sSub>
                      <m:sSubPr>
                        <m:ctrlPr>
                          <a:rPr lang="en-US" sz="2800" i="1">
                            <a:latin typeface="Cambria Math" panose="02040503050406030204" pitchFamily="18" charset="0"/>
                          </a:rPr>
                        </m:ctrlPr>
                      </m:sSubPr>
                      <m:e>
                        <m:r>
                          <a:rPr lang="en-US" sz="2800" i="1">
                            <a:latin typeface="Cambria Math" panose="02040503050406030204" pitchFamily="18" charset="0"/>
                          </a:rPr>
                          <m:t>𝑚</m:t>
                        </m:r>
                      </m:e>
                      <m:sub>
                        <m:r>
                          <a:rPr lang="en-US" sz="2800" i="1">
                            <a:latin typeface="Cambria Math" panose="02040503050406030204" pitchFamily="18" charset="0"/>
                          </a:rPr>
                          <m:t>1</m:t>
                        </m:r>
                      </m:sub>
                    </m:sSub>
                    <m:r>
                      <a:rPr lang="en-US" sz="2800" b="0" i="1" smtClean="0">
                        <a:latin typeface="Cambria Math" panose="02040503050406030204" pitchFamily="18" charset="0"/>
                      </a:rPr>
                      <m:t>∈</m:t>
                    </m:r>
                  </m:oMath>
                </a14:m>
                <a:r>
                  <a:rPr lang="en-US" sz="2800" dirty="0"/>
                  <a:t> </a:t>
                </a:r>
                <a14:m>
                  <m:oMath xmlns:m="http://schemas.openxmlformats.org/officeDocument/2006/math">
                    <m:r>
                      <a:rPr lang="en-US" sz="2800" i="1">
                        <a:latin typeface="Cambria Math" panose="02040503050406030204" pitchFamily="18" charset="0"/>
                      </a:rPr>
                      <m:t>ℳ</m:t>
                    </m:r>
                  </m:oMath>
                </a14:m>
                <a:endParaRPr lang="en-US" sz="2800" dirty="0"/>
              </a:p>
              <a:p>
                <a:pPr marL="571500" lvl="1" indent="-342900">
                  <a:buFont typeface="+mj-lt"/>
                  <a:buAutoNum type="arabicPeriod"/>
                </a:pPr>
                <a:r>
                  <a:rPr lang="en-US" sz="2800" dirty="0"/>
                  <a:t>Generate a key </a:t>
                </a:r>
                <a14:m>
                  <m:oMath xmlns:m="http://schemas.openxmlformats.org/officeDocument/2006/math">
                    <m:r>
                      <a:rPr lang="en-US" sz="2800" i="1" dirty="0" smtClean="0">
                        <a:latin typeface="Cambria Math" panose="02040503050406030204" pitchFamily="18" charset="0"/>
                      </a:rPr>
                      <m:t>𝑘</m:t>
                    </m:r>
                  </m:oMath>
                </a14:m>
                <a:r>
                  <a:rPr lang="en-US" sz="2800" dirty="0"/>
                  <a:t> using </a:t>
                </a:r>
                <a14:m>
                  <m:oMath xmlns:m="http://schemas.openxmlformats.org/officeDocument/2006/math">
                    <m:r>
                      <m:rPr>
                        <m:sty m:val="p"/>
                      </m:rPr>
                      <a:rPr lang="en-US" sz="2800">
                        <a:latin typeface="Cambria Math" panose="02040503050406030204" pitchFamily="18" charset="0"/>
                      </a:rPr>
                      <m:t>Gen</m:t>
                    </m:r>
                    <m:r>
                      <a:rPr lang="en-US" sz="2800" b="0" i="0" smtClean="0">
                        <a:latin typeface="Cambria Math" panose="02040503050406030204" pitchFamily="18" charset="0"/>
                      </a:rPr>
                      <m:t>()</m:t>
                    </m:r>
                  </m:oMath>
                </a14:m>
                <a:r>
                  <a:rPr lang="en-US" sz="2800" dirty="0"/>
                  <a:t>, pick a random bit </a:t>
                </a:r>
                <a:r>
                  <a:rPr lang="en-US" sz="2800" i="1" dirty="0"/>
                  <a:t>b</a:t>
                </a:r>
                <a:r>
                  <a:rPr lang="en-US" sz="2800" dirty="0"/>
                  <a:t> </a:t>
                </a:r>
                <a14:m>
                  <m:oMath xmlns:m="http://schemas.openxmlformats.org/officeDocument/2006/math">
                    <m:r>
                      <a:rPr lang="en-US" sz="2800" i="1">
                        <a:latin typeface="Cambria Math" panose="02040503050406030204" pitchFamily="18" charset="0"/>
                      </a:rPr>
                      <m:t>∈</m:t>
                    </m:r>
                    <m:r>
                      <a:rPr lang="en-US" sz="2800" b="0" i="1" smtClean="0">
                        <a:latin typeface="Cambria Math" panose="02040503050406030204" pitchFamily="18" charset="0"/>
                      </a:rPr>
                      <m:t>{0,1}</m:t>
                    </m:r>
                  </m:oMath>
                </a14:m>
                <a:r>
                  <a:rPr lang="en-US" sz="2800" dirty="0"/>
                  <a:t>, send attacker </a:t>
                </a:r>
                <a14:m>
                  <m:oMath xmlns:m="http://schemas.openxmlformats.org/officeDocument/2006/math">
                    <m:r>
                      <m:rPr>
                        <m:sty m:val="p"/>
                      </m:rPr>
                      <a:rPr lang="en-US" sz="2800" b="0" i="0" smtClean="0">
                        <a:latin typeface="Cambria Math" panose="02040503050406030204" pitchFamily="18" charset="0"/>
                      </a:rPr>
                      <m:t>c</m:t>
                    </m:r>
                    <m:r>
                      <a:rPr lang="en-US" sz="2800" b="0" i="0" smtClean="0">
                        <a:latin typeface="Cambria Math" panose="02040503050406030204" pitchFamily="18" charset="0"/>
                      </a:rPr>
                      <m:t>=</m:t>
                    </m:r>
                    <m:r>
                      <m:rPr>
                        <m:sty m:val="p"/>
                      </m:rPr>
                      <a:rPr lang="en-US" sz="2800">
                        <a:latin typeface="Cambria Math" panose="02040503050406030204" pitchFamily="18" charset="0"/>
                      </a:rPr>
                      <m:t>Enc</m:t>
                    </m:r>
                    <m:d>
                      <m:dPr>
                        <m:ctrlPr>
                          <a:rPr lang="en-US" sz="2800" i="1">
                            <a:latin typeface="Cambria Math" panose="02040503050406030204" pitchFamily="18" charset="0"/>
                          </a:rPr>
                        </m:ctrlPr>
                      </m:dPr>
                      <m:e>
                        <m:r>
                          <a:rPr lang="en-US" sz="2800" i="1">
                            <a:latin typeface="Cambria Math" panose="02040503050406030204" pitchFamily="18" charset="0"/>
                          </a:rPr>
                          <m:t>𝑘</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𝑚</m:t>
                            </m:r>
                          </m:e>
                          <m:sub>
                            <m:r>
                              <a:rPr lang="en-US" sz="2800" b="0" i="1" smtClean="0">
                                <a:latin typeface="Cambria Math" panose="02040503050406030204" pitchFamily="18" charset="0"/>
                              </a:rPr>
                              <m:t>𝑏</m:t>
                            </m:r>
                          </m:sub>
                        </m:sSub>
                      </m:e>
                    </m:d>
                  </m:oMath>
                </a14:m>
                <a:endParaRPr lang="en-US" sz="2800" dirty="0"/>
              </a:p>
              <a:p>
                <a:pPr marL="571500" lvl="1" indent="-342900">
                  <a:buFont typeface="+mj-lt"/>
                  <a:buAutoNum type="arabicPeriod"/>
                </a:pPr>
                <a:r>
                  <a:rPr lang="en-US" sz="2800" dirty="0"/>
                  <a:t>Attacker guesses </a:t>
                </a:r>
                <a:r>
                  <a:rPr lang="en-US" sz="2800" i="1" dirty="0"/>
                  <a:t>b’</a:t>
                </a:r>
              </a:p>
              <a:p>
                <a:pPr marL="571500" lvl="1" indent="-342900">
                  <a:buFont typeface="+mj-lt"/>
                  <a:buAutoNum type="arabicPeriod"/>
                </a:pPr>
                <a:r>
                  <a:rPr lang="en-US" sz="2800" dirty="0"/>
                  <a:t>Experiment outputs 1 (success) if </a:t>
                </a:r>
                <a:r>
                  <a:rPr lang="en-US" sz="2800" i="1" dirty="0"/>
                  <a:t>b=b’</a:t>
                </a:r>
              </a:p>
              <a:p>
                <a:pPr marL="571500" lvl="1" indent="-342900">
                  <a:buFont typeface="+mj-lt"/>
                  <a:buAutoNum type="arabicPeriod"/>
                </a:pPr>
                <a:endParaRPr lang="en-US" sz="2800" i="1" dirty="0"/>
              </a:p>
              <a:p>
                <a:pPr marL="571500" lvl="1" indent="-342900">
                  <a:buFont typeface="+mj-lt"/>
                  <a:buAutoNum type="arabicPeriod"/>
                </a:pPr>
                <a:endParaRPr lang="en-US" sz="2800" i="1" dirty="0"/>
              </a:p>
              <a:p>
                <a:pPr marL="0">
                  <a:buNone/>
                </a:pPr>
                <a:endParaRPr lang="en-US" sz="3200" i="1" dirty="0"/>
              </a:p>
              <a:p>
                <a:pPr marL="571500" lvl="1" indent="-342900">
                  <a:buFont typeface="+mj-lt"/>
                  <a:buAutoNum type="arabicPeriod"/>
                </a:pPr>
                <a:endParaRPr lang="en-US" sz="2800" i="1" dirty="0"/>
              </a:p>
              <a:p>
                <a:pPr marL="571500" lvl="1" indent="-342900">
                  <a:buFont typeface="+mj-lt"/>
                  <a:buAutoNum type="arabicPeriod"/>
                </a:pPr>
                <a:endParaRPr lang="en-US" sz="2800" i="1" dirty="0"/>
              </a:p>
              <a:p>
                <a:pPr marL="571500" lvl="1" indent="-342900">
                  <a:buFont typeface="+mj-lt"/>
                  <a:buAutoNum type="arabicPeriod"/>
                </a:pPr>
                <a:endParaRPr lang="en-US" sz="2800" i="1" dirty="0"/>
              </a:p>
            </p:txBody>
          </p:sp>
        </mc:Choice>
        <mc:Fallback>
          <p:sp>
            <p:nvSpPr>
              <p:cNvPr id="3" name="Content Placeholder 2">
                <a:extLst>
                  <a:ext uri="{FF2B5EF4-FFF2-40B4-BE49-F238E27FC236}">
                    <a16:creationId xmlns:a16="http://schemas.microsoft.com/office/drawing/2014/main" id="{E300187A-FE99-4C59-9E46-A6883838BC95}"/>
                  </a:ext>
                </a:extLst>
              </p:cNvPr>
              <p:cNvSpPr>
                <a:spLocks noGrp="1" noRot="1" noChangeAspect="1" noMove="1" noResize="1" noEditPoints="1" noAdjustHandles="1" noChangeArrowheads="1" noChangeShapeType="1" noTextEdit="1"/>
              </p:cNvSpPr>
              <p:nvPr>
                <p:ph idx="1"/>
              </p:nvPr>
            </p:nvSpPr>
            <p:spPr>
              <a:xfrm>
                <a:off x="968188" y="1550894"/>
                <a:ext cx="10226488" cy="4876800"/>
              </a:xfrm>
              <a:blipFill>
                <a:blip r:embed="rId3"/>
                <a:stretch>
                  <a:fillRect l="-1489" t="-2597"/>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CF079284-9BE4-48C8-4EAD-2BCDC3A12D27}"/>
              </a:ext>
            </a:extLst>
          </p:cNvPr>
          <p:cNvSpPr txBox="1"/>
          <p:nvPr/>
        </p:nvSpPr>
        <p:spPr>
          <a:xfrm>
            <a:off x="1084169" y="5223747"/>
            <a:ext cx="9182660" cy="1077218"/>
          </a:xfrm>
          <a:prstGeom prst="rect">
            <a:avLst/>
          </a:prstGeom>
          <a:noFill/>
        </p:spPr>
        <p:txBody>
          <a:bodyPr wrap="square">
            <a:spAutoFit/>
          </a:bodyPr>
          <a:lstStyle/>
          <a:p>
            <a:pPr marL="0">
              <a:buNone/>
            </a:pPr>
            <a:r>
              <a:rPr lang="en-US" sz="3200" dirty="0">
                <a:latin typeface="Aptos"/>
              </a:rPr>
              <a:t>Perfectly indistinguishable: for every adversary </a:t>
            </a:r>
            <a:r>
              <a:rPr lang="en-US" sz="3200" i="1" dirty="0">
                <a:latin typeface="Aptos"/>
              </a:rPr>
              <a:t>A</a:t>
            </a:r>
          </a:p>
          <a:p>
            <a:pPr marL="0" algn="ctr">
              <a:buNone/>
            </a:pPr>
            <a:r>
              <a:rPr lang="en-US" sz="3200" dirty="0" err="1">
                <a:latin typeface="Aptos"/>
              </a:rPr>
              <a:t>Pr</a:t>
            </a:r>
            <a:r>
              <a:rPr lang="en-US" sz="3200" dirty="0">
                <a:latin typeface="Aptos"/>
              </a:rPr>
              <a:t>[</a:t>
            </a:r>
            <a:r>
              <a:rPr lang="en-US" sz="3200" dirty="0">
                <a:solidFill>
                  <a:srgbClr val="0070C0"/>
                </a:solidFill>
                <a:latin typeface="Aptos"/>
              </a:rPr>
              <a:t>Experiment outputs 1</a:t>
            </a:r>
            <a:r>
              <a:rPr lang="en-US" sz="3200" dirty="0">
                <a:latin typeface="Aptos"/>
              </a:rPr>
              <a:t>] = ½ </a:t>
            </a:r>
          </a:p>
        </p:txBody>
      </p:sp>
    </p:spTree>
    <p:extLst>
      <p:ext uri="{BB962C8B-B14F-4D97-AF65-F5344CB8AC3E}">
        <p14:creationId xmlns:p14="http://schemas.microsoft.com/office/powerpoint/2010/main" val="143172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0D143-F68F-F7AB-0F11-BEF8AA9290AA}"/>
              </a:ext>
            </a:extLst>
          </p:cNvPr>
          <p:cNvSpPr>
            <a:spLocks noGrp="1"/>
          </p:cNvSpPr>
          <p:nvPr>
            <p:ph type="title"/>
          </p:nvPr>
        </p:nvSpPr>
        <p:spPr/>
        <p:txBody>
          <a:bodyPr/>
          <a:lstStyle/>
          <a:p>
            <a:r>
              <a:rPr lang="en-US" dirty="0">
                <a:latin typeface="Aptos Display"/>
              </a:rPr>
              <a:t>Perfect indistinguishability</a:t>
            </a:r>
          </a:p>
        </p:txBody>
      </p:sp>
      <p:sp>
        <p:nvSpPr>
          <p:cNvPr id="3" name="Content Placeholder 2">
            <a:extLst>
              <a:ext uri="{FF2B5EF4-FFF2-40B4-BE49-F238E27FC236}">
                <a16:creationId xmlns:a16="http://schemas.microsoft.com/office/drawing/2014/main" id="{E30BE2DA-3DA6-DD96-5E40-9731308E9AF3}"/>
              </a:ext>
            </a:extLst>
          </p:cNvPr>
          <p:cNvSpPr>
            <a:spLocks noGrp="1"/>
          </p:cNvSpPr>
          <p:nvPr>
            <p:ph idx="1"/>
          </p:nvPr>
        </p:nvSpPr>
        <p:spPr/>
        <p:txBody>
          <a:bodyPr/>
          <a:lstStyle/>
          <a:p>
            <a:r>
              <a:rPr lang="en-US" dirty="0">
                <a:latin typeface="Aptos"/>
              </a:rPr>
              <a:t>Lemma 2 (2.7 in the book): An encryption scheme is perfectly secret if and only if it is perfectly indistinguishable. </a:t>
            </a:r>
          </a:p>
        </p:txBody>
      </p:sp>
    </p:spTree>
    <p:extLst>
      <p:ext uri="{BB962C8B-B14F-4D97-AF65-F5344CB8AC3E}">
        <p14:creationId xmlns:p14="http://schemas.microsoft.com/office/powerpoint/2010/main" val="34930731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54E708E-BE9A-42EA-5A6D-A1702B369FCE}"/>
                  </a:ext>
                </a:extLst>
              </p:cNvPr>
              <p:cNvSpPr>
                <a:spLocks noGrp="1"/>
              </p:cNvSpPr>
              <p:nvPr>
                <p:ph idx="1"/>
              </p:nvPr>
            </p:nvSpPr>
            <p:spPr>
              <a:xfrm>
                <a:off x="445477" y="652182"/>
                <a:ext cx="10515600" cy="5442353"/>
              </a:xfrm>
            </p:spPr>
            <p:txBody>
              <a:bodyPr/>
              <a:lstStyle/>
              <a:p>
                <a:pPr marL="0" indent="0">
                  <a:buNone/>
                </a:pPr>
                <a:r>
                  <a:rPr lang="en-US" dirty="0"/>
                  <a:t>Lemma</a:t>
                </a:r>
              </a:p>
              <a:p>
                <a:pPr marL="0" indent="0">
                  <a:buNone/>
                </a:pPr>
                <a:endParaRPr lang="en-US" dirty="0"/>
              </a:p>
              <a:p>
                <a:pPr marL="0" indent="0">
                  <a:buNone/>
                </a:pPr>
                <a:r>
                  <a:rPr lang="en-US" dirty="0"/>
                  <a:t>For every two messages </a:t>
                </a:r>
                <a14:m>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𝑚</m:t>
                        </m:r>
                      </m:e>
                      <m:sub>
                        <m:r>
                          <a:rPr lang="en-US" sz="2800" i="1">
                            <a:latin typeface="Cambria Math" panose="02040503050406030204" pitchFamily="18" charset="0"/>
                          </a:rPr>
                          <m:t>0</m:t>
                        </m:r>
                      </m:sub>
                    </m:sSub>
                    <m:r>
                      <a:rPr lang="en-US" sz="2800" i="1">
                        <a:latin typeface="Cambria Math" panose="02040503050406030204" pitchFamily="18" charset="0"/>
                      </a:rPr>
                      <m:t>, </m:t>
                    </m:r>
                    <m:sSub>
                      <m:sSubPr>
                        <m:ctrlPr>
                          <a:rPr lang="en-US" sz="2800" i="1">
                            <a:latin typeface="Cambria Math" panose="02040503050406030204" pitchFamily="18" charset="0"/>
                          </a:rPr>
                        </m:ctrlPr>
                      </m:sSubPr>
                      <m:e>
                        <m:r>
                          <a:rPr lang="en-US" sz="2800" i="1">
                            <a:latin typeface="Cambria Math" panose="02040503050406030204" pitchFamily="18" charset="0"/>
                          </a:rPr>
                          <m:t>𝑚</m:t>
                        </m:r>
                      </m:e>
                      <m:sub>
                        <m:r>
                          <a:rPr lang="en-US" sz="2800" i="1">
                            <a:latin typeface="Cambria Math" panose="02040503050406030204" pitchFamily="18" charset="0"/>
                          </a:rPr>
                          <m:t>1</m:t>
                        </m:r>
                      </m:sub>
                    </m:sSub>
                    <m:r>
                      <a:rPr lang="en-US" sz="2800" b="0" i="1" smtClean="0">
                        <a:latin typeface="Cambria Math" panose="02040503050406030204" pitchFamily="18" charset="0"/>
                      </a:rPr>
                      <m:t>∈</m:t>
                    </m:r>
                    <m:r>
                      <a:rPr lang="en-US" sz="2800" b="0" i="1" smtClean="0">
                        <a:latin typeface="Cambria Math" panose="02040503050406030204" pitchFamily="18" charset="0"/>
                      </a:rPr>
                      <m:t>ℳ</m:t>
                    </m:r>
                  </m:oMath>
                </a14:m>
                <a:r>
                  <a:rPr lang="en-US" dirty="0"/>
                  <a:t> and any ciphertext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𝒞</m:t>
                    </m:r>
                  </m:oMath>
                </a14:m>
                <a:r>
                  <a:rPr lang="en-US" dirty="0"/>
                  <a:t>, </a:t>
                </a:r>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En</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c</m:t>
                                  </m:r>
                                </m:e>
                                <m:sub>
                                  <m:r>
                                    <a:rPr lang="en-US" b="0" i="1" smtClean="0">
                                      <a:latin typeface="Cambria Math" panose="02040503050406030204" pitchFamily="18" charset="0"/>
                                    </a:rPr>
                                    <m:t>𝑘</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r>
                                <a:rPr lang="en-US" b="0" i="1" smtClean="0">
                                  <a:latin typeface="Cambria Math" panose="02040503050406030204" pitchFamily="18" charset="0"/>
                                </a:rPr>
                                <m:t>𝑐</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r>
                            <a:rPr lang="en-US" b="0" i="1" smtClean="0">
                              <a:latin typeface="Cambria Math" panose="02040503050406030204" pitchFamily="18" charset="0"/>
                            </a:rPr>
                            <m:t>[</m:t>
                          </m:r>
                          <m:r>
                            <m:rPr>
                              <m:sty m:val="p"/>
                            </m:rPr>
                            <a:rPr lang="en-US" b="0" i="0" smtClean="0">
                              <a:latin typeface="Cambria Math" panose="02040503050406030204" pitchFamily="18" charset="0"/>
                            </a:rPr>
                            <m:t>En</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c</m:t>
                              </m:r>
                            </m:e>
                            <m:sub>
                              <m:r>
                                <a:rPr lang="en-US" b="0" i="1" smtClean="0">
                                  <a:latin typeface="Cambria Math" panose="02040503050406030204" pitchFamily="18" charset="0"/>
                                </a:rPr>
                                <m:t>𝑘</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e>
                      </m:func>
                    </m:oMath>
                  </m:oMathPara>
                </a14:m>
                <a:endParaRPr lang="en-US" dirty="0"/>
              </a:p>
              <a:p>
                <a:pPr marL="0" indent="0">
                  <a:buNone/>
                </a:pPr>
                <a:r>
                  <a:rPr lang="en-US" dirty="0"/>
                  <a:t>where the probability is over the random choice of </a:t>
                </a:r>
                <a14:m>
                  <m:oMath xmlns:m="http://schemas.openxmlformats.org/officeDocument/2006/math">
                    <m:r>
                      <a:rPr lang="en-US" b="0" i="1" smtClean="0">
                        <a:latin typeface="Cambria Math" panose="02040503050406030204" pitchFamily="18" charset="0"/>
                      </a:rPr>
                      <m:t>𝑘</m:t>
                    </m:r>
                  </m:oMath>
                </a14:m>
                <a:r>
                  <a:rPr lang="en-US" dirty="0"/>
                  <a:t>.</a:t>
                </a:r>
              </a:p>
              <a:p>
                <a:pPr marL="0" indent="0">
                  <a:buNone/>
                </a:pPr>
                <a:endParaRPr lang="en-US" dirty="0"/>
              </a:p>
              <a:p>
                <a:pPr marL="0" indent="0">
                  <a:buNone/>
                </a:pPr>
                <a:r>
                  <a:rPr lang="en-US" dirty="0"/>
                  <a:t>An encryption scheme is perfectly secure if and only if the equation above holds </a:t>
                </a:r>
              </a:p>
            </p:txBody>
          </p:sp>
        </mc:Choice>
        <mc:Fallback>
          <p:sp>
            <p:nvSpPr>
              <p:cNvPr id="3" name="Content Placeholder 2">
                <a:extLst>
                  <a:ext uri="{FF2B5EF4-FFF2-40B4-BE49-F238E27FC236}">
                    <a16:creationId xmlns:a16="http://schemas.microsoft.com/office/drawing/2014/main" id="{F54E708E-BE9A-42EA-5A6D-A1702B369FCE}"/>
                  </a:ext>
                </a:extLst>
              </p:cNvPr>
              <p:cNvSpPr>
                <a:spLocks noGrp="1" noRot="1" noChangeAspect="1" noMove="1" noResize="1" noEditPoints="1" noAdjustHandles="1" noChangeArrowheads="1" noChangeShapeType="1" noTextEdit="1"/>
              </p:cNvSpPr>
              <p:nvPr>
                <p:ph idx="1"/>
              </p:nvPr>
            </p:nvSpPr>
            <p:spPr>
              <a:xfrm>
                <a:off x="445477" y="652182"/>
                <a:ext cx="10515600" cy="5442353"/>
              </a:xfrm>
              <a:blipFill>
                <a:blip r:embed="rId3"/>
                <a:stretch>
                  <a:fillRect l="-1327" t="-1860" r="-724"/>
                </a:stretch>
              </a:blipFill>
            </p:spPr>
            <p:txBody>
              <a:bodyPr/>
              <a:lstStyle/>
              <a:p>
                <a:r>
                  <a:rPr lang="en-US">
                    <a:noFill/>
                  </a:rPr>
                  <a:t> </a:t>
                </a:r>
              </a:p>
            </p:txBody>
          </p:sp>
        </mc:Fallback>
      </mc:AlternateContent>
    </p:spTree>
    <p:extLst>
      <p:ext uri="{BB962C8B-B14F-4D97-AF65-F5344CB8AC3E}">
        <p14:creationId xmlns:p14="http://schemas.microsoft.com/office/powerpoint/2010/main" val="36055407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ptos Display"/>
              </a:rPr>
              <a:t>Using the same key twice?</a:t>
            </a:r>
          </a:p>
        </p:txBody>
      </p:sp>
      <p:sp>
        <p:nvSpPr>
          <p:cNvPr id="3" name="Content Placeholder 2"/>
          <p:cNvSpPr>
            <a:spLocks noGrp="1"/>
          </p:cNvSpPr>
          <p:nvPr>
            <p:ph idx="1"/>
          </p:nvPr>
        </p:nvSpPr>
        <p:spPr/>
        <p:txBody>
          <a:bodyPr/>
          <a:lstStyle/>
          <a:p>
            <a:r>
              <a:rPr lang="en-US" dirty="0"/>
              <a:t>m</a:t>
            </a:r>
            <a:r>
              <a:rPr lang="en-US" baseline="-25000" dirty="0"/>
              <a:t>1 </a:t>
            </a:r>
            <a:r>
              <a:rPr lang="en-US" dirty="0">
                <a:sym typeface="Symbol"/>
              </a:rPr>
              <a:t> m</a:t>
            </a:r>
            <a:r>
              <a:rPr lang="en-US" baseline="-25000" dirty="0">
                <a:sym typeface="Symbol"/>
              </a:rPr>
              <a:t>2</a:t>
            </a:r>
            <a:r>
              <a:rPr lang="en-US" dirty="0">
                <a:sym typeface="Symbol"/>
              </a:rPr>
              <a:t> is information about m</a:t>
            </a:r>
            <a:r>
              <a:rPr lang="en-US" baseline="-25000" dirty="0">
                <a:sym typeface="Symbol"/>
              </a:rPr>
              <a:t>1</a:t>
            </a:r>
            <a:r>
              <a:rPr lang="en-US" dirty="0">
                <a:sym typeface="Symbol"/>
              </a:rPr>
              <a:t>, m</a:t>
            </a:r>
            <a:r>
              <a:rPr lang="en-US" baseline="-25000" dirty="0">
                <a:sym typeface="Symbol"/>
              </a:rPr>
              <a:t>2</a:t>
            </a:r>
            <a:endParaRPr lang="en-US" dirty="0">
              <a:sym typeface="Symbol"/>
            </a:endParaRPr>
          </a:p>
          <a:p>
            <a:endParaRPr lang="en-US" dirty="0">
              <a:sym typeface="Symbol"/>
            </a:endParaRPr>
          </a:p>
          <a:p>
            <a:r>
              <a:rPr lang="en-US" dirty="0">
                <a:sym typeface="Symbol"/>
              </a:rPr>
              <a:t>Is this significant?</a:t>
            </a:r>
          </a:p>
          <a:p>
            <a:pPr lvl="2"/>
            <a:r>
              <a:rPr lang="en-US" dirty="0">
                <a:sym typeface="Symbol"/>
              </a:rPr>
              <a:t>No longer perfectly secret!</a:t>
            </a:r>
          </a:p>
          <a:p>
            <a:pPr lvl="2"/>
            <a:r>
              <a:rPr lang="en-US" dirty="0">
                <a:sym typeface="Symbol"/>
              </a:rPr>
              <a:t>m</a:t>
            </a:r>
            <a:r>
              <a:rPr lang="en-US" baseline="-25000" dirty="0">
                <a:sym typeface="Symbol"/>
              </a:rPr>
              <a:t>1</a:t>
            </a:r>
            <a:r>
              <a:rPr lang="en-US" dirty="0">
                <a:sym typeface="Symbol"/>
              </a:rPr>
              <a:t>  m</a:t>
            </a:r>
            <a:r>
              <a:rPr lang="en-US" baseline="-25000" dirty="0">
                <a:sym typeface="Symbol"/>
              </a:rPr>
              <a:t>2</a:t>
            </a:r>
            <a:r>
              <a:rPr lang="en-US" dirty="0">
                <a:sym typeface="Symbol"/>
              </a:rPr>
              <a:t> reveals where m</a:t>
            </a:r>
            <a:r>
              <a:rPr lang="en-US" baseline="-25000" dirty="0">
                <a:sym typeface="Symbol"/>
              </a:rPr>
              <a:t>1</a:t>
            </a:r>
            <a:r>
              <a:rPr lang="en-US" dirty="0">
                <a:sym typeface="Symbol"/>
              </a:rPr>
              <a:t>, m</a:t>
            </a:r>
            <a:r>
              <a:rPr lang="en-US" baseline="-25000" dirty="0">
                <a:sym typeface="Symbol"/>
              </a:rPr>
              <a:t>2</a:t>
            </a:r>
            <a:r>
              <a:rPr lang="en-US" dirty="0">
                <a:sym typeface="Symbol"/>
              </a:rPr>
              <a:t> differ</a:t>
            </a:r>
          </a:p>
          <a:p>
            <a:pPr lvl="2"/>
            <a:r>
              <a:rPr lang="en-US" dirty="0">
                <a:sym typeface="Symbol"/>
              </a:rPr>
              <a:t>Frequency analysis</a:t>
            </a:r>
          </a:p>
          <a:p>
            <a:pPr lvl="2"/>
            <a:r>
              <a:rPr lang="en-US" dirty="0">
                <a:sym typeface="Symbol"/>
              </a:rPr>
              <a:t>Exploiting characteristics of ASCII…</a:t>
            </a:r>
          </a:p>
        </p:txBody>
      </p:sp>
    </p:spTree>
    <p:extLst>
      <p:ext uri="{BB962C8B-B14F-4D97-AF65-F5344CB8AC3E}">
        <p14:creationId xmlns:p14="http://schemas.microsoft.com/office/powerpoint/2010/main" val="41002159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4D274D0-C4B6-C743-B6F9-AAAB0397D2A5}">
  <we:reference id="wa200010001" version="1.0.0.1" store="en-US" storeType="OMEX"/>
  <we:alternateReferences>
    <we:reference id="wa200010001" version="1.0.0.1" store="en-US" storeType="OMEX"/>
  </we:alternateReferences>
  <we:properties>
    <we:property name="claude.fileId" value="&quot;c405909f-1367-4f17-bfe3-f8f0419b002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13325</TotalTime>
  <Words>6692</Words>
  <Application>Microsoft Macintosh PowerPoint</Application>
  <PresentationFormat>Widescreen</PresentationFormat>
  <Paragraphs>921</Paragraphs>
  <Slides>48</Slides>
  <Notes>48</Notes>
  <HiddenSlides>8</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Aptos</vt:lpstr>
      <vt:lpstr>Aptos Display</vt:lpstr>
      <vt:lpstr>Arial</vt:lpstr>
      <vt:lpstr>Calibri</vt:lpstr>
      <vt:lpstr>Cambria Math</vt:lpstr>
      <vt:lpstr>Helvetica Neue</vt:lpstr>
      <vt:lpstr>Symbol</vt:lpstr>
      <vt:lpstr>Wingdings</vt:lpstr>
      <vt:lpstr>Office Theme</vt:lpstr>
      <vt:lpstr>PowerPoint Presentation</vt:lpstr>
      <vt:lpstr> (NOT) All Background You Need for This Course</vt:lpstr>
      <vt:lpstr>Exponentiation and logarithms</vt:lpstr>
      <vt:lpstr>Prime numbers</vt:lpstr>
      <vt:lpstr>Modular arithmetic</vt:lpstr>
      <vt:lpstr>Modular arithmetic</vt:lpstr>
      <vt:lpstr>Modular exponentiation</vt:lpstr>
      <vt:lpstr>Asymptotic complexity</vt:lpstr>
      <vt:lpstr>Ancient ciphers</vt:lpstr>
      <vt:lpstr>How to encrypt a message?</vt:lpstr>
      <vt:lpstr>Idea 1: rotation (shift) cipher</vt:lpstr>
      <vt:lpstr>Idea 2: substitution cipher</vt:lpstr>
      <vt:lpstr>Attack: frequency analysis</vt:lpstr>
      <vt:lpstr>PowerPoint Presentation</vt:lpstr>
      <vt:lpstr>Attacking substitution cipher</vt:lpstr>
      <vt:lpstr>PowerPoint Presentation</vt:lpstr>
      <vt:lpstr>Vigenère (vee-zhuh-ner) cipher </vt:lpstr>
      <vt:lpstr>Attacking the Vigenère cipher</vt:lpstr>
      <vt:lpstr>How to find the key length?</vt:lpstr>
      <vt:lpstr>Friedman test</vt:lpstr>
      <vt:lpstr>Probability</vt:lpstr>
      <vt:lpstr>PowerPoint Presentation</vt:lpstr>
      <vt:lpstr>Some other old things</vt:lpstr>
      <vt:lpstr>Classical cryptography</vt:lpstr>
      <vt:lpstr>Modern cryptography</vt:lpstr>
      <vt:lpstr>PowerPoint Presentation</vt:lpstr>
      <vt:lpstr>Definitions for encryption</vt:lpstr>
      <vt:lpstr>Notation</vt:lpstr>
      <vt:lpstr>Definitions for encryption</vt:lpstr>
      <vt:lpstr>Probability</vt:lpstr>
      <vt:lpstr>Definitions for encryption</vt:lpstr>
      <vt:lpstr>Example</vt:lpstr>
      <vt:lpstr>Example: rotation cipher (k = 3)</vt:lpstr>
      <vt:lpstr>An equivalent definition</vt:lpstr>
      <vt:lpstr>Proof</vt:lpstr>
      <vt:lpstr>One-time pad</vt:lpstr>
      <vt:lpstr>Rotation vs modular addition </vt:lpstr>
      <vt:lpstr>XOR</vt:lpstr>
      <vt:lpstr>One-time pad</vt:lpstr>
      <vt:lpstr>One-time pad</vt:lpstr>
      <vt:lpstr>Theorem</vt:lpstr>
      <vt:lpstr>Proof</vt:lpstr>
      <vt:lpstr>Probability</vt:lpstr>
      <vt:lpstr>Proof</vt:lpstr>
      <vt:lpstr>Another definition: perfect indistinguishability</vt:lpstr>
      <vt:lpstr>Perfect indistinguishability</vt:lpstr>
      <vt:lpstr>PowerPoint Presentation</vt:lpstr>
      <vt:lpstr>Using the same key twice?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Luo, Ning</dc:creator>
  <cp:lastModifiedBy>Luo, Ning</cp:lastModifiedBy>
  <cp:revision>10</cp:revision>
  <dcterms:created xsi:type="dcterms:W3CDTF">2025-08-24T21:52:15Z</dcterms:created>
  <dcterms:modified xsi:type="dcterms:W3CDTF">2026-08-28T02:12:34Z</dcterms:modified>
</cp:coreProperties>
</file>