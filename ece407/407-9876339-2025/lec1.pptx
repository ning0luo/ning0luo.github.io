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7" r:id="rId2"/>
    <p:sldId id="258" r:id="rId3"/>
    <p:sldId id="528" r:id="rId4"/>
    <p:sldId id="270" r:id="rId5"/>
    <p:sldId id="539" r:id="rId6"/>
    <p:sldId id="260" r:id="rId7"/>
    <p:sldId id="261" r:id="rId8"/>
    <p:sldId id="523" r:id="rId9"/>
    <p:sldId id="544" r:id="rId10"/>
    <p:sldId id="545" r:id="rId11"/>
    <p:sldId id="534" r:id="rId12"/>
    <p:sldId id="263" r:id="rId13"/>
    <p:sldId id="551" r:id="rId14"/>
    <p:sldId id="547" r:id="rId15"/>
    <p:sldId id="548" r:id="rId16"/>
    <p:sldId id="540" r:id="rId17"/>
    <p:sldId id="549" r:id="rId18"/>
    <p:sldId id="550" r:id="rId19"/>
    <p:sldId id="273" r:id="rId20"/>
    <p:sldId id="535" r:id="rId21"/>
    <p:sldId id="409" r:id="rId22"/>
    <p:sldId id="411" r:id="rId23"/>
    <p:sldId id="536" r:id="rId24"/>
    <p:sldId id="537" r:id="rId25"/>
    <p:sldId id="264" r:id="rId26"/>
    <p:sldId id="265" r:id="rId27"/>
    <p:sldId id="538" r:id="rId28"/>
    <p:sldId id="381" r:id="rId29"/>
    <p:sldId id="38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59"/>
    <p:restoredTop sz="94730"/>
  </p:normalViewPr>
  <p:slideViewPr>
    <p:cSldViewPr snapToGrid="0">
      <p:cViewPr varScale="1">
        <p:scale>
          <a:sx n="119" d="100"/>
          <a:sy n="119" d="100"/>
        </p:scale>
        <p:origin x="536" y="176"/>
      </p:cViewPr>
      <p:guideLst/>
    </p:cSldViewPr>
  </p:slideViewPr>
  <p:outlineViewPr>
    <p:cViewPr>
      <p:scale>
        <a:sx n="33" d="100"/>
        <a:sy n="33" d="100"/>
      </p:scale>
      <p:origin x="0" y="-352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55FF5-7124-694A-A660-6D23DB922C18}" type="datetimeFigureOut">
              <a:rPr lang="en-US" smtClean="0"/>
              <a:t>8/18/26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7409B2-D19D-154D-8FCE-B29D1C1795CC}" type="slidenum">
              <a:rPr lang="en-US" smtClean="0"/>
              <a:t>‹#›</a:t>
            </a:fld>
            <a:endParaRPr lang="en-US"/>
          </a:p>
        </p:txBody>
      </p:sp>
    </p:spTree>
    <p:extLst>
      <p:ext uri="{BB962C8B-B14F-4D97-AF65-F5344CB8AC3E}">
        <p14:creationId xmlns:p14="http://schemas.microsoft.com/office/powerpoint/2010/main" val="1381129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1E8587-C61B-49BA-BD3C-A9EE353D70EB}" type="slidenum">
              <a:rPr lang="en-US" smtClean="0"/>
              <a:t>6</a:t>
            </a:fld>
            <a:endParaRPr lang="en-US"/>
          </a:p>
        </p:txBody>
      </p:sp>
    </p:spTree>
    <p:extLst>
      <p:ext uri="{BB962C8B-B14F-4D97-AF65-F5344CB8AC3E}">
        <p14:creationId xmlns:p14="http://schemas.microsoft.com/office/powerpoint/2010/main" val="3346692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7409B2-D19D-154D-8FCE-B29D1C1795CC}" type="slidenum">
              <a:rPr lang="en-US" smtClean="0"/>
              <a:t>10</a:t>
            </a:fld>
            <a:endParaRPr lang="en-US"/>
          </a:p>
        </p:txBody>
      </p:sp>
    </p:spTree>
    <p:extLst>
      <p:ext uri="{BB962C8B-B14F-4D97-AF65-F5344CB8AC3E}">
        <p14:creationId xmlns:p14="http://schemas.microsoft.com/office/powerpoint/2010/main" val="4237432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7409B2-D19D-154D-8FCE-B29D1C1795CC}" type="slidenum">
              <a:rPr lang="en-US" smtClean="0"/>
              <a:t>17</a:t>
            </a:fld>
            <a:endParaRPr lang="en-US"/>
          </a:p>
        </p:txBody>
      </p:sp>
    </p:spTree>
    <p:extLst>
      <p:ext uri="{BB962C8B-B14F-4D97-AF65-F5344CB8AC3E}">
        <p14:creationId xmlns:p14="http://schemas.microsoft.com/office/powerpoint/2010/main" val="3893164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0ECC2-A56B-2FC3-C99A-6A661CBEA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E8A74-DE90-9685-4968-5D8D9635F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E358C-FD88-097D-7713-8C8B39BD46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7E6379-3A55-9799-DE16-F30A77EE15CF}"/>
              </a:ext>
            </a:extLst>
          </p:cNvPr>
          <p:cNvSpPr>
            <a:spLocks noGrp="1"/>
          </p:cNvSpPr>
          <p:nvPr>
            <p:ph type="sldNum" sz="quarter" idx="5"/>
          </p:nvPr>
        </p:nvSpPr>
        <p:spPr/>
        <p:txBody>
          <a:bodyPr/>
          <a:lstStyle/>
          <a:p>
            <a:fld id="{BD7409B2-D19D-154D-8FCE-B29D1C1795CC}" type="slidenum">
              <a:rPr lang="en-US" smtClean="0"/>
              <a:t>18</a:t>
            </a:fld>
            <a:endParaRPr lang="en-US"/>
          </a:p>
        </p:txBody>
      </p:sp>
    </p:spTree>
    <p:extLst>
      <p:ext uri="{BB962C8B-B14F-4D97-AF65-F5344CB8AC3E}">
        <p14:creationId xmlns:p14="http://schemas.microsoft.com/office/powerpoint/2010/main" val="3732807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F391D-50BE-65B7-ED30-7BA452F574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F9D2B0-AFE9-5EB3-5BC8-D35D91D616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2CDD2B-E955-E713-6894-103236CF870D}"/>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5" name="Footer Placeholder 4">
            <a:extLst>
              <a:ext uri="{FF2B5EF4-FFF2-40B4-BE49-F238E27FC236}">
                <a16:creationId xmlns:a16="http://schemas.microsoft.com/office/drawing/2014/main" id="{382E74AE-174C-3055-3700-5D49E09BE7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CE8C9-152A-8AFC-3E25-04B55A84FF7D}"/>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3890010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D3272-062F-20E0-7098-9A23F5D63B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1BBCB1-3D39-BA9D-489A-1E032FFA6E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128D26-CBA4-2137-45B2-00D3DB883C5A}"/>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5" name="Footer Placeholder 4">
            <a:extLst>
              <a:ext uri="{FF2B5EF4-FFF2-40B4-BE49-F238E27FC236}">
                <a16:creationId xmlns:a16="http://schemas.microsoft.com/office/drawing/2014/main" id="{FF7151B0-3EF9-B4CE-075C-B1A0C6E1E2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3222FB-B142-0CD9-1F0A-9BB39DE4C778}"/>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4266026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660F9-3C3F-AD88-54DC-69231F1B36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873861-753A-77E0-D018-5211CB76A7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58E539-9772-803C-7956-5BA95DEAFE45}"/>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5" name="Footer Placeholder 4">
            <a:extLst>
              <a:ext uri="{FF2B5EF4-FFF2-40B4-BE49-F238E27FC236}">
                <a16:creationId xmlns:a16="http://schemas.microsoft.com/office/drawing/2014/main" id="{0B102462-42AF-B08B-B30C-60E504B93C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943AE7-104A-17BA-AF2D-255C6721A9EF}"/>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2000583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37260-0998-150D-DD8B-D0F4675B11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0251A0-5126-1205-31C7-21C638A27C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A098B3-7C21-66E3-3084-DA2F4D2DA8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BBF9A-9828-64F3-B7D0-99CE63E09F75}"/>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6" name="Footer Placeholder 5">
            <a:extLst>
              <a:ext uri="{FF2B5EF4-FFF2-40B4-BE49-F238E27FC236}">
                <a16:creationId xmlns:a16="http://schemas.microsoft.com/office/drawing/2014/main" id="{670A8D9B-799F-D4A7-1F42-B6E99D2065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78E471-5373-5DA7-9788-8162F5E4F835}"/>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176232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11600-88FE-B480-9E0F-3DE9838F89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583997-1479-3B98-2365-F4F2B4C004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6622A0-F27D-EE1D-0371-F3052C9DC44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23D274-47A7-E821-267D-DAD7073D7A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892028-54FD-B5A5-64E5-F753614887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4A50E3-398D-DD5B-CC00-8A5A320556F1}"/>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8" name="Footer Placeholder 7">
            <a:extLst>
              <a:ext uri="{FF2B5EF4-FFF2-40B4-BE49-F238E27FC236}">
                <a16:creationId xmlns:a16="http://schemas.microsoft.com/office/drawing/2014/main" id="{8CDA2713-9019-3FFF-0146-1A16673DFC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B65EE47-7C74-9298-B015-90A33AEAA1C7}"/>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3824750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E9B09-751E-9686-A108-EE19718013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18F969-A570-BA74-5F49-3D0E07813E7F}"/>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4" name="Footer Placeholder 3">
            <a:extLst>
              <a:ext uri="{FF2B5EF4-FFF2-40B4-BE49-F238E27FC236}">
                <a16:creationId xmlns:a16="http://schemas.microsoft.com/office/drawing/2014/main" id="{B504C682-FB91-9BCE-124E-33E0146DED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A6519F-7D61-901E-706D-126386EB155F}"/>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95460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66D3A2-9EA0-BD13-AA7C-05DFEAA9DEAA}"/>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3" name="Footer Placeholder 2">
            <a:extLst>
              <a:ext uri="{FF2B5EF4-FFF2-40B4-BE49-F238E27FC236}">
                <a16:creationId xmlns:a16="http://schemas.microsoft.com/office/drawing/2014/main" id="{CB9E1A4B-1274-7CEE-A6AA-9482271D25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215AA0-C610-A5E3-17FA-8998C09A987F}"/>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3246996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5A2A5-A048-4E7B-D866-998BAE74DE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A98B06-137F-B448-FB07-7C32888FC3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CC0B53-910E-61F9-AF19-32DEB4C80F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8DA24-0606-67C8-06D9-1C291F269E85}"/>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6" name="Footer Placeholder 5">
            <a:extLst>
              <a:ext uri="{FF2B5EF4-FFF2-40B4-BE49-F238E27FC236}">
                <a16:creationId xmlns:a16="http://schemas.microsoft.com/office/drawing/2014/main" id="{ADC65F3C-961A-7AAF-70E0-3533D321F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040A87-DEA1-528F-240B-E334E26598C5}"/>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2785326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279A0-891F-DE79-F7E5-DBFC6F98C6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53B882-9F32-7DFB-AF37-4007938F9C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415047-13C3-3FD0-6C8A-B98257052D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ED1672-5200-73AF-3549-DF4E6E102C48}"/>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6" name="Footer Placeholder 5">
            <a:extLst>
              <a:ext uri="{FF2B5EF4-FFF2-40B4-BE49-F238E27FC236}">
                <a16:creationId xmlns:a16="http://schemas.microsoft.com/office/drawing/2014/main" id="{4565349C-64F8-E43E-2889-A3EC33DC08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A536EA-2C09-CD19-4EA4-E217BDB021DA}"/>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2767472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1AE91-5D2A-F57B-F2AF-1AF17BF439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6AF6C6-295E-798C-E362-2EA9C20261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F625D-2EB1-E2F0-2CD7-F5D1EC256DCD}"/>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5" name="Footer Placeholder 4">
            <a:extLst>
              <a:ext uri="{FF2B5EF4-FFF2-40B4-BE49-F238E27FC236}">
                <a16:creationId xmlns:a16="http://schemas.microsoft.com/office/drawing/2014/main" id="{5C921972-2D29-C5B7-7401-2B8528DA8A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D6DC4E-C781-5B65-B983-0C2D1CE898C1}"/>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4164680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BBD062-0519-0674-76CD-74CAE578A0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D46739B-86CC-2D60-8EB3-B15F3728FC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BF910B-B0DB-5BF6-7238-058B3FCDCE86}"/>
              </a:ext>
            </a:extLst>
          </p:cNvPr>
          <p:cNvSpPr>
            <a:spLocks noGrp="1"/>
          </p:cNvSpPr>
          <p:nvPr>
            <p:ph type="dt" sz="half" idx="10"/>
          </p:nvPr>
        </p:nvSpPr>
        <p:spPr/>
        <p:txBody>
          <a:bodyPr/>
          <a:lstStyle/>
          <a:p>
            <a:fld id="{F95C2319-EA73-404D-B671-5D095DF8A582}" type="datetimeFigureOut">
              <a:rPr lang="en-US" smtClean="0"/>
              <a:t>8/18/26</a:t>
            </a:fld>
            <a:endParaRPr lang="en-US"/>
          </a:p>
        </p:txBody>
      </p:sp>
      <p:sp>
        <p:nvSpPr>
          <p:cNvPr id="5" name="Footer Placeholder 4">
            <a:extLst>
              <a:ext uri="{FF2B5EF4-FFF2-40B4-BE49-F238E27FC236}">
                <a16:creationId xmlns:a16="http://schemas.microsoft.com/office/drawing/2014/main" id="{CE8653DC-84E7-499D-E586-ADE20E005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1CDF0A-29E5-2C95-B934-6994256D3F8D}"/>
              </a:ext>
            </a:extLst>
          </p:cNvPr>
          <p:cNvSpPr>
            <a:spLocks noGrp="1"/>
          </p:cNvSpPr>
          <p:nvPr>
            <p:ph type="sldNum" sz="quarter" idx="12"/>
          </p:nvPr>
        </p:nvSpPr>
        <p:spPr/>
        <p:txBody>
          <a:bodyPr/>
          <a:lstStyle/>
          <a:p>
            <a:fld id="{68836814-425F-F642-8328-F2808FA3D1CC}" type="slidenum">
              <a:rPr lang="en-US" smtClean="0"/>
              <a:t>‹#›</a:t>
            </a:fld>
            <a:endParaRPr lang="en-US"/>
          </a:p>
        </p:txBody>
      </p:sp>
    </p:spTree>
    <p:extLst>
      <p:ext uri="{BB962C8B-B14F-4D97-AF65-F5344CB8AC3E}">
        <p14:creationId xmlns:p14="http://schemas.microsoft.com/office/powerpoint/2010/main" val="3320425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82C568-F082-F69F-1ADF-EA7F6531C9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98F448-9C1F-0E80-760F-27D77D48AE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E7E61-4DB5-6E10-E1A7-64AF65255D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95C2319-EA73-404D-B671-5D095DF8A582}" type="datetimeFigureOut">
              <a:rPr lang="en-US" smtClean="0"/>
              <a:t>8/18/26</a:t>
            </a:fld>
            <a:endParaRPr lang="en-US"/>
          </a:p>
        </p:txBody>
      </p:sp>
      <p:sp>
        <p:nvSpPr>
          <p:cNvPr id="5" name="Footer Placeholder 4">
            <a:extLst>
              <a:ext uri="{FF2B5EF4-FFF2-40B4-BE49-F238E27FC236}">
                <a16:creationId xmlns:a16="http://schemas.microsoft.com/office/drawing/2014/main" id="{205DAC7D-2353-34B0-C24C-FFF1525369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D3DBF84-0F42-BD90-CBDC-12CBEA208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836814-425F-F642-8328-F2808FA3D1CC}" type="slidenum">
              <a:rPr lang="en-US" smtClean="0"/>
              <a:t>‹#›</a:t>
            </a:fld>
            <a:endParaRPr lang="en-US"/>
          </a:p>
        </p:txBody>
      </p:sp>
    </p:spTree>
    <p:extLst>
      <p:ext uri="{BB962C8B-B14F-4D97-AF65-F5344CB8AC3E}">
        <p14:creationId xmlns:p14="http://schemas.microsoft.com/office/powerpoint/2010/main" val="1826993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zhangyp@illinois.edu" TargetMode="External"/><Relationship Id="rId2" Type="http://schemas.openxmlformats.org/officeDocument/2006/relationships/hyperlink" Target="https://ning0luo.github.io/"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tianyi.liu.08@gmail.co"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piazza.com/illinois/fall2025/c93b" TargetMode="External"/><Relationship Id="rId2" Type="http://schemas.openxmlformats.org/officeDocument/2006/relationships/hyperlink" Target="https://canvas.illinois.edu/"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registrar.illinois.edu/registration/registration-process/variable-credit-hour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studentcode.illinois.edu/"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emergency.illinois.edu/" TargetMode="External"/><Relationship Id="rId2" Type="http://schemas.openxmlformats.org/officeDocument/2006/relationships/hyperlink" Target="https://police.illinois.edu/saf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joyofcryptography.com/pdf/chap0.pd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19E1B-77E5-4FC6-8282-59CDD70DEFDD}"/>
              </a:ext>
            </a:extLst>
          </p:cNvPr>
          <p:cNvSpPr>
            <a:spLocks noGrp="1"/>
          </p:cNvSpPr>
          <p:nvPr>
            <p:ph type="ctrTitle"/>
          </p:nvPr>
        </p:nvSpPr>
        <p:spPr>
          <a:xfrm>
            <a:off x="1524000" y="1626281"/>
            <a:ext cx="9144000" cy="2103178"/>
          </a:xfrm>
        </p:spPr>
        <p:txBody>
          <a:bodyPr>
            <a:normAutofit/>
          </a:bodyPr>
          <a:lstStyle/>
          <a:p>
            <a:r>
              <a:rPr lang="en-US" sz="4800" b="1" dirty="0"/>
              <a:t>ECE/CS 407 </a:t>
            </a:r>
            <a:br>
              <a:rPr lang="en-US" sz="4800" b="1" dirty="0"/>
            </a:br>
            <a:r>
              <a:rPr lang="en-US" sz="4800" b="1" dirty="0"/>
              <a:t>Cryptography</a:t>
            </a:r>
            <a:endParaRPr lang="en-US" sz="2800" dirty="0"/>
          </a:p>
        </p:txBody>
      </p:sp>
    </p:spTree>
    <p:extLst>
      <p:ext uri="{BB962C8B-B14F-4D97-AF65-F5344CB8AC3E}">
        <p14:creationId xmlns:p14="http://schemas.microsoft.com/office/powerpoint/2010/main" val="2265253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7535-88DA-2896-8564-2B0E9FB4AEF3}"/>
              </a:ext>
            </a:extLst>
          </p:cNvPr>
          <p:cNvSpPr>
            <a:spLocks noGrp="1"/>
          </p:cNvSpPr>
          <p:nvPr>
            <p:ph type="title"/>
          </p:nvPr>
        </p:nvSpPr>
        <p:spPr/>
        <p:txBody>
          <a:bodyPr>
            <a:normAutofit/>
          </a:bodyPr>
          <a:lstStyle/>
          <a:p>
            <a:r>
              <a:rPr lang="en-US" altLang="zh-CN" b="1" dirty="0">
                <a:latin typeface="Georgia" panose="02040502050405020303" pitchFamily="18" charset="0"/>
              </a:rPr>
              <a:t>About</a:t>
            </a:r>
            <a:r>
              <a:rPr lang="zh-CN" altLang="en-US" b="1" dirty="0">
                <a:latin typeface="Georgia" panose="02040502050405020303" pitchFamily="18" charset="0"/>
              </a:rPr>
              <a:t> </a:t>
            </a:r>
            <a:r>
              <a:rPr lang="en-US" altLang="zh-CN" b="1" dirty="0">
                <a:latin typeface="Georgia" panose="02040502050405020303" pitchFamily="18" charset="0"/>
              </a:rPr>
              <a:t>Me</a:t>
            </a:r>
            <a:r>
              <a:rPr lang="zh-CN" altLang="en-US" dirty="0"/>
              <a:t> </a:t>
            </a:r>
            <a:endParaRPr lang="en-US" dirty="0"/>
          </a:p>
        </p:txBody>
      </p:sp>
      <p:sp>
        <p:nvSpPr>
          <p:cNvPr id="3" name="Content Placeholder 2">
            <a:extLst>
              <a:ext uri="{FF2B5EF4-FFF2-40B4-BE49-F238E27FC236}">
                <a16:creationId xmlns:a16="http://schemas.microsoft.com/office/drawing/2014/main" id="{3940FB19-4A9F-DFE1-4021-75B3FEF9B35E}"/>
              </a:ext>
            </a:extLst>
          </p:cNvPr>
          <p:cNvSpPr>
            <a:spLocks noGrp="1"/>
          </p:cNvSpPr>
          <p:nvPr>
            <p:ph idx="1"/>
          </p:nvPr>
        </p:nvSpPr>
        <p:spPr>
          <a:xfrm>
            <a:off x="655320" y="2609396"/>
            <a:ext cx="10515600" cy="3451770"/>
          </a:xfrm>
        </p:spPr>
        <p:txBody>
          <a:bodyPr>
            <a:normAutofit/>
          </a:bodyPr>
          <a:lstStyle/>
          <a:p>
            <a:r>
              <a:rPr lang="en-US" altLang="zh-CN" sz="2400" dirty="0">
                <a:latin typeface="Georgia" panose="02040502050405020303" pitchFamily="18" charset="0"/>
              </a:rPr>
              <a:t>Assistant</a:t>
            </a:r>
            <a:r>
              <a:rPr lang="zh-CN" altLang="en-US" sz="2400" dirty="0">
                <a:latin typeface="Georgia" panose="02040502050405020303" pitchFamily="18" charset="0"/>
              </a:rPr>
              <a:t> </a:t>
            </a:r>
            <a:r>
              <a:rPr lang="en-US" altLang="zh-CN" sz="2400" dirty="0">
                <a:latin typeface="Georgia" panose="02040502050405020303" pitchFamily="18" charset="0"/>
              </a:rPr>
              <a:t>Professor,</a:t>
            </a:r>
            <a:r>
              <a:rPr lang="zh-CN" altLang="en-US" sz="2400" dirty="0">
                <a:latin typeface="Georgia" panose="02040502050405020303" pitchFamily="18" charset="0"/>
              </a:rPr>
              <a:t> </a:t>
            </a:r>
            <a:r>
              <a:rPr lang="en-US" sz="2400" dirty="0">
                <a:latin typeface="Georgia" panose="02040502050405020303" pitchFamily="18" charset="0"/>
              </a:rPr>
              <a:t> UIUC			</a:t>
            </a:r>
            <a:r>
              <a:rPr lang="en-US" altLang="zh-CN" sz="2400" dirty="0">
                <a:latin typeface="Georgia" panose="02040502050405020303" pitchFamily="18" charset="0"/>
              </a:rPr>
              <a:t>2024-now</a:t>
            </a:r>
            <a:endParaRPr lang="en-US" sz="2400" dirty="0">
              <a:latin typeface="Georgia" panose="02040502050405020303" pitchFamily="18" charset="0"/>
            </a:endParaRPr>
          </a:p>
          <a:p>
            <a:r>
              <a:rPr lang="en-US" sz="2400" dirty="0">
                <a:latin typeface="Georgia" panose="02040502050405020303" pitchFamily="18" charset="0"/>
              </a:rPr>
              <a:t>Postdoc</a:t>
            </a:r>
            <a:r>
              <a:rPr lang="en-US" altLang="zh-CN" sz="2400" dirty="0">
                <a:latin typeface="Georgia" panose="02040502050405020303" pitchFamily="18" charset="0"/>
              </a:rPr>
              <a:t>,</a:t>
            </a:r>
            <a:r>
              <a:rPr lang="zh-CN" altLang="en-US" sz="2400" dirty="0">
                <a:latin typeface="Georgia" panose="02040502050405020303" pitchFamily="18" charset="0"/>
              </a:rPr>
              <a:t> </a:t>
            </a:r>
            <a:r>
              <a:rPr lang="en-US" sz="2400" dirty="0">
                <a:latin typeface="Georgia" panose="02040502050405020303" pitchFamily="18" charset="0"/>
              </a:rPr>
              <a:t> Northwestern University		</a:t>
            </a:r>
            <a:r>
              <a:rPr lang="en-US" altLang="zh-CN" sz="2400" dirty="0">
                <a:latin typeface="Georgia" panose="02040502050405020303" pitchFamily="18" charset="0"/>
              </a:rPr>
              <a:t>2023-2024</a:t>
            </a:r>
            <a:endParaRPr lang="en-US" sz="2400" dirty="0">
              <a:latin typeface="Georgia" panose="02040502050405020303" pitchFamily="18" charset="0"/>
            </a:endParaRPr>
          </a:p>
          <a:p>
            <a:r>
              <a:rPr lang="en-US" sz="2400" dirty="0">
                <a:latin typeface="Georgia" panose="02040502050405020303" pitchFamily="18" charset="0"/>
              </a:rPr>
              <a:t>PhD</a:t>
            </a:r>
            <a:r>
              <a:rPr lang="en-US" altLang="zh-CN" sz="2400" dirty="0">
                <a:latin typeface="Georgia" panose="02040502050405020303" pitchFamily="18" charset="0"/>
              </a:rPr>
              <a:t>,</a:t>
            </a:r>
            <a:r>
              <a:rPr lang="zh-CN" altLang="en-US" sz="2400" dirty="0">
                <a:latin typeface="Georgia" panose="02040502050405020303" pitchFamily="18" charset="0"/>
              </a:rPr>
              <a:t> </a:t>
            </a:r>
            <a:r>
              <a:rPr lang="en-US" sz="2400" dirty="0">
                <a:latin typeface="Georgia" panose="02040502050405020303" pitchFamily="18" charset="0"/>
              </a:rPr>
              <a:t> Yale University				</a:t>
            </a:r>
            <a:r>
              <a:rPr lang="en-US" altLang="zh-CN" sz="2400" dirty="0">
                <a:latin typeface="Georgia" panose="02040502050405020303" pitchFamily="18" charset="0"/>
              </a:rPr>
              <a:t>2017-2022</a:t>
            </a:r>
            <a:endParaRPr lang="en-US" sz="2400" dirty="0">
              <a:latin typeface="Georgia" panose="02040502050405020303" pitchFamily="18" charset="0"/>
            </a:endParaRPr>
          </a:p>
          <a:p>
            <a:endParaRPr lang="en-US" sz="2400" dirty="0">
              <a:latin typeface="Georgia" panose="02040502050405020303" pitchFamily="18" charset="0"/>
            </a:endParaRPr>
          </a:p>
          <a:p>
            <a:pPr marL="0" indent="0">
              <a:buNone/>
            </a:pPr>
            <a:r>
              <a:rPr lang="en-US" altLang="zh-CN" sz="2400" b="1" dirty="0">
                <a:latin typeface="Georgia" panose="02040502050405020303" pitchFamily="18" charset="0"/>
              </a:rPr>
              <a:t>Research</a:t>
            </a:r>
            <a:r>
              <a:rPr lang="en-US" altLang="zh-CN" sz="2400" dirty="0">
                <a:latin typeface="Georgia" panose="02040502050405020303" pitchFamily="18" charset="0"/>
              </a:rPr>
              <a:t>:</a:t>
            </a:r>
            <a:r>
              <a:rPr lang="zh-CN" altLang="en-US" sz="2400" dirty="0">
                <a:latin typeface="Georgia" panose="02040502050405020303" pitchFamily="18" charset="0"/>
              </a:rPr>
              <a:t> </a:t>
            </a:r>
            <a:r>
              <a:rPr lang="en-US" sz="2400" dirty="0">
                <a:latin typeface="Georgia" panose="02040502050405020303" pitchFamily="18" charset="0"/>
              </a:rPr>
              <a:t>Cryptography, Formal Methods, Automated Reasoning</a:t>
            </a:r>
            <a:r>
              <a:rPr lang="en-US" altLang="zh-CN" sz="2400" dirty="0">
                <a:latin typeface="Georgia" panose="02040502050405020303" pitchFamily="18" charset="0"/>
              </a:rPr>
              <a:t>,</a:t>
            </a:r>
            <a:r>
              <a:rPr lang="zh-CN" altLang="en-US" sz="2400" dirty="0">
                <a:latin typeface="Georgia" panose="02040502050405020303" pitchFamily="18" charset="0"/>
              </a:rPr>
              <a:t> </a:t>
            </a:r>
            <a:r>
              <a:rPr lang="en-US" sz="2400" dirty="0">
                <a:latin typeface="Georgia" panose="02040502050405020303" pitchFamily="18" charset="0"/>
              </a:rPr>
              <a:t>Achieve privacy and security in practical setting</a:t>
            </a:r>
          </a:p>
        </p:txBody>
      </p:sp>
      <p:sp>
        <p:nvSpPr>
          <p:cNvPr id="5" name="TextBox 4">
            <a:extLst>
              <a:ext uri="{FF2B5EF4-FFF2-40B4-BE49-F238E27FC236}">
                <a16:creationId xmlns:a16="http://schemas.microsoft.com/office/drawing/2014/main" id="{D8B972F1-6489-57B5-0F5C-8351DCF827DD}"/>
              </a:ext>
            </a:extLst>
          </p:cNvPr>
          <p:cNvSpPr txBox="1"/>
          <p:nvPr/>
        </p:nvSpPr>
        <p:spPr>
          <a:xfrm>
            <a:off x="751113" y="1480457"/>
            <a:ext cx="11066418" cy="1200329"/>
          </a:xfrm>
          <a:prstGeom prst="rect">
            <a:avLst/>
          </a:prstGeom>
          <a:noFill/>
        </p:spPr>
        <p:txBody>
          <a:bodyPr wrap="square" rtlCol="0">
            <a:spAutoFit/>
          </a:bodyPr>
          <a:lstStyle/>
          <a:p>
            <a:pPr marL="0" indent="0">
              <a:buNone/>
            </a:pPr>
            <a:r>
              <a:rPr lang="en-US" altLang="zh-CN" sz="2400" dirty="0">
                <a:latin typeface="Georgia" panose="02040502050405020303" pitchFamily="18" charset="0"/>
              </a:rPr>
              <a:t>Ning</a:t>
            </a:r>
            <a:r>
              <a:rPr lang="zh-CN" altLang="en-US" sz="2400" dirty="0">
                <a:latin typeface="Georgia" panose="02040502050405020303" pitchFamily="18" charset="0"/>
              </a:rPr>
              <a:t> </a:t>
            </a:r>
            <a:r>
              <a:rPr lang="en-US" altLang="zh-CN" sz="2400" dirty="0">
                <a:latin typeface="Georgia" panose="02040502050405020303" pitchFamily="18" charset="0"/>
              </a:rPr>
              <a:t>Luo</a:t>
            </a:r>
            <a:r>
              <a:rPr lang="en-US" sz="2400" dirty="0">
                <a:latin typeface="Georgia" panose="02040502050405020303" pitchFamily="18" charset="0"/>
              </a:rPr>
              <a:t>, CSL </a:t>
            </a:r>
            <a:r>
              <a:rPr lang="en-US" altLang="zh-CN" sz="2400" dirty="0">
                <a:latin typeface="Georgia" panose="02040502050405020303" pitchFamily="18" charset="0"/>
              </a:rPr>
              <a:t>457</a:t>
            </a:r>
            <a:r>
              <a:rPr lang="en-US" sz="2400" dirty="0">
                <a:latin typeface="Georgia" panose="02040502050405020303" pitchFamily="18" charset="0"/>
              </a:rPr>
              <a:t>, </a:t>
            </a:r>
            <a:r>
              <a:rPr lang="en-US" sz="2400" dirty="0">
                <a:latin typeface="Georgia" panose="02040502050405020303" pitchFamily="18" charset="0"/>
                <a:hlinkClick r:id="rId2"/>
              </a:rPr>
              <a:t>https://ning0luo.github.io/</a:t>
            </a:r>
            <a:endParaRPr lang="en-US" sz="2400" dirty="0">
              <a:latin typeface="Georgia" panose="02040502050405020303" pitchFamily="18" charset="0"/>
            </a:endParaRPr>
          </a:p>
          <a:p>
            <a:pPr marL="0" indent="0">
              <a:buNone/>
            </a:pPr>
            <a:r>
              <a:rPr lang="en-US" sz="2400" dirty="0">
                <a:latin typeface="Georgia" panose="02040502050405020303" pitchFamily="18" charset="0"/>
              </a:rPr>
              <a:t>Email</a:t>
            </a:r>
            <a:r>
              <a:rPr lang="en-US" sz="2400"/>
              <a:t>: </a:t>
            </a:r>
            <a:r>
              <a:rPr lang="en-US" sz="2400">
                <a:hlinkClick r:id="rId3"/>
              </a:rPr>
              <a:t>nl27@</a:t>
            </a:r>
            <a:r>
              <a:rPr lang="en-US" sz="2400" dirty="0">
                <a:hlinkClick r:id="rId3"/>
              </a:rPr>
              <a:t>illinois.edu</a:t>
            </a:r>
            <a:endParaRPr lang="en-US" sz="2400" dirty="0"/>
          </a:p>
          <a:p>
            <a:endParaRPr lang="en-US" sz="2400" dirty="0"/>
          </a:p>
        </p:txBody>
      </p:sp>
    </p:spTree>
    <p:extLst>
      <p:ext uri="{BB962C8B-B14F-4D97-AF65-F5344CB8AC3E}">
        <p14:creationId xmlns:p14="http://schemas.microsoft.com/office/powerpoint/2010/main" val="340618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948EE-4A0C-06A9-4D63-B78D50454EA2}"/>
              </a:ext>
            </a:extLst>
          </p:cNvPr>
          <p:cNvSpPr>
            <a:spLocks noGrp="1"/>
          </p:cNvSpPr>
          <p:nvPr>
            <p:ph type="title"/>
          </p:nvPr>
        </p:nvSpPr>
        <p:spPr/>
        <p:txBody>
          <a:bodyPr/>
          <a:lstStyle/>
          <a:p>
            <a:r>
              <a:rPr lang="en-US" b="1" dirty="0">
                <a:latin typeface="Georgia" panose="02040502050405020303" pitchFamily="18" charset="0"/>
              </a:rPr>
              <a:t>Course Information</a:t>
            </a:r>
          </a:p>
        </p:txBody>
      </p:sp>
      <p:sp>
        <p:nvSpPr>
          <p:cNvPr id="3" name="Content Placeholder 2">
            <a:extLst>
              <a:ext uri="{FF2B5EF4-FFF2-40B4-BE49-F238E27FC236}">
                <a16:creationId xmlns:a16="http://schemas.microsoft.com/office/drawing/2014/main" id="{3D30F7B6-FA13-5506-FA1E-A76B285F8638}"/>
              </a:ext>
            </a:extLst>
          </p:cNvPr>
          <p:cNvSpPr>
            <a:spLocks noGrp="1"/>
          </p:cNvSpPr>
          <p:nvPr>
            <p:ph idx="1"/>
          </p:nvPr>
        </p:nvSpPr>
        <p:spPr/>
        <p:txBody>
          <a:bodyPr>
            <a:normAutofit/>
          </a:bodyPr>
          <a:lstStyle/>
          <a:p>
            <a:pPr marL="0" indent="0">
              <a:buNone/>
            </a:pPr>
            <a:r>
              <a:rPr lang="en-US" b="1" dirty="0">
                <a:latin typeface="Georgia" panose="02040502050405020303" pitchFamily="18" charset="0"/>
              </a:rPr>
              <a:t>Time and Location: </a:t>
            </a:r>
          </a:p>
          <a:p>
            <a:pPr marL="0" indent="0">
              <a:buNone/>
            </a:pPr>
            <a:r>
              <a:rPr lang="en-US" dirty="0" err="1">
                <a:latin typeface="Georgia" panose="02040502050405020303" pitchFamily="18" charset="0"/>
              </a:rPr>
              <a:t>TuTh</a:t>
            </a:r>
            <a:r>
              <a:rPr lang="en-US" dirty="0">
                <a:latin typeface="Georgia" panose="02040502050405020303" pitchFamily="18" charset="0"/>
              </a:rPr>
              <a:t> 5:00-6:20 pm, ECEB 1013</a:t>
            </a:r>
          </a:p>
          <a:p>
            <a:pPr marL="0" indent="0">
              <a:buNone/>
            </a:pPr>
            <a:r>
              <a:rPr lang="en-US" b="1" dirty="0">
                <a:latin typeface="Georgia" panose="02040502050405020303" pitchFamily="18" charset="0"/>
              </a:rPr>
              <a:t>My office hour: </a:t>
            </a:r>
            <a:r>
              <a:rPr lang="en-US" altLang="zh-CN" dirty="0">
                <a:latin typeface="Georgia" panose="02040502050405020303" pitchFamily="18" charset="0"/>
              </a:rPr>
              <a:t>TBD</a:t>
            </a:r>
            <a:endParaRPr lang="en-US" dirty="0">
              <a:latin typeface="Georgia" panose="02040502050405020303" pitchFamily="18" charset="0"/>
            </a:endParaRPr>
          </a:p>
          <a:p>
            <a:pPr marL="0" indent="0">
              <a:buNone/>
            </a:pPr>
            <a:endParaRPr lang="en-US" dirty="0">
              <a:latin typeface="Georgia" panose="02040502050405020303" pitchFamily="18" charset="0"/>
            </a:endParaRPr>
          </a:p>
          <a:p>
            <a:pPr marL="0" indent="0">
              <a:buNone/>
            </a:pPr>
            <a:r>
              <a:rPr lang="en-US" b="1" dirty="0">
                <a:latin typeface="Georgia" panose="02040502050405020303" pitchFamily="18" charset="0"/>
              </a:rPr>
              <a:t>TA:</a:t>
            </a:r>
            <a:r>
              <a:rPr lang="en-US" dirty="0">
                <a:latin typeface="Georgia" panose="02040502050405020303" pitchFamily="18" charset="0"/>
              </a:rPr>
              <a:t> </a:t>
            </a:r>
            <a:r>
              <a:rPr lang="en-US" altLang="zh-CN" dirty="0" err="1">
                <a:latin typeface="Georgia" panose="02040502050405020303" pitchFamily="18" charset="0"/>
              </a:rPr>
              <a:t>Tianyi</a:t>
            </a:r>
            <a:r>
              <a:rPr lang="zh-CN" altLang="en-US" dirty="0">
                <a:latin typeface="Georgia" panose="02040502050405020303" pitchFamily="18" charset="0"/>
              </a:rPr>
              <a:t> </a:t>
            </a:r>
            <a:r>
              <a:rPr lang="en-US" altLang="zh-CN" dirty="0">
                <a:latin typeface="Georgia" panose="02040502050405020303" pitchFamily="18" charset="0"/>
              </a:rPr>
              <a:t>Liu</a:t>
            </a:r>
            <a:r>
              <a:rPr lang="en-US" dirty="0">
                <a:latin typeface="Georgia" panose="02040502050405020303" pitchFamily="18" charset="0"/>
              </a:rPr>
              <a:t>, </a:t>
            </a:r>
            <a:r>
              <a:rPr lang="zh-CN" altLang="en-US" dirty="0">
                <a:latin typeface="Georgia" panose="02040502050405020303" pitchFamily="18" charset="0"/>
              </a:rPr>
              <a:t> </a:t>
            </a:r>
            <a:r>
              <a:rPr lang="en-US" dirty="0">
                <a:latin typeface="Georgia" panose="02040502050405020303" pitchFamily="18" charset="0"/>
                <a:hlinkClick r:id="rId2"/>
              </a:rPr>
              <a:t>tianyi.liu.08@gmail.co</a:t>
            </a:r>
            <a:endParaRPr lang="en-US" dirty="0">
              <a:latin typeface="Georgia" panose="02040502050405020303" pitchFamily="18" charset="0"/>
            </a:endParaRPr>
          </a:p>
          <a:p>
            <a:pPr marL="0" indent="0">
              <a:buNone/>
            </a:pPr>
            <a:r>
              <a:rPr lang="en-US" dirty="0">
                <a:latin typeface="Georgia" panose="02040502050405020303" pitchFamily="18" charset="0"/>
              </a:rPr>
              <a:t>Office hour:</a:t>
            </a:r>
            <a:r>
              <a:rPr lang="zh-CN" altLang="en-US" dirty="0">
                <a:solidFill>
                  <a:srgbClr val="000000"/>
                </a:solidFill>
                <a:latin typeface="Georgia" panose="02040502050405020303" pitchFamily="18" charset="0"/>
              </a:rPr>
              <a:t> </a:t>
            </a:r>
            <a:r>
              <a:rPr lang="en-US" altLang="zh-CN" dirty="0">
                <a:solidFill>
                  <a:srgbClr val="000000"/>
                </a:solidFill>
                <a:latin typeface="Georgia" panose="02040502050405020303" pitchFamily="18" charset="0"/>
              </a:rPr>
              <a:t>TBD</a:t>
            </a:r>
            <a:r>
              <a:rPr lang="en-US" dirty="0">
                <a:latin typeface="Georgia" panose="02040502050405020303" pitchFamily="18" charset="0"/>
              </a:rPr>
              <a:t> </a:t>
            </a:r>
          </a:p>
          <a:p>
            <a:pPr marL="0" indent="0">
              <a:buNone/>
            </a:pPr>
            <a:endParaRPr lang="en-US" dirty="0">
              <a:latin typeface="Georgia" panose="02040502050405020303" pitchFamily="18" charset="0"/>
            </a:endParaRPr>
          </a:p>
          <a:p>
            <a:pPr marL="0" indent="0">
              <a:buNone/>
            </a:pPr>
            <a:endParaRPr lang="en-US" dirty="0">
              <a:latin typeface="Georgia" panose="02040502050405020303" pitchFamily="18" charset="0"/>
            </a:endParaRPr>
          </a:p>
          <a:p>
            <a:endParaRPr lang="en-US" dirty="0">
              <a:latin typeface="Georgia" panose="02040502050405020303" pitchFamily="18" charset="0"/>
            </a:endParaRPr>
          </a:p>
        </p:txBody>
      </p:sp>
    </p:spTree>
    <p:extLst>
      <p:ext uri="{BB962C8B-B14F-4D97-AF65-F5344CB8AC3E}">
        <p14:creationId xmlns:p14="http://schemas.microsoft.com/office/powerpoint/2010/main" val="138173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B1DFA-B065-4BF0-84AE-88797F44B4C3}"/>
              </a:ext>
            </a:extLst>
          </p:cNvPr>
          <p:cNvSpPr>
            <a:spLocks noGrp="1"/>
          </p:cNvSpPr>
          <p:nvPr>
            <p:ph type="title"/>
          </p:nvPr>
        </p:nvSpPr>
        <p:spPr>
          <a:xfrm>
            <a:off x="445476" y="194673"/>
            <a:ext cx="10515600" cy="1325563"/>
          </a:xfrm>
        </p:spPr>
        <p:txBody>
          <a:bodyPr/>
          <a:lstStyle/>
          <a:p>
            <a:r>
              <a:rPr lang="en-US" b="1" dirty="0">
                <a:latin typeface="Georgia" panose="02040502050405020303" pitchFamily="18" charset="0"/>
              </a:rPr>
              <a:t>Resources</a:t>
            </a:r>
          </a:p>
        </p:txBody>
      </p:sp>
      <p:sp>
        <p:nvSpPr>
          <p:cNvPr id="3" name="Content Placeholder 2">
            <a:extLst>
              <a:ext uri="{FF2B5EF4-FFF2-40B4-BE49-F238E27FC236}">
                <a16:creationId xmlns:a16="http://schemas.microsoft.com/office/drawing/2014/main" id="{BA9B8843-C06C-4DEB-A825-DEB7BE142E90}"/>
              </a:ext>
            </a:extLst>
          </p:cNvPr>
          <p:cNvSpPr>
            <a:spLocks noGrp="1"/>
          </p:cNvSpPr>
          <p:nvPr>
            <p:ph idx="1"/>
          </p:nvPr>
        </p:nvSpPr>
        <p:spPr>
          <a:xfrm>
            <a:off x="445476" y="1393080"/>
            <a:ext cx="11214657" cy="4701456"/>
          </a:xfrm>
        </p:spPr>
        <p:txBody>
          <a:bodyPr>
            <a:normAutofit lnSpcReduction="10000"/>
          </a:bodyPr>
          <a:lstStyle/>
          <a:p>
            <a:r>
              <a:rPr lang="en-US" b="1" dirty="0" err="1">
                <a:latin typeface="Georgia" panose="02040502050405020303" pitchFamily="18" charset="0"/>
              </a:rPr>
              <a:t>Webpage</a:t>
            </a:r>
            <a:r>
              <a:rPr lang="en-US" dirty="0" err="1">
                <a:latin typeface="Georgia" panose="02040502050405020303" pitchFamily="18" charset="0"/>
              </a:rPr>
              <a:t>:https</a:t>
            </a:r>
            <a:r>
              <a:rPr lang="en-US" dirty="0">
                <a:latin typeface="Georgia" panose="02040502050405020303" pitchFamily="18" charset="0"/>
              </a:rPr>
              <a:t>://ning0luo.github.io/ece407/</a:t>
            </a:r>
            <a:r>
              <a:rPr lang="en-US" dirty="0" err="1">
                <a:latin typeface="Georgia" panose="02040502050405020303" pitchFamily="18" charset="0"/>
              </a:rPr>
              <a:t>index.html</a:t>
            </a:r>
            <a:endParaRPr lang="en-US" dirty="0">
              <a:latin typeface="Georgia" panose="02040502050405020303" pitchFamily="18" charset="0"/>
            </a:endParaRPr>
          </a:p>
          <a:p>
            <a:pPr marL="0" indent="0">
              <a:buNone/>
            </a:pPr>
            <a:endParaRPr lang="en-US" dirty="0">
              <a:latin typeface="Georgia" panose="02040502050405020303" pitchFamily="18" charset="0"/>
            </a:endParaRPr>
          </a:p>
          <a:p>
            <a:r>
              <a:rPr lang="en-US" b="1" dirty="0">
                <a:latin typeface="Georgia" panose="02040502050405020303" pitchFamily="18" charset="0"/>
              </a:rPr>
              <a:t>Canvas</a:t>
            </a:r>
            <a:r>
              <a:rPr lang="en-US" dirty="0">
                <a:latin typeface="Georgia" panose="02040502050405020303" pitchFamily="18" charset="0"/>
              </a:rPr>
              <a:t> </a:t>
            </a:r>
            <a:r>
              <a:rPr lang="en-US" dirty="0">
                <a:latin typeface="Georgia" panose="02040502050405020303" pitchFamily="18" charset="0"/>
                <a:hlinkClick r:id="rId2"/>
              </a:rPr>
              <a:t>https://canvas.illinois.edu/</a:t>
            </a:r>
            <a:endParaRPr lang="en-US" dirty="0">
              <a:latin typeface="Georgia" panose="02040502050405020303" pitchFamily="18" charset="0"/>
            </a:endParaRPr>
          </a:p>
          <a:p>
            <a:pPr lvl="1"/>
            <a:r>
              <a:rPr lang="en-US" dirty="0">
                <a:latin typeface="Georgia" panose="02040502050405020303" pitchFamily="18" charset="0"/>
              </a:rPr>
              <a:t>Slides and files</a:t>
            </a:r>
          </a:p>
          <a:p>
            <a:pPr lvl="1"/>
            <a:r>
              <a:rPr lang="en-US" dirty="0">
                <a:latin typeface="Georgia" panose="02040502050405020303" pitchFamily="18" charset="0"/>
              </a:rPr>
              <a:t>Assignment submission and grading</a:t>
            </a:r>
          </a:p>
          <a:p>
            <a:pPr lvl="1"/>
            <a:r>
              <a:rPr lang="en-US" dirty="0">
                <a:latin typeface="Georgia" panose="02040502050405020303" pitchFamily="18" charset="0"/>
              </a:rPr>
              <a:t>Announcements</a:t>
            </a:r>
          </a:p>
          <a:p>
            <a:pPr lvl="1"/>
            <a:r>
              <a:rPr lang="en-US" dirty="0">
                <a:latin typeface="Georgia" panose="02040502050405020303" pitchFamily="18" charset="0"/>
              </a:rPr>
              <a:t>In</a:t>
            </a:r>
            <a:r>
              <a:rPr lang="en-US" altLang="zh-CN" dirty="0">
                <a:latin typeface="Georgia" panose="02040502050405020303" pitchFamily="18" charset="0"/>
              </a:rPr>
              <a:t>-class</a:t>
            </a:r>
            <a:r>
              <a:rPr lang="zh-CN" altLang="en-US" dirty="0">
                <a:latin typeface="Georgia" panose="02040502050405020303" pitchFamily="18" charset="0"/>
              </a:rPr>
              <a:t> </a:t>
            </a:r>
            <a:r>
              <a:rPr lang="en-US" altLang="zh-CN" dirty="0">
                <a:latin typeface="Georgia" panose="02040502050405020303" pitchFamily="18" charset="0"/>
              </a:rPr>
              <a:t>quizzes</a:t>
            </a:r>
            <a:r>
              <a:rPr lang="zh-CN" altLang="en-US" dirty="0">
                <a:latin typeface="Georgia" panose="02040502050405020303" pitchFamily="18" charset="0"/>
              </a:rPr>
              <a:t> </a:t>
            </a:r>
            <a:endParaRPr lang="en-US" dirty="0">
              <a:latin typeface="Georgia" panose="02040502050405020303" pitchFamily="18" charset="0"/>
            </a:endParaRPr>
          </a:p>
          <a:p>
            <a:pPr marL="457200" lvl="1" indent="0">
              <a:buNone/>
            </a:pPr>
            <a:endParaRPr lang="en-US" dirty="0">
              <a:latin typeface="Georgia" panose="02040502050405020303" pitchFamily="18" charset="0"/>
            </a:endParaRPr>
          </a:p>
          <a:p>
            <a:r>
              <a:rPr lang="en-US" b="1" dirty="0">
                <a:latin typeface="Georgia" panose="02040502050405020303" pitchFamily="18" charset="0"/>
              </a:rPr>
              <a:t>Piazza</a:t>
            </a:r>
            <a:r>
              <a:rPr lang="en-US" dirty="0">
                <a:latin typeface="Georgia" panose="02040502050405020303" pitchFamily="18" charset="0"/>
              </a:rPr>
              <a:t> </a:t>
            </a:r>
          </a:p>
          <a:p>
            <a:pPr lvl="1"/>
            <a:r>
              <a:rPr lang="en-US" dirty="0">
                <a:latin typeface="Georgia" panose="02040502050405020303" pitchFamily="18" charset="0"/>
              </a:rPr>
              <a:t>Access Code:</a:t>
            </a:r>
            <a:r>
              <a:rPr lang="zh-CN" altLang="en-US" dirty="0">
                <a:solidFill>
                  <a:srgbClr val="484A4C"/>
                </a:solidFill>
                <a:latin typeface="Georgia" panose="02040502050405020303" pitchFamily="18" charset="0"/>
              </a:rPr>
              <a:t> </a:t>
            </a:r>
            <a:r>
              <a:rPr lang="en-US" altLang="zh-CN" dirty="0">
                <a:latin typeface="Georgia" panose="02040502050405020303" pitchFamily="18" charset="0"/>
              </a:rPr>
              <a:t>MD5</a:t>
            </a:r>
            <a:r>
              <a:rPr lang="zh-CN" altLang="en-US" dirty="0">
                <a:latin typeface="Georgia" panose="02040502050405020303" pitchFamily="18" charset="0"/>
              </a:rPr>
              <a:t> </a:t>
            </a:r>
            <a:r>
              <a:rPr lang="en-US" altLang="zh-CN" dirty="0">
                <a:latin typeface="Georgia" panose="02040502050405020303" pitchFamily="18" charset="0"/>
              </a:rPr>
              <a:t>of</a:t>
            </a:r>
            <a:r>
              <a:rPr lang="zh-CN" altLang="en-US" dirty="0">
                <a:latin typeface="Georgia" panose="02040502050405020303" pitchFamily="18" charset="0"/>
              </a:rPr>
              <a:t>  </a:t>
            </a:r>
            <a:r>
              <a:rPr lang="en-US" altLang="zh-CN" dirty="0">
                <a:latin typeface="Georgia" panose="02040502050405020303" pitchFamily="18" charset="0"/>
              </a:rPr>
              <a:t>“I</a:t>
            </a:r>
            <a:r>
              <a:rPr lang="zh-CN" altLang="en-US" dirty="0">
                <a:latin typeface="Georgia" panose="02040502050405020303" pitchFamily="18" charset="0"/>
              </a:rPr>
              <a:t> </a:t>
            </a:r>
            <a:r>
              <a:rPr lang="en-US" altLang="zh-CN" dirty="0">
                <a:latin typeface="Georgia" panose="02040502050405020303" pitchFamily="18" charset="0"/>
              </a:rPr>
              <a:t>love</a:t>
            </a:r>
            <a:r>
              <a:rPr lang="zh-CN" altLang="en-US" dirty="0">
                <a:latin typeface="Georgia" panose="02040502050405020303" pitchFamily="18" charset="0"/>
              </a:rPr>
              <a:t> </a:t>
            </a:r>
            <a:r>
              <a:rPr lang="en-US" altLang="zh-CN" dirty="0">
                <a:latin typeface="Georgia" panose="02040502050405020303" pitchFamily="18" charset="0"/>
              </a:rPr>
              <a:t>cryptography”</a:t>
            </a:r>
          </a:p>
          <a:p>
            <a:pPr lvl="1"/>
            <a:r>
              <a:rPr lang="en-US" altLang="zh-CN" dirty="0">
                <a:latin typeface="Georgia" panose="02040502050405020303" pitchFamily="18" charset="0"/>
              </a:rPr>
              <a:t>Do</a:t>
            </a:r>
            <a:r>
              <a:rPr lang="zh-CN" altLang="en-US" dirty="0">
                <a:latin typeface="Georgia" panose="02040502050405020303" pitchFamily="18" charset="0"/>
              </a:rPr>
              <a:t> </a:t>
            </a:r>
            <a:r>
              <a:rPr lang="en-US" altLang="zh-CN" dirty="0">
                <a:latin typeface="Georgia" panose="02040502050405020303" pitchFamily="18" charset="0"/>
              </a:rPr>
              <a:t>not</a:t>
            </a:r>
            <a:r>
              <a:rPr lang="zh-CN" altLang="en-US" dirty="0">
                <a:latin typeface="Georgia" panose="02040502050405020303" pitchFamily="18" charset="0"/>
              </a:rPr>
              <a:t> </a:t>
            </a:r>
            <a:r>
              <a:rPr lang="en-US" altLang="zh-CN" dirty="0">
                <a:latin typeface="Georgia" panose="02040502050405020303" pitchFamily="18" charset="0"/>
              </a:rPr>
              <a:t>know</a:t>
            </a:r>
            <a:r>
              <a:rPr lang="zh-CN" altLang="en-US" dirty="0">
                <a:latin typeface="Georgia" panose="02040502050405020303" pitchFamily="18" charset="0"/>
              </a:rPr>
              <a:t> </a:t>
            </a:r>
            <a:r>
              <a:rPr lang="en-US" altLang="zh-CN" dirty="0">
                <a:latin typeface="Georgia" panose="02040502050405020303" pitchFamily="18" charset="0"/>
              </a:rPr>
              <a:t>MD5?</a:t>
            </a:r>
            <a:r>
              <a:rPr lang="zh-CN" altLang="en-US" dirty="0">
                <a:latin typeface="Georgia" panose="02040502050405020303" pitchFamily="18" charset="0"/>
              </a:rPr>
              <a:t>  </a:t>
            </a:r>
            <a:r>
              <a:rPr lang="en-US" altLang="zh-CN" dirty="0">
                <a:latin typeface="Georgia" panose="02040502050405020303" pitchFamily="18" charset="0"/>
              </a:rPr>
              <a:t>Shame</a:t>
            </a:r>
            <a:r>
              <a:rPr lang="zh-CN" altLang="en-US" dirty="0">
                <a:latin typeface="Georgia" panose="02040502050405020303" pitchFamily="18" charset="0"/>
              </a:rPr>
              <a:t> </a:t>
            </a:r>
            <a:r>
              <a:rPr lang="en-US" altLang="zh-CN" dirty="0">
                <a:latin typeface="Georgia" panose="02040502050405020303" pitchFamily="18" charset="0"/>
              </a:rPr>
              <a:t>on</a:t>
            </a:r>
            <a:r>
              <a:rPr lang="zh-CN" altLang="en-US" dirty="0">
                <a:latin typeface="Georgia" panose="02040502050405020303" pitchFamily="18" charset="0"/>
              </a:rPr>
              <a:t> </a:t>
            </a:r>
            <a:r>
              <a:rPr lang="en-US" altLang="zh-CN" dirty="0">
                <a:latin typeface="Georgia" panose="02040502050405020303" pitchFamily="18" charset="0"/>
              </a:rPr>
              <a:t>you!</a:t>
            </a:r>
            <a:r>
              <a:rPr lang="zh-CN" altLang="en-US" dirty="0">
                <a:latin typeface="Georgia" panose="02040502050405020303" pitchFamily="18" charset="0"/>
              </a:rPr>
              <a:t> </a:t>
            </a:r>
            <a:r>
              <a:rPr lang="en-US" altLang="zh-CN" dirty="0">
                <a:latin typeface="Georgia" panose="02040502050405020303" pitchFamily="18" charset="0"/>
                <a:hlinkClick r:id="rId3"/>
              </a:rPr>
              <a:t>https://piazza.com/illinois/fall2025/c93b</a:t>
            </a:r>
            <a:endParaRPr lang="en-US" altLang="zh-CN" dirty="0">
              <a:latin typeface="Georgia" panose="02040502050405020303" pitchFamily="18" charset="0"/>
            </a:endParaRPr>
          </a:p>
          <a:p>
            <a:pPr lvl="1"/>
            <a:endParaRPr lang="en-US" altLang="zh-CN" dirty="0">
              <a:latin typeface="Georgia" panose="02040502050405020303" pitchFamily="18" charset="0"/>
            </a:endParaRPr>
          </a:p>
          <a:p>
            <a:pPr lvl="1"/>
            <a:endParaRPr lang="en-US" dirty="0">
              <a:latin typeface="Georgia" panose="02040502050405020303" pitchFamily="18" charset="0"/>
            </a:endParaRPr>
          </a:p>
        </p:txBody>
      </p:sp>
      <p:sp>
        <p:nvSpPr>
          <p:cNvPr id="4" name="Rectangle 3">
            <a:extLst>
              <a:ext uri="{FF2B5EF4-FFF2-40B4-BE49-F238E27FC236}">
                <a16:creationId xmlns:a16="http://schemas.microsoft.com/office/drawing/2014/main" id="{1E151538-5B12-F7E3-6A09-8EDD10E5FB92}"/>
              </a:ext>
            </a:extLst>
          </p:cNvPr>
          <p:cNvSpPr/>
          <p:nvPr/>
        </p:nvSpPr>
        <p:spPr>
          <a:xfrm>
            <a:off x="629392" y="5326083"/>
            <a:ext cx="7226135" cy="8550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0103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4"/>
                                        </p:tgtEl>
                                        <p:attrNameLst>
                                          <p:attrName>ppt_x</p:attrName>
                                        </p:attrNameLst>
                                      </p:cBhvr>
                                      <p:tavLst>
                                        <p:tav tm="0">
                                          <p:val>
                                            <p:strVal val="ppt_x"/>
                                          </p:val>
                                        </p:tav>
                                        <p:tav tm="100000">
                                          <p:val>
                                            <p:strVal val="ppt_x"/>
                                          </p:val>
                                        </p:tav>
                                      </p:tavLst>
                                    </p:anim>
                                    <p:anim calcmode="lin" valueType="num">
                                      <p:cBhvr additive="base">
                                        <p:cTn id="7" dur="500"/>
                                        <p:tgtEl>
                                          <p:spTgt spid="4"/>
                                        </p:tgtEl>
                                        <p:attrNameLst>
                                          <p:attrName>ppt_y</p:attrName>
                                        </p:attrNameLst>
                                      </p:cBhvr>
                                      <p:tavLst>
                                        <p:tav tm="0">
                                          <p:val>
                                            <p:strVal val="ppt_y"/>
                                          </p:val>
                                        </p:tav>
                                        <p:tav tm="100000">
                                          <p:val>
                                            <p:strVal val="1+ppt_h/2"/>
                                          </p:val>
                                        </p:tav>
                                      </p:tavLst>
                                    </p:anim>
                                    <p:set>
                                      <p:cBhvr>
                                        <p:cTn id="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196DB-A0C9-9D61-E6D1-0B192867D045}"/>
              </a:ext>
            </a:extLst>
          </p:cNvPr>
          <p:cNvSpPr>
            <a:spLocks noGrp="1"/>
          </p:cNvSpPr>
          <p:nvPr>
            <p:ph type="title"/>
          </p:nvPr>
        </p:nvSpPr>
        <p:spPr>
          <a:xfrm>
            <a:off x="445476" y="286726"/>
            <a:ext cx="10515600" cy="1325563"/>
          </a:xfrm>
        </p:spPr>
        <p:txBody>
          <a:bodyPr/>
          <a:lstStyle/>
          <a:p>
            <a:r>
              <a:rPr lang="en-US" b="1" dirty="0">
                <a:latin typeface="Georgia" panose="02040502050405020303" pitchFamily="18" charset="0"/>
              </a:rPr>
              <a:t>Prerequisites</a:t>
            </a:r>
          </a:p>
        </p:txBody>
      </p:sp>
      <p:sp>
        <p:nvSpPr>
          <p:cNvPr id="3" name="Content Placeholder 2">
            <a:extLst>
              <a:ext uri="{FF2B5EF4-FFF2-40B4-BE49-F238E27FC236}">
                <a16:creationId xmlns:a16="http://schemas.microsoft.com/office/drawing/2014/main" id="{E8850845-4CD6-044D-BCB6-212DE822B70D}"/>
              </a:ext>
            </a:extLst>
          </p:cNvPr>
          <p:cNvSpPr>
            <a:spLocks noGrp="1"/>
          </p:cNvSpPr>
          <p:nvPr>
            <p:ph idx="1"/>
          </p:nvPr>
        </p:nvSpPr>
        <p:spPr>
          <a:xfrm>
            <a:off x="445476" y="1490472"/>
            <a:ext cx="10975379" cy="5080802"/>
          </a:xfrm>
        </p:spPr>
        <p:txBody>
          <a:bodyPr/>
          <a:lstStyle/>
          <a:p>
            <a:r>
              <a:rPr lang="en-US" b="1" dirty="0">
                <a:latin typeface="Georgia" panose="02040502050405020303" pitchFamily="18" charset="0"/>
              </a:rPr>
              <a:t>CS 225</a:t>
            </a:r>
            <a:r>
              <a:rPr lang="en-US" dirty="0">
                <a:latin typeface="Georgia" panose="02040502050405020303" pitchFamily="18" charset="0"/>
              </a:rPr>
              <a:t>: Introduction to Data Structures and Algorithms</a:t>
            </a:r>
          </a:p>
          <a:p>
            <a:r>
              <a:rPr lang="en-US" b="1" dirty="0">
                <a:latin typeface="Georgia" panose="02040502050405020303" pitchFamily="18" charset="0"/>
              </a:rPr>
              <a:t>CS/ECE 374</a:t>
            </a:r>
            <a:r>
              <a:rPr lang="en-US" dirty="0">
                <a:latin typeface="Georgia" panose="02040502050405020303" pitchFamily="18" charset="0"/>
              </a:rPr>
              <a:t>: Introduction to Algorithms and Models of Computation</a:t>
            </a:r>
          </a:p>
          <a:p>
            <a:endParaRPr lang="en-US" dirty="0">
              <a:latin typeface="Georgia" panose="02040502050405020303" pitchFamily="18" charset="0"/>
            </a:endParaRPr>
          </a:p>
          <a:p>
            <a:endParaRPr lang="en-US" dirty="0">
              <a:latin typeface="Georgia" panose="02040502050405020303" pitchFamily="18" charset="0"/>
            </a:endParaRPr>
          </a:p>
          <a:p>
            <a:pPr marL="0" indent="0">
              <a:buNone/>
            </a:pPr>
            <a:r>
              <a:rPr lang="en-US" dirty="0">
                <a:latin typeface="Georgia" panose="02040502050405020303" pitchFamily="18" charset="0"/>
              </a:rPr>
              <a:t>Prerequisite overrides will be considered on a case-by-case basis. We expect that you are familiar with basic probability, modular arithmetic, and logarithms.</a:t>
            </a:r>
          </a:p>
        </p:txBody>
      </p:sp>
    </p:spTree>
    <p:extLst>
      <p:ext uri="{BB962C8B-B14F-4D97-AF65-F5344CB8AC3E}">
        <p14:creationId xmlns:p14="http://schemas.microsoft.com/office/powerpoint/2010/main" val="3281560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AA872-3C46-400A-AA01-C5903D1DF17F}"/>
              </a:ext>
            </a:extLst>
          </p:cNvPr>
          <p:cNvSpPr>
            <a:spLocks noGrp="1"/>
          </p:cNvSpPr>
          <p:nvPr>
            <p:ph type="title"/>
          </p:nvPr>
        </p:nvSpPr>
        <p:spPr>
          <a:xfrm>
            <a:off x="445477" y="0"/>
            <a:ext cx="10515600" cy="1325563"/>
          </a:xfrm>
        </p:spPr>
        <p:txBody>
          <a:bodyPr/>
          <a:lstStyle/>
          <a:p>
            <a:r>
              <a:rPr lang="en-US" b="1" dirty="0">
                <a:latin typeface="Georgia" panose="02040502050405020303" pitchFamily="18" charset="0"/>
              </a:rPr>
              <a:t>Grading Policy</a:t>
            </a:r>
          </a:p>
        </p:txBody>
      </p:sp>
      <p:sp>
        <p:nvSpPr>
          <p:cNvPr id="3" name="Content Placeholder 2">
            <a:extLst>
              <a:ext uri="{FF2B5EF4-FFF2-40B4-BE49-F238E27FC236}">
                <a16:creationId xmlns:a16="http://schemas.microsoft.com/office/drawing/2014/main" id="{D4CD07E4-A709-4662-A614-20881C56E582}"/>
              </a:ext>
            </a:extLst>
          </p:cNvPr>
          <p:cNvSpPr>
            <a:spLocks noGrp="1"/>
          </p:cNvSpPr>
          <p:nvPr>
            <p:ph idx="1"/>
          </p:nvPr>
        </p:nvSpPr>
        <p:spPr>
          <a:xfrm>
            <a:off x="838200" y="1060704"/>
            <a:ext cx="10515600" cy="5609037"/>
          </a:xfrm>
        </p:spPr>
        <p:txBody>
          <a:bodyPr>
            <a:normAutofit fontScale="92500" lnSpcReduction="20000"/>
          </a:bodyPr>
          <a:lstStyle/>
          <a:p>
            <a:r>
              <a:rPr lang="en-US" b="1" dirty="0">
                <a:latin typeface="Georgia" panose="02040502050405020303" pitchFamily="18" charset="0"/>
              </a:rPr>
              <a:t>Class participation (10%)</a:t>
            </a:r>
            <a:r>
              <a:rPr lang="en-US" b="0" i="0" dirty="0">
                <a:solidFill>
                  <a:srgbClr val="000000"/>
                </a:solidFill>
                <a:effectLst/>
                <a:latin typeface="Georgia" panose="02040502050405020303" pitchFamily="18" charset="0"/>
              </a:rPr>
              <a:t>.</a:t>
            </a:r>
          </a:p>
          <a:p>
            <a:r>
              <a:rPr lang="en-US" b="1" dirty="0">
                <a:latin typeface="Georgia" panose="02040502050405020303" pitchFamily="18" charset="0"/>
              </a:rPr>
              <a:t>In-class quiz 10%, </a:t>
            </a:r>
          </a:p>
          <a:p>
            <a:pPr lvl="1"/>
            <a:r>
              <a:rPr lang="en-US" altLang="zh-CN" dirty="0">
                <a:latin typeface="Georgia" panose="02040502050405020303" pitchFamily="18" charset="0"/>
              </a:rPr>
              <a:t>Each quiz is selected with probability </a:t>
            </a:r>
            <a:r>
              <a:rPr lang="en-US" altLang="zh-CN" b="1" dirty="0">
                <a:solidFill>
                  <a:srgbClr val="FF0000"/>
                </a:solidFill>
                <a:latin typeface="Georgia" panose="02040502050405020303" pitchFamily="18" charset="0"/>
              </a:rPr>
              <a:t>80%</a:t>
            </a:r>
            <a:r>
              <a:rPr lang="en-US" altLang="zh-CN" dirty="0">
                <a:latin typeface="Georgia" panose="02040502050405020303" pitchFamily="18" charset="0"/>
              </a:rPr>
              <a:t>. </a:t>
            </a:r>
          </a:p>
          <a:p>
            <a:pPr lvl="1"/>
            <a:r>
              <a:rPr lang="en-US" altLang="zh-CN" dirty="0">
                <a:latin typeface="Georgia" panose="02040502050405020303" pitchFamily="18" charset="0"/>
              </a:rPr>
              <a:t>The final grade is calculated as the average score of the selected quizzes, scaled to 100.</a:t>
            </a:r>
          </a:p>
          <a:p>
            <a:pPr lvl="1"/>
            <a:r>
              <a:rPr lang="en-US" altLang="zh-CN" dirty="0">
                <a:latin typeface="Georgia" panose="02040502050405020303" pitchFamily="18" charset="0"/>
              </a:rPr>
              <a:t>Test: </a:t>
            </a:r>
            <a:r>
              <a:rPr lang="en-US" b="0" i="0" dirty="0">
                <a:solidFill>
                  <a:srgbClr val="273540"/>
                </a:solidFill>
                <a:effectLst/>
                <a:latin typeface="Georgia" panose="02040502050405020303" pitchFamily="18" charset="0"/>
              </a:rPr>
              <a:t>Crypto34399</a:t>
            </a:r>
            <a:endParaRPr lang="en-US" altLang="zh-CN" dirty="0">
              <a:latin typeface="Georgia" panose="02040502050405020303" pitchFamily="18" charset="0"/>
            </a:endParaRPr>
          </a:p>
          <a:p>
            <a:r>
              <a:rPr lang="en-US" b="1" dirty="0">
                <a:latin typeface="Georgia" panose="02040502050405020303" pitchFamily="18" charset="0"/>
              </a:rPr>
              <a:t>Homework (50%):</a:t>
            </a:r>
          </a:p>
          <a:p>
            <a:pPr lvl="1"/>
            <a:r>
              <a:rPr lang="en-US" dirty="0">
                <a:latin typeface="Georgia" panose="02040502050405020303" pitchFamily="18" charset="0"/>
              </a:rPr>
              <a:t>5 assignments</a:t>
            </a:r>
          </a:p>
          <a:p>
            <a:pPr lvl="1"/>
            <a:r>
              <a:rPr lang="en-US" b="0" i="0" dirty="0">
                <a:solidFill>
                  <a:srgbClr val="1B1B1B"/>
                </a:solidFill>
                <a:effectLst/>
                <a:latin typeface="Georgia" panose="02040502050405020303" pitchFamily="18" charset="0"/>
              </a:rPr>
              <a:t>Each homework will include careful instructions, with long-form problem write-ups and proofs.</a:t>
            </a:r>
            <a:endParaRPr lang="en-US" dirty="0">
              <a:latin typeface="Georgia" panose="02040502050405020303" pitchFamily="18" charset="0"/>
            </a:endParaRPr>
          </a:p>
          <a:p>
            <a:pPr lvl="1"/>
            <a:r>
              <a:rPr lang="en-US" dirty="0">
                <a:latin typeface="Georgia" panose="02040502050405020303" pitchFamily="18" charset="0"/>
              </a:rPr>
              <a:t>Submit a single PDF compiled from LaTeX. </a:t>
            </a:r>
            <a:r>
              <a:rPr lang="zh-CN" altLang="en-US" dirty="0">
                <a:latin typeface="Georgia" panose="02040502050405020303" pitchFamily="18" charset="0"/>
              </a:rPr>
              <a:t> </a:t>
            </a:r>
            <a:r>
              <a:rPr lang="en-US" altLang="zh-CN" dirty="0">
                <a:latin typeface="Georgia" panose="02040502050405020303" pitchFamily="18" charset="0"/>
              </a:rPr>
              <a:t>No</a:t>
            </a:r>
            <a:r>
              <a:rPr lang="zh-CN" altLang="en-US" dirty="0">
                <a:latin typeface="Georgia" panose="02040502050405020303" pitchFamily="18" charset="0"/>
              </a:rPr>
              <a:t> </a:t>
            </a:r>
            <a:r>
              <a:rPr lang="en-US" dirty="0">
                <a:latin typeface="Georgia" panose="02040502050405020303" pitchFamily="18" charset="0"/>
              </a:rPr>
              <a:t>Word/Google Docs</a:t>
            </a:r>
            <a:r>
              <a:rPr lang="en-US" altLang="zh-CN" dirty="0">
                <a:latin typeface="Georgia" panose="02040502050405020303" pitchFamily="18" charset="0"/>
              </a:rPr>
              <a:t>/Pictures</a:t>
            </a:r>
            <a:endParaRPr lang="en-US" dirty="0">
              <a:latin typeface="Georgia" panose="02040502050405020303" pitchFamily="18" charset="0"/>
            </a:endParaRPr>
          </a:p>
          <a:p>
            <a:pPr lvl="1"/>
            <a:r>
              <a:rPr lang="en-US" dirty="0">
                <a:latin typeface="Georgia" panose="02040502050405020303" pitchFamily="18" charset="0"/>
              </a:rPr>
              <a:t>No late submission</a:t>
            </a:r>
            <a:r>
              <a:rPr lang="en-US" altLang="zh-CN" b="1" dirty="0">
                <a:latin typeface="Georgia" panose="02040502050405020303" pitchFamily="18" charset="0"/>
              </a:rPr>
              <a:t>.</a:t>
            </a:r>
            <a:r>
              <a:rPr lang="zh-CN" altLang="en-US" b="1" dirty="0">
                <a:solidFill>
                  <a:srgbClr val="FF0000"/>
                </a:solidFill>
                <a:latin typeface="Georgia" panose="02040502050405020303" pitchFamily="18" charset="0"/>
              </a:rPr>
              <a:t> </a:t>
            </a:r>
            <a:endParaRPr lang="en-US" altLang="zh-CN" b="1" dirty="0">
              <a:solidFill>
                <a:srgbClr val="FF0000"/>
              </a:solidFill>
              <a:latin typeface="Georgia" panose="02040502050405020303" pitchFamily="18" charset="0"/>
            </a:endParaRPr>
          </a:p>
          <a:p>
            <a:pPr lvl="1"/>
            <a:r>
              <a:rPr lang="en-US" altLang="zh-CN" b="1" dirty="0">
                <a:solidFill>
                  <a:srgbClr val="FF0000"/>
                </a:solidFill>
                <a:latin typeface="Georgia" panose="02040502050405020303" pitchFamily="18" charset="0"/>
              </a:rPr>
              <a:t>AI-based</a:t>
            </a:r>
            <a:r>
              <a:rPr lang="zh-CN" altLang="en-US" b="1" dirty="0">
                <a:solidFill>
                  <a:srgbClr val="FF0000"/>
                </a:solidFill>
                <a:latin typeface="Georgia" panose="02040502050405020303" pitchFamily="18" charset="0"/>
              </a:rPr>
              <a:t> </a:t>
            </a:r>
            <a:r>
              <a:rPr lang="en-US" altLang="zh-CN" b="1" dirty="0">
                <a:solidFill>
                  <a:srgbClr val="FF0000"/>
                </a:solidFill>
                <a:latin typeface="Georgia" panose="02040502050405020303" pitchFamily="18" charset="0"/>
              </a:rPr>
              <a:t>tool</a:t>
            </a:r>
            <a:r>
              <a:rPr lang="zh-CN" altLang="en-US" b="1" dirty="0">
                <a:solidFill>
                  <a:srgbClr val="FF0000"/>
                </a:solidFill>
                <a:latin typeface="Georgia" panose="02040502050405020303" pitchFamily="18" charset="0"/>
              </a:rPr>
              <a:t> </a:t>
            </a:r>
            <a:r>
              <a:rPr lang="en-US" altLang="zh-CN" b="1" dirty="0">
                <a:solidFill>
                  <a:srgbClr val="FF0000"/>
                </a:solidFill>
                <a:latin typeface="Georgia" panose="02040502050405020303" pitchFamily="18" charset="0"/>
              </a:rPr>
              <a:t>is</a:t>
            </a:r>
            <a:r>
              <a:rPr lang="zh-CN" altLang="en-US" b="1" dirty="0">
                <a:solidFill>
                  <a:srgbClr val="FF0000"/>
                </a:solidFill>
                <a:latin typeface="Georgia" panose="02040502050405020303" pitchFamily="18" charset="0"/>
              </a:rPr>
              <a:t> </a:t>
            </a:r>
            <a:r>
              <a:rPr lang="en-US" altLang="zh-CN" b="1" dirty="0">
                <a:solidFill>
                  <a:srgbClr val="FF0000"/>
                </a:solidFill>
                <a:latin typeface="Georgia" panose="02040502050405020303" pitchFamily="18" charset="0"/>
              </a:rPr>
              <a:t>not</a:t>
            </a:r>
            <a:r>
              <a:rPr lang="zh-CN" altLang="en-US" b="1" dirty="0">
                <a:solidFill>
                  <a:srgbClr val="FF0000"/>
                </a:solidFill>
                <a:latin typeface="Georgia" panose="02040502050405020303" pitchFamily="18" charset="0"/>
              </a:rPr>
              <a:t> </a:t>
            </a:r>
            <a:r>
              <a:rPr lang="en-US" altLang="zh-CN" b="1" dirty="0">
                <a:solidFill>
                  <a:srgbClr val="FF0000"/>
                </a:solidFill>
                <a:latin typeface="Georgia" panose="02040502050405020303" pitchFamily="18" charset="0"/>
              </a:rPr>
              <a:t>allowed.</a:t>
            </a:r>
            <a:endParaRPr lang="en-US" b="1" dirty="0">
              <a:solidFill>
                <a:srgbClr val="FF0000"/>
              </a:solidFill>
              <a:latin typeface="Georgia" panose="02040502050405020303" pitchFamily="18" charset="0"/>
            </a:endParaRPr>
          </a:p>
          <a:p>
            <a:r>
              <a:rPr lang="en-US" b="1" dirty="0">
                <a:latin typeface="Georgia" panose="02040502050405020303" pitchFamily="18" charset="0"/>
              </a:rPr>
              <a:t>Midterm Exam (</a:t>
            </a:r>
            <a:r>
              <a:rPr lang="en-US" altLang="zh-CN" b="1" dirty="0">
                <a:latin typeface="Georgia" panose="02040502050405020303" pitchFamily="18" charset="0"/>
              </a:rPr>
              <a:t>20</a:t>
            </a:r>
            <a:r>
              <a:rPr lang="en-US" b="1" dirty="0">
                <a:latin typeface="Georgia" panose="02040502050405020303" pitchFamily="18" charset="0"/>
              </a:rPr>
              <a:t>%):</a:t>
            </a:r>
          </a:p>
          <a:p>
            <a:pPr lvl="1"/>
            <a:r>
              <a:rPr lang="en-US" b="1" dirty="0">
                <a:latin typeface="Georgia" panose="02040502050405020303" pitchFamily="18" charset="0"/>
              </a:rPr>
              <a:t>5:00-6:20pm, Tuesday, October </a:t>
            </a:r>
            <a:r>
              <a:rPr lang="en-US" altLang="zh-CN" b="1" dirty="0">
                <a:latin typeface="Georgia" panose="02040502050405020303" pitchFamily="18" charset="0"/>
              </a:rPr>
              <a:t>7</a:t>
            </a:r>
            <a:r>
              <a:rPr lang="en-US" b="1" dirty="0">
                <a:latin typeface="Georgia" panose="02040502050405020303" pitchFamily="18" charset="0"/>
              </a:rPr>
              <a:t>, in class</a:t>
            </a:r>
          </a:p>
          <a:p>
            <a:r>
              <a:rPr lang="en-US" b="1" dirty="0">
                <a:latin typeface="Georgia" panose="02040502050405020303" pitchFamily="18" charset="0"/>
              </a:rPr>
              <a:t>Final Exam (</a:t>
            </a:r>
            <a:r>
              <a:rPr lang="en-US" altLang="zh-CN" b="1" dirty="0">
                <a:latin typeface="Georgia" panose="02040502050405020303" pitchFamily="18" charset="0"/>
              </a:rPr>
              <a:t>20</a:t>
            </a:r>
            <a:r>
              <a:rPr lang="en-US" b="1" dirty="0">
                <a:latin typeface="Georgia" panose="02040502050405020303" pitchFamily="18" charset="0"/>
              </a:rPr>
              <a:t>%):</a:t>
            </a:r>
          </a:p>
          <a:p>
            <a:pPr lvl="1"/>
            <a:r>
              <a:rPr lang="en-US" b="0" i="0" dirty="0">
                <a:solidFill>
                  <a:srgbClr val="000000"/>
                </a:solidFill>
                <a:effectLst/>
                <a:latin typeface="Georgia" panose="02040502050405020303" pitchFamily="18" charset="0"/>
              </a:rPr>
              <a:t>cumulative </a:t>
            </a:r>
          </a:p>
        </p:txBody>
      </p:sp>
      <p:cxnSp>
        <p:nvCxnSpPr>
          <p:cNvPr id="5" name="Straight Connector 4">
            <a:extLst>
              <a:ext uri="{FF2B5EF4-FFF2-40B4-BE49-F238E27FC236}">
                <a16:creationId xmlns:a16="http://schemas.microsoft.com/office/drawing/2014/main" id="{CD28967C-CB7E-F40D-71E1-A34C5B60C5A5}"/>
              </a:ext>
            </a:extLst>
          </p:cNvPr>
          <p:cNvCxnSpPr/>
          <p:nvPr/>
        </p:nvCxnSpPr>
        <p:spPr>
          <a:xfrm>
            <a:off x="1085738" y="1226412"/>
            <a:ext cx="4297680" cy="0"/>
          </a:xfrm>
          <a:prstGeom prst="line">
            <a:avLst/>
          </a:prstGeom>
          <a:ln w="44450">
            <a:solidFill>
              <a:schemeClr val="accent2"/>
            </a:solidFill>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4116257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25FE6-4610-4E7E-B384-A310F52C1E6F}"/>
              </a:ext>
            </a:extLst>
          </p:cNvPr>
          <p:cNvSpPr>
            <a:spLocks noGrp="1"/>
          </p:cNvSpPr>
          <p:nvPr>
            <p:ph type="title"/>
          </p:nvPr>
        </p:nvSpPr>
        <p:spPr/>
        <p:txBody>
          <a:bodyPr/>
          <a:lstStyle/>
          <a:p>
            <a:r>
              <a:rPr lang="en-US" b="1" i="0" dirty="0">
                <a:solidFill>
                  <a:srgbClr val="000000"/>
                </a:solidFill>
                <a:effectLst/>
                <a:latin typeface="Times New Roman" panose="02020603050405020304" pitchFamily="18" charset="0"/>
              </a:rPr>
              <a:t>4 credit hours project</a:t>
            </a:r>
            <a:endParaRPr lang="en-US" dirty="0"/>
          </a:p>
        </p:txBody>
      </p:sp>
      <p:sp>
        <p:nvSpPr>
          <p:cNvPr id="3" name="Content Placeholder 2">
            <a:extLst>
              <a:ext uri="{FF2B5EF4-FFF2-40B4-BE49-F238E27FC236}">
                <a16:creationId xmlns:a16="http://schemas.microsoft.com/office/drawing/2014/main" id="{4AFD0921-D6E9-4B77-A5A3-A58814788B5A}"/>
              </a:ext>
            </a:extLst>
          </p:cNvPr>
          <p:cNvSpPr>
            <a:spLocks noGrp="1"/>
          </p:cNvSpPr>
          <p:nvPr>
            <p:ph idx="1"/>
          </p:nvPr>
        </p:nvSpPr>
        <p:spPr>
          <a:xfrm>
            <a:off x="838199" y="1940311"/>
            <a:ext cx="11115907" cy="4236651"/>
          </a:xfrm>
        </p:spPr>
        <p:txBody>
          <a:bodyPr/>
          <a:lstStyle/>
          <a:p>
            <a:pPr marL="0" indent="0">
              <a:buNone/>
            </a:pPr>
            <a:r>
              <a:rPr lang="en-US" b="1" dirty="0">
                <a:latin typeface="Georgia" panose="02040502050405020303" pitchFamily="18" charset="0"/>
              </a:rPr>
              <a:t>Paper review and report:</a:t>
            </a:r>
            <a:r>
              <a:rPr lang="en-US" dirty="0">
                <a:latin typeface="Georgia" panose="02040502050405020303" pitchFamily="18" charset="0"/>
              </a:rPr>
              <a:t> 20%. </a:t>
            </a:r>
          </a:p>
          <a:p>
            <a:pPr marL="0" indent="0">
              <a:buNone/>
            </a:pPr>
            <a:r>
              <a:rPr lang="en-US" dirty="0">
                <a:latin typeface="Georgia" panose="02040502050405020303" pitchFamily="18" charset="0"/>
              </a:rPr>
              <a:t>In teams of 2, you will read</a:t>
            </a:r>
            <a:r>
              <a:rPr lang="zh-CN" altLang="en-US" dirty="0">
                <a:latin typeface="Georgia" panose="02040502050405020303" pitchFamily="18" charset="0"/>
              </a:rPr>
              <a:t> </a:t>
            </a:r>
            <a:r>
              <a:rPr lang="en-US" altLang="zh-CN" dirty="0">
                <a:latin typeface="Georgia" panose="02040502050405020303" pitchFamily="18" charset="0"/>
              </a:rPr>
              <a:t>and</a:t>
            </a:r>
            <a:r>
              <a:rPr lang="zh-CN" altLang="en-US" dirty="0">
                <a:latin typeface="Georgia" panose="02040502050405020303" pitchFamily="18" charset="0"/>
              </a:rPr>
              <a:t> </a:t>
            </a:r>
            <a:r>
              <a:rPr lang="en-US" altLang="zh-CN" dirty="0">
                <a:latin typeface="Georgia" panose="02040502050405020303" pitchFamily="18" charset="0"/>
              </a:rPr>
              <a:t>present</a:t>
            </a:r>
            <a:r>
              <a:rPr lang="en-US" dirty="0">
                <a:latin typeface="Georgia" panose="02040502050405020303" pitchFamily="18" charset="0"/>
              </a:rPr>
              <a:t> papers in the cryptography literature.</a:t>
            </a:r>
          </a:p>
          <a:p>
            <a:pPr marL="0" indent="0">
              <a:buNone/>
            </a:pPr>
            <a:endParaRPr lang="en-US" dirty="0">
              <a:latin typeface="Georgia" panose="02040502050405020303" pitchFamily="18" charset="0"/>
            </a:endParaRPr>
          </a:p>
          <a:p>
            <a:pPr marL="0" indent="0">
              <a:buNone/>
            </a:pPr>
            <a:r>
              <a:rPr lang="en-US" altLang="zh-CN" dirty="0">
                <a:latin typeface="Georgia" panose="02040502050405020303" pitchFamily="18" charset="0"/>
              </a:rPr>
              <a:t>Please</a:t>
            </a:r>
            <a:r>
              <a:rPr lang="zh-CN" altLang="en-US" dirty="0">
                <a:latin typeface="Georgia" panose="02040502050405020303" pitchFamily="18" charset="0"/>
              </a:rPr>
              <a:t> </a:t>
            </a:r>
            <a:r>
              <a:rPr lang="en-US" altLang="zh-CN" dirty="0">
                <a:latin typeface="Georgia" panose="02040502050405020303" pitchFamily="18" charset="0"/>
              </a:rPr>
              <a:t>make</a:t>
            </a:r>
            <a:r>
              <a:rPr lang="zh-CN" altLang="en-US" dirty="0">
                <a:latin typeface="Georgia" panose="02040502050405020303" pitchFamily="18" charset="0"/>
              </a:rPr>
              <a:t> </a:t>
            </a:r>
            <a:r>
              <a:rPr lang="en-US" altLang="zh-CN" dirty="0">
                <a:latin typeface="Georgia" panose="02040502050405020303" pitchFamily="18" charset="0"/>
              </a:rPr>
              <a:t>an</a:t>
            </a:r>
            <a:r>
              <a:rPr lang="zh-CN" altLang="en-US" dirty="0">
                <a:latin typeface="Georgia" panose="02040502050405020303" pitchFamily="18" charset="0"/>
              </a:rPr>
              <a:t> </a:t>
            </a:r>
            <a:r>
              <a:rPr lang="en-US" altLang="zh-CN" dirty="0">
                <a:latin typeface="Georgia" panose="02040502050405020303" pitchFamily="18" charset="0"/>
              </a:rPr>
              <a:t>appointment</a:t>
            </a:r>
            <a:r>
              <a:rPr lang="zh-CN" altLang="en-US" dirty="0">
                <a:latin typeface="Georgia" panose="02040502050405020303" pitchFamily="18" charset="0"/>
              </a:rPr>
              <a:t> </a:t>
            </a:r>
            <a:r>
              <a:rPr lang="en-US" altLang="zh-CN" dirty="0">
                <a:latin typeface="Georgia" panose="02040502050405020303" pitchFamily="18" charset="0"/>
              </a:rPr>
              <a:t>with</a:t>
            </a:r>
            <a:r>
              <a:rPr lang="zh-CN" altLang="en-US" dirty="0">
                <a:latin typeface="Georgia" panose="02040502050405020303" pitchFamily="18" charset="0"/>
              </a:rPr>
              <a:t> </a:t>
            </a:r>
            <a:r>
              <a:rPr lang="en-US" altLang="zh-CN" dirty="0">
                <a:latin typeface="Georgia" panose="02040502050405020303" pitchFamily="18" charset="0"/>
              </a:rPr>
              <a:t>me</a:t>
            </a:r>
            <a:r>
              <a:rPr lang="zh-CN" altLang="en-US" dirty="0">
                <a:latin typeface="Georgia" panose="02040502050405020303" pitchFamily="18" charset="0"/>
              </a:rPr>
              <a:t> </a:t>
            </a:r>
            <a:r>
              <a:rPr lang="en-US" altLang="zh-CN" dirty="0">
                <a:latin typeface="Georgia" panose="02040502050405020303" pitchFamily="18" charset="0"/>
              </a:rPr>
              <a:t>on</a:t>
            </a:r>
            <a:r>
              <a:rPr lang="zh-CN" altLang="en-US" dirty="0">
                <a:latin typeface="Georgia" panose="02040502050405020303" pitchFamily="18" charset="0"/>
              </a:rPr>
              <a:t> </a:t>
            </a:r>
            <a:r>
              <a:rPr lang="en-US" altLang="zh-CN" dirty="0">
                <a:latin typeface="Georgia" panose="02040502050405020303" pitchFamily="18" charset="0"/>
              </a:rPr>
              <a:t>your</a:t>
            </a:r>
            <a:r>
              <a:rPr lang="zh-CN" altLang="en-US" dirty="0">
                <a:latin typeface="Georgia" panose="02040502050405020303" pitchFamily="18" charset="0"/>
              </a:rPr>
              <a:t> </a:t>
            </a:r>
            <a:r>
              <a:rPr lang="en-US" altLang="zh-CN" dirty="0">
                <a:latin typeface="Georgia" panose="02040502050405020303" pitchFamily="18" charset="0"/>
              </a:rPr>
              <a:t>paper</a:t>
            </a:r>
            <a:r>
              <a:rPr lang="zh-CN" altLang="en-US" dirty="0">
                <a:latin typeface="Georgia" panose="02040502050405020303" pitchFamily="18" charset="0"/>
              </a:rPr>
              <a:t> </a:t>
            </a:r>
            <a:r>
              <a:rPr lang="en-US" altLang="zh-CN" dirty="0">
                <a:latin typeface="Georgia" panose="02040502050405020303" pitchFamily="18" charset="0"/>
              </a:rPr>
              <a:t>selection.</a:t>
            </a:r>
            <a:endParaRPr lang="en-US" dirty="0">
              <a:latin typeface="Georgia" panose="02040502050405020303" pitchFamily="18" charset="0"/>
            </a:endParaRPr>
          </a:p>
          <a:p>
            <a:pPr marL="0" indent="0">
              <a:buNone/>
            </a:pPr>
            <a:endParaRPr lang="en-US" dirty="0">
              <a:latin typeface="Georgia" panose="02040502050405020303" pitchFamily="18" charset="0"/>
            </a:endParaRPr>
          </a:p>
          <a:p>
            <a:pPr marL="0" indent="0">
              <a:buNone/>
            </a:pPr>
            <a:r>
              <a:rPr lang="en-US" dirty="0">
                <a:latin typeface="Georgia" panose="02040502050405020303" pitchFamily="18" charset="0"/>
                <a:hlinkClick r:id="rId2"/>
              </a:rPr>
              <a:t>https://registrar.illinois.edu/registration/registration-process/variable-credit-hours/</a:t>
            </a:r>
            <a:endParaRPr lang="en-US" dirty="0">
              <a:latin typeface="Georgia" panose="02040502050405020303" pitchFamily="18" charset="0"/>
            </a:endParaRPr>
          </a:p>
          <a:p>
            <a:pPr marL="0" indent="0">
              <a:buNone/>
            </a:pPr>
            <a:endParaRPr lang="en-US" dirty="0">
              <a:latin typeface="Georgia" panose="02040502050405020303" pitchFamily="18" charset="0"/>
            </a:endParaRPr>
          </a:p>
        </p:txBody>
      </p:sp>
    </p:spTree>
    <p:extLst>
      <p:ext uri="{BB962C8B-B14F-4D97-AF65-F5344CB8AC3E}">
        <p14:creationId xmlns:p14="http://schemas.microsoft.com/office/powerpoint/2010/main" val="2297490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DADB-95D7-43D3-BA8C-D206981FD014}"/>
              </a:ext>
            </a:extLst>
          </p:cNvPr>
          <p:cNvSpPr>
            <a:spLocks noGrp="1"/>
          </p:cNvSpPr>
          <p:nvPr>
            <p:ph type="title"/>
          </p:nvPr>
        </p:nvSpPr>
        <p:spPr/>
        <p:txBody>
          <a:bodyPr/>
          <a:lstStyle/>
          <a:p>
            <a:r>
              <a:rPr lang="en-US" dirty="0"/>
              <a:t>Ethics &amp; Academic Integrity</a:t>
            </a:r>
          </a:p>
        </p:txBody>
      </p:sp>
      <p:sp>
        <p:nvSpPr>
          <p:cNvPr id="3" name="Content Placeholder 2">
            <a:extLst>
              <a:ext uri="{FF2B5EF4-FFF2-40B4-BE49-F238E27FC236}">
                <a16:creationId xmlns:a16="http://schemas.microsoft.com/office/drawing/2014/main" id="{02FD32C9-787F-49FA-AB2C-B06485B82D89}"/>
              </a:ext>
            </a:extLst>
          </p:cNvPr>
          <p:cNvSpPr>
            <a:spLocks noGrp="1"/>
          </p:cNvSpPr>
          <p:nvPr>
            <p:ph idx="1"/>
          </p:nvPr>
        </p:nvSpPr>
        <p:spPr>
          <a:xfrm>
            <a:off x="583864" y="1580518"/>
            <a:ext cx="10515600" cy="4783947"/>
          </a:xfrm>
        </p:spPr>
        <p:txBody>
          <a:bodyPr>
            <a:normAutofit/>
          </a:bodyPr>
          <a:lstStyle/>
          <a:p>
            <a:pPr marL="0" indent="0" algn="just">
              <a:buNone/>
            </a:pPr>
            <a:r>
              <a:rPr lang="en-US" b="1" i="0" dirty="0">
                <a:solidFill>
                  <a:srgbClr val="000000"/>
                </a:solidFill>
                <a:effectLst/>
                <a:latin typeface="Times New Roman" panose="02020603050405020304" pitchFamily="18" charset="0"/>
              </a:rPr>
              <a:t>Collaboration.</a:t>
            </a:r>
            <a:r>
              <a:rPr lang="en-US" b="0" i="0" dirty="0">
                <a:solidFill>
                  <a:srgbClr val="000000"/>
                </a:solidFill>
                <a:effectLst/>
                <a:latin typeface="Times New Roman" panose="02020603050405020304" pitchFamily="18" charset="0"/>
              </a:rPr>
              <a:t> </a:t>
            </a:r>
            <a:r>
              <a:rPr lang="en-US" b="0" i="0" dirty="0" err="1">
                <a:solidFill>
                  <a:srgbClr val="000000"/>
                </a:solidFill>
                <a:effectLst/>
                <a:latin typeface="Times New Roman" panose="02020603050405020304" pitchFamily="18" charset="0"/>
              </a:rPr>
              <a:t>Homeworks</a:t>
            </a:r>
            <a:r>
              <a:rPr lang="en-US" b="0" i="0" dirty="0">
                <a:solidFill>
                  <a:srgbClr val="000000"/>
                </a:solidFill>
                <a:effectLst/>
                <a:latin typeface="Times New Roman" panose="02020603050405020304" pitchFamily="18" charset="0"/>
              </a:rPr>
              <a:t> are to be submitted individually. However, you may collaborate with up to </a:t>
            </a:r>
            <a:r>
              <a:rPr lang="en-US" b="1" i="0" dirty="0">
                <a:solidFill>
                  <a:srgbClr val="000000"/>
                </a:solidFill>
                <a:effectLst/>
                <a:latin typeface="Times New Roman" panose="02020603050405020304" pitchFamily="18" charset="0"/>
              </a:rPr>
              <a:t>one</a:t>
            </a:r>
            <a:r>
              <a:rPr lang="en-US" b="0" i="0" dirty="0">
                <a:solidFill>
                  <a:srgbClr val="000000"/>
                </a:solidFill>
                <a:effectLst/>
                <a:latin typeface="Times New Roman" panose="02020603050405020304" pitchFamily="18" charset="0"/>
              </a:rPr>
              <a:t> other student on homework assignments. On each homework submission, </a:t>
            </a:r>
            <a:r>
              <a:rPr lang="en-US" b="1" i="0" dirty="0">
                <a:solidFill>
                  <a:srgbClr val="000000"/>
                </a:solidFill>
                <a:effectLst/>
                <a:latin typeface="Times New Roman" panose="02020603050405020304" pitchFamily="18" charset="0"/>
              </a:rPr>
              <a:t>declare your collaborator </a:t>
            </a:r>
            <a:r>
              <a:rPr lang="en-US" b="0" i="0" dirty="0">
                <a:solidFill>
                  <a:srgbClr val="000000"/>
                </a:solidFill>
                <a:effectLst/>
                <a:latin typeface="Times New Roman" panose="02020603050405020304" pitchFamily="18" charset="0"/>
              </a:rPr>
              <a:t>(if any). In your collaboration you are expected to discuss the homework, not merely copy answers. Plagiarism will not be tolerated</a:t>
            </a:r>
            <a:endParaRPr lang="en-US" dirty="0">
              <a:solidFill>
                <a:srgbClr val="000000"/>
              </a:solidFill>
              <a:latin typeface="Times New Roman" panose="02020603050405020304" pitchFamily="18" charset="0"/>
            </a:endParaRPr>
          </a:p>
          <a:p>
            <a:pPr marL="0" indent="0" algn="just">
              <a:buNone/>
            </a:pPr>
            <a:r>
              <a:rPr lang="en-US" dirty="0">
                <a:hlinkClick r:id="rId2"/>
              </a:rPr>
              <a:t>https://studentcode.illinois.edu/</a:t>
            </a:r>
            <a:endParaRPr lang="en-US" dirty="0">
              <a:solidFill>
                <a:srgbClr val="000000"/>
              </a:solidFill>
              <a:latin typeface="Times New Roman" panose="02020603050405020304" pitchFamily="18" charset="0"/>
            </a:endParaRPr>
          </a:p>
          <a:p>
            <a:pPr marL="0" indent="0" algn="just">
              <a:buNone/>
            </a:pPr>
            <a:endParaRPr lang="en-US" dirty="0"/>
          </a:p>
        </p:txBody>
      </p:sp>
    </p:spTree>
    <p:extLst>
      <p:ext uri="{BB962C8B-B14F-4D97-AF65-F5344CB8AC3E}">
        <p14:creationId xmlns:p14="http://schemas.microsoft.com/office/powerpoint/2010/main" val="2976930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D5401-A032-1F8A-FCB4-E91904B386EA}"/>
              </a:ext>
            </a:extLst>
          </p:cNvPr>
          <p:cNvSpPr>
            <a:spLocks noGrp="1"/>
          </p:cNvSpPr>
          <p:nvPr>
            <p:ph type="title"/>
          </p:nvPr>
        </p:nvSpPr>
        <p:spPr/>
        <p:txBody>
          <a:bodyPr/>
          <a:lstStyle/>
          <a:p>
            <a:r>
              <a:rPr lang="en-US" dirty="0"/>
              <a:t>Emergencies</a:t>
            </a:r>
          </a:p>
        </p:txBody>
      </p:sp>
      <p:sp>
        <p:nvSpPr>
          <p:cNvPr id="3" name="Content Placeholder 2">
            <a:extLst>
              <a:ext uri="{FF2B5EF4-FFF2-40B4-BE49-F238E27FC236}">
                <a16:creationId xmlns:a16="http://schemas.microsoft.com/office/drawing/2014/main" id="{19786D45-D5C2-1890-184F-C809304AA05D}"/>
              </a:ext>
            </a:extLst>
          </p:cNvPr>
          <p:cNvSpPr>
            <a:spLocks noGrp="1"/>
          </p:cNvSpPr>
          <p:nvPr>
            <p:ph idx="1"/>
          </p:nvPr>
        </p:nvSpPr>
        <p:spPr/>
        <p:txBody>
          <a:bodyPr>
            <a:normAutofit fontScale="92500" lnSpcReduction="20000"/>
          </a:bodyPr>
          <a:lstStyle/>
          <a:p>
            <a:pPr marL="0" indent="0">
              <a:buNone/>
            </a:pPr>
            <a:r>
              <a:rPr lang="en-US" b="0" i="1" dirty="0">
                <a:solidFill>
                  <a:srgbClr val="252525"/>
                </a:solidFill>
                <a:effectLst/>
                <a:latin typeface="Source Sans Variable"/>
              </a:rPr>
              <a:t>Emergencies can happen anywhere and at any time, so it’s important that we take a minute to prepare for a situation in which our safety could depend on our ability to react quickly. Take a moment to learn the different ways to leave this building. If there’s ever a fire alarm or something like that, you’ll know how to get out and you’ll be able to help others get out. Next, figure out the best place to go in case of severe weather – we’ll need to go to a low-level in the middle of the building, away from windows. And finally, if there’s ever someone trying to hurt us, our best option is to run out of the building. If we cannot do that safely, we’ll want to hide somewhere we can’t be seen, and we’ll have to lock or barricade the door if possible and be as quiet as we can. We will not leave that safe area until we get an Illini-Alert confirming that it’s safe to do so. If we can’t run or hide, we’ll fight back with whatever we can get our hands on. If you want to better prepare yourself for any of these situations, visit </a:t>
            </a:r>
            <a:r>
              <a:rPr lang="en-US" b="0" i="1" u="sng" dirty="0">
                <a:solidFill>
                  <a:srgbClr val="252525"/>
                </a:solidFill>
                <a:effectLst/>
                <a:latin typeface="Source Sans Variable"/>
                <a:hlinkClick r:id="rId2"/>
              </a:rPr>
              <a:t>police.illinois.edu/safe</a:t>
            </a:r>
            <a:r>
              <a:rPr lang="en-US" b="0" i="1" dirty="0">
                <a:solidFill>
                  <a:srgbClr val="252525"/>
                </a:solidFill>
                <a:effectLst/>
                <a:latin typeface="Source Sans Variable"/>
              </a:rPr>
              <a:t>. Remember you can sign up for emergency text messages at </a:t>
            </a:r>
            <a:r>
              <a:rPr lang="en-US" b="0" i="1" u="sng" dirty="0">
                <a:solidFill>
                  <a:srgbClr val="252525"/>
                </a:solidFill>
                <a:effectLst/>
                <a:latin typeface="Source Sans Variable"/>
                <a:hlinkClick r:id="rId3"/>
              </a:rPr>
              <a:t>emergency.illinois.edu</a:t>
            </a:r>
            <a:r>
              <a:rPr lang="en-US" b="0" i="1" dirty="0">
                <a:solidFill>
                  <a:srgbClr val="252525"/>
                </a:solidFill>
                <a:effectLst/>
                <a:latin typeface="Source Sans Variable"/>
              </a:rPr>
              <a:t>.</a:t>
            </a:r>
            <a:endParaRPr lang="en-US" dirty="0"/>
          </a:p>
        </p:txBody>
      </p:sp>
    </p:spTree>
    <p:extLst>
      <p:ext uri="{BB962C8B-B14F-4D97-AF65-F5344CB8AC3E}">
        <p14:creationId xmlns:p14="http://schemas.microsoft.com/office/powerpoint/2010/main" val="3170222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91016-2B07-F9A1-DBE2-5971E02FF328}"/>
              </a:ext>
            </a:extLst>
          </p:cNvPr>
          <p:cNvSpPr>
            <a:spLocks noGrp="1"/>
          </p:cNvSpPr>
          <p:nvPr>
            <p:ph type="title"/>
          </p:nvPr>
        </p:nvSpPr>
        <p:spPr/>
        <p:txBody>
          <a:bodyPr/>
          <a:lstStyle/>
          <a:p>
            <a:r>
              <a:rPr lang="en-US" dirty="0"/>
              <a:t>Diversity, Equity, and Inclusion</a:t>
            </a:r>
          </a:p>
        </p:txBody>
      </p:sp>
      <p:sp>
        <p:nvSpPr>
          <p:cNvPr id="3" name="Content Placeholder 2">
            <a:extLst>
              <a:ext uri="{FF2B5EF4-FFF2-40B4-BE49-F238E27FC236}">
                <a16:creationId xmlns:a16="http://schemas.microsoft.com/office/drawing/2014/main" id="{92C52FB9-AD68-86AE-D6BD-96CA168A03D9}"/>
              </a:ext>
            </a:extLst>
          </p:cNvPr>
          <p:cNvSpPr>
            <a:spLocks noGrp="1"/>
          </p:cNvSpPr>
          <p:nvPr>
            <p:ph idx="1"/>
          </p:nvPr>
        </p:nvSpPr>
        <p:spPr/>
        <p:txBody>
          <a:bodyPr/>
          <a:lstStyle/>
          <a:p>
            <a:pPr marL="0" indent="0">
              <a:buNone/>
            </a:pPr>
            <a:r>
              <a:rPr lang="en-US" dirty="0"/>
              <a:t>We in the Illinois ECE community are committed to understanding, empathizing with, and respecting each other, embracing the many differences among us.</a:t>
            </a:r>
          </a:p>
        </p:txBody>
      </p:sp>
    </p:spTree>
    <p:extLst>
      <p:ext uri="{BB962C8B-B14F-4D97-AF65-F5344CB8AC3E}">
        <p14:creationId xmlns:p14="http://schemas.microsoft.com/office/powerpoint/2010/main" val="549064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D83A4-7424-C739-5FE3-3A6E911D051F}"/>
              </a:ext>
            </a:extLst>
          </p:cNvPr>
          <p:cNvSpPr>
            <a:spLocks noGrp="1"/>
          </p:cNvSpPr>
          <p:nvPr>
            <p:ph type="title"/>
          </p:nvPr>
        </p:nvSpPr>
        <p:spPr/>
        <p:txBody>
          <a:bodyPr/>
          <a:lstStyle/>
          <a:p>
            <a:r>
              <a:rPr lang="en-US" dirty="0"/>
              <a:t>What is this course </a:t>
            </a:r>
            <a:r>
              <a:rPr lang="en-US" b="1" dirty="0"/>
              <a:t>not</a:t>
            </a:r>
            <a:r>
              <a:rPr lang="en-US" dirty="0"/>
              <a:t> about?</a:t>
            </a:r>
          </a:p>
        </p:txBody>
      </p:sp>
      <p:pic>
        <p:nvPicPr>
          <p:cNvPr id="5" name="Picture 4">
            <a:extLst>
              <a:ext uri="{FF2B5EF4-FFF2-40B4-BE49-F238E27FC236}">
                <a16:creationId xmlns:a16="http://schemas.microsoft.com/office/drawing/2014/main" id="{DF119B94-1D41-EA3B-8569-79ECDB402405}"/>
              </a:ext>
            </a:extLst>
          </p:cNvPr>
          <p:cNvPicPr>
            <a:picLocks noChangeAspect="1"/>
          </p:cNvPicPr>
          <p:nvPr/>
        </p:nvPicPr>
        <p:blipFill>
          <a:blip r:embed="rId2"/>
          <a:stretch>
            <a:fillRect/>
          </a:stretch>
        </p:blipFill>
        <p:spPr>
          <a:xfrm>
            <a:off x="1331811" y="1572524"/>
            <a:ext cx="3286194" cy="4692684"/>
          </a:xfrm>
          <a:prstGeom prst="rect">
            <a:avLst/>
          </a:prstGeom>
        </p:spPr>
      </p:pic>
      <p:pic>
        <p:nvPicPr>
          <p:cNvPr id="7" name="Picture 6">
            <a:extLst>
              <a:ext uri="{FF2B5EF4-FFF2-40B4-BE49-F238E27FC236}">
                <a16:creationId xmlns:a16="http://schemas.microsoft.com/office/drawing/2014/main" id="{3173FFD4-CF6E-2416-6ECB-663A2E21C757}"/>
              </a:ext>
            </a:extLst>
          </p:cNvPr>
          <p:cNvPicPr>
            <a:picLocks noChangeAspect="1"/>
          </p:cNvPicPr>
          <p:nvPr/>
        </p:nvPicPr>
        <p:blipFill>
          <a:blip r:embed="rId3"/>
          <a:stretch>
            <a:fillRect/>
          </a:stretch>
        </p:blipFill>
        <p:spPr>
          <a:xfrm>
            <a:off x="5352132" y="2031224"/>
            <a:ext cx="5766261" cy="3791078"/>
          </a:xfrm>
          <a:prstGeom prst="rect">
            <a:avLst/>
          </a:prstGeom>
        </p:spPr>
      </p:pic>
      <p:pic>
        <p:nvPicPr>
          <p:cNvPr id="11" name="Picture 10">
            <a:extLst>
              <a:ext uri="{FF2B5EF4-FFF2-40B4-BE49-F238E27FC236}">
                <a16:creationId xmlns:a16="http://schemas.microsoft.com/office/drawing/2014/main" id="{D7623A8E-0329-99A6-E14C-8277E9D4C1B0}"/>
              </a:ext>
            </a:extLst>
          </p:cNvPr>
          <p:cNvPicPr>
            <a:picLocks noChangeAspect="1"/>
          </p:cNvPicPr>
          <p:nvPr/>
        </p:nvPicPr>
        <p:blipFill>
          <a:blip r:embed="rId4"/>
          <a:stretch>
            <a:fillRect/>
          </a:stretch>
        </p:blipFill>
        <p:spPr>
          <a:xfrm>
            <a:off x="663695" y="1345070"/>
            <a:ext cx="1730497" cy="1730497"/>
          </a:xfrm>
          <a:prstGeom prst="rect">
            <a:avLst/>
          </a:prstGeom>
        </p:spPr>
      </p:pic>
      <p:pic>
        <p:nvPicPr>
          <p:cNvPr id="12" name="Picture 11">
            <a:extLst>
              <a:ext uri="{FF2B5EF4-FFF2-40B4-BE49-F238E27FC236}">
                <a16:creationId xmlns:a16="http://schemas.microsoft.com/office/drawing/2014/main" id="{A0D5F136-9AB4-4B58-D8D4-2CA1CB50B06B}"/>
              </a:ext>
            </a:extLst>
          </p:cNvPr>
          <p:cNvPicPr>
            <a:picLocks noChangeAspect="1"/>
          </p:cNvPicPr>
          <p:nvPr/>
        </p:nvPicPr>
        <p:blipFill>
          <a:blip r:embed="rId4"/>
          <a:stretch>
            <a:fillRect/>
          </a:stretch>
        </p:blipFill>
        <p:spPr>
          <a:xfrm>
            <a:off x="4838028" y="1282248"/>
            <a:ext cx="1730497" cy="1730497"/>
          </a:xfrm>
          <a:prstGeom prst="rect">
            <a:avLst/>
          </a:prstGeom>
        </p:spPr>
      </p:pic>
    </p:spTree>
    <p:extLst>
      <p:ext uri="{BB962C8B-B14F-4D97-AF65-F5344CB8AC3E}">
        <p14:creationId xmlns:p14="http://schemas.microsoft.com/office/powerpoint/2010/main" val="3934280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483F1-C472-4E29-B114-0D76B5783EB7}"/>
              </a:ext>
            </a:extLst>
          </p:cNvPr>
          <p:cNvSpPr>
            <a:spLocks noGrp="1"/>
          </p:cNvSpPr>
          <p:nvPr>
            <p:ph type="title"/>
          </p:nvPr>
        </p:nvSpPr>
        <p:spPr/>
        <p:txBody>
          <a:bodyPr/>
          <a:lstStyle/>
          <a:p>
            <a:r>
              <a:rPr lang="en-US" dirty="0"/>
              <a:t>Why cryptography?</a:t>
            </a:r>
          </a:p>
        </p:txBody>
      </p:sp>
      <p:sp>
        <p:nvSpPr>
          <p:cNvPr id="3" name="Content Placeholder 2">
            <a:extLst>
              <a:ext uri="{FF2B5EF4-FFF2-40B4-BE49-F238E27FC236}">
                <a16:creationId xmlns:a16="http://schemas.microsoft.com/office/drawing/2014/main" id="{BED1B98B-5A16-447D-8565-2D4538499952}"/>
              </a:ext>
            </a:extLst>
          </p:cNvPr>
          <p:cNvSpPr>
            <a:spLocks noGrp="1"/>
          </p:cNvSpPr>
          <p:nvPr>
            <p:ph idx="1"/>
          </p:nvPr>
        </p:nvSpPr>
        <p:spPr>
          <a:xfrm>
            <a:off x="789584" y="1533434"/>
            <a:ext cx="10515600" cy="4522889"/>
          </a:xfrm>
        </p:spPr>
        <p:txBody>
          <a:bodyPr/>
          <a:lstStyle/>
          <a:p>
            <a:r>
              <a:rPr lang="en-US" sz="2400" dirty="0"/>
              <a:t>Web browsing</a:t>
            </a:r>
          </a:p>
          <a:p>
            <a:r>
              <a:rPr lang="en-US" sz="2400" dirty="0"/>
              <a:t>Data on computers and mobile phones</a:t>
            </a:r>
          </a:p>
          <a:p>
            <a:r>
              <a:rPr lang="en-US" sz="2400" dirty="0"/>
              <a:t>Data collected by companies</a:t>
            </a:r>
          </a:p>
          <a:p>
            <a:pPr lvl="1"/>
            <a:endParaRPr lang="en-US" dirty="0"/>
          </a:p>
        </p:txBody>
      </p:sp>
      <p:pic>
        <p:nvPicPr>
          <p:cNvPr id="4" name="Picture 3">
            <a:extLst>
              <a:ext uri="{FF2B5EF4-FFF2-40B4-BE49-F238E27FC236}">
                <a16:creationId xmlns:a16="http://schemas.microsoft.com/office/drawing/2014/main" id="{BE352BC8-8605-43BC-A6EE-B9958CD54BB8}"/>
              </a:ext>
            </a:extLst>
          </p:cNvPr>
          <p:cNvPicPr>
            <a:picLocks noChangeAspect="1"/>
          </p:cNvPicPr>
          <p:nvPr/>
        </p:nvPicPr>
        <p:blipFill>
          <a:blip r:embed="rId2"/>
          <a:stretch>
            <a:fillRect/>
          </a:stretch>
        </p:blipFill>
        <p:spPr>
          <a:xfrm>
            <a:off x="808751" y="3147215"/>
            <a:ext cx="5267401" cy="4785775"/>
          </a:xfrm>
          <a:prstGeom prst="rect">
            <a:avLst/>
          </a:prstGeom>
        </p:spPr>
      </p:pic>
      <p:pic>
        <p:nvPicPr>
          <p:cNvPr id="5" name="Picture 4">
            <a:extLst>
              <a:ext uri="{FF2B5EF4-FFF2-40B4-BE49-F238E27FC236}">
                <a16:creationId xmlns:a16="http://schemas.microsoft.com/office/drawing/2014/main" id="{10CA4ED3-77DF-4DC6-829B-A2D3EDBF85E1}"/>
              </a:ext>
            </a:extLst>
          </p:cNvPr>
          <p:cNvPicPr>
            <a:picLocks noChangeAspect="1"/>
          </p:cNvPicPr>
          <p:nvPr/>
        </p:nvPicPr>
        <p:blipFill>
          <a:blip r:embed="rId3"/>
          <a:stretch>
            <a:fillRect/>
          </a:stretch>
        </p:blipFill>
        <p:spPr>
          <a:xfrm>
            <a:off x="7044752" y="620845"/>
            <a:ext cx="4646506" cy="5052740"/>
          </a:xfrm>
          <a:prstGeom prst="rect">
            <a:avLst/>
          </a:prstGeom>
        </p:spPr>
      </p:pic>
      <p:pic>
        <p:nvPicPr>
          <p:cNvPr id="6" name="Picture 5">
            <a:extLst>
              <a:ext uri="{FF2B5EF4-FFF2-40B4-BE49-F238E27FC236}">
                <a16:creationId xmlns:a16="http://schemas.microsoft.com/office/drawing/2014/main" id="{39F9871E-5D62-421F-81F3-ACCCF52EAA82}"/>
              </a:ext>
            </a:extLst>
          </p:cNvPr>
          <p:cNvPicPr>
            <a:picLocks noChangeAspect="1"/>
          </p:cNvPicPr>
          <p:nvPr/>
        </p:nvPicPr>
        <p:blipFill>
          <a:blip r:embed="rId4"/>
          <a:stretch>
            <a:fillRect/>
          </a:stretch>
        </p:blipFill>
        <p:spPr>
          <a:xfrm>
            <a:off x="6689942" y="1768785"/>
            <a:ext cx="6419355" cy="4881344"/>
          </a:xfrm>
          <a:prstGeom prst="rect">
            <a:avLst/>
          </a:prstGeom>
        </p:spPr>
      </p:pic>
      <p:pic>
        <p:nvPicPr>
          <p:cNvPr id="8" name="Picture 7" descr="A screenshot of a phone&#10;&#10;AI-generated content may be incorrect.">
            <a:extLst>
              <a:ext uri="{FF2B5EF4-FFF2-40B4-BE49-F238E27FC236}">
                <a16:creationId xmlns:a16="http://schemas.microsoft.com/office/drawing/2014/main" id="{B03809ED-6993-552E-B647-17B59013FE20}"/>
              </a:ext>
            </a:extLst>
          </p:cNvPr>
          <p:cNvPicPr>
            <a:picLocks noChangeAspect="1"/>
          </p:cNvPicPr>
          <p:nvPr/>
        </p:nvPicPr>
        <p:blipFill>
          <a:blip r:embed="rId5"/>
          <a:stretch>
            <a:fillRect/>
          </a:stretch>
        </p:blipFill>
        <p:spPr>
          <a:xfrm>
            <a:off x="736958" y="1932332"/>
            <a:ext cx="6946378" cy="3161164"/>
          </a:xfrm>
          <a:prstGeom prst="rect">
            <a:avLst/>
          </a:prstGeom>
          <a:ln>
            <a:solidFill>
              <a:schemeClr val="tx1"/>
            </a:solidFill>
          </a:ln>
        </p:spPr>
      </p:pic>
      <p:pic>
        <p:nvPicPr>
          <p:cNvPr id="10" name="Picture 9" descr="A close-up of a building&#10;&#10;AI-generated content may be incorrect.">
            <a:extLst>
              <a:ext uri="{FF2B5EF4-FFF2-40B4-BE49-F238E27FC236}">
                <a16:creationId xmlns:a16="http://schemas.microsoft.com/office/drawing/2014/main" id="{4763386C-ADEF-538C-7972-A4A5994B86B2}"/>
              </a:ext>
            </a:extLst>
          </p:cNvPr>
          <p:cNvPicPr>
            <a:picLocks noChangeAspect="1"/>
          </p:cNvPicPr>
          <p:nvPr/>
        </p:nvPicPr>
        <p:blipFill>
          <a:blip r:embed="rId6"/>
          <a:stretch>
            <a:fillRect/>
          </a:stretch>
        </p:blipFill>
        <p:spPr>
          <a:xfrm>
            <a:off x="6308676" y="1646631"/>
            <a:ext cx="4061068" cy="4282674"/>
          </a:xfrm>
          <a:prstGeom prst="rect">
            <a:avLst/>
          </a:prstGeom>
        </p:spPr>
      </p:pic>
      <p:sp>
        <p:nvSpPr>
          <p:cNvPr id="12" name="TextBox 11">
            <a:extLst>
              <a:ext uri="{FF2B5EF4-FFF2-40B4-BE49-F238E27FC236}">
                <a16:creationId xmlns:a16="http://schemas.microsoft.com/office/drawing/2014/main" id="{C736B434-F35F-CBE4-62C0-37E00088C1F3}"/>
              </a:ext>
            </a:extLst>
          </p:cNvPr>
          <p:cNvSpPr txBox="1"/>
          <p:nvPr/>
        </p:nvSpPr>
        <p:spPr>
          <a:xfrm>
            <a:off x="3705101" y="1533434"/>
            <a:ext cx="184731" cy="369332"/>
          </a:xfrm>
          <a:prstGeom prst="rect">
            <a:avLst/>
          </a:prstGeom>
          <a:noFill/>
        </p:spPr>
        <p:txBody>
          <a:bodyPr wrap="none" rtlCol="0">
            <a:spAutoFit/>
          </a:bodyPr>
          <a:lstStyle/>
          <a:p>
            <a:endParaRPr lang="en-US" dirty="0"/>
          </a:p>
        </p:txBody>
      </p:sp>
      <p:sp>
        <p:nvSpPr>
          <p:cNvPr id="13" name="TextBox 12">
            <a:extLst>
              <a:ext uri="{FF2B5EF4-FFF2-40B4-BE49-F238E27FC236}">
                <a16:creationId xmlns:a16="http://schemas.microsoft.com/office/drawing/2014/main" id="{A39917B5-231B-6707-8C46-5476070CF347}"/>
              </a:ext>
            </a:extLst>
          </p:cNvPr>
          <p:cNvSpPr txBox="1"/>
          <p:nvPr/>
        </p:nvSpPr>
        <p:spPr>
          <a:xfrm>
            <a:off x="2289746" y="2120832"/>
            <a:ext cx="8079997" cy="954107"/>
          </a:xfrm>
          <a:prstGeom prst="rect">
            <a:avLst/>
          </a:prstGeom>
          <a:solidFill>
            <a:srgbClr val="FFFF00"/>
          </a:solidFill>
        </p:spPr>
        <p:txBody>
          <a:bodyPr wrap="square" rtlCol="0">
            <a:spAutoFit/>
          </a:bodyPr>
          <a:lstStyle/>
          <a:p>
            <a:pPr algn="ctr"/>
            <a:r>
              <a:rPr lang="en-US" sz="2800" b="1" dirty="0">
                <a:solidFill>
                  <a:srgbClr val="FF0000"/>
                </a:solidFill>
                <a:latin typeface="+mj-lt"/>
              </a:rPr>
              <a:t>CS 598: Security and Privacy in Machine Learning: Beyond Reactive Approaches </a:t>
            </a:r>
          </a:p>
        </p:txBody>
      </p:sp>
    </p:spTree>
    <p:extLst>
      <p:ext uri="{BB962C8B-B14F-4D97-AF65-F5344CB8AC3E}">
        <p14:creationId xmlns:p14="http://schemas.microsoft.com/office/powerpoint/2010/main" val="3121102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483F1-C472-4E29-B114-0D76B5783EB7}"/>
              </a:ext>
            </a:extLst>
          </p:cNvPr>
          <p:cNvSpPr>
            <a:spLocks noGrp="1"/>
          </p:cNvSpPr>
          <p:nvPr>
            <p:ph type="title"/>
          </p:nvPr>
        </p:nvSpPr>
        <p:spPr/>
        <p:txBody>
          <a:bodyPr/>
          <a:lstStyle/>
          <a:p>
            <a:r>
              <a:rPr lang="en-US" dirty="0"/>
              <a:t>Why cryptography?</a:t>
            </a:r>
          </a:p>
        </p:txBody>
      </p:sp>
      <p:sp>
        <p:nvSpPr>
          <p:cNvPr id="3" name="Content Placeholder 2">
            <a:extLst>
              <a:ext uri="{FF2B5EF4-FFF2-40B4-BE49-F238E27FC236}">
                <a16:creationId xmlns:a16="http://schemas.microsoft.com/office/drawing/2014/main" id="{BED1B98B-5A16-447D-8565-2D4538499952}"/>
              </a:ext>
            </a:extLst>
          </p:cNvPr>
          <p:cNvSpPr>
            <a:spLocks noGrp="1"/>
          </p:cNvSpPr>
          <p:nvPr>
            <p:ph idx="1"/>
          </p:nvPr>
        </p:nvSpPr>
        <p:spPr/>
        <p:txBody>
          <a:bodyPr>
            <a:normAutofit/>
          </a:bodyPr>
          <a:lstStyle/>
          <a:p>
            <a:r>
              <a:rPr lang="en-US" dirty="0"/>
              <a:t>Confidentiality</a:t>
            </a:r>
          </a:p>
          <a:p>
            <a:pPr lvl="1"/>
            <a:r>
              <a:rPr lang="en-US" dirty="0"/>
              <a:t>Keeping data and resources hidden</a:t>
            </a:r>
          </a:p>
          <a:p>
            <a:pPr lvl="1"/>
            <a:endParaRPr lang="en-US" dirty="0"/>
          </a:p>
          <a:p>
            <a:r>
              <a:rPr lang="en-US" dirty="0"/>
              <a:t>Integrity</a:t>
            </a:r>
          </a:p>
          <a:p>
            <a:pPr lvl="1"/>
            <a:r>
              <a:rPr lang="en-US" dirty="0"/>
              <a:t>Data integrity (integrity)</a:t>
            </a:r>
          </a:p>
          <a:p>
            <a:pPr lvl="1"/>
            <a:r>
              <a:rPr lang="en-US" dirty="0"/>
              <a:t>Origin integrity (authentication)</a:t>
            </a:r>
          </a:p>
          <a:p>
            <a:pPr lvl="1"/>
            <a:endParaRPr lang="en-US" dirty="0"/>
          </a:p>
          <a:p>
            <a:r>
              <a:rPr lang="en-US" dirty="0"/>
              <a:t>Availability</a:t>
            </a:r>
          </a:p>
          <a:p>
            <a:pPr lvl="1"/>
            <a:r>
              <a:rPr lang="en-US" dirty="0"/>
              <a:t>Denial-of-service attacks</a:t>
            </a:r>
          </a:p>
          <a:p>
            <a:pPr marL="457200" lvl="1" indent="0">
              <a:buNone/>
            </a:pPr>
            <a:endParaRPr lang="en-US" dirty="0"/>
          </a:p>
        </p:txBody>
      </p:sp>
    </p:spTree>
    <p:extLst>
      <p:ext uri="{BB962C8B-B14F-4D97-AF65-F5344CB8AC3E}">
        <p14:creationId xmlns:p14="http://schemas.microsoft.com/office/powerpoint/2010/main" val="2370358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A4074-1225-4E5F-89FD-D3CECADF3C2F}"/>
              </a:ext>
            </a:extLst>
          </p:cNvPr>
          <p:cNvSpPr>
            <a:spLocks noGrp="1"/>
          </p:cNvSpPr>
          <p:nvPr>
            <p:ph type="title"/>
          </p:nvPr>
        </p:nvSpPr>
        <p:spPr>
          <a:xfrm>
            <a:off x="364475" y="254956"/>
            <a:ext cx="10515600" cy="1325563"/>
          </a:xfrm>
        </p:spPr>
        <p:txBody>
          <a:bodyPr/>
          <a:lstStyle/>
          <a:p>
            <a:r>
              <a:rPr lang="en-US" dirty="0"/>
              <a:t>Cryptography</a:t>
            </a:r>
          </a:p>
        </p:txBody>
      </p:sp>
      <p:sp>
        <p:nvSpPr>
          <p:cNvPr id="3" name="Content Placeholder 2">
            <a:extLst>
              <a:ext uri="{FF2B5EF4-FFF2-40B4-BE49-F238E27FC236}">
                <a16:creationId xmlns:a16="http://schemas.microsoft.com/office/drawing/2014/main" id="{525F4DE9-1978-4CBC-91F8-FD9074E5D09A}"/>
              </a:ext>
            </a:extLst>
          </p:cNvPr>
          <p:cNvSpPr>
            <a:spLocks noGrp="1"/>
          </p:cNvSpPr>
          <p:nvPr>
            <p:ph idx="1"/>
          </p:nvPr>
        </p:nvSpPr>
        <p:spPr>
          <a:xfrm>
            <a:off x="445477" y="1442175"/>
            <a:ext cx="10515600" cy="1110781"/>
          </a:xfrm>
        </p:spPr>
        <p:txBody>
          <a:bodyPr>
            <a:normAutofit/>
          </a:bodyPr>
          <a:lstStyle/>
          <a:p>
            <a:pPr marL="0" indent="0" algn="just">
              <a:buNone/>
            </a:pPr>
            <a:r>
              <a:rPr lang="en-US" sz="2400" b="1" dirty="0"/>
              <a:t>1.1 Definition </a:t>
            </a:r>
            <a:r>
              <a:rPr lang="en-US" sz="2400" i="1" dirty="0"/>
              <a:t>Cryptography </a:t>
            </a:r>
            <a:r>
              <a:rPr lang="en-US" sz="2400" dirty="0"/>
              <a:t>is the study of </a:t>
            </a:r>
            <a:r>
              <a:rPr lang="en-US" sz="2400" b="1" dirty="0"/>
              <a:t>mathematical</a:t>
            </a:r>
            <a:r>
              <a:rPr lang="en-US" sz="2400" dirty="0"/>
              <a:t> techniques related to aspects of information security such as confidentiality, data integrity, entity authentication, and data origin authentication.</a:t>
            </a:r>
          </a:p>
        </p:txBody>
      </p:sp>
      <p:sp>
        <p:nvSpPr>
          <p:cNvPr id="5" name="TextBox 4">
            <a:extLst>
              <a:ext uri="{FF2B5EF4-FFF2-40B4-BE49-F238E27FC236}">
                <a16:creationId xmlns:a16="http://schemas.microsoft.com/office/drawing/2014/main" id="{B97B7152-63BA-426F-5F4E-99E821F0B410}"/>
              </a:ext>
            </a:extLst>
          </p:cNvPr>
          <p:cNvSpPr txBox="1"/>
          <p:nvPr/>
        </p:nvSpPr>
        <p:spPr>
          <a:xfrm>
            <a:off x="445477" y="2767738"/>
            <a:ext cx="10755216" cy="2585323"/>
          </a:xfrm>
          <a:prstGeom prst="rect">
            <a:avLst/>
          </a:prstGeom>
          <a:noFill/>
        </p:spPr>
        <p:txBody>
          <a:bodyPr wrap="square">
            <a:spAutoFit/>
          </a:bodyPr>
          <a:lstStyle/>
          <a:p>
            <a:pPr marL="285750" indent="-285750">
              <a:buFont typeface="Arial" panose="020B0604020202020204" pitchFamily="34" charset="0"/>
              <a:buChar char="•"/>
            </a:pPr>
            <a:r>
              <a:rPr lang="en-US" b="1" dirty="0"/>
              <a:t>Encryption</a:t>
            </a:r>
            <a:r>
              <a:rPr lang="en-US" dirty="0"/>
              <a:t>: Converting plaintext into ciphertext using a secret key, so only authorized parties can recover the original message.</a:t>
            </a:r>
          </a:p>
          <a:p>
            <a:pPr marL="285750" indent="-285750">
              <a:buFont typeface="Arial" panose="020B0604020202020204" pitchFamily="34" charset="0"/>
              <a:buChar char="•"/>
            </a:pPr>
            <a:r>
              <a:rPr lang="en-US" b="1" dirty="0"/>
              <a:t>Decryption</a:t>
            </a:r>
            <a:r>
              <a:rPr lang="en-US" dirty="0"/>
              <a:t>: Reversing encryption to get back the plaintext, also requiring a secret key.</a:t>
            </a:r>
          </a:p>
          <a:p>
            <a:pPr marL="285750" indent="-285750">
              <a:buFont typeface="Arial" panose="020B0604020202020204" pitchFamily="34" charset="0"/>
              <a:buChar char="•"/>
            </a:pPr>
            <a:r>
              <a:rPr lang="en-US" b="1" dirty="0"/>
              <a:t>Digital Signatures</a:t>
            </a:r>
            <a:r>
              <a:rPr lang="en-US" dirty="0"/>
              <a:t>: Allowing a party to prove that a message truly came from them and has not been modified.</a:t>
            </a:r>
          </a:p>
          <a:p>
            <a:pPr marL="285750" indent="-285750">
              <a:buFont typeface="Arial" panose="020B0604020202020204" pitchFamily="34" charset="0"/>
              <a:buChar char="•"/>
            </a:pPr>
            <a:r>
              <a:rPr lang="en-US" b="1" dirty="0"/>
              <a:t>Hash Functions</a:t>
            </a:r>
            <a:r>
              <a:rPr lang="en-US" dirty="0"/>
              <a:t>: Mapping data of any size to a fixed-size value in a way that is hard to reverse or manipulate, often used for integrity checking.</a:t>
            </a:r>
          </a:p>
          <a:p>
            <a:pPr marL="285750" indent="-285750">
              <a:buFont typeface="Arial" panose="020B0604020202020204" pitchFamily="34" charset="0"/>
              <a:buChar char="•"/>
            </a:pPr>
            <a:r>
              <a:rPr lang="en-US" b="1" dirty="0"/>
              <a:t>Key Exchange</a:t>
            </a:r>
            <a:r>
              <a:rPr lang="en-US" dirty="0"/>
              <a:t>: Protocols that let two or more parties agree on a shared secret key over an insecure channel (e.g., Diffie–Hellman).</a:t>
            </a:r>
          </a:p>
        </p:txBody>
      </p:sp>
    </p:spTree>
    <p:extLst>
      <p:ext uri="{BB962C8B-B14F-4D97-AF65-F5344CB8AC3E}">
        <p14:creationId xmlns:p14="http://schemas.microsoft.com/office/powerpoint/2010/main" val="37078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30286A-0DA3-DE60-6807-13F4079E9476}"/>
              </a:ext>
            </a:extLst>
          </p:cNvPr>
          <p:cNvPicPr>
            <a:picLocks noChangeAspect="1"/>
          </p:cNvPicPr>
          <p:nvPr/>
        </p:nvPicPr>
        <p:blipFill>
          <a:blip r:embed="rId2"/>
          <a:stretch>
            <a:fillRect/>
          </a:stretch>
        </p:blipFill>
        <p:spPr>
          <a:xfrm>
            <a:off x="171680" y="293021"/>
            <a:ext cx="7529111" cy="6271957"/>
          </a:xfrm>
          <a:prstGeom prst="rect">
            <a:avLst/>
          </a:prstGeom>
        </p:spPr>
      </p:pic>
      <p:sp>
        <p:nvSpPr>
          <p:cNvPr id="9" name="Right Brace 8">
            <a:extLst>
              <a:ext uri="{FF2B5EF4-FFF2-40B4-BE49-F238E27FC236}">
                <a16:creationId xmlns:a16="http://schemas.microsoft.com/office/drawing/2014/main" id="{07B673FA-7FB5-6EAA-48C9-DB9426C0DB56}"/>
              </a:ext>
            </a:extLst>
          </p:cNvPr>
          <p:cNvSpPr/>
          <p:nvPr/>
        </p:nvSpPr>
        <p:spPr>
          <a:xfrm>
            <a:off x="7832993" y="616945"/>
            <a:ext cx="550843" cy="253387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a:latin typeface="Georgia" panose="02040502050405020303" pitchFamily="18" charset="0"/>
            </a:endParaRPr>
          </a:p>
        </p:txBody>
      </p:sp>
      <p:sp>
        <p:nvSpPr>
          <p:cNvPr id="11" name="TextBox 10">
            <a:extLst>
              <a:ext uri="{FF2B5EF4-FFF2-40B4-BE49-F238E27FC236}">
                <a16:creationId xmlns:a16="http://schemas.microsoft.com/office/drawing/2014/main" id="{095EFB1F-6BD4-C249-19EB-354DC5905EF2}"/>
              </a:ext>
            </a:extLst>
          </p:cNvPr>
          <p:cNvSpPr txBox="1"/>
          <p:nvPr/>
        </p:nvSpPr>
        <p:spPr>
          <a:xfrm>
            <a:off x="8516038" y="1699218"/>
            <a:ext cx="6097836" cy="369332"/>
          </a:xfrm>
          <a:prstGeom prst="rect">
            <a:avLst/>
          </a:prstGeom>
          <a:noFill/>
        </p:spPr>
        <p:txBody>
          <a:bodyPr wrap="square">
            <a:spAutoFit/>
          </a:bodyPr>
          <a:lstStyle/>
          <a:p>
            <a:r>
              <a:rPr lang="en-US" sz="1800" b="1" dirty="0">
                <a:latin typeface="Georgia" panose="02040502050405020303" pitchFamily="18" charset="0"/>
              </a:rPr>
              <a:t>Symmetric key cryptography</a:t>
            </a:r>
          </a:p>
        </p:txBody>
      </p:sp>
      <p:sp>
        <p:nvSpPr>
          <p:cNvPr id="12" name="Right Brace 11">
            <a:extLst>
              <a:ext uri="{FF2B5EF4-FFF2-40B4-BE49-F238E27FC236}">
                <a16:creationId xmlns:a16="http://schemas.microsoft.com/office/drawing/2014/main" id="{889F9BBD-AE7C-1FD7-B8A2-06B5946C6019}"/>
              </a:ext>
            </a:extLst>
          </p:cNvPr>
          <p:cNvSpPr/>
          <p:nvPr/>
        </p:nvSpPr>
        <p:spPr>
          <a:xfrm>
            <a:off x="7832993" y="3707177"/>
            <a:ext cx="550843" cy="155521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a:latin typeface="Georgia" panose="02040502050405020303" pitchFamily="18" charset="0"/>
            </a:endParaRPr>
          </a:p>
        </p:txBody>
      </p:sp>
      <p:sp>
        <p:nvSpPr>
          <p:cNvPr id="14" name="TextBox 13">
            <a:extLst>
              <a:ext uri="{FF2B5EF4-FFF2-40B4-BE49-F238E27FC236}">
                <a16:creationId xmlns:a16="http://schemas.microsoft.com/office/drawing/2014/main" id="{1489AC2C-5856-D9F0-ED22-D38D4748499D}"/>
              </a:ext>
            </a:extLst>
          </p:cNvPr>
          <p:cNvSpPr txBox="1"/>
          <p:nvPr/>
        </p:nvSpPr>
        <p:spPr>
          <a:xfrm>
            <a:off x="8383836" y="4018050"/>
            <a:ext cx="3305060" cy="646331"/>
          </a:xfrm>
          <a:prstGeom prst="rect">
            <a:avLst/>
          </a:prstGeom>
          <a:noFill/>
        </p:spPr>
        <p:txBody>
          <a:bodyPr wrap="square">
            <a:spAutoFit/>
          </a:bodyPr>
          <a:lstStyle/>
          <a:p>
            <a:pPr algn="ctr"/>
            <a:endParaRPr lang="en-US" sz="1800" b="1" dirty="0">
              <a:latin typeface="Georgia" panose="02040502050405020303" pitchFamily="18" charset="0"/>
            </a:endParaRPr>
          </a:p>
          <a:p>
            <a:pPr algn="ctr"/>
            <a:r>
              <a:rPr lang="en-US" sz="1800" b="1" dirty="0">
                <a:latin typeface="Georgia" panose="02040502050405020303" pitchFamily="18" charset="0"/>
              </a:rPr>
              <a:t>Public key</a:t>
            </a:r>
            <a:r>
              <a:rPr lang="zh-CN" altLang="en-US" sz="1800" b="1" dirty="0">
                <a:latin typeface="Georgia" panose="02040502050405020303" pitchFamily="18" charset="0"/>
              </a:rPr>
              <a:t> </a:t>
            </a:r>
            <a:r>
              <a:rPr lang="en-US" sz="1800" b="1" dirty="0">
                <a:latin typeface="Georgia" panose="02040502050405020303" pitchFamily="18" charset="0"/>
              </a:rPr>
              <a:t>cryptography</a:t>
            </a:r>
          </a:p>
        </p:txBody>
      </p:sp>
      <p:sp>
        <p:nvSpPr>
          <p:cNvPr id="15" name="Right Brace 14">
            <a:extLst>
              <a:ext uri="{FF2B5EF4-FFF2-40B4-BE49-F238E27FC236}">
                <a16:creationId xmlns:a16="http://schemas.microsoft.com/office/drawing/2014/main" id="{23EF655B-71AB-860B-3048-5BEDE0CB8792}"/>
              </a:ext>
            </a:extLst>
          </p:cNvPr>
          <p:cNvSpPr/>
          <p:nvPr/>
        </p:nvSpPr>
        <p:spPr>
          <a:xfrm>
            <a:off x="7832993" y="5422699"/>
            <a:ext cx="550843" cy="6298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a:latin typeface="Georgia" panose="02040502050405020303" pitchFamily="18" charset="0"/>
            </a:endParaRPr>
          </a:p>
        </p:txBody>
      </p:sp>
      <p:sp>
        <p:nvSpPr>
          <p:cNvPr id="16" name="TextBox 15">
            <a:extLst>
              <a:ext uri="{FF2B5EF4-FFF2-40B4-BE49-F238E27FC236}">
                <a16:creationId xmlns:a16="http://schemas.microsoft.com/office/drawing/2014/main" id="{12EB9E6F-EDA4-8CFD-63D9-3854E5FAD1D6}"/>
              </a:ext>
            </a:extLst>
          </p:cNvPr>
          <p:cNvSpPr txBox="1"/>
          <p:nvPr/>
        </p:nvSpPr>
        <p:spPr>
          <a:xfrm>
            <a:off x="8383836" y="5299859"/>
            <a:ext cx="2754217" cy="646331"/>
          </a:xfrm>
          <a:prstGeom prst="rect">
            <a:avLst/>
          </a:prstGeom>
          <a:noFill/>
        </p:spPr>
        <p:txBody>
          <a:bodyPr wrap="square">
            <a:spAutoFit/>
          </a:bodyPr>
          <a:lstStyle/>
          <a:p>
            <a:pPr algn="ctr"/>
            <a:endParaRPr lang="en-US" sz="1800" b="1" dirty="0">
              <a:latin typeface="Georgia" panose="02040502050405020303" pitchFamily="18" charset="0"/>
            </a:endParaRPr>
          </a:p>
          <a:p>
            <a:pPr algn="ctr"/>
            <a:r>
              <a:rPr lang="en-US" sz="1800" b="1" dirty="0">
                <a:latin typeface="Georgia" panose="02040502050405020303" pitchFamily="18" charset="0"/>
              </a:rPr>
              <a:t>Advanced</a:t>
            </a:r>
            <a:r>
              <a:rPr lang="zh-CN" altLang="en-US" sz="1800" b="1" dirty="0">
                <a:latin typeface="Georgia" panose="02040502050405020303" pitchFamily="18" charset="0"/>
              </a:rPr>
              <a:t> </a:t>
            </a:r>
            <a:r>
              <a:rPr lang="en-US" altLang="zh-CN" b="1" dirty="0">
                <a:latin typeface="Georgia" panose="02040502050405020303" pitchFamily="18" charset="0"/>
              </a:rPr>
              <a:t>t</a:t>
            </a:r>
            <a:r>
              <a:rPr lang="en-US" altLang="zh-CN" sz="1800" b="1" dirty="0">
                <a:latin typeface="Georgia" panose="02040502050405020303" pitchFamily="18" charset="0"/>
              </a:rPr>
              <a:t>opics</a:t>
            </a:r>
            <a:endParaRPr lang="en-US" sz="1800" b="1" dirty="0">
              <a:latin typeface="Georgia" panose="02040502050405020303" pitchFamily="18" charset="0"/>
            </a:endParaRPr>
          </a:p>
        </p:txBody>
      </p:sp>
    </p:spTree>
    <p:extLst>
      <p:ext uri="{BB962C8B-B14F-4D97-AF65-F5344CB8AC3E}">
        <p14:creationId xmlns:p14="http://schemas.microsoft.com/office/powerpoint/2010/main" val="4085566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FA01B-DC5E-C7D8-3DAC-772DCC3097DD}"/>
              </a:ext>
            </a:extLst>
          </p:cNvPr>
          <p:cNvSpPr>
            <a:spLocks noGrp="1"/>
          </p:cNvSpPr>
          <p:nvPr>
            <p:ph type="title"/>
          </p:nvPr>
        </p:nvSpPr>
        <p:spPr>
          <a:xfrm>
            <a:off x="445477" y="347708"/>
            <a:ext cx="10515600" cy="1325563"/>
          </a:xfrm>
        </p:spPr>
        <p:txBody>
          <a:bodyPr/>
          <a:lstStyle/>
          <a:p>
            <a:r>
              <a:rPr lang="en-US" dirty="0">
                <a:latin typeface="Georgia" panose="02040502050405020303" pitchFamily="18" charset="0"/>
              </a:rPr>
              <a:t>Textbook</a:t>
            </a:r>
          </a:p>
        </p:txBody>
      </p:sp>
      <p:sp>
        <p:nvSpPr>
          <p:cNvPr id="3" name="Content Placeholder 2">
            <a:extLst>
              <a:ext uri="{FF2B5EF4-FFF2-40B4-BE49-F238E27FC236}">
                <a16:creationId xmlns:a16="http://schemas.microsoft.com/office/drawing/2014/main" id="{9ADBD999-809A-ACFC-2BD8-9137CDC0819B}"/>
              </a:ext>
            </a:extLst>
          </p:cNvPr>
          <p:cNvSpPr>
            <a:spLocks noGrp="1"/>
          </p:cNvSpPr>
          <p:nvPr>
            <p:ph idx="1"/>
          </p:nvPr>
        </p:nvSpPr>
        <p:spPr>
          <a:xfrm>
            <a:off x="445477" y="1612289"/>
            <a:ext cx="8942828" cy="4482246"/>
          </a:xfrm>
        </p:spPr>
        <p:txBody>
          <a:bodyPr>
            <a:normAutofit/>
          </a:bodyPr>
          <a:lstStyle/>
          <a:p>
            <a:r>
              <a:rPr lang="en-US" dirty="0">
                <a:latin typeface="Georgia" panose="02040502050405020303" pitchFamily="18" charset="0"/>
              </a:rPr>
              <a:t>Introduction to Modern Cryptography, </a:t>
            </a:r>
            <a:r>
              <a:rPr lang="en-US" b="1" dirty="0">
                <a:solidFill>
                  <a:srgbClr val="FF0000"/>
                </a:solidFill>
                <a:latin typeface="Georgia" panose="02040502050405020303" pitchFamily="18" charset="0"/>
              </a:rPr>
              <a:t>3rd edition</a:t>
            </a:r>
            <a:r>
              <a:rPr lang="en-US" dirty="0">
                <a:latin typeface="Georgia" panose="02040502050405020303" pitchFamily="18" charset="0"/>
              </a:rPr>
              <a:t>, Jonathan Katz and and Yehuda Lindell.</a:t>
            </a:r>
          </a:p>
          <a:p>
            <a:endParaRPr lang="en-US" dirty="0">
              <a:latin typeface="Georgia" panose="02040502050405020303" pitchFamily="18" charset="0"/>
            </a:endParaRPr>
          </a:p>
          <a:p>
            <a:r>
              <a:rPr lang="en-US" sz="2800" dirty="0">
                <a:latin typeface="Georgia" panose="02040502050405020303" pitchFamily="18" charset="0"/>
              </a:rPr>
              <a:t>A Graduate Course in Applied Cryptography, Dan </a:t>
            </a:r>
            <a:r>
              <a:rPr lang="en-US" sz="2800" dirty="0" err="1">
                <a:latin typeface="Georgia" panose="02040502050405020303" pitchFamily="18" charset="0"/>
              </a:rPr>
              <a:t>Boneh’s</a:t>
            </a:r>
            <a:r>
              <a:rPr lang="en-US" sz="2800" dirty="0">
                <a:latin typeface="Georgia" panose="02040502050405020303" pitchFamily="18" charset="0"/>
              </a:rPr>
              <a:t> and Victor Shoup</a:t>
            </a:r>
            <a:endParaRPr lang="en-US" dirty="0">
              <a:latin typeface="Georgia" panose="02040502050405020303" pitchFamily="18" charset="0"/>
            </a:endParaRPr>
          </a:p>
          <a:p>
            <a:pPr marL="0" indent="0">
              <a:buNone/>
            </a:pPr>
            <a:endParaRPr lang="en-US" dirty="0">
              <a:latin typeface="Georgia" panose="02040502050405020303" pitchFamily="18" charset="0"/>
            </a:endParaRPr>
          </a:p>
        </p:txBody>
      </p:sp>
    </p:spTree>
    <p:extLst>
      <p:ext uri="{BB962C8B-B14F-4D97-AF65-F5344CB8AC3E}">
        <p14:creationId xmlns:p14="http://schemas.microsoft.com/office/powerpoint/2010/main" val="859279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73697-8332-4275-96D7-B3DEA28C9CFC}"/>
              </a:ext>
            </a:extLst>
          </p:cNvPr>
          <p:cNvSpPr>
            <a:spLocks noGrp="1"/>
          </p:cNvSpPr>
          <p:nvPr>
            <p:ph type="title"/>
          </p:nvPr>
        </p:nvSpPr>
        <p:spPr/>
        <p:txBody>
          <a:bodyPr/>
          <a:lstStyle/>
          <a:p>
            <a:r>
              <a:rPr lang="en-US" b="1" dirty="0">
                <a:latin typeface="Georgia" panose="02040502050405020303" pitchFamily="18" charset="0"/>
              </a:rPr>
              <a:t>What is this course about?</a:t>
            </a:r>
            <a:r>
              <a:rPr lang="zh-CN" altLang="en-US" b="1" dirty="0">
                <a:latin typeface="Georgia" panose="02040502050405020303" pitchFamily="18" charset="0"/>
              </a:rPr>
              <a:t>   </a:t>
            </a:r>
            <a:r>
              <a:rPr lang="en-US" altLang="zh-CN" b="1" dirty="0">
                <a:solidFill>
                  <a:srgbClr val="FF0000"/>
                </a:solidFill>
                <a:latin typeface="Georgia" panose="02040502050405020303" pitchFamily="18" charset="0"/>
              </a:rPr>
              <a:t>Proof</a:t>
            </a:r>
            <a:r>
              <a:rPr lang="zh-CN" altLang="en-US" b="1" dirty="0">
                <a:latin typeface="Georgia" panose="02040502050405020303" pitchFamily="18" charset="0"/>
              </a:rPr>
              <a:t> </a:t>
            </a:r>
            <a:endParaRPr lang="en-US" b="1" dirty="0">
              <a:latin typeface="Georgia" panose="02040502050405020303" pitchFamily="18" charset="0"/>
            </a:endParaRPr>
          </a:p>
        </p:txBody>
      </p:sp>
      <p:sp>
        <p:nvSpPr>
          <p:cNvPr id="3" name="Content Placeholder 2">
            <a:extLst>
              <a:ext uri="{FF2B5EF4-FFF2-40B4-BE49-F238E27FC236}">
                <a16:creationId xmlns:a16="http://schemas.microsoft.com/office/drawing/2014/main" id="{EE8E17A3-814C-8BFB-2D2E-184F3481B7E0}"/>
              </a:ext>
            </a:extLst>
          </p:cNvPr>
          <p:cNvSpPr>
            <a:spLocks noGrp="1"/>
          </p:cNvSpPr>
          <p:nvPr>
            <p:ph idx="1"/>
          </p:nvPr>
        </p:nvSpPr>
        <p:spPr>
          <a:xfrm>
            <a:off x="838200" y="1690688"/>
            <a:ext cx="10515600" cy="638098"/>
          </a:xfrm>
        </p:spPr>
        <p:txBody>
          <a:bodyPr>
            <a:normAutofit fontScale="92500"/>
          </a:bodyPr>
          <a:lstStyle/>
          <a:p>
            <a:pPr marL="0" indent="0">
              <a:buNone/>
            </a:pPr>
            <a:r>
              <a:rPr lang="en-US" altLang="zh-CN" dirty="0">
                <a:latin typeface="Georgia" panose="02040502050405020303" pitchFamily="18" charset="0"/>
              </a:rPr>
              <a:t>Example:</a:t>
            </a:r>
            <a:r>
              <a:rPr lang="zh-CN" altLang="en-US" dirty="0">
                <a:latin typeface="Georgia" panose="02040502050405020303" pitchFamily="18" charset="0"/>
              </a:rPr>
              <a:t> </a:t>
            </a:r>
            <a:r>
              <a:rPr lang="en-US" b="0" i="0" dirty="0">
                <a:solidFill>
                  <a:srgbClr val="000000"/>
                </a:solidFill>
                <a:effectLst/>
                <a:latin typeface="Georgia" panose="02040502050405020303" pitchFamily="18" charset="0"/>
              </a:rPr>
              <a:t>The </a:t>
            </a:r>
            <a:r>
              <a:rPr lang="en-US" b="0" i="0" dirty="0" err="1">
                <a:solidFill>
                  <a:srgbClr val="000000"/>
                </a:solidFill>
                <a:effectLst/>
                <a:latin typeface="Georgia" panose="02040502050405020303" pitchFamily="18" charset="0"/>
              </a:rPr>
              <a:t>Goldreich</a:t>
            </a:r>
            <a:r>
              <a:rPr lang="en-US" b="0" i="0" dirty="0">
                <a:solidFill>
                  <a:srgbClr val="000000"/>
                </a:solidFill>
                <a:effectLst/>
                <a:latin typeface="Georgia" panose="02040502050405020303" pitchFamily="18" charset="0"/>
              </a:rPr>
              <a:t>-Goldwasser-</a:t>
            </a:r>
            <a:r>
              <a:rPr lang="en-US" b="0" i="0" dirty="0" err="1">
                <a:solidFill>
                  <a:srgbClr val="000000"/>
                </a:solidFill>
                <a:effectLst/>
                <a:latin typeface="Georgia" panose="02040502050405020303" pitchFamily="18" charset="0"/>
              </a:rPr>
              <a:t>Micali</a:t>
            </a:r>
            <a:r>
              <a:rPr lang="en-US" b="0" i="0" dirty="0">
                <a:solidFill>
                  <a:srgbClr val="000000"/>
                </a:solidFill>
                <a:effectLst/>
                <a:latin typeface="Georgia" panose="02040502050405020303" pitchFamily="18" charset="0"/>
              </a:rPr>
              <a:t> Construction</a:t>
            </a:r>
            <a:r>
              <a:rPr lang="zh-CN" altLang="en-US" b="0" i="0" dirty="0">
                <a:solidFill>
                  <a:srgbClr val="000000"/>
                </a:solidFill>
                <a:effectLst/>
                <a:latin typeface="Georgia" panose="02040502050405020303" pitchFamily="18" charset="0"/>
              </a:rPr>
              <a:t>  </a:t>
            </a:r>
            <a:r>
              <a:rPr lang="en-US" altLang="zh-CN" b="0" i="0" dirty="0">
                <a:solidFill>
                  <a:srgbClr val="000000"/>
                </a:solidFill>
                <a:effectLst/>
                <a:latin typeface="Georgia" panose="02040502050405020303" pitchFamily="18" charset="0"/>
              </a:rPr>
              <a:t>[GGM’84]</a:t>
            </a:r>
            <a:endParaRPr lang="en-US" b="0" i="0" dirty="0">
              <a:solidFill>
                <a:srgbClr val="000000"/>
              </a:solidFill>
              <a:effectLst/>
              <a:latin typeface="Georgia" panose="02040502050405020303" pitchFamily="18" charset="0"/>
            </a:endParaRPr>
          </a:p>
        </p:txBody>
      </p:sp>
      <p:pic>
        <p:nvPicPr>
          <p:cNvPr id="1028" name="Picture 4" descr="Fig. 1.">
            <a:extLst>
              <a:ext uri="{FF2B5EF4-FFF2-40B4-BE49-F238E27FC236}">
                <a16:creationId xmlns:a16="http://schemas.microsoft.com/office/drawing/2014/main" id="{75A9867F-5BF3-3580-50B6-614E152489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257" y="2397015"/>
            <a:ext cx="5324627" cy="164592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13A4021-5C2E-6CC7-A647-C089456BD5D9}"/>
                  </a:ext>
                </a:extLst>
              </p:cNvPr>
              <p:cNvSpPr txBox="1"/>
              <p:nvPr/>
            </p:nvSpPr>
            <p:spPr>
              <a:xfrm>
                <a:off x="658257" y="4420107"/>
                <a:ext cx="10127256" cy="2954463"/>
              </a:xfrm>
              <a:prstGeom prst="rect">
                <a:avLst/>
              </a:prstGeom>
              <a:noFill/>
            </p:spPr>
            <p:txBody>
              <a:bodyPr wrap="square">
                <a:spAutoFit/>
              </a:bodyPr>
              <a:lstStyle/>
              <a:p>
                <a:r>
                  <a:rPr lang="en-US" dirty="0">
                    <a:latin typeface="Georgia" panose="02040502050405020303" pitchFamily="18" charset="0"/>
                  </a:rPr>
                  <a:t>Lemma: Let G be a PRG. Then, for every polynomial </a:t>
                </a:r>
                <a14:m>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m:t>
                    </m:r>
                    <m:r>
                      <a:rPr lang="en-US" altLang="zh-CN" b="0" i="1" smtClean="0">
                        <a:latin typeface="Cambria Math" panose="02040503050406030204" pitchFamily="18" charset="0"/>
                      </a:rPr>
                      <m:t>𝐿</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en-US" dirty="0">
                    <a:latin typeface="Georgia" panose="02040502050405020303" pitchFamily="18" charset="0"/>
                  </a:rPr>
                  <a:t>, the following two distributions are computationally indistinguishable:</a:t>
                </a:r>
              </a:p>
              <a:p>
                <a:pPr algn="ctr"/>
                <a:endParaRPr lang="en-US" altLang="zh-CN" b="0" i="1" dirty="0">
                  <a:latin typeface="Georgia" panose="02040502050405020303" pitchFamily="18" charset="0"/>
                </a:endParaRPr>
              </a:p>
              <a:p>
                <a:pPr algn="ctr"/>
                <a14:m>
                  <m:oMath xmlns:m="http://schemas.openxmlformats.org/officeDocument/2006/math">
                    <m:r>
                      <a:rPr lang="en-US" altLang="zh-CN" b="0" i="1" smtClean="0">
                        <a:latin typeface="Cambria Math" panose="02040503050406030204" pitchFamily="18" charset="0"/>
                      </a:rPr>
                      <m:t>𝐺</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0</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𝐺</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m:t>
                    </m:r>
                    <m:r>
                      <a:rPr lang="zh-CN" altLang="en-US" b="0" i="1" smtClean="0">
                        <a:latin typeface="Cambria Math" panose="02040503050406030204" pitchFamily="18" charset="0"/>
                      </a:rPr>
                      <m:t> </m:t>
                    </m:r>
                    <m:r>
                      <a:rPr lang="en-US" altLang="zh-CN" b="0" i="1" smtClean="0">
                        <a:latin typeface="Cambria Math" panose="02040503050406030204" pitchFamily="18" charset="0"/>
                      </a:rPr>
                      <m:t>𝐺</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𝐿</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𝒰</m:t>
                        </m:r>
                      </m:e>
                      <m:sub>
                        <m:r>
                          <a:rPr lang="en-US" altLang="zh-CN" b="0" i="1" smtClean="0">
                            <a:latin typeface="Cambria Math" panose="02040503050406030204" pitchFamily="18" charset="0"/>
                            <a:ea typeface="Cambria Math" panose="02040503050406030204" pitchFamily="18" charset="0"/>
                          </a:rPr>
                          <m:t>0</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𝒰</m:t>
                        </m:r>
                      </m:e>
                      <m:sub>
                        <m:r>
                          <a:rPr lang="en-US" altLang="zh-CN" b="0" i="1" smtClean="0">
                            <a:latin typeface="Cambria Math" panose="02040503050406030204" pitchFamily="18" charset="0"/>
                            <a:ea typeface="Cambria Math" panose="02040503050406030204" pitchFamily="18" charset="0"/>
                          </a:rPr>
                          <m:t>1</m:t>
                        </m:r>
                      </m:sub>
                    </m:sSub>
                  </m:oMath>
                </a14:m>
                <a:r>
                  <a:rPr lang="en-US" altLang="zh-CN" dirty="0">
                    <a:latin typeface="Georgia" panose="02040502050405020303" pitchFamily="18" charset="0"/>
                  </a:rPr>
                  <a:t>,</a:t>
                </a:r>
                <a:r>
                  <a:rPr lang="zh-CN" altLang="en-US" dirty="0">
                    <a:latin typeface="Georgia" panose="02040502050405020303" pitchFamily="18" charset="0"/>
                  </a:rPr>
                  <a:t> </a:t>
                </a:r>
                <a:r>
                  <a:rPr lang="en-US" altLang="zh-CN" dirty="0">
                    <a:latin typeface="Georgia" panose="02040502050405020303" pitchFamily="18" charset="0"/>
                  </a:rPr>
                  <a:t>…,</a:t>
                </a:r>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𝒰</m:t>
                        </m:r>
                      </m:e>
                      <m:sub>
                        <m:r>
                          <a:rPr lang="en-US" altLang="zh-CN" b="0" i="1" smtClean="0">
                            <a:latin typeface="Cambria Math" panose="02040503050406030204" pitchFamily="18" charset="0"/>
                            <a:ea typeface="Cambria Math" panose="02040503050406030204" pitchFamily="18" charset="0"/>
                          </a:rPr>
                          <m:t>𝐿</m:t>
                        </m:r>
                      </m:sub>
                    </m:sSub>
                  </m:oMath>
                </a14:m>
                <a:endParaRPr lang="en-US" dirty="0">
                  <a:latin typeface="Georgia" panose="02040502050405020303" pitchFamily="18" charset="0"/>
                </a:endParaRPr>
              </a:p>
              <a:p>
                <a:pPr algn="ctr"/>
                <a:endParaRPr lang="en-US" dirty="0">
                  <a:latin typeface="Georgia" panose="02040502050405020303" pitchFamily="18" charset="0"/>
                </a:endParaRPr>
              </a:p>
              <a:p>
                <a:r>
                  <a:rPr lang="en-US" altLang="zh-CN" dirty="0">
                    <a:latin typeface="Georgia" panose="02040502050405020303" pitchFamily="18" charset="0"/>
                  </a:rPr>
                  <a:t>Proof:</a:t>
                </a:r>
                <a:r>
                  <a:rPr lang="zh-CN" altLang="en-US" dirty="0">
                    <a:latin typeface="Georgia" panose="02040502050405020303" pitchFamily="18" charset="0"/>
                  </a:rPr>
                  <a:t>  </a:t>
                </a:r>
                <a:r>
                  <a:rPr lang="en-US" altLang="zh-CN" dirty="0">
                    <a:latin typeface="Georgia" panose="02040502050405020303" pitchFamily="18" charset="0"/>
                  </a:rPr>
                  <a:t>By</a:t>
                </a:r>
                <a:r>
                  <a:rPr lang="zh-CN" altLang="en-US" dirty="0">
                    <a:latin typeface="Georgia" panose="02040502050405020303" pitchFamily="18" charset="0"/>
                  </a:rPr>
                  <a:t> </a:t>
                </a:r>
                <a:r>
                  <a:rPr lang="en-US" altLang="zh-CN" dirty="0">
                    <a:latin typeface="Georgia" panose="02040502050405020303" pitchFamily="18" charset="0"/>
                  </a:rPr>
                  <a:t>Hybrid</a:t>
                </a:r>
                <a:r>
                  <a:rPr lang="zh-CN" altLang="en-US" dirty="0">
                    <a:latin typeface="Georgia" panose="02040502050405020303" pitchFamily="18" charset="0"/>
                  </a:rPr>
                  <a:t> </a:t>
                </a:r>
                <a:r>
                  <a:rPr lang="en-US" altLang="zh-CN" dirty="0">
                    <a:latin typeface="Georgia" panose="02040502050405020303" pitchFamily="18" charset="0"/>
                  </a:rPr>
                  <a:t>argument.</a:t>
                </a:r>
                <a:r>
                  <a:rPr lang="zh-CN" altLang="en-US" dirty="0">
                    <a:latin typeface="Georgia" panose="02040502050405020303" pitchFamily="18" charset="0"/>
                  </a:rPr>
                  <a:t>  </a:t>
                </a:r>
                <a:r>
                  <a:rPr lang="en-US" altLang="zh-CN" dirty="0">
                    <a:latin typeface="Georgia" panose="02040502050405020303" pitchFamily="18" charset="0"/>
                  </a:rPr>
                  <a:t>If there is a ppt distinguisher between the two distributions with</a:t>
                </a:r>
                <a:r>
                  <a:rPr lang="zh-CN" altLang="en-US" dirty="0">
                    <a:latin typeface="Georgia" panose="02040502050405020303" pitchFamily="18" charset="0"/>
                  </a:rPr>
                  <a:t> </a:t>
                </a:r>
                <a:r>
                  <a:rPr lang="en-US" altLang="zh-CN" dirty="0">
                    <a:latin typeface="Georgia" panose="02040502050405020303" pitchFamily="18" charset="0"/>
                  </a:rPr>
                  <a:t>distinguishing advantage</a:t>
                </a:r>
                <a:r>
                  <a:rPr lang="zh-CN" altLang="en-US" dirty="0">
                    <a:latin typeface="Georgia" panose="02040502050405020303" pitchFamily="18" charset="0"/>
                  </a:rPr>
                  <a:t> </a:t>
                </a:r>
                <a14:m>
                  <m:oMath xmlns:m="http://schemas.openxmlformats.org/officeDocument/2006/math">
                    <m:r>
                      <a:rPr lang="en-US" altLang="zh-CN" b="0" i="1" smtClean="0">
                        <a:latin typeface="Cambria Math" panose="02040503050406030204" pitchFamily="18" charset="0"/>
                      </a:rPr>
                      <m:t>𝜖</m:t>
                    </m:r>
                  </m:oMath>
                </a14:m>
                <a:r>
                  <a:rPr lang="en-US" altLang="zh-CN" dirty="0">
                    <a:latin typeface="Georgia" panose="02040502050405020303" pitchFamily="18" charset="0"/>
                  </a:rPr>
                  <a:t> , then there is a ppt distinguisher for</a:t>
                </a:r>
                <a:r>
                  <a:rPr lang="zh-CN" altLang="en-US" dirty="0">
                    <a:latin typeface="Georgia" panose="02040502050405020303" pitchFamily="18" charset="0"/>
                  </a:rPr>
                  <a:t> </a:t>
                </a:r>
                <a:r>
                  <a:rPr lang="en-US" altLang="zh-CN" dirty="0">
                    <a:latin typeface="Georgia" panose="02040502050405020303" pitchFamily="18" charset="0"/>
                  </a:rPr>
                  <a:t>G with advantage</a:t>
                </a:r>
                <a:r>
                  <a:rPr lang="zh-CN" altLang="en-US" dirty="0">
                    <a:latin typeface="Georgia" panose="02040502050405020303" pitchFamily="18" charset="0"/>
                  </a:rPr>
                  <a:t> </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𝜖</m:t>
                        </m:r>
                      </m:num>
                      <m:den>
                        <m:r>
                          <a:rPr lang="en-US" altLang="zh-CN" b="0" i="1" smtClean="0">
                            <a:latin typeface="Cambria Math" panose="02040503050406030204" pitchFamily="18" charset="0"/>
                          </a:rPr>
                          <m:t>𝐿</m:t>
                        </m:r>
                      </m:den>
                    </m:f>
                  </m:oMath>
                </a14:m>
                <a:r>
                  <a:rPr lang="en-US" altLang="zh-CN" dirty="0">
                    <a:latin typeface="Georgia" panose="02040502050405020303" pitchFamily="18" charset="0"/>
                  </a:rPr>
                  <a:t>.</a:t>
                </a:r>
                <a:r>
                  <a:rPr lang="zh-CN" altLang="en-US" dirty="0">
                    <a:latin typeface="Georgia" panose="02040502050405020303" pitchFamily="18" charset="0"/>
                  </a:rPr>
                  <a:t>   </a:t>
                </a:r>
                <a:endParaRPr lang="en-US" altLang="zh-CN" dirty="0">
                  <a:latin typeface="Georgia" panose="02040502050405020303" pitchFamily="18" charset="0"/>
                </a:endParaRPr>
              </a:p>
              <a:p>
                <a:r>
                  <a:rPr lang="en-US" altLang="zh-CN" dirty="0">
                    <a:latin typeface="Georgia" panose="02040502050405020303" pitchFamily="18" charset="0"/>
                  </a:rPr>
                  <a:t>	</a:t>
                </a:r>
              </a:p>
              <a:p>
                <a:endParaRPr lang="en-US" dirty="0">
                  <a:latin typeface="Georgia" panose="02040502050405020303" pitchFamily="18" charset="0"/>
                </a:endParaRPr>
              </a:p>
              <a:p>
                <a:endParaRPr lang="en-US" dirty="0">
                  <a:latin typeface="Georgia" panose="02040502050405020303" pitchFamily="18" charset="0"/>
                </a:endParaRPr>
              </a:p>
            </p:txBody>
          </p:sp>
        </mc:Choice>
        <mc:Fallback xmlns="">
          <p:sp>
            <p:nvSpPr>
              <p:cNvPr id="5" name="TextBox 4">
                <a:extLst>
                  <a:ext uri="{FF2B5EF4-FFF2-40B4-BE49-F238E27FC236}">
                    <a16:creationId xmlns:a16="http://schemas.microsoft.com/office/drawing/2014/main" id="{B13A4021-5C2E-6CC7-A647-C089456BD5D9}"/>
                  </a:ext>
                </a:extLst>
              </p:cNvPr>
              <p:cNvSpPr txBox="1">
                <a:spLocks noRot="1" noChangeAspect="1" noMove="1" noResize="1" noEditPoints="1" noAdjustHandles="1" noChangeArrowheads="1" noChangeShapeType="1" noTextEdit="1"/>
              </p:cNvSpPr>
              <p:nvPr/>
            </p:nvSpPr>
            <p:spPr>
              <a:xfrm>
                <a:off x="658257" y="4420107"/>
                <a:ext cx="10127256" cy="2954463"/>
              </a:xfrm>
              <a:prstGeom prst="rect">
                <a:avLst/>
              </a:prstGeom>
              <a:blipFill>
                <a:blip r:embed="rId4"/>
                <a:stretch>
                  <a:fillRect l="-375" t="-858"/>
                </a:stretch>
              </a:blipFill>
            </p:spPr>
            <p:txBody>
              <a:bodyPr/>
              <a:lstStyle/>
              <a:p>
                <a:r>
                  <a:rPr lang="en-US">
                    <a:noFill/>
                  </a:rPr>
                  <a:t> </a:t>
                </a:r>
              </a:p>
            </p:txBody>
          </p:sp>
        </mc:Fallback>
      </mc:AlternateContent>
      <p:grpSp>
        <p:nvGrpSpPr>
          <p:cNvPr id="28" name="Group 27">
            <a:extLst>
              <a:ext uri="{FF2B5EF4-FFF2-40B4-BE49-F238E27FC236}">
                <a16:creationId xmlns:a16="http://schemas.microsoft.com/office/drawing/2014/main" id="{6B353D66-3FB3-7A00-96A1-FCC1E4F9894C}"/>
              </a:ext>
            </a:extLst>
          </p:cNvPr>
          <p:cNvGrpSpPr/>
          <p:nvPr/>
        </p:nvGrpSpPr>
        <p:grpSpPr>
          <a:xfrm>
            <a:off x="6539596" y="2504030"/>
            <a:ext cx="5333178" cy="1645920"/>
            <a:chOff x="6539596" y="2504030"/>
            <a:chExt cx="5333178" cy="1645920"/>
          </a:xfrm>
        </p:grpSpPr>
        <p:grpSp>
          <p:nvGrpSpPr>
            <p:cNvPr id="13" name="Group 12">
              <a:extLst>
                <a:ext uri="{FF2B5EF4-FFF2-40B4-BE49-F238E27FC236}">
                  <a16:creationId xmlns:a16="http://schemas.microsoft.com/office/drawing/2014/main" id="{28320BF7-8F95-C697-EE23-9C4966A92AF3}"/>
                </a:ext>
              </a:extLst>
            </p:cNvPr>
            <p:cNvGrpSpPr/>
            <p:nvPr/>
          </p:nvGrpSpPr>
          <p:grpSpPr>
            <a:xfrm>
              <a:off x="6548149" y="2504030"/>
              <a:ext cx="5324625" cy="1645920"/>
              <a:chOff x="6510969" y="2397015"/>
              <a:chExt cx="5324625" cy="1645920"/>
            </a:xfrm>
          </p:grpSpPr>
          <p:pic>
            <p:nvPicPr>
              <p:cNvPr id="7" name="Picture 4" descr="Fig. 1.">
                <a:extLst>
                  <a:ext uri="{FF2B5EF4-FFF2-40B4-BE49-F238E27FC236}">
                    <a16:creationId xmlns:a16="http://schemas.microsoft.com/office/drawing/2014/main" id="{26AB42FB-F872-9603-844A-A99E247341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969" y="2397015"/>
                <a:ext cx="5324625" cy="164592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0614BD1-598C-D8C2-ED1C-713721DBCA98}"/>
                      </a:ext>
                    </a:extLst>
                  </p:cNvPr>
                  <p:cNvSpPr txBox="1"/>
                  <p:nvPr/>
                </p:nvSpPr>
                <p:spPr>
                  <a:xfrm>
                    <a:off x="7072829" y="2439580"/>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0</m:t>
                            </m:r>
                          </m:sub>
                        </m:sSub>
                      </m:oMath>
                    </a14:m>
                    <a:endParaRPr lang="en-US" dirty="0">
                      <a:latin typeface="Georgia" panose="02040502050405020303" pitchFamily="18" charset="0"/>
                    </a:endParaRPr>
                  </a:p>
                </p:txBody>
              </p:sp>
            </mc:Choice>
            <mc:Fallback xmlns="">
              <p:sp>
                <p:nvSpPr>
                  <p:cNvPr id="8" name="TextBox 7">
                    <a:extLst>
                      <a:ext uri="{FF2B5EF4-FFF2-40B4-BE49-F238E27FC236}">
                        <a16:creationId xmlns:a16="http://schemas.microsoft.com/office/drawing/2014/main" id="{10614BD1-598C-D8C2-ED1C-713721DBCA98}"/>
                      </a:ext>
                    </a:extLst>
                  </p:cNvPr>
                  <p:cNvSpPr txBox="1">
                    <a:spLocks noRot="1" noChangeAspect="1" noMove="1" noResize="1" noEditPoints="1" noAdjustHandles="1" noChangeArrowheads="1" noChangeShapeType="1" noTextEdit="1"/>
                  </p:cNvSpPr>
                  <p:nvPr/>
                </p:nvSpPr>
                <p:spPr>
                  <a:xfrm>
                    <a:off x="7072829" y="2439580"/>
                    <a:ext cx="363557" cy="6463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710E238-EEEF-8171-4B03-6051A6415342}"/>
                      </a:ext>
                    </a:extLst>
                  </p:cNvPr>
                  <p:cNvSpPr txBox="1"/>
                  <p:nvPr/>
                </p:nvSpPr>
                <p:spPr>
                  <a:xfrm>
                    <a:off x="9828132" y="2448219"/>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m:t>
                            </m:r>
                          </m:sub>
                        </m:sSub>
                      </m:oMath>
                    </a14:m>
                    <a:endParaRPr lang="en-US" dirty="0">
                      <a:latin typeface="Georgia" panose="02040502050405020303" pitchFamily="18" charset="0"/>
                    </a:endParaRPr>
                  </a:p>
                </p:txBody>
              </p:sp>
            </mc:Choice>
            <mc:Fallback xmlns="">
              <p:sp>
                <p:nvSpPr>
                  <p:cNvPr id="10" name="TextBox 9">
                    <a:extLst>
                      <a:ext uri="{FF2B5EF4-FFF2-40B4-BE49-F238E27FC236}">
                        <a16:creationId xmlns:a16="http://schemas.microsoft.com/office/drawing/2014/main" id="{8710E238-EEEF-8171-4B03-6051A6415342}"/>
                      </a:ext>
                    </a:extLst>
                  </p:cNvPr>
                  <p:cNvSpPr txBox="1">
                    <a:spLocks noRot="1" noChangeAspect="1" noMove="1" noResize="1" noEditPoints="1" noAdjustHandles="1" noChangeArrowheads="1" noChangeShapeType="1" noTextEdit="1"/>
                  </p:cNvSpPr>
                  <p:nvPr/>
                </p:nvSpPr>
                <p:spPr>
                  <a:xfrm>
                    <a:off x="9828132" y="2448219"/>
                    <a:ext cx="363557" cy="646331"/>
                  </a:xfrm>
                  <a:prstGeom prst="rect">
                    <a:avLst/>
                  </a:prstGeom>
                  <a:blipFill>
                    <a:blip r:embed="rId6"/>
                    <a:stretch>
                      <a:fillRect/>
                    </a:stretch>
                  </a:blipFill>
                </p:spPr>
                <p:txBody>
                  <a:bodyPr/>
                  <a:lstStyle/>
                  <a:p>
                    <a:r>
                      <a:rPr lang="en-US">
                        <a:noFill/>
                      </a:rPr>
                      <a:t> </a:t>
                    </a:r>
                  </a:p>
                </p:txBody>
              </p:sp>
            </mc:Fallback>
          </mc:AlternateContent>
          <p:sp>
            <p:nvSpPr>
              <p:cNvPr id="11" name="Multiply 10">
                <a:extLst>
                  <a:ext uri="{FF2B5EF4-FFF2-40B4-BE49-F238E27FC236}">
                    <a16:creationId xmlns:a16="http://schemas.microsoft.com/office/drawing/2014/main" id="{B3E9C2B2-165F-98DE-B9BD-753494EC1DBC}"/>
                  </a:ext>
                </a:extLst>
              </p:cNvPr>
              <p:cNvSpPr/>
              <p:nvPr/>
            </p:nvSpPr>
            <p:spPr>
              <a:xfrm>
                <a:off x="7557571" y="2705958"/>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p:sp>
            <p:nvSpPr>
              <p:cNvPr id="12" name="Multiply 11">
                <a:extLst>
                  <a:ext uri="{FF2B5EF4-FFF2-40B4-BE49-F238E27FC236}">
                    <a16:creationId xmlns:a16="http://schemas.microsoft.com/office/drawing/2014/main" id="{69B56ABF-058E-34D4-2B77-422103CEDCBD}"/>
                  </a:ext>
                </a:extLst>
              </p:cNvPr>
              <p:cNvSpPr/>
              <p:nvPr/>
            </p:nvSpPr>
            <p:spPr>
              <a:xfrm>
                <a:off x="10273953" y="2705958"/>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p:grpSp>
        <p:sp>
          <p:nvSpPr>
            <p:cNvPr id="23" name="TextBox 22">
              <a:extLst>
                <a:ext uri="{FF2B5EF4-FFF2-40B4-BE49-F238E27FC236}">
                  <a16:creationId xmlns:a16="http://schemas.microsoft.com/office/drawing/2014/main" id="{DFC194EF-09EE-0826-C66F-304E9C1E6FFD}"/>
                </a:ext>
              </a:extLst>
            </p:cNvPr>
            <p:cNvSpPr txBox="1"/>
            <p:nvPr/>
          </p:nvSpPr>
          <p:spPr>
            <a:xfrm>
              <a:off x="6539596" y="2546887"/>
              <a:ext cx="1441544" cy="369332"/>
            </a:xfrm>
            <a:prstGeom prst="rect">
              <a:avLst/>
            </a:prstGeom>
            <a:noFill/>
          </p:spPr>
          <p:txBody>
            <a:bodyPr wrap="square" rtlCol="0">
              <a:spAutoFit/>
            </a:bodyPr>
            <a:lstStyle/>
            <a:p>
              <a:r>
                <a:rPr lang="en-US" altLang="zh-CN" dirty="0">
                  <a:latin typeface="Georgia" panose="02040502050405020303" pitchFamily="18" charset="0"/>
                </a:rPr>
                <a:t>Hybrid</a:t>
              </a:r>
              <a:r>
                <a:rPr lang="zh-CN" altLang="en-US" dirty="0">
                  <a:latin typeface="Georgia" panose="02040502050405020303" pitchFamily="18" charset="0"/>
                </a:rPr>
                <a:t> </a:t>
              </a:r>
              <a:r>
                <a:rPr lang="en-US" altLang="zh-CN" dirty="0">
                  <a:latin typeface="Georgia" panose="02040502050405020303" pitchFamily="18" charset="0"/>
                </a:rPr>
                <a:t>1</a:t>
              </a:r>
              <a:endParaRPr lang="en-US" dirty="0">
                <a:latin typeface="Georgia" panose="02040502050405020303" pitchFamily="18" charset="0"/>
              </a:endParaRPr>
            </a:p>
          </p:txBody>
        </p:sp>
      </p:grpSp>
      <p:grpSp>
        <p:nvGrpSpPr>
          <p:cNvPr id="27" name="Group 26">
            <a:extLst>
              <a:ext uri="{FF2B5EF4-FFF2-40B4-BE49-F238E27FC236}">
                <a16:creationId xmlns:a16="http://schemas.microsoft.com/office/drawing/2014/main" id="{12EEDD79-3EE4-CADB-1811-096E1AF94A7C}"/>
              </a:ext>
            </a:extLst>
          </p:cNvPr>
          <p:cNvGrpSpPr/>
          <p:nvPr/>
        </p:nvGrpSpPr>
        <p:grpSpPr>
          <a:xfrm>
            <a:off x="5863728" y="2960434"/>
            <a:ext cx="5498140" cy="763280"/>
            <a:chOff x="5863728" y="2960434"/>
            <a:chExt cx="5498140" cy="763280"/>
          </a:xfrm>
        </p:grpSpPr>
        <p:grpSp>
          <p:nvGrpSpPr>
            <p:cNvPr id="22" name="Group 21">
              <a:extLst>
                <a:ext uri="{FF2B5EF4-FFF2-40B4-BE49-F238E27FC236}">
                  <a16:creationId xmlns:a16="http://schemas.microsoft.com/office/drawing/2014/main" id="{C4D9047F-CF07-6C74-A031-329B29B34AF1}"/>
                </a:ext>
              </a:extLst>
            </p:cNvPr>
            <p:cNvGrpSpPr/>
            <p:nvPr/>
          </p:nvGrpSpPr>
          <p:grpSpPr>
            <a:xfrm>
              <a:off x="6346078" y="2960434"/>
              <a:ext cx="5015790" cy="763280"/>
              <a:chOff x="6346078" y="2960434"/>
              <a:chExt cx="5015790" cy="76328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4DD26B3-FC7F-2BE2-3E0B-6C5E3BB3A0FE}"/>
                      </a:ext>
                    </a:extLst>
                  </p:cNvPr>
                  <p:cNvSpPr txBox="1"/>
                  <p:nvPr/>
                </p:nvSpPr>
                <p:spPr>
                  <a:xfrm>
                    <a:off x="6346078" y="2960434"/>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00</m:t>
                            </m:r>
                          </m:sub>
                        </m:sSub>
                      </m:oMath>
                    </a14:m>
                    <a:endParaRPr lang="en-US" dirty="0">
                      <a:latin typeface="Georgia" panose="02040502050405020303" pitchFamily="18" charset="0"/>
                    </a:endParaRPr>
                  </a:p>
                </p:txBody>
              </p:sp>
            </mc:Choice>
            <mc:Fallback xmlns="">
              <p:sp>
                <p:nvSpPr>
                  <p:cNvPr id="14" name="TextBox 13">
                    <a:extLst>
                      <a:ext uri="{FF2B5EF4-FFF2-40B4-BE49-F238E27FC236}">
                        <a16:creationId xmlns:a16="http://schemas.microsoft.com/office/drawing/2014/main" id="{04DD26B3-FC7F-2BE2-3E0B-6C5E3BB3A0FE}"/>
                      </a:ext>
                    </a:extLst>
                  </p:cNvPr>
                  <p:cNvSpPr txBox="1">
                    <a:spLocks noRot="1" noChangeAspect="1" noMove="1" noResize="1" noEditPoints="1" noAdjustHandles="1" noChangeArrowheads="1" noChangeShapeType="1" noTextEdit="1"/>
                  </p:cNvSpPr>
                  <p:nvPr/>
                </p:nvSpPr>
                <p:spPr>
                  <a:xfrm>
                    <a:off x="6346078" y="2960434"/>
                    <a:ext cx="363557" cy="646331"/>
                  </a:xfrm>
                  <a:prstGeom prst="rect">
                    <a:avLst/>
                  </a:prstGeom>
                  <a:blipFill>
                    <a:blip r:embed="rId7"/>
                    <a:stretch>
                      <a:fillRect r="-20000"/>
                    </a:stretch>
                  </a:blipFill>
                </p:spPr>
                <p:txBody>
                  <a:bodyPr/>
                  <a:lstStyle/>
                  <a:p>
                    <a:r>
                      <a:rPr lang="en-US">
                        <a:noFill/>
                      </a:rPr>
                      <a:t> </a:t>
                    </a:r>
                  </a:p>
                </p:txBody>
              </p:sp>
            </mc:Fallback>
          </mc:AlternateContent>
          <p:sp>
            <p:nvSpPr>
              <p:cNvPr id="15" name="Multiply 14">
                <a:extLst>
                  <a:ext uri="{FF2B5EF4-FFF2-40B4-BE49-F238E27FC236}">
                    <a16:creationId xmlns:a16="http://schemas.microsoft.com/office/drawing/2014/main" id="{B6695444-1F48-608D-6252-AA5FA7B553DB}"/>
                  </a:ext>
                </a:extLst>
              </p:cNvPr>
              <p:cNvSpPr/>
              <p:nvPr/>
            </p:nvSpPr>
            <p:spPr>
              <a:xfrm>
                <a:off x="6830820" y="3226812"/>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82FCE4F-3CEF-6235-5A5E-090865D818C5}"/>
                      </a:ext>
                    </a:extLst>
                  </p:cNvPr>
                  <p:cNvSpPr txBox="1"/>
                  <p:nvPr/>
                </p:nvSpPr>
                <p:spPr>
                  <a:xfrm>
                    <a:off x="7687381" y="2984794"/>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01</m:t>
                            </m:r>
                          </m:sub>
                        </m:sSub>
                      </m:oMath>
                    </a14:m>
                    <a:endParaRPr lang="en-US" dirty="0">
                      <a:latin typeface="Georgia" panose="02040502050405020303" pitchFamily="18" charset="0"/>
                    </a:endParaRPr>
                  </a:p>
                </p:txBody>
              </p:sp>
            </mc:Choice>
            <mc:Fallback xmlns="">
              <p:sp>
                <p:nvSpPr>
                  <p:cNvPr id="16" name="TextBox 15">
                    <a:extLst>
                      <a:ext uri="{FF2B5EF4-FFF2-40B4-BE49-F238E27FC236}">
                        <a16:creationId xmlns:a16="http://schemas.microsoft.com/office/drawing/2014/main" id="{F82FCE4F-3CEF-6235-5A5E-090865D818C5}"/>
                      </a:ext>
                    </a:extLst>
                  </p:cNvPr>
                  <p:cNvSpPr txBox="1">
                    <a:spLocks noRot="1" noChangeAspect="1" noMove="1" noResize="1" noEditPoints="1" noAdjustHandles="1" noChangeArrowheads="1" noChangeShapeType="1" noTextEdit="1"/>
                  </p:cNvSpPr>
                  <p:nvPr/>
                </p:nvSpPr>
                <p:spPr>
                  <a:xfrm>
                    <a:off x="7687381" y="2984794"/>
                    <a:ext cx="363557" cy="646331"/>
                  </a:xfrm>
                  <a:prstGeom prst="rect">
                    <a:avLst/>
                  </a:prstGeom>
                  <a:blipFill>
                    <a:blip r:embed="rId8"/>
                    <a:stretch>
                      <a:fillRect r="-16667"/>
                    </a:stretch>
                  </a:blipFill>
                </p:spPr>
                <p:txBody>
                  <a:bodyPr/>
                  <a:lstStyle/>
                  <a:p>
                    <a:r>
                      <a:rPr lang="en-US">
                        <a:noFill/>
                      </a:rPr>
                      <a:t> </a:t>
                    </a:r>
                  </a:p>
                </p:txBody>
              </p:sp>
            </mc:Fallback>
          </mc:AlternateContent>
          <p:sp>
            <p:nvSpPr>
              <p:cNvPr id="17" name="Multiply 16">
                <a:extLst>
                  <a:ext uri="{FF2B5EF4-FFF2-40B4-BE49-F238E27FC236}">
                    <a16:creationId xmlns:a16="http://schemas.microsoft.com/office/drawing/2014/main" id="{17659F5E-CEF2-DA3B-9119-4D7B4BD4EFB3}"/>
                  </a:ext>
                </a:extLst>
              </p:cNvPr>
              <p:cNvSpPr/>
              <p:nvPr/>
            </p:nvSpPr>
            <p:spPr>
              <a:xfrm>
                <a:off x="8172123" y="3251172"/>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FE48E7A-4012-6E67-F6E6-C4B6EBA374ED}"/>
                      </a:ext>
                    </a:extLst>
                  </p:cNvPr>
                  <p:cNvSpPr txBox="1"/>
                  <p:nvPr/>
                </p:nvSpPr>
                <p:spPr>
                  <a:xfrm>
                    <a:off x="9028684" y="2960434"/>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10</m:t>
                            </m:r>
                          </m:sub>
                        </m:sSub>
                      </m:oMath>
                    </a14:m>
                    <a:endParaRPr lang="en-US" dirty="0">
                      <a:latin typeface="Georgia" panose="02040502050405020303" pitchFamily="18" charset="0"/>
                    </a:endParaRPr>
                  </a:p>
                </p:txBody>
              </p:sp>
            </mc:Choice>
            <mc:Fallback xmlns="">
              <p:sp>
                <p:nvSpPr>
                  <p:cNvPr id="18" name="TextBox 17">
                    <a:extLst>
                      <a:ext uri="{FF2B5EF4-FFF2-40B4-BE49-F238E27FC236}">
                        <a16:creationId xmlns:a16="http://schemas.microsoft.com/office/drawing/2014/main" id="{CFE48E7A-4012-6E67-F6E6-C4B6EBA374ED}"/>
                      </a:ext>
                    </a:extLst>
                  </p:cNvPr>
                  <p:cNvSpPr txBox="1">
                    <a:spLocks noRot="1" noChangeAspect="1" noMove="1" noResize="1" noEditPoints="1" noAdjustHandles="1" noChangeArrowheads="1" noChangeShapeType="1" noTextEdit="1"/>
                  </p:cNvSpPr>
                  <p:nvPr/>
                </p:nvSpPr>
                <p:spPr>
                  <a:xfrm>
                    <a:off x="9028684" y="2960434"/>
                    <a:ext cx="363557" cy="646331"/>
                  </a:xfrm>
                  <a:prstGeom prst="rect">
                    <a:avLst/>
                  </a:prstGeom>
                  <a:blipFill>
                    <a:blip r:embed="rId9"/>
                    <a:stretch>
                      <a:fillRect r="-16667"/>
                    </a:stretch>
                  </a:blipFill>
                </p:spPr>
                <p:txBody>
                  <a:bodyPr/>
                  <a:lstStyle/>
                  <a:p>
                    <a:r>
                      <a:rPr lang="en-US">
                        <a:noFill/>
                      </a:rPr>
                      <a:t> </a:t>
                    </a:r>
                  </a:p>
                </p:txBody>
              </p:sp>
            </mc:Fallback>
          </mc:AlternateContent>
          <p:sp>
            <p:nvSpPr>
              <p:cNvPr id="19" name="Multiply 18">
                <a:extLst>
                  <a:ext uri="{FF2B5EF4-FFF2-40B4-BE49-F238E27FC236}">
                    <a16:creationId xmlns:a16="http://schemas.microsoft.com/office/drawing/2014/main" id="{6534A2E1-C809-04FA-DB55-372ADF5FFF6D}"/>
                  </a:ext>
                </a:extLst>
              </p:cNvPr>
              <p:cNvSpPr/>
              <p:nvPr/>
            </p:nvSpPr>
            <p:spPr>
              <a:xfrm>
                <a:off x="9513426" y="3226812"/>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7FA42A2-580F-4625-FB2B-C872BA6E447D}"/>
                      </a:ext>
                    </a:extLst>
                  </p:cNvPr>
                  <p:cNvSpPr txBox="1"/>
                  <p:nvPr/>
                </p:nvSpPr>
                <p:spPr>
                  <a:xfrm>
                    <a:off x="10470226" y="3008018"/>
                    <a:ext cx="363557" cy="646331"/>
                  </a:xfrm>
                  <a:prstGeom prst="rect">
                    <a:avLst/>
                  </a:prstGeom>
                  <a:noFill/>
                </p:spPr>
                <p:txBody>
                  <a:bodyPr wrap="square" rtlCol="0">
                    <a:spAutoFit/>
                  </a:bodyPr>
                  <a:lstStyle/>
                  <a:p>
                    <a:r>
                      <a:rPr lang="zh-CN" altLang="en-US" dirty="0">
                        <a:latin typeface="Georgia" panose="02040502050405020303" pitchFamily="18" charset="0"/>
                      </a:rPr>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𝑠</m:t>
                            </m:r>
                          </m:e>
                          <m:sub>
                            <m:r>
                              <a:rPr lang="en-US" altLang="zh-CN" b="0" i="1" smtClean="0">
                                <a:latin typeface="Cambria Math" panose="02040503050406030204" pitchFamily="18" charset="0"/>
                              </a:rPr>
                              <m:t>11</m:t>
                            </m:r>
                          </m:sub>
                        </m:sSub>
                      </m:oMath>
                    </a14:m>
                    <a:endParaRPr lang="en-US" dirty="0">
                      <a:latin typeface="Georgia" panose="02040502050405020303" pitchFamily="18" charset="0"/>
                    </a:endParaRPr>
                  </a:p>
                </p:txBody>
              </p:sp>
            </mc:Choice>
            <mc:Fallback xmlns="">
              <p:sp>
                <p:nvSpPr>
                  <p:cNvPr id="20" name="TextBox 19">
                    <a:extLst>
                      <a:ext uri="{FF2B5EF4-FFF2-40B4-BE49-F238E27FC236}">
                        <a16:creationId xmlns:a16="http://schemas.microsoft.com/office/drawing/2014/main" id="{17FA42A2-580F-4625-FB2B-C872BA6E447D}"/>
                      </a:ext>
                    </a:extLst>
                  </p:cNvPr>
                  <p:cNvSpPr txBox="1">
                    <a:spLocks noRot="1" noChangeAspect="1" noMove="1" noResize="1" noEditPoints="1" noAdjustHandles="1" noChangeArrowheads="1" noChangeShapeType="1" noTextEdit="1"/>
                  </p:cNvSpPr>
                  <p:nvPr/>
                </p:nvSpPr>
                <p:spPr>
                  <a:xfrm>
                    <a:off x="10470226" y="3008018"/>
                    <a:ext cx="363557" cy="646331"/>
                  </a:xfrm>
                  <a:prstGeom prst="rect">
                    <a:avLst/>
                  </a:prstGeom>
                  <a:blipFill>
                    <a:blip r:embed="rId10"/>
                    <a:stretch>
                      <a:fillRect r="-20690"/>
                    </a:stretch>
                  </a:blipFill>
                </p:spPr>
                <p:txBody>
                  <a:bodyPr/>
                  <a:lstStyle/>
                  <a:p>
                    <a:r>
                      <a:rPr lang="en-US">
                        <a:noFill/>
                      </a:rPr>
                      <a:t> </a:t>
                    </a:r>
                  </a:p>
                </p:txBody>
              </p:sp>
            </mc:Fallback>
          </mc:AlternateContent>
          <p:sp>
            <p:nvSpPr>
              <p:cNvPr id="21" name="Multiply 20">
                <a:extLst>
                  <a:ext uri="{FF2B5EF4-FFF2-40B4-BE49-F238E27FC236}">
                    <a16:creationId xmlns:a16="http://schemas.microsoft.com/office/drawing/2014/main" id="{C2A30F19-7E8C-F03E-1618-34EF7EA379CA}"/>
                  </a:ext>
                </a:extLst>
              </p:cNvPr>
              <p:cNvSpPr/>
              <p:nvPr/>
            </p:nvSpPr>
            <p:spPr>
              <a:xfrm>
                <a:off x="10921193" y="3226812"/>
                <a:ext cx="440675" cy="472542"/>
              </a:xfrm>
              <a:prstGeom prst="mathMultiply">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Georgia" panose="02040502050405020303" pitchFamily="18" charset="0"/>
                </a:endParaRPr>
              </a:p>
            </p:txBody>
          </p:sp>
        </p:grpSp>
        <p:sp>
          <p:nvSpPr>
            <p:cNvPr id="24" name="TextBox 23">
              <a:extLst>
                <a:ext uri="{FF2B5EF4-FFF2-40B4-BE49-F238E27FC236}">
                  <a16:creationId xmlns:a16="http://schemas.microsoft.com/office/drawing/2014/main" id="{539BB209-F3AC-B300-E1B1-EFBB77DB3685}"/>
                </a:ext>
              </a:extLst>
            </p:cNvPr>
            <p:cNvSpPr txBox="1"/>
            <p:nvPr/>
          </p:nvSpPr>
          <p:spPr>
            <a:xfrm>
              <a:off x="5863728" y="2986805"/>
              <a:ext cx="1441544" cy="369332"/>
            </a:xfrm>
            <a:prstGeom prst="rect">
              <a:avLst/>
            </a:prstGeom>
            <a:noFill/>
          </p:spPr>
          <p:txBody>
            <a:bodyPr wrap="square" rtlCol="0">
              <a:spAutoFit/>
            </a:bodyPr>
            <a:lstStyle/>
            <a:p>
              <a:r>
                <a:rPr lang="en-US" altLang="zh-CN" dirty="0">
                  <a:latin typeface="Georgia" panose="02040502050405020303" pitchFamily="18" charset="0"/>
                </a:rPr>
                <a:t>Hybrid</a:t>
              </a:r>
              <a:r>
                <a:rPr lang="zh-CN" altLang="en-US" dirty="0">
                  <a:latin typeface="Georgia" panose="02040502050405020303" pitchFamily="18" charset="0"/>
                </a:rPr>
                <a:t> </a:t>
              </a:r>
              <a:r>
                <a:rPr lang="en-US" altLang="zh-CN" dirty="0">
                  <a:latin typeface="Georgia" panose="02040502050405020303" pitchFamily="18" charset="0"/>
                </a:rPr>
                <a:t>2</a:t>
              </a:r>
              <a:r>
                <a:rPr lang="zh-CN" altLang="en-US" dirty="0">
                  <a:latin typeface="Georgia" panose="02040502050405020303" pitchFamily="18" charset="0"/>
                </a:rPr>
                <a:t> </a:t>
              </a:r>
              <a:endParaRPr lang="en-US" dirty="0">
                <a:latin typeface="Georgia" panose="02040502050405020303" pitchFamily="18" charset="0"/>
              </a:endParaRPr>
            </a:p>
          </p:txBody>
        </p:sp>
      </p:grpSp>
      <p:sp>
        <p:nvSpPr>
          <p:cNvPr id="31" name="Rectangle 30">
            <a:extLst>
              <a:ext uri="{FF2B5EF4-FFF2-40B4-BE49-F238E27FC236}">
                <a16:creationId xmlns:a16="http://schemas.microsoft.com/office/drawing/2014/main" id="{4C35166B-B060-9B05-D573-20F85A5B2FDC}"/>
              </a:ext>
            </a:extLst>
          </p:cNvPr>
          <p:cNvSpPr/>
          <p:nvPr/>
        </p:nvSpPr>
        <p:spPr>
          <a:xfrm>
            <a:off x="380010" y="1454727"/>
            <a:ext cx="11560629" cy="52251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CDEC251-E0C4-D3BB-87FD-8CB7B64A1CFB}"/>
              </a:ext>
            </a:extLst>
          </p:cNvPr>
          <p:cNvSpPr/>
          <p:nvPr/>
        </p:nvSpPr>
        <p:spPr>
          <a:xfrm>
            <a:off x="8612798" y="723977"/>
            <a:ext cx="2656916" cy="5544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839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32"/>
                                        </p:tgtEl>
                                        <p:attrNameLst>
                                          <p:attrName>style.opacity</p:attrName>
                                        </p:attrNameLst>
                                      </p:cBhvr>
                                      <p:to>
                                        <p:strVal val="0.5"/>
                                      </p:to>
                                    </p:set>
                                    <p:animEffect filter="image" prLst="opacity: 0.5">
                                      <p:cBhvr rctx="IE">
                                        <p:cTn id="7" dur="indefinite"/>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31"/>
                                        </p:tgtEl>
                                      </p:cBhvr>
                                    </p:animEffect>
                                    <p:set>
                                      <p:cBhvr>
                                        <p:cTn id="12" dur="1" fill="hold">
                                          <p:stCondLst>
                                            <p:cond delay="499"/>
                                          </p:stCondLst>
                                        </p:cTn>
                                        <p:tgtEl>
                                          <p:spTgt spid="3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xit" presetSubtype="0" fill="hold" grpId="1" nodeType="clickEffect">
                                  <p:stCondLst>
                                    <p:cond delay="0"/>
                                  </p:stCondLst>
                                  <p:childTnLst>
                                    <p:animEffect transition="out" filter="dissolve">
                                      <p:cBhvr>
                                        <p:cTn id="24" dur="500"/>
                                        <p:tgtEl>
                                          <p:spTgt spid="32"/>
                                        </p:tgtEl>
                                      </p:cBhvr>
                                    </p:animEffect>
                                    <p:set>
                                      <p:cBhvr>
                                        <p:cTn id="25"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14F2A-1A29-0B15-D341-D5951344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AC4CF-BF18-CD17-EF1F-8DC780906DDD}"/>
              </a:ext>
            </a:extLst>
          </p:cNvPr>
          <p:cNvSpPr>
            <a:spLocks noGrp="1"/>
          </p:cNvSpPr>
          <p:nvPr>
            <p:ph type="title"/>
          </p:nvPr>
        </p:nvSpPr>
        <p:spPr/>
        <p:txBody>
          <a:bodyPr/>
          <a:lstStyle/>
          <a:p>
            <a:r>
              <a:rPr lang="en-US" b="1" dirty="0">
                <a:latin typeface="Georgia" panose="02040502050405020303" pitchFamily="18" charset="0"/>
              </a:rPr>
              <a:t>What is this course about?</a:t>
            </a:r>
            <a:r>
              <a:rPr lang="zh-CN" altLang="en-US" b="1" dirty="0">
                <a:latin typeface="Georgia" panose="02040502050405020303" pitchFamily="18" charset="0"/>
              </a:rPr>
              <a:t>   </a:t>
            </a:r>
            <a:r>
              <a:rPr lang="en-US" altLang="zh-CN" b="1" dirty="0">
                <a:solidFill>
                  <a:srgbClr val="FF0000"/>
                </a:solidFill>
                <a:latin typeface="Georgia" panose="02040502050405020303" pitchFamily="18" charset="0"/>
              </a:rPr>
              <a:t>Math</a:t>
            </a:r>
            <a:r>
              <a:rPr lang="zh-CN" altLang="en-US" b="1" dirty="0">
                <a:latin typeface="Georgia" panose="02040502050405020303" pitchFamily="18" charset="0"/>
              </a:rPr>
              <a:t> </a:t>
            </a:r>
            <a:endParaRPr lang="en-US" b="1" dirty="0">
              <a:latin typeface="Georgia" panose="02040502050405020303" pitchFamily="18" charset="0"/>
            </a:endParaRPr>
          </a:p>
        </p:txBody>
      </p:sp>
      <p:sp>
        <p:nvSpPr>
          <p:cNvPr id="3" name="Content Placeholder 2">
            <a:extLst>
              <a:ext uri="{FF2B5EF4-FFF2-40B4-BE49-F238E27FC236}">
                <a16:creationId xmlns:a16="http://schemas.microsoft.com/office/drawing/2014/main" id="{A7A2AF19-3BB3-0FF5-549D-766E3D24F0DB}"/>
              </a:ext>
            </a:extLst>
          </p:cNvPr>
          <p:cNvSpPr>
            <a:spLocks noGrp="1"/>
          </p:cNvSpPr>
          <p:nvPr>
            <p:ph idx="1"/>
          </p:nvPr>
        </p:nvSpPr>
        <p:spPr>
          <a:xfrm>
            <a:off x="838200" y="1690688"/>
            <a:ext cx="10515600" cy="638098"/>
          </a:xfrm>
        </p:spPr>
        <p:txBody>
          <a:bodyPr>
            <a:normAutofit/>
          </a:bodyPr>
          <a:lstStyle/>
          <a:p>
            <a:pPr marL="0" indent="0">
              <a:buNone/>
            </a:pPr>
            <a:r>
              <a:rPr lang="en-US" altLang="zh-CN" dirty="0">
                <a:latin typeface="Georgia" panose="02040502050405020303" pitchFamily="18" charset="0"/>
              </a:rPr>
              <a:t>Example:</a:t>
            </a:r>
            <a:r>
              <a:rPr lang="zh-CN" altLang="en-US" dirty="0">
                <a:latin typeface="Georgia" panose="02040502050405020303" pitchFamily="18" charset="0"/>
              </a:rPr>
              <a:t> </a:t>
            </a:r>
            <a:r>
              <a:rPr lang="en-US" altLang="zh-CN" dirty="0">
                <a:latin typeface="Georgia" panose="02040502050405020303" pitchFamily="18" charset="0"/>
              </a:rPr>
              <a:t>Baby</a:t>
            </a:r>
            <a:r>
              <a:rPr lang="zh-CN" altLang="en-US" dirty="0">
                <a:latin typeface="Georgia" panose="02040502050405020303" pitchFamily="18" charset="0"/>
              </a:rPr>
              <a:t> </a:t>
            </a:r>
            <a:r>
              <a:rPr lang="en-US" altLang="zh-CN" dirty="0">
                <a:latin typeface="Georgia" panose="02040502050405020303" pitchFamily="18" charset="0"/>
              </a:rPr>
              <a:t>step- Giant</a:t>
            </a:r>
            <a:r>
              <a:rPr lang="zh-CN" altLang="en-US" dirty="0">
                <a:latin typeface="Georgia" panose="02040502050405020303" pitchFamily="18" charset="0"/>
              </a:rPr>
              <a:t> </a:t>
            </a:r>
            <a:r>
              <a:rPr lang="en-US" altLang="zh-CN" dirty="0">
                <a:latin typeface="Georgia" panose="02040502050405020303" pitchFamily="18" charset="0"/>
              </a:rPr>
              <a:t>step</a:t>
            </a:r>
            <a:r>
              <a:rPr lang="zh-CN" altLang="en-US" dirty="0">
                <a:latin typeface="Georgia" panose="02040502050405020303" pitchFamily="18" charset="0"/>
              </a:rPr>
              <a:t> </a:t>
            </a:r>
            <a:r>
              <a:rPr lang="en-US" altLang="zh-CN" dirty="0">
                <a:latin typeface="Georgia" panose="02040502050405020303" pitchFamily="18" charset="0"/>
              </a:rPr>
              <a:t>algorithm</a:t>
            </a:r>
            <a:r>
              <a:rPr lang="zh-CN" altLang="en-US" dirty="0">
                <a:latin typeface="Georgia" panose="02040502050405020303" pitchFamily="18" charset="0"/>
              </a:rPr>
              <a:t> </a:t>
            </a:r>
            <a:endParaRPr lang="en-US" b="0" i="0" dirty="0">
              <a:solidFill>
                <a:srgbClr val="000000"/>
              </a:solidFill>
              <a:effectLst/>
              <a:latin typeface="Georgia" panose="02040502050405020303" pitchFamily="18" charset="0"/>
            </a:endParaRPr>
          </a:p>
        </p:txBody>
      </p:sp>
      <p:sp>
        <p:nvSpPr>
          <p:cNvPr id="5" name="TextBox 4">
            <a:extLst>
              <a:ext uri="{FF2B5EF4-FFF2-40B4-BE49-F238E27FC236}">
                <a16:creationId xmlns:a16="http://schemas.microsoft.com/office/drawing/2014/main" id="{238F16B7-CEC3-4F17-D797-BD67DE36EA09}"/>
              </a:ext>
            </a:extLst>
          </p:cNvPr>
          <p:cNvSpPr txBox="1"/>
          <p:nvPr/>
        </p:nvSpPr>
        <p:spPr>
          <a:xfrm>
            <a:off x="658257" y="4420107"/>
            <a:ext cx="10127256" cy="646331"/>
          </a:xfrm>
          <a:prstGeom prst="rect">
            <a:avLst/>
          </a:prstGeom>
          <a:noFill/>
        </p:spPr>
        <p:txBody>
          <a:bodyPr wrap="square">
            <a:spAutoFit/>
          </a:bodyPr>
          <a:lstStyle/>
          <a:p>
            <a:endParaRPr lang="en-US" dirty="0">
              <a:latin typeface="Georgia" panose="02040502050405020303" pitchFamily="18" charset="0"/>
            </a:endParaRPr>
          </a:p>
          <a:p>
            <a:endParaRPr lang="en-US" dirty="0">
              <a:latin typeface="Georgia" panose="02040502050405020303" pitchFamily="18" charset="0"/>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F330F26-8315-09CF-FDF5-1A498BB7B68B}"/>
                  </a:ext>
                </a:extLst>
              </p:cNvPr>
              <p:cNvSpPr txBox="1"/>
              <p:nvPr/>
            </p:nvSpPr>
            <p:spPr>
              <a:xfrm>
                <a:off x="838199" y="2291409"/>
                <a:ext cx="10883538" cy="4213076"/>
              </a:xfrm>
              <a:prstGeom prst="rect">
                <a:avLst/>
              </a:prstGeom>
              <a:noFill/>
            </p:spPr>
            <p:txBody>
              <a:bodyPr wrap="square">
                <a:spAutoFit/>
              </a:bodyPr>
              <a:lstStyle/>
              <a:p>
                <a:r>
                  <a:rPr lang="en-US" dirty="0">
                    <a:latin typeface="Georgia" panose="02040502050405020303" pitchFamily="18" charset="0"/>
                  </a:rPr>
                  <a:t>Let </a:t>
                </a:r>
                <a14:m>
                  <m:oMath xmlns:m="http://schemas.openxmlformats.org/officeDocument/2006/math">
                    <m:r>
                      <a:rPr lang="en-US" i="1" dirty="0" smtClean="0">
                        <a:latin typeface="Cambria Math" panose="02040503050406030204" pitchFamily="18" charset="0"/>
                      </a:rPr>
                      <m:t>𝐺</m:t>
                    </m:r>
                    <m:r>
                      <a:rPr lang="en-US" i="1" dirty="0" smtClean="0">
                        <a:latin typeface="Cambria Math" panose="02040503050406030204" pitchFamily="18" charset="0"/>
                      </a:rPr>
                      <m:t> </m:t>
                    </m:r>
                  </m:oMath>
                </a14:m>
                <a:r>
                  <a:rPr lang="en-US" dirty="0">
                    <a:latin typeface="Georgia" panose="02040502050405020303" pitchFamily="18" charset="0"/>
                  </a:rPr>
                  <a:t>be a group and let </a:t>
                </a:r>
                <a14:m>
                  <m:oMath xmlns:m="http://schemas.openxmlformats.org/officeDocument/2006/math">
                    <m:r>
                      <a:rPr lang="en-US" i="1" dirty="0" smtClean="0">
                        <a:latin typeface="Cambria Math" panose="02040503050406030204" pitchFamily="18" charset="0"/>
                      </a:rPr>
                      <m:t>h</m:t>
                    </m:r>
                    <m:r>
                      <a:rPr lang="en-US" i="1" dirty="0" smtClean="0">
                        <a:latin typeface="Cambria Math" panose="02040503050406030204" pitchFamily="18" charset="0"/>
                      </a:rPr>
                      <m:t> ∈ </m:t>
                    </m:r>
                    <m:r>
                      <a:rPr lang="en-US" i="1" dirty="0" smtClean="0">
                        <a:latin typeface="Cambria Math" panose="02040503050406030204" pitchFamily="18" charset="0"/>
                      </a:rPr>
                      <m:t>𝐺</m:t>
                    </m:r>
                    <m:r>
                      <a:rPr lang="en-US" i="1" dirty="0" smtClean="0">
                        <a:latin typeface="Cambria Math" panose="02040503050406030204" pitchFamily="18" charset="0"/>
                      </a:rPr>
                      <m:t> </m:t>
                    </m:r>
                  </m:oMath>
                </a14:m>
                <a:r>
                  <a:rPr lang="en-US" dirty="0">
                    <a:latin typeface="Georgia" panose="02040502050405020303" pitchFamily="18" charset="0"/>
                  </a:rPr>
                  <a:t>be an element of order </a:t>
                </a:r>
                <a14:m>
                  <m:oMath xmlns:m="http://schemas.openxmlformats.org/officeDocument/2006/math">
                    <m:r>
                      <a:rPr lang="en-US" i="1" dirty="0" smtClean="0">
                        <a:latin typeface="Cambria Math" panose="02040503050406030204" pitchFamily="18" charset="0"/>
                      </a:rPr>
                      <m:t>𝑁</m:t>
                    </m:r>
                  </m:oMath>
                </a14:m>
                <a:r>
                  <a:rPr lang="en-US" dirty="0">
                    <a:latin typeface="Georgia" panose="02040502050405020303" pitchFamily="18" charset="0"/>
                  </a:rPr>
                  <a:t>, i.e., </a:t>
                </a:r>
                <a14:m>
                  <m:oMath xmlns:m="http://schemas.openxmlformats.org/officeDocument/2006/math">
                    <m:sSup>
                      <m:sSupPr>
                        <m:ctrlPr>
                          <a:rPr lang="en-US" altLang="zh-CN" b="0" i="1" dirty="0" smtClean="0">
                            <a:latin typeface="Cambria Math" panose="02040503050406030204" pitchFamily="18" charset="0"/>
                          </a:rPr>
                        </m:ctrlPr>
                      </m:sSupPr>
                      <m:e>
                        <m:r>
                          <a:rPr lang="en-US" i="1" dirty="0" smtClean="0">
                            <a:latin typeface="Cambria Math" panose="02040503050406030204" pitchFamily="18" charset="0"/>
                          </a:rPr>
                          <m:t>h</m:t>
                        </m:r>
                      </m:e>
                      <m:sup>
                        <m:r>
                          <a:rPr lang="en-US" altLang="zh-CN" b="0" i="1" dirty="0" smtClean="0">
                            <a:latin typeface="Cambria Math" panose="02040503050406030204" pitchFamily="18" charset="0"/>
                          </a:rPr>
                          <m:t>𝑁</m:t>
                        </m:r>
                      </m:sup>
                    </m:sSup>
                    <m:r>
                      <a:rPr lang="en-US" i="1" dirty="0" smtClean="0">
                        <a:latin typeface="Cambria Math" panose="02040503050406030204" pitchFamily="18" charset="0"/>
                      </a:rPr>
                      <m:t> </m:t>
                    </m:r>
                    <m:r>
                      <a:rPr lang="en-US" i="1" dirty="0">
                        <a:latin typeface="Cambria Math" panose="02040503050406030204" pitchFamily="18" charset="0"/>
                      </a:rPr>
                      <m:t>= </m:t>
                    </m:r>
                    <m:r>
                      <a:rPr lang="en-US" i="1" dirty="0">
                        <a:latin typeface="Cambria Math" panose="02040503050406030204" pitchFamily="18" charset="0"/>
                      </a:rPr>
                      <m:t>𝑒</m:t>
                    </m:r>
                    <m:r>
                      <a:rPr lang="en-US" i="1" dirty="0">
                        <a:latin typeface="Cambria Math" panose="02040503050406030204" pitchFamily="18" charset="0"/>
                      </a:rPr>
                      <m:t> </m:t>
                    </m:r>
                  </m:oMath>
                </a14:m>
                <a:r>
                  <a:rPr lang="en-US" dirty="0">
                    <a:latin typeface="Georgia" panose="02040502050405020303" pitchFamily="18" charset="0"/>
                  </a:rPr>
                  <a:t>and no smaller power of </a:t>
                </a:r>
                <a14:m>
                  <m:oMath xmlns:m="http://schemas.openxmlformats.org/officeDocument/2006/math">
                    <m:r>
                      <a:rPr lang="en-US" i="1" dirty="0" smtClean="0">
                        <a:latin typeface="Cambria Math" panose="02040503050406030204" pitchFamily="18" charset="0"/>
                      </a:rPr>
                      <m:t>h</m:t>
                    </m:r>
                  </m:oMath>
                </a14:m>
                <a:r>
                  <a:rPr lang="en-US" dirty="0">
                    <a:latin typeface="Georgia" panose="02040502050405020303" pitchFamily="18" charset="0"/>
                  </a:rPr>
                  <a:t> is equal to </a:t>
                </a:r>
                <a14:m>
                  <m:oMath xmlns:m="http://schemas.openxmlformats.org/officeDocument/2006/math">
                    <m:r>
                      <a:rPr lang="en-US" i="1" dirty="0" smtClean="0">
                        <a:latin typeface="Cambria Math" panose="02040503050406030204" pitchFamily="18" charset="0"/>
                      </a:rPr>
                      <m:t>𝑒</m:t>
                    </m:r>
                  </m:oMath>
                </a14:m>
                <a:r>
                  <a:rPr lang="en-US" dirty="0">
                    <a:latin typeface="Georgia" panose="02040502050405020303" pitchFamily="18" charset="0"/>
                  </a:rPr>
                  <a:t>. Then, assuming </a:t>
                </a:r>
                <a:r>
                  <a:rPr lang="zh-CN" altLang="en-US" dirty="0">
                    <a:latin typeface="Georgia" panose="02040502050405020303" pitchFamily="18" charset="0"/>
                  </a:rPr>
                  <a:t> </a:t>
                </a:r>
                <a:r>
                  <a:rPr lang="en-US" dirty="0">
                    <a:latin typeface="Georgia" panose="02040502050405020303" pitchFamily="18" charset="0"/>
                  </a:rPr>
                  <a:t>that the discrete logarithm problem</a:t>
                </a:r>
                <a:r>
                  <a:rPr lang="zh-CN" altLang="en-US"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r>
                          <a:rPr lang="en-US" i="1" dirty="0" smtClean="0">
                            <a:latin typeface="Cambria Math" panose="02040503050406030204" pitchFamily="18" charset="0"/>
                          </a:rPr>
                          <m:t>h</m:t>
                        </m:r>
                      </m:e>
                      <m:sup>
                        <m:r>
                          <a:rPr lang="en-US" altLang="zh-CN" b="0" i="1" dirty="0" smtClean="0">
                            <a:latin typeface="Cambria Math" panose="02040503050406030204" pitchFamily="18" charset="0"/>
                          </a:rPr>
                          <m:t>𝑥</m:t>
                        </m:r>
                      </m:sup>
                    </m:sSup>
                    <m:r>
                      <a:rPr lang="en-US" i="1" dirty="0" smtClean="0">
                        <a:latin typeface="Cambria Math" panose="02040503050406030204" pitchFamily="18" charset="0"/>
                      </a:rPr>
                      <m:t> = </m:t>
                    </m:r>
                    <m:r>
                      <a:rPr lang="en-US" i="1" dirty="0" smtClean="0">
                        <a:latin typeface="Cambria Math" panose="02040503050406030204" pitchFamily="18" charset="0"/>
                      </a:rPr>
                      <m:t>𝑏</m:t>
                    </m:r>
                  </m:oMath>
                </a14:m>
                <a:r>
                  <a:rPr lang="zh-CN" altLang="en-US" dirty="0">
                    <a:latin typeface="Georgia" panose="02040502050405020303" pitchFamily="18" charset="0"/>
                  </a:rPr>
                  <a:t> </a:t>
                </a:r>
                <a:r>
                  <a:rPr lang="en-US" altLang="zh-CN" dirty="0">
                    <a:latin typeface="Georgia" panose="02040502050405020303" pitchFamily="18" charset="0"/>
                  </a:rPr>
                  <a:t>has</a:t>
                </a:r>
                <a:r>
                  <a:rPr lang="zh-CN" altLang="en-US" dirty="0">
                    <a:latin typeface="Georgia" panose="02040502050405020303" pitchFamily="18" charset="0"/>
                  </a:rPr>
                  <a:t> </a:t>
                </a:r>
                <a:r>
                  <a:rPr lang="en-US" altLang="zh-CN" dirty="0">
                    <a:latin typeface="Georgia" panose="02040502050405020303" pitchFamily="18" charset="0"/>
                  </a:rPr>
                  <a:t>a</a:t>
                </a:r>
                <a:r>
                  <a:rPr lang="zh-CN" altLang="en-US" dirty="0">
                    <a:latin typeface="Georgia" panose="02040502050405020303" pitchFamily="18" charset="0"/>
                  </a:rPr>
                  <a:t> </a:t>
                </a:r>
                <a:r>
                  <a:rPr lang="en-US" altLang="zh-CN" dirty="0">
                    <a:latin typeface="Georgia" panose="02040502050405020303" pitchFamily="18" charset="0"/>
                  </a:rPr>
                  <a:t>solution.</a:t>
                </a:r>
                <a:r>
                  <a:rPr lang="zh-CN" altLang="en-US" dirty="0">
                    <a:latin typeface="Georgia" panose="02040502050405020303" pitchFamily="18" charset="0"/>
                  </a:rPr>
                  <a:t> </a:t>
                </a:r>
                <a:endParaRPr lang="en-US" altLang="zh-CN" dirty="0">
                  <a:latin typeface="Georgia" panose="02040502050405020303" pitchFamily="18" charset="0"/>
                </a:endParaRPr>
              </a:p>
              <a:p>
                <a:endParaRPr lang="en-US" dirty="0">
                  <a:latin typeface="Georgia" panose="02040502050405020303" pitchFamily="18" charset="0"/>
                </a:endParaRPr>
              </a:p>
              <a:p>
                <a:r>
                  <a:rPr lang="en-US" altLang="zh-CN" dirty="0">
                    <a:latin typeface="Georgia" panose="02040502050405020303" pitchFamily="18" charset="0"/>
                  </a:rPr>
                  <a:t>Let</a:t>
                </a:r>
                <a:r>
                  <a:rPr lang="zh-CN" altLang="en-US" dirty="0">
                    <a:latin typeface="Georgia" panose="02040502050405020303" pitchFamily="18" charset="0"/>
                  </a:rPr>
                  <a:t>  </a:t>
                </a:r>
                <a14:m>
                  <m:oMath xmlns:m="http://schemas.openxmlformats.org/officeDocument/2006/math">
                    <m:r>
                      <a:rPr lang="zh-CN" altLang="en-US" dirty="0">
                        <a:latin typeface="Cambria Math" panose="02040503050406030204" pitchFamily="18" charset="0"/>
                      </a:rPr>
                      <m:t> </m:t>
                    </m:r>
                    <m:r>
                      <a:rPr lang="zh-CN" altLang="en-US" b="0" i="0" dirty="0" smtClean="0">
                        <a:latin typeface="Cambria Math" panose="02040503050406030204" pitchFamily="18" charset="0"/>
                      </a:rPr>
                      <m:t> </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𝑥</m:t>
                        </m:r>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a:rPr lang="en-US" altLang="zh-CN" i="1" dirty="0" smtClean="0">
                            <a:latin typeface="Cambria Math" panose="02040503050406030204" pitchFamily="18" charset="0"/>
                          </a:rPr>
                          <m:t>𝑘</m:t>
                        </m:r>
                      </m:e>
                      <m:sub>
                        <m:r>
                          <a:rPr lang="en-US" altLang="zh-CN" i="1" dirty="0" smtClean="0">
                            <a:latin typeface="Cambria Math" panose="02040503050406030204" pitchFamily="18" charset="0"/>
                          </a:rPr>
                          <m:t>0</m:t>
                        </m:r>
                      </m:sub>
                    </m:sSub>
                    <m:r>
                      <a:rPr lang="zh-CN" altLang="en-US" b="0" i="1" dirty="0" smtClean="0">
                        <a:latin typeface="Cambria Math" panose="02040503050406030204" pitchFamily="18" charset="0"/>
                      </a:rPr>
                      <m:t> </m:t>
                    </m:r>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r>
                      <a:rPr lang="zh-CN" altLang="en-US" i="1" dirty="0" smtClean="0">
                        <a:latin typeface="Cambria Math" panose="02040503050406030204" pitchFamily="18" charset="0"/>
                      </a:rPr>
                      <m:t> </m:t>
                    </m:r>
                    <m:r>
                      <a:rPr lang="zh-CN" altLang="en-US" i="1" dirty="0">
                        <a:latin typeface="Cambria Math" panose="02040503050406030204" pitchFamily="18" charset="0"/>
                      </a:rPr>
                      <m:t> </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𝑘</m:t>
                        </m:r>
                      </m:e>
                      <m:sub>
                        <m:r>
                          <a:rPr lang="en-US" altLang="zh-CN" i="1" dirty="0" smtClean="0">
                            <a:latin typeface="Cambria Math" panose="02040503050406030204" pitchFamily="18" charset="0"/>
                          </a:rPr>
                          <m:t>1</m:t>
                        </m:r>
                      </m:sub>
                    </m:sSub>
                  </m:oMath>
                </a14:m>
                <a:r>
                  <a:rPr lang="en-US" dirty="0">
                    <a:latin typeface="Georgia" panose="02040502050405020303" pitchFamily="18" charset="0"/>
                  </a:rPr>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𝑘</m:t>
                        </m:r>
                      </m:e>
                      <m:sub>
                        <m:r>
                          <a:rPr lang="en-US" altLang="zh-CN" b="0" i="1" dirty="0" smtClean="0">
                            <a:latin typeface="Cambria Math" panose="02040503050406030204" pitchFamily="18" charset="0"/>
                          </a:rPr>
                          <m:t>0</m:t>
                        </m:r>
                      </m:sub>
                    </m:sSub>
                    <m:r>
                      <a:rPr lang="en-US" altLang="zh-CN" b="0" i="0"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𝑘</m:t>
                        </m:r>
                      </m:e>
                      <m:sub>
                        <m:r>
                          <a:rPr lang="en-US" altLang="zh-CN" i="1" dirty="0" smtClean="0">
                            <a:latin typeface="Cambria Math" panose="02040503050406030204" pitchFamily="18" charset="0"/>
                          </a:rPr>
                          <m:t>1</m:t>
                        </m:r>
                      </m:sub>
                    </m:sSub>
                    <m:r>
                      <m:rPr>
                        <m:nor/>
                      </m:rPr>
                      <a:rPr lang="en-US" altLang="zh-CN" b="0" i="0" dirty="0" smtClean="0">
                        <a:latin typeface="Cambria Math" panose="02040503050406030204" pitchFamily="18" charset="0"/>
                      </a:rPr>
                      <m:t> </m:t>
                    </m:r>
                    <m:r>
                      <a:rPr lang="en-US" altLang="zh-CN" b="0" i="1" dirty="0" smtClean="0">
                        <a:latin typeface="Cambria Math" panose="02040503050406030204" pitchFamily="18" charset="0"/>
                      </a:rPr>
                      <m:t>≤ </m:t>
                    </m:r>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oMath>
                </a14:m>
                <a:endParaRPr lang="en-US" altLang="zh-CN" b="0" dirty="0">
                  <a:latin typeface="Georgia" panose="02040502050405020303" pitchFamily="18" charset="0"/>
                </a:endParaRPr>
              </a:p>
              <a:p>
                <a:endParaRPr lang="en-US" dirty="0">
                  <a:latin typeface="Georgia" panose="02040502050405020303" pitchFamily="18" charset="0"/>
                </a:endParaRPr>
              </a:p>
              <a:p>
                <a:r>
                  <a:rPr lang="en-US" altLang="zh-CN" dirty="0">
                    <a:latin typeface="Georgia" panose="02040502050405020303" pitchFamily="18" charset="0"/>
                  </a:rPr>
                  <a:t>Baby</a:t>
                </a:r>
                <a:r>
                  <a:rPr lang="zh-CN" altLang="en-US" dirty="0">
                    <a:latin typeface="Georgia" panose="02040502050405020303" pitchFamily="18" charset="0"/>
                  </a:rPr>
                  <a:t> </a:t>
                </a:r>
                <a:r>
                  <a:rPr lang="en-US" altLang="zh-CN" dirty="0">
                    <a:latin typeface="Georgia" panose="02040502050405020303" pitchFamily="18" charset="0"/>
                  </a:rPr>
                  <a:t>step</a:t>
                </a:r>
                <a14:m>
                  <m:oMath xmlns:m="http://schemas.openxmlformats.org/officeDocument/2006/math">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sSup>
                      <m:sSupPr>
                        <m:ctrlPr>
                          <a:rPr lang="en-US" altLang="zh-CN" b="0" i="1" dirty="0" smtClean="0">
                            <a:latin typeface="Cambria Math" panose="02040503050406030204" pitchFamily="18" charset="0"/>
                          </a:rPr>
                        </m:ctrlPr>
                      </m:sSupPr>
                      <m:e>
                        <m:r>
                          <a:rPr lang="zh-CN" altLang="en-US"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m:rPr>
                            <m:lit/>
                          </m:rP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a:rPr lang="en-US" altLang="zh-CN" i="1" dirty="0" smtClean="0">
                            <a:latin typeface="Cambria Math" panose="02040503050406030204" pitchFamily="18" charset="0"/>
                          </a:rPr>
                          <m:t>h</m:t>
                        </m:r>
                      </m:e>
                      <m:sup>
                        <m:r>
                          <a:rPr lang="en-US" altLang="zh-CN" i="1" dirty="0" smtClean="0">
                            <a:latin typeface="Cambria Math" panose="02040503050406030204" pitchFamily="18" charset="0"/>
                          </a:rPr>
                          <m:t>1</m:t>
                        </m:r>
                      </m:sup>
                    </m:sSup>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h</m:t>
                        </m:r>
                      </m:e>
                      <m:sup>
                        <m:r>
                          <a:rPr lang="zh-CN" altLang="en-US" b="0" i="1" dirty="0" smtClean="0">
                            <a:latin typeface="Cambria Math" panose="02040503050406030204" pitchFamily="18" charset="0"/>
                          </a:rPr>
                          <m:t> </m:t>
                        </m:r>
                        <m:r>
                          <a:rPr lang="en-US" altLang="zh-CN" b="0" i="1" dirty="0" smtClean="0">
                            <a:latin typeface="Cambria Math" panose="02040503050406030204" pitchFamily="18" charset="0"/>
                          </a:rPr>
                          <m:t>2</m:t>
                        </m:r>
                      </m:sup>
                    </m:sSup>
                  </m:oMath>
                </a14:m>
                <a:r>
                  <a:rPr lang="en-US" altLang="zh-CN" dirty="0">
                    <a:latin typeface="Georgia" panose="02040502050405020303" pitchFamily="18" charset="0"/>
                  </a:rPr>
                  <a:t>,</a:t>
                </a:r>
                <a:r>
                  <a:rPr lang="en-US" altLang="zh-CN" b="0"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h</m:t>
                        </m:r>
                      </m:e>
                      <m:sup>
                        <m:r>
                          <a:rPr lang="en-US" altLang="zh-CN" b="0" i="1" dirty="0" smtClean="0">
                            <a:latin typeface="Cambria Math" panose="02040503050406030204" pitchFamily="18" charset="0"/>
                          </a:rPr>
                          <m:t>3</m:t>
                        </m:r>
                      </m:sup>
                    </m:sSup>
                    <m:r>
                      <a:rPr lang="en-US" altLang="zh-CN" b="0" i="0" dirty="0" smtClean="0">
                        <a:latin typeface="Cambria Math" panose="02040503050406030204" pitchFamily="18" charset="0"/>
                      </a:rPr>
                      <m:t>,</m:t>
                    </m:r>
                    <m:r>
                      <a:rPr lang="zh-CN" altLang="en-US" b="0" i="0" dirty="0" smtClean="0">
                        <a:latin typeface="Cambria Math" panose="02040503050406030204" pitchFamily="18" charset="0"/>
                      </a:rPr>
                      <m:t> </m:t>
                    </m:r>
                    <m:r>
                      <a:rPr lang="en-US" altLang="zh-CN" b="0" i="0"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h</m:t>
                        </m:r>
                      </m:e>
                      <m:sup>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sup>
                    </m:sSup>
                    <m:r>
                      <m:rPr>
                        <m:lit/>
                      </m:rPr>
                      <a:rPr lang="en-US" altLang="zh-CN" b="0" i="1" dirty="0" smtClean="0">
                        <a:latin typeface="Cambria Math" panose="02040503050406030204" pitchFamily="18" charset="0"/>
                      </a:rPr>
                      <m:t>}</m:t>
                    </m:r>
                  </m:oMath>
                </a14:m>
                <a:endParaRPr lang="en-US" altLang="zh-CN" b="0" dirty="0">
                  <a:latin typeface="Georgia" panose="02040502050405020303" pitchFamily="18" charset="0"/>
                </a:endParaRPr>
              </a:p>
              <a:p>
                <a:endParaRPr lang="en-US" altLang="zh-CN" b="0" dirty="0">
                  <a:latin typeface="Georgia" panose="02040502050405020303" pitchFamily="18" charset="0"/>
                </a:endParaRPr>
              </a:p>
              <a:p>
                <a:r>
                  <a:rPr lang="en-US" altLang="zh-CN" dirty="0">
                    <a:latin typeface="Georgia" panose="02040502050405020303" pitchFamily="18" charset="0"/>
                  </a:rPr>
                  <a:t>Giant</a:t>
                </a:r>
                <a:r>
                  <a:rPr lang="zh-CN" altLang="en-US" dirty="0">
                    <a:latin typeface="Georgia" panose="02040502050405020303" pitchFamily="18" charset="0"/>
                  </a:rPr>
                  <a:t> </a:t>
                </a:r>
                <a:r>
                  <a:rPr lang="en-US" altLang="zh-CN" dirty="0">
                    <a:latin typeface="Georgia" panose="02040502050405020303" pitchFamily="18" charset="0"/>
                  </a:rPr>
                  <a:t>step:</a:t>
                </a:r>
                <a:r>
                  <a:rPr lang="zh-CN" altLang="en-US"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m:rPr>
                            <m:lit/>
                          </m:rP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a:rPr lang="en-US" altLang="zh-CN" b="0" i="1" dirty="0" smtClean="0">
                            <a:latin typeface="Cambria Math" panose="02040503050406030204" pitchFamily="18" charset="0"/>
                          </a:rPr>
                          <m:t>𝑏𝑔</m:t>
                        </m:r>
                      </m:e>
                      <m:sup>
                        <m:r>
                          <a:rPr lang="en-US" altLang="zh-CN" b="0" i="1" dirty="0" smtClean="0">
                            <a:latin typeface="Cambria Math" panose="02040503050406030204" pitchFamily="18" charset="0"/>
                          </a:rPr>
                          <m:t>−</m:t>
                        </m:r>
                        <m:r>
                          <a:rPr lang="en-US" altLang="zh-CN" i="1" dirty="0" smtClean="0">
                            <a:latin typeface="Cambria Math" panose="02040503050406030204" pitchFamily="18" charset="0"/>
                          </a:rPr>
                          <m:t>1</m:t>
                        </m:r>
                      </m:sup>
                    </m:sSup>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𝑏𝑔</m:t>
                        </m:r>
                      </m:e>
                      <m:sup>
                        <m:r>
                          <a:rPr lang="zh-CN" altLang="en-US" b="0" i="1" dirty="0" smtClean="0">
                            <a:latin typeface="Cambria Math" panose="02040503050406030204" pitchFamily="18" charset="0"/>
                          </a:rPr>
                          <m:t> </m:t>
                        </m:r>
                        <m:r>
                          <a:rPr lang="en-US" altLang="zh-CN" b="0" i="1" dirty="0" smtClean="0">
                            <a:latin typeface="Cambria Math" panose="02040503050406030204" pitchFamily="18" charset="0"/>
                          </a:rPr>
                          <m:t>−2</m:t>
                        </m:r>
                      </m:sup>
                    </m:sSup>
                  </m:oMath>
                </a14:m>
                <a:r>
                  <a:rPr lang="en-US" altLang="zh-CN" dirty="0">
                    <a:latin typeface="Georgia" panose="02040502050405020303" pitchFamily="18" charset="0"/>
                  </a:rPr>
                  <a:t>,</a:t>
                </a:r>
                <a:r>
                  <a:rPr lang="en-US" altLang="zh-CN" b="0"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𝑏𝑔</m:t>
                        </m:r>
                      </m:e>
                      <m:sup>
                        <m:r>
                          <a:rPr lang="en-US" altLang="zh-CN" b="0" i="1" dirty="0" smtClean="0">
                            <a:latin typeface="Cambria Math" panose="02040503050406030204" pitchFamily="18" charset="0"/>
                          </a:rPr>
                          <m:t>−3</m:t>
                        </m:r>
                      </m:sup>
                    </m:sSup>
                    <m:r>
                      <a:rPr lang="en-US" altLang="zh-CN" b="0" i="0" dirty="0" smtClean="0">
                        <a:latin typeface="Cambria Math" panose="02040503050406030204" pitchFamily="18" charset="0"/>
                      </a:rPr>
                      <m:t>,</m:t>
                    </m:r>
                    <m:r>
                      <a:rPr lang="zh-CN" altLang="en-US" b="0" i="0" dirty="0" smtClean="0">
                        <a:latin typeface="Cambria Math" panose="02040503050406030204" pitchFamily="18" charset="0"/>
                      </a:rPr>
                      <m:t> </m:t>
                    </m:r>
                    <m:r>
                      <a:rPr lang="en-US" altLang="zh-CN" b="0" i="0"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𝑏𝑔</m:t>
                        </m:r>
                      </m:e>
                      <m:sup>
                        <m:r>
                          <a:rPr lang="en-US" altLang="zh-CN" b="0" i="1" dirty="0" smtClean="0">
                            <a:latin typeface="Cambria Math" panose="02040503050406030204" pitchFamily="18" charset="0"/>
                          </a:rPr>
                          <m:t>−</m:t>
                        </m:r>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r>
                          <a:rPr lang="zh-CN" altLang="en-US" b="0" i="1" dirty="0" smtClean="0">
                            <a:latin typeface="Cambria Math" panose="02040503050406030204" pitchFamily="18" charset="0"/>
                          </a:rPr>
                          <m:t> </m:t>
                        </m:r>
                      </m:sup>
                    </m:sSup>
                    <m:r>
                      <m:rPr>
                        <m:lit/>
                      </m:rPr>
                      <a:rPr lang="en-US" altLang="zh-CN" b="0" i="1" dirty="0" smtClean="0">
                        <a:latin typeface="Cambria Math" panose="02040503050406030204" pitchFamily="18" charset="0"/>
                      </a:rPr>
                      <m:t>}</m:t>
                    </m:r>
                    <m:r>
                      <a:rPr lang="en-US" altLang="zh-CN" b="0" i="0" dirty="0" smtClean="0">
                        <a:latin typeface="Cambria Math" panose="02040503050406030204" pitchFamily="18" charset="0"/>
                      </a:rPr>
                      <m:t>, </m:t>
                    </m:r>
                  </m:oMath>
                </a14:m>
                <a:r>
                  <a:rPr lang="en-US" altLang="zh-CN" dirty="0">
                    <a:latin typeface="Georgia" panose="02040502050405020303" pitchFamily="18" charset="0"/>
                  </a:rPr>
                  <a:t> where</a:t>
                </a:r>
                <a:r>
                  <a:rPr lang="zh-CN" altLang="en-US"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𝑔</m:t>
                        </m:r>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a:rPr lang="en-US" altLang="zh-CN" b="0" i="1" dirty="0" smtClean="0">
                            <a:latin typeface="Cambria Math" panose="02040503050406030204" pitchFamily="18" charset="0"/>
                          </a:rPr>
                          <m:t>h</m:t>
                        </m:r>
                      </m:e>
                      <m:sup>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sup>
                    </m:sSup>
                  </m:oMath>
                </a14:m>
                <a:endParaRPr lang="en-US" altLang="zh-CN" dirty="0">
                  <a:latin typeface="Georgia" panose="02040502050405020303" pitchFamily="18" charset="0"/>
                </a:endParaRPr>
              </a:p>
              <a:p>
                <a:endParaRPr lang="en-US" dirty="0">
                  <a:latin typeface="Georgia" panose="02040502050405020303" pitchFamily="18" charset="0"/>
                </a:endParaRPr>
              </a:p>
              <a:p>
                <a:r>
                  <a:rPr lang="en-US" altLang="zh-CN" dirty="0">
                    <a:latin typeface="Georgia" panose="02040502050405020303" pitchFamily="18" charset="0"/>
                  </a:rPr>
                  <a:t>Find</a:t>
                </a:r>
                <a:r>
                  <a:rPr lang="zh-CN" altLang="en-US" dirty="0">
                    <a:latin typeface="Georgia" panose="02040502050405020303" pitchFamily="18" charset="0"/>
                  </a:rPr>
                  <a:t> </a:t>
                </a:r>
                <a:r>
                  <a:rPr lang="en-US" altLang="zh-CN" dirty="0">
                    <a:latin typeface="Georgia" panose="02040502050405020303" pitchFamily="18" charset="0"/>
                  </a:rPr>
                  <a:t>two</a:t>
                </a:r>
                <a:r>
                  <a:rPr lang="zh-CN" altLang="en-US" dirty="0">
                    <a:latin typeface="Georgia" panose="02040502050405020303" pitchFamily="18" charset="0"/>
                  </a:rPr>
                  <a:t> </a:t>
                </a:r>
                <a:r>
                  <a:rPr lang="en-US" altLang="zh-CN" dirty="0">
                    <a:latin typeface="Georgia" panose="02040502050405020303" pitchFamily="18" charset="0"/>
                  </a:rPr>
                  <a:t>collided</a:t>
                </a:r>
                <a:r>
                  <a:rPr lang="zh-CN" altLang="en-US" dirty="0">
                    <a:latin typeface="Georgia" panose="02040502050405020303" pitchFamily="18" charset="0"/>
                  </a:rPr>
                  <a:t> </a:t>
                </a:r>
                <a:r>
                  <a:rPr lang="en-US" altLang="zh-CN" dirty="0">
                    <a:latin typeface="Georgia" panose="02040502050405020303" pitchFamily="18" charset="0"/>
                  </a:rPr>
                  <a:t>elements</a:t>
                </a:r>
                <a:r>
                  <a:rPr lang="zh-CN" altLang="en-US" dirty="0">
                    <a:latin typeface="Georgia" panose="02040502050405020303" pitchFamily="18" charset="0"/>
                  </a:rPr>
                  <a:t> </a:t>
                </a:r>
                <a:r>
                  <a:rPr lang="en-US" altLang="zh-CN" dirty="0">
                    <a:latin typeface="Georgia" panose="02040502050405020303" pitchFamily="18" charset="0"/>
                  </a:rPr>
                  <a:t>in</a:t>
                </a:r>
                <a:r>
                  <a:rPr lang="zh-CN" altLang="en-US" dirty="0">
                    <a:latin typeface="Georgia" panose="02040502050405020303" pitchFamily="18" charset="0"/>
                  </a:rPr>
                  <a:t> </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𝐿</m:t>
                        </m:r>
                      </m:e>
                      <m:sub>
                        <m:r>
                          <a:rPr lang="en-US" altLang="zh-CN" i="1" dirty="0" smtClean="0">
                            <a:latin typeface="Cambria Math" panose="02040503050406030204" pitchFamily="18" charset="0"/>
                          </a:rPr>
                          <m:t>0</m:t>
                        </m:r>
                      </m:sub>
                    </m:sSub>
                    <m:r>
                      <a:rPr lang="zh-CN" altLang="en-US" b="0" i="1" dirty="0" smtClean="0">
                        <a:latin typeface="Cambria Math" panose="02040503050406030204" pitchFamily="18" charset="0"/>
                      </a:rPr>
                      <m:t> </m:t>
                    </m:r>
                    <m:r>
                      <a:rPr lang="zh-CN" altLang="en-US" i="1" dirty="0" smtClean="0">
                        <a:latin typeface="Cambria Math" panose="02040503050406030204" pitchFamily="18" charset="0"/>
                      </a:rPr>
                      <m:t> </m:t>
                    </m:r>
                  </m:oMath>
                </a14:m>
                <a:r>
                  <a:rPr lang="en-US" altLang="zh-CN" dirty="0">
                    <a:latin typeface="Georgia" panose="02040502050405020303" pitchFamily="18" charset="0"/>
                  </a:rPr>
                  <a:t>and</a:t>
                </a:r>
                <a:r>
                  <a:rPr lang="zh-CN" altLang="en-US" dirty="0">
                    <a:latin typeface="Georgia" panose="02040502050405020303" pitchFamily="18" charset="0"/>
                  </a:rPr>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𝐿</m:t>
                        </m:r>
                      </m:e>
                      <m:sub>
                        <m:r>
                          <a:rPr lang="en-US" altLang="zh-CN" b="0" i="1" dirty="0" smtClean="0">
                            <a:latin typeface="Cambria Math" panose="02040503050406030204" pitchFamily="18" charset="0"/>
                          </a:rPr>
                          <m:t>1</m:t>
                        </m:r>
                      </m:sub>
                    </m:sSub>
                  </m:oMath>
                </a14:m>
                <a:r>
                  <a:rPr lang="zh-CN" altLang="en-US" dirty="0">
                    <a:latin typeface="Georgia" panose="02040502050405020303" pitchFamily="18" charset="0"/>
                  </a:rPr>
                  <a:t> </a:t>
                </a:r>
                <a:r>
                  <a:rPr lang="en-US" altLang="zh-CN" dirty="0">
                    <a:latin typeface="Georgia" panose="02040502050405020303" pitchFamily="18" charset="0"/>
                  </a:rPr>
                  <a:t>,</a:t>
                </a:r>
                <a:r>
                  <a:rPr lang="zh-CN" altLang="en-US" dirty="0">
                    <a:latin typeface="Georgia" panose="02040502050405020303" pitchFamily="18" charset="0"/>
                  </a:rPr>
                  <a:t> </a:t>
                </a:r>
                <a:r>
                  <a:rPr lang="en-US" altLang="zh-CN" dirty="0">
                    <a:latin typeface="Georgia" panose="02040502050405020303" pitchFamily="18" charset="0"/>
                  </a:rPr>
                  <a:t>such</a:t>
                </a:r>
                <a:r>
                  <a:rPr lang="zh-CN" altLang="en-US" dirty="0">
                    <a:latin typeface="Georgia" panose="02040502050405020303" pitchFamily="18" charset="0"/>
                  </a:rPr>
                  <a:t> </a:t>
                </a:r>
                <a:r>
                  <a:rPr lang="en-US" altLang="zh-CN" dirty="0">
                    <a:latin typeface="Georgia" panose="02040502050405020303" pitchFamily="18" charset="0"/>
                  </a:rPr>
                  <a:t>that</a:t>
                </a:r>
                <a:r>
                  <a:rPr lang="zh-CN" altLang="en-US" dirty="0">
                    <a:latin typeface="Georgia" panose="02040502050405020303" pitchFamily="18" charset="0"/>
                  </a:rPr>
                  <a:t>  </a:t>
                </a:r>
                <a14:m>
                  <m:oMath xmlns:m="http://schemas.openxmlformats.org/officeDocument/2006/math">
                    <m:sSup>
                      <m:sSupPr>
                        <m:ctrlPr>
                          <a:rPr lang="en-US" altLang="zh-CN" b="0" i="1" dirty="0" smtClean="0">
                            <a:latin typeface="Cambria Math" panose="02040503050406030204" pitchFamily="18" charset="0"/>
                          </a:rPr>
                        </m:ctrlPr>
                      </m:sSupPr>
                      <m:e>
                        <m:r>
                          <a:rPr lang="en-US" altLang="zh-CN" i="1" dirty="0" smtClean="0">
                            <a:latin typeface="Cambria Math" panose="02040503050406030204" pitchFamily="18" charset="0"/>
                          </a:rPr>
                          <m:t>h</m:t>
                        </m:r>
                      </m:e>
                      <m:sup>
                        <m:r>
                          <a:rPr lang="en-US" altLang="zh-CN" b="0" i="1" dirty="0" smtClean="0">
                            <a:latin typeface="Cambria Math" panose="02040503050406030204" pitchFamily="18" charset="0"/>
                          </a:rPr>
                          <m:t>𝑖</m:t>
                        </m:r>
                      </m:sup>
                    </m:s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r>
                      <a:rPr lang="zh-CN" altLang="en-US" b="0" i="1" dirty="0" smtClean="0">
                        <a:latin typeface="Cambria Math" panose="02040503050406030204" pitchFamily="18" charset="0"/>
                      </a:rPr>
                      <m:t> </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𝑔</m:t>
                        </m:r>
                      </m:e>
                      <m: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𝑗</m:t>
                        </m:r>
                      </m:sup>
                    </m:sSup>
                  </m:oMath>
                </a14:m>
                <a:r>
                  <a:rPr lang="en-US" altLang="zh-CN" dirty="0">
                    <a:latin typeface="Georgia" panose="02040502050405020303" pitchFamily="18" charset="0"/>
                  </a:rPr>
                  <a:t>,</a:t>
                </a:r>
                <a:r>
                  <a:rPr lang="zh-CN" altLang="en-US" dirty="0">
                    <a:latin typeface="Georgia" panose="02040502050405020303" pitchFamily="18" charset="0"/>
                  </a:rPr>
                  <a:t> </a:t>
                </a:r>
                <a:r>
                  <a:rPr lang="en-US" altLang="zh-CN" dirty="0">
                    <a:latin typeface="Georgia" panose="02040502050405020303" pitchFamily="18" charset="0"/>
                  </a:rPr>
                  <a:t>then</a:t>
                </a:r>
                <a:r>
                  <a:rPr lang="zh-CN" altLang="en-US" dirty="0">
                    <a:latin typeface="Georgia" panose="02040502050405020303" pitchFamily="18" charset="0"/>
                  </a:rPr>
                  <a:t> </a:t>
                </a:r>
                <a14:m>
                  <m:oMath xmlns:m="http://schemas.openxmlformats.org/officeDocument/2006/math">
                    <m:r>
                      <a:rPr lang="en-US" altLang="zh-CN" i="1" dirty="0" smtClean="0">
                        <a:latin typeface="Cambria Math" panose="02040503050406030204" pitchFamily="18" charset="0"/>
                      </a:rPr>
                      <m:t>𝑥</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 </m:t>
                    </m:r>
                    <m:r>
                      <a:rPr lang="en-US" altLang="zh-CN" i="1" dirty="0" err="1" smtClean="0">
                        <a:latin typeface="Cambria Math" panose="02040503050406030204" pitchFamily="18" charset="0"/>
                      </a:rPr>
                      <m:t>𝑖</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m:t>
                    </m:r>
                    <m:rad>
                      <m:radPr>
                        <m:degHide m:val="on"/>
                        <m:ctrlPr>
                          <a:rPr lang="en-US" altLang="zh-CN" b="0" i="1" dirty="0" smtClean="0">
                            <a:latin typeface="Cambria Math" panose="02040503050406030204" pitchFamily="18" charset="0"/>
                          </a:rPr>
                        </m:ctrlPr>
                      </m:radPr>
                      <m:deg/>
                      <m:e>
                        <m:r>
                          <a:rPr lang="en-US" altLang="zh-CN" b="0" i="1" dirty="0" smtClean="0">
                            <a:latin typeface="Cambria Math" panose="02040503050406030204" pitchFamily="18" charset="0"/>
                          </a:rPr>
                          <m:t>𝑁</m:t>
                        </m:r>
                      </m:e>
                    </m:rad>
                    <m:r>
                      <a:rPr lang="en-US" altLang="zh-CN" b="0" i="1" dirty="0" smtClean="0">
                        <a:latin typeface="Cambria Math" panose="02040503050406030204" pitchFamily="18" charset="0"/>
                      </a:rPr>
                      <m:t>×</m:t>
                    </m:r>
                    <m:r>
                      <a:rPr lang="zh-CN" altLang="en-US" b="0" i="1" dirty="0" smtClean="0">
                        <a:latin typeface="Cambria Math" panose="02040503050406030204" pitchFamily="18" charset="0"/>
                      </a:rPr>
                      <m:t> </m:t>
                    </m:r>
                    <m:r>
                      <a:rPr lang="en-US" altLang="zh-CN" i="1" dirty="0" smtClean="0">
                        <a:latin typeface="Cambria Math" panose="02040503050406030204" pitchFamily="18" charset="0"/>
                      </a:rPr>
                      <m:t>𝑗</m:t>
                    </m:r>
                    <m:r>
                      <a:rPr lang="zh-CN" altLang="en-US" i="1" dirty="0" smtClean="0">
                        <a:latin typeface="Cambria Math" panose="02040503050406030204" pitchFamily="18" charset="0"/>
                      </a:rPr>
                      <m:t> </m:t>
                    </m:r>
                  </m:oMath>
                </a14:m>
                <a:endParaRPr lang="en-US" dirty="0">
                  <a:latin typeface="Georgia" panose="02040502050405020303" pitchFamily="18" charset="0"/>
                </a:endParaRPr>
              </a:p>
              <a:p>
                <a:endParaRPr lang="en-US" dirty="0">
                  <a:latin typeface="Georgia" panose="02040502050405020303" pitchFamily="18" charset="0"/>
                </a:endParaRPr>
              </a:p>
              <a:p>
                <a:r>
                  <a:rPr lang="en-US" altLang="zh-CN" sz="2000" b="1" dirty="0">
                    <a:solidFill>
                      <a:srgbClr val="FF0000"/>
                    </a:solidFill>
                    <a:latin typeface="Georgia" panose="02040502050405020303" pitchFamily="18" charset="0"/>
                  </a:rPr>
                  <a:t>In-Class</a:t>
                </a:r>
                <a:r>
                  <a:rPr lang="zh-CN" altLang="en-US" sz="2000" b="1" dirty="0">
                    <a:solidFill>
                      <a:srgbClr val="FF0000"/>
                    </a:solidFill>
                    <a:latin typeface="Georgia" panose="02040502050405020303" pitchFamily="18" charset="0"/>
                  </a:rPr>
                  <a:t> </a:t>
                </a:r>
                <a:r>
                  <a:rPr lang="en-US" altLang="zh-CN" sz="2000" b="1" dirty="0">
                    <a:solidFill>
                      <a:srgbClr val="FF0000"/>
                    </a:solidFill>
                    <a:latin typeface="Georgia" panose="02040502050405020303" pitchFamily="18" charset="0"/>
                  </a:rPr>
                  <a:t>Quiz</a:t>
                </a:r>
                <a:r>
                  <a:rPr lang="en-US" altLang="zh-CN" sz="2000" b="1" dirty="0">
                    <a:latin typeface="Georgia" panose="02040502050405020303" pitchFamily="18" charset="0"/>
                  </a:rPr>
                  <a:t>:</a:t>
                </a:r>
                <a:r>
                  <a:rPr lang="zh-CN" altLang="en-US" sz="2000" b="1" dirty="0">
                    <a:latin typeface="Georgia" panose="02040502050405020303" pitchFamily="18" charset="0"/>
                  </a:rPr>
                  <a:t> </a:t>
                </a:r>
                <a:r>
                  <a:rPr lang="en-US" altLang="zh-CN" sz="2000" b="1" dirty="0">
                    <a:latin typeface="Georgia" panose="02040502050405020303" pitchFamily="18" charset="0"/>
                  </a:rPr>
                  <a:t>P</a:t>
                </a:r>
                <a:r>
                  <a:rPr lang="en-US" sz="2000" b="1" dirty="0">
                    <a:latin typeface="Georgia" panose="02040502050405020303" pitchFamily="18" charset="0"/>
                  </a:rPr>
                  <a:t>rove that there always exists a collision between the two lists</a:t>
                </a:r>
              </a:p>
              <a:p>
                <a:endParaRPr lang="en-US" sz="2000" b="1" dirty="0">
                  <a:latin typeface="Georgia" panose="02040502050405020303" pitchFamily="18" charset="0"/>
                </a:endParaRPr>
              </a:p>
              <a:p>
                <a:r>
                  <a:rPr lang="en-US" sz="2000" b="1" dirty="0">
                    <a:latin typeface="Georgia" panose="02040502050405020303" pitchFamily="18" charset="0"/>
                  </a:rPr>
                  <a:t>Quiz Code: </a:t>
                </a:r>
                <a:r>
                  <a:rPr lang="en-US" sz="2000" b="1" i="0" dirty="0">
                    <a:solidFill>
                      <a:srgbClr val="273540"/>
                    </a:solidFill>
                    <a:effectLst/>
                    <a:latin typeface="Georgia" panose="02040502050405020303" pitchFamily="18" charset="0"/>
                  </a:rPr>
                  <a:t>Crypto57556</a:t>
                </a:r>
                <a:endParaRPr lang="en-US" sz="2000" b="1" dirty="0">
                  <a:latin typeface="Georgia" panose="02040502050405020303" pitchFamily="18" charset="0"/>
                </a:endParaRPr>
              </a:p>
            </p:txBody>
          </p:sp>
        </mc:Choice>
        <mc:Fallback xmlns="">
          <p:sp>
            <p:nvSpPr>
              <p:cNvPr id="25" name="TextBox 24">
                <a:extLst>
                  <a:ext uri="{FF2B5EF4-FFF2-40B4-BE49-F238E27FC236}">
                    <a16:creationId xmlns:a16="http://schemas.microsoft.com/office/drawing/2014/main" id="{EF330F26-8315-09CF-FDF5-1A498BB7B68B}"/>
                  </a:ext>
                </a:extLst>
              </p:cNvPr>
              <p:cNvSpPr txBox="1">
                <a:spLocks noRot="1" noChangeAspect="1" noMove="1" noResize="1" noEditPoints="1" noAdjustHandles="1" noChangeArrowheads="1" noChangeShapeType="1" noTextEdit="1"/>
              </p:cNvSpPr>
              <p:nvPr/>
            </p:nvSpPr>
            <p:spPr>
              <a:xfrm>
                <a:off x="838199" y="2291409"/>
                <a:ext cx="10883538" cy="4213076"/>
              </a:xfrm>
              <a:prstGeom prst="rect">
                <a:avLst/>
              </a:prstGeom>
              <a:blipFill>
                <a:blip r:embed="rId3"/>
                <a:stretch>
                  <a:fillRect l="-582" t="-601" b="-1802"/>
                </a:stretch>
              </a:blipFill>
            </p:spPr>
            <p:txBody>
              <a:bodyPr/>
              <a:lstStyle/>
              <a:p>
                <a:r>
                  <a:rPr lang="en-US">
                    <a:noFill/>
                  </a:rPr>
                  <a:t> </a:t>
                </a:r>
              </a:p>
            </p:txBody>
          </p:sp>
        </mc:Fallback>
      </mc:AlternateContent>
      <p:sp>
        <p:nvSpPr>
          <p:cNvPr id="26" name="Rectangle 25">
            <a:extLst>
              <a:ext uri="{FF2B5EF4-FFF2-40B4-BE49-F238E27FC236}">
                <a16:creationId xmlns:a16="http://schemas.microsoft.com/office/drawing/2014/main" id="{B9E85ECD-6E06-B1CC-639F-83D01D8C86AE}"/>
              </a:ext>
            </a:extLst>
          </p:cNvPr>
          <p:cNvSpPr/>
          <p:nvPr/>
        </p:nvSpPr>
        <p:spPr>
          <a:xfrm>
            <a:off x="470263" y="2328786"/>
            <a:ext cx="11560629" cy="299135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35C6C3E-F7F8-CE00-8BD3-83F37817DE55}"/>
              </a:ext>
            </a:extLst>
          </p:cNvPr>
          <p:cNvSpPr/>
          <p:nvPr/>
        </p:nvSpPr>
        <p:spPr>
          <a:xfrm>
            <a:off x="552994" y="5438600"/>
            <a:ext cx="11560629" cy="10542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918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6"/>
                                        </p:tgtEl>
                                      </p:cBhvr>
                                    </p:animEffect>
                                    <p:set>
                                      <p:cBhvr>
                                        <p:cTn id="7" dur="1" fill="hold">
                                          <p:stCondLst>
                                            <p:cond delay="499"/>
                                          </p:stCondLst>
                                        </p:cTn>
                                        <p:tgtEl>
                                          <p:spTgt spid="2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grpId="0" nodeType="clickEffect">
                                  <p:stCondLst>
                                    <p:cond delay="0"/>
                                  </p:stCondLst>
                                  <p:childTnLst>
                                    <p:animEffect transition="out" filter="dissolve">
                                      <p:cBhvr>
                                        <p:cTn id="11" dur="500"/>
                                        <p:tgtEl>
                                          <p:spTgt spid="29"/>
                                        </p:tgtEl>
                                      </p:cBhvr>
                                    </p:animEffect>
                                    <p:set>
                                      <p:cBhvr>
                                        <p:cTn id="12" dur="1" fill="hold">
                                          <p:stCondLst>
                                            <p:cond delay="4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E9FB3-4A93-4CDB-84B7-E950CEB6ECB0}"/>
              </a:ext>
            </a:extLst>
          </p:cNvPr>
          <p:cNvSpPr>
            <a:spLocks noGrp="1"/>
          </p:cNvSpPr>
          <p:nvPr>
            <p:ph type="title"/>
          </p:nvPr>
        </p:nvSpPr>
        <p:spPr>
          <a:xfrm>
            <a:off x="589429" y="1179328"/>
            <a:ext cx="10971199" cy="1325563"/>
          </a:xfrm>
        </p:spPr>
        <p:txBody>
          <a:bodyPr/>
          <a:lstStyle/>
          <a:p>
            <a:pPr algn="ctr"/>
            <a:r>
              <a:rPr lang="en-US" dirty="0">
                <a:latin typeface="Georgia" panose="02040502050405020303" pitchFamily="18" charset="0"/>
              </a:rPr>
              <a:t> </a:t>
            </a:r>
            <a:r>
              <a:rPr lang="en-US" dirty="0">
                <a:solidFill>
                  <a:srgbClr val="FF0000"/>
                </a:solidFill>
                <a:latin typeface="Georgia" panose="02040502050405020303" pitchFamily="18" charset="0"/>
              </a:rPr>
              <a:t>(NOT) </a:t>
            </a:r>
            <a:r>
              <a:rPr lang="en-US" dirty="0">
                <a:latin typeface="Georgia" panose="02040502050405020303" pitchFamily="18" charset="0"/>
              </a:rPr>
              <a:t>All Background You Need for This Course</a:t>
            </a:r>
          </a:p>
        </p:txBody>
      </p:sp>
      <p:sp>
        <p:nvSpPr>
          <p:cNvPr id="3" name="Content Placeholder 2">
            <a:extLst>
              <a:ext uri="{FF2B5EF4-FFF2-40B4-BE49-F238E27FC236}">
                <a16:creationId xmlns:a16="http://schemas.microsoft.com/office/drawing/2014/main" id="{0D89DB11-763D-B154-DFDC-75FE8F315883}"/>
              </a:ext>
            </a:extLst>
          </p:cNvPr>
          <p:cNvSpPr>
            <a:spLocks noGrp="1"/>
          </p:cNvSpPr>
          <p:nvPr>
            <p:ph idx="1"/>
          </p:nvPr>
        </p:nvSpPr>
        <p:spPr>
          <a:xfrm>
            <a:off x="889229" y="3072652"/>
            <a:ext cx="10515600" cy="2403317"/>
          </a:xfrm>
        </p:spPr>
        <p:txBody>
          <a:bodyPr/>
          <a:lstStyle/>
          <a:p>
            <a:pPr marL="0" indent="0" algn="ctr">
              <a:buNone/>
            </a:pPr>
            <a:r>
              <a:rPr lang="en-US" dirty="0">
                <a:hlinkClick r:id="rId2"/>
              </a:rPr>
              <a:t>https://joyofcryptography.com/pdf/chap0.pdf</a:t>
            </a:r>
            <a:endParaRPr lang="en-US" dirty="0"/>
          </a:p>
          <a:p>
            <a:pPr algn="ctr"/>
            <a:endParaRPr lang="en-US" dirty="0"/>
          </a:p>
        </p:txBody>
      </p:sp>
      <p:sp>
        <p:nvSpPr>
          <p:cNvPr id="4" name="Rectangle 3">
            <a:extLst>
              <a:ext uri="{FF2B5EF4-FFF2-40B4-BE49-F238E27FC236}">
                <a16:creationId xmlns:a16="http://schemas.microsoft.com/office/drawing/2014/main" id="{EB674673-F8CF-B06D-F37D-8924AFAFDC36}"/>
              </a:ext>
            </a:extLst>
          </p:cNvPr>
          <p:cNvSpPr/>
          <p:nvPr/>
        </p:nvSpPr>
        <p:spPr>
          <a:xfrm>
            <a:off x="889229" y="1021278"/>
            <a:ext cx="1925223" cy="9381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2670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4FF7B-0EC5-466C-BC53-F09E4566CA4C}"/>
              </a:ext>
            </a:extLst>
          </p:cNvPr>
          <p:cNvSpPr>
            <a:spLocks noGrp="1"/>
          </p:cNvSpPr>
          <p:nvPr>
            <p:ph type="title"/>
          </p:nvPr>
        </p:nvSpPr>
        <p:spPr/>
        <p:txBody>
          <a:bodyPr/>
          <a:lstStyle/>
          <a:p>
            <a:r>
              <a:rPr lang="en-US" dirty="0">
                <a:latin typeface="Georgia" panose="02040502050405020303" pitchFamily="18" charset="0"/>
              </a:rPr>
              <a:t>Exponentiation and log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C2AA891-18B8-AE5E-D12E-F36D5C2A22F5}"/>
                  </a:ext>
                </a:extLst>
              </p:cNvPr>
              <p:cNvSpPr>
                <a:spLocks noGrp="1"/>
              </p:cNvSpPr>
              <p:nvPr>
                <p:ph idx="1"/>
              </p:nvPr>
            </p:nvSpPr>
            <p:spPr/>
            <p:txBody>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sup>
                    </m:sSup>
                  </m:oMath>
                </a14:m>
                <a:endParaRPr lang="en-US" b="0" dirty="0">
                  <a:latin typeface="Georgia" panose="02040502050405020303" pitchFamily="18" charset="0"/>
                </a:endParaRP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endParaRPr lang="en-US" dirty="0">
                  <a:latin typeface="Georgia" panose="02040502050405020303" pitchFamily="18" charset="0"/>
                </a:endParaRPr>
              </a:p>
              <a:p>
                <a14:m>
                  <m:oMath xmlns:m="http://schemas.openxmlformats.org/officeDocument/2006/math">
                    <m:sSup>
                      <m:sSupPr>
                        <m:ctrlPr>
                          <a:rPr lang="en-US" b="0" i="1" smtClean="0">
                            <a:latin typeface="Cambria Math" panose="02040503050406030204" pitchFamily="18" charset="0"/>
                          </a:rPr>
                        </m:ctrlPr>
                      </m:sSupPr>
                      <m:e>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𝑥</m:t>
                                </m:r>
                              </m:sub>
                            </m:sSub>
                          </m:fName>
                          <m:e>
                            <m:r>
                              <a:rPr lang="en-US" i="1">
                                <a:latin typeface="Cambria Math" panose="02040503050406030204" pitchFamily="18" charset="0"/>
                              </a:rPr>
                              <m:t>𝑎𝑏</m:t>
                            </m:r>
                            <m:r>
                              <a:rPr lang="en-US" i="1">
                                <a:latin typeface="Cambria Math" panose="02040503050406030204" pitchFamily="18" charset="0"/>
                              </a:rPr>
                              <m:t> </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𝑎</m:t>
                            </m:r>
                          </m:e>
                        </m:func>
                      </m:e>
                      <m:sup>
                        <m:r>
                          <a:rPr lang="en-US" b="0" i="1" smtClean="0">
                            <a:latin typeface="Cambria Math" panose="02040503050406030204" pitchFamily="18" charset="0"/>
                          </a:rPr>
                          <m:t> </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𝑏</m:t>
                        </m:r>
                      </m:e>
                    </m:func>
                  </m:oMath>
                </a14:m>
                <a:endParaRPr lang="en-US" b="0" dirty="0">
                  <a:latin typeface="Georgia" panose="02040502050405020303" pitchFamily="18" charset="0"/>
                </a:endParaRPr>
              </a:p>
              <a:p>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a:rPr lang="en-US" i="1">
                                <a:latin typeface="Cambria Math" panose="02040503050406030204" pitchFamily="18" charset="0"/>
                              </a:rPr>
                              <m:t>𝑎</m:t>
                            </m:r>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r>
                          <a:rPr lang="en-US" b="0" i="1" smtClean="0">
                            <a:latin typeface="Cambria Math" panose="02040503050406030204" pitchFamily="18" charset="0"/>
                          </a:rPr>
                          <m:t>𝑏</m:t>
                        </m:r>
                        <m:r>
                          <a:rPr lang="en-US" b="0" i="1" smtClean="0">
                            <a:latin typeface="Cambria Math" panose="02040503050406030204" pitchFamily="18" charset="0"/>
                          </a:rPr>
                          <m:t> </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𝑥</m:t>
                            </m:r>
                          </m:sub>
                        </m:sSub>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𝑎</m:t>
                            </m:r>
                          </m:sup>
                        </m:sSup>
                      </m:e>
                    </m:func>
                  </m:oMath>
                </a14:m>
                <a:endParaRPr lang="en-US" dirty="0">
                  <a:latin typeface="Georgia" panose="02040502050405020303" pitchFamily="18" charset="0"/>
                </a:endParaRPr>
              </a:p>
              <a:p>
                <a:endParaRPr lang="en-US" dirty="0">
                  <a:latin typeface="Georgia" panose="02040502050405020303" pitchFamily="18" charset="0"/>
                </a:endParaRPr>
              </a:p>
              <a:p>
                <a:endParaRPr lang="en-US" dirty="0">
                  <a:latin typeface="Georgia" panose="02040502050405020303" pitchFamily="18" charset="0"/>
                </a:endParaRP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oMath>
                </a14:m>
                <a:r>
                  <a:rPr lang="en-US" dirty="0">
                    <a:latin typeface="Georgia" panose="02040502050405020303" pitchFamily="18" charset="0"/>
                  </a:rPr>
                  <a:t> is </a:t>
                </a:r>
                <a:r>
                  <a:rPr lang="en-US" b="1" dirty="0">
                    <a:latin typeface="Georgia" panose="02040502050405020303" pitchFamily="18" charset="0"/>
                  </a:rPr>
                  <a:t>not</a:t>
                </a:r>
                <a:r>
                  <a:rPr lang="en-US" dirty="0">
                    <a:latin typeface="Georgia" panose="02040502050405020303" pitchFamily="18" charset="0"/>
                  </a:rPr>
                  <a:t> equal to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r>
                  <a:rPr lang="en-US" dirty="0">
                    <a:latin typeface="Georgia" panose="02040502050405020303" pitchFamily="18" charset="0"/>
                  </a:rPr>
                  <a:t> !!!</a:t>
                </a:r>
              </a:p>
              <a:p>
                <a:endParaRPr lang="en-US" dirty="0">
                  <a:latin typeface="Georgia" panose="02040502050405020303" pitchFamily="18" charset="0"/>
                </a:endParaRPr>
              </a:p>
            </p:txBody>
          </p:sp>
        </mc:Choice>
        <mc:Fallback xmlns="">
          <p:sp>
            <p:nvSpPr>
              <p:cNvPr id="3" name="Content Placeholder 2">
                <a:extLst>
                  <a:ext uri="{FF2B5EF4-FFF2-40B4-BE49-F238E27FC236}">
                    <a16:creationId xmlns:a16="http://schemas.microsoft.com/office/drawing/2014/main" id="{EC2AA891-18B8-AE5E-D12E-F36D5C2A22F5}"/>
                  </a:ext>
                </a:extLst>
              </p:cNvPr>
              <p:cNvSpPr>
                <a:spLocks noGrp="1" noRot="1" noChangeAspect="1" noMove="1" noResize="1" noEditPoints="1" noAdjustHandles="1" noChangeArrowheads="1" noChangeShapeType="1" noTextEdit="1"/>
              </p:cNvSpPr>
              <p:nvPr>
                <p:ph idx="1"/>
              </p:nvPr>
            </p:nvSpPr>
            <p:spPr>
              <a:blipFill>
                <a:blip r:embed="rId2"/>
                <a:stretch>
                  <a:fillRect l="-1086" t="-1453"/>
                </a:stretch>
              </a:blipFill>
            </p:spPr>
            <p:txBody>
              <a:bodyPr/>
              <a:lstStyle/>
              <a:p>
                <a:r>
                  <a:rPr lang="en-US">
                    <a:noFill/>
                  </a:rPr>
                  <a:t> </a:t>
                </a:r>
              </a:p>
            </p:txBody>
          </p:sp>
        </mc:Fallback>
      </mc:AlternateContent>
    </p:spTree>
    <p:extLst>
      <p:ext uri="{BB962C8B-B14F-4D97-AF65-F5344CB8AC3E}">
        <p14:creationId xmlns:p14="http://schemas.microsoft.com/office/powerpoint/2010/main" val="3190851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US" dirty="0">
                <a:latin typeface="Georgia" panose="02040502050405020303" pitchFamily="18" charset="0"/>
              </a:rPr>
              <a:t>Prime Number</a:t>
            </a:r>
          </a:p>
        </p:txBody>
      </p:sp>
      <p:sp>
        <p:nvSpPr>
          <p:cNvPr id="192515" name="Rectangle 3" descr="Rectangle: Click to edit Master text styles&#10;Second level&#10;Third level&#10;Fourth level&#10;Fifth level"/>
          <p:cNvSpPr>
            <a:spLocks noGrp="1" noChangeArrowheads="1"/>
          </p:cNvSpPr>
          <p:nvPr>
            <p:ph idx="1"/>
          </p:nvPr>
        </p:nvSpPr>
        <p:spPr>
          <a:xfrm>
            <a:off x="838200" y="1505239"/>
            <a:ext cx="10515600" cy="4987636"/>
          </a:xfrm>
        </p:spPr>
        <p:txBody>
          <a:bodyPr>
            <a:normAutofit lnSpcReduction="10000"/>
          </a:bodyPr>
          <a:lstStyle/>
          <a:p>
            <a:pPr>
              <a:lnSpc>
                <a:spcPct val="90000"/>
              </a:lnSpc>
            </a:pPr>
            <a:r>
              <a:rPr lang="en-US" sz="2400" dirty="0">
                <a:latin typeface="Georgia" panose="02040502050405020303" pitchFamily="18" charset="0"/>
              </a:rPr>
              <a:t>Prime number </a:t>
            </a:r>
            <a:r>
              <a:rPr lang="en-US" sz="2400" b="1" i="1" dirty="0">
                <a:latin typeface="Georgia" panose="02040502050405020303" pitchFamily="18" charset="0"/>
              </a:rPr>
              <a:t>p</a:t>
            </a:r>
            <a:r>
              <a:rPr lang="en-US" sz="2400" dirty="0">
                <a:latin typeface="Georgia" panose="02040502050405020303" pitchFamily="18" charset="0"/>
              </a:rPr>
              <a:t>:</a:t>
            </a:r>
          </a:p>
          <a:p>
            <a:pPr lvl="1">
              <a:lnSpc>
                <a:spcPct val="90000"/>
              </a:lnSpc>
            </a:pPr>
            <a:r>
              <a:rPr lang="en-US" sz="2000" b="1" i="1" dirty="0">
                <a:latin typeface="Georgia" panose="02040502050405020303" pitchFamily="18" charset="0"/>
              </a:rPr>
              <a:t>p</a:t>
            </a:r>
            <a:r>
              <a:rPr lang="en-US" sz="2000" dirty="0">
                <a:latin typeface="Georgia" panose="02040502050405020303" pitchFamily="18" charset="0"/>
              </a:rPr>
              <a:t> </a:t>
            </a:r>
            <a:r>
              <a:rPr lang="en-US" sz="2000" dirty="0">
                <a:latin typeface="Georgia" panose="02040502050405020303" pitchFamily="18" charset="0"/>
                <a:sym typeface="Symbol" pitchFamily="18" charset="2"/>
              </a:rPr>
              <a:t>is an integer</a:t>
            </a:r>
            <a:endParaRPr lang="en-US" sz="2000" b="1" i="1" dirty="0">
              <a:latin typeface="Georgia" panose="02040502050405020303" pitchFamily="18" charset="0"/>
            </a:endParaRPr>
          </a:p>
          <a:p>
            <a:pPr lvl="1">
              <a:lnSpc>
                <a:spcPct val="90000"/>
              </a:lnSpc>
            </a:pPr>
            <a:r>
              <a:rPr lang="en-US" sz="2000" b="1" i="1" dirty="0">
                <a:latin typeface="Georgia" panose="02040502050405020303" pitchFamily="18" charset="0"/>
              </a:rPr>
              <a:t>p</a:t>
            </a:r>
            <a:r>
              <a:rPr lang="en-US" sz="2000" dirty="0">
                <a:latin typeface="Georgia" panose="02040502050405020303" pitchFamily="18" charset="0"/>
              </a:rPr>
              <a:t> </a:t>
            </a:r>
            <a:r>
              <a:rPr lang="en-US" sz="2000" dirty="0">
                <a:latin typeface="Georgia" panose="02040502050405020303" pitchFamily="18" charset="0"/>
                <a:sym typeface="Symbol" pitchFamily="18" charset="2"/>
              </a:rPr>
              <a:t> 2</a:t>
            </a:r>
          </a:p>
          <a:p>
            <a:pPr lvl="1">
              <a:lnSpc>
                <a:spcPct val="90000"/>
              </a:lnSpc>
            </a:pPr>
            <a:r>
              <a:rPr lang="en-US" sz="2000" dirty="0">
                <a:latin typeface="Georgia" panose="02040502050405020303" pitchFamily="18" charset="0"/>
                <a:sym typeface="Symbol" pitchFamily="18" charset="2"/>
              </a:rPr>
              <a:t>The only divisors of </a:t>
            </a:r>
            <a:r>
              <a:rPr lang="en-US" sz="2000" b="1" i="1" dirty="0">
                <a:latin typeface="Georgia" panose="02040502050405020303" pitchFamily="18" charset="0"/>
                <a:sym typeface="Symbol" pitchFamily="18" charset="2"/>
              </a:rPr>
              <a:t>p</a:t>
            </a:r>
            <a:r>
              <a:rPr lang="en-US" sz="2000" dirty="0">
                <a:latin typeface="Georgia" panose="02040502050405020303" pitchFamily="18" charset="0"/>
                <a:sym typeface="Symbol" pitchFamily="18" charset="2"/>
              </a:rPr>
              <a:t> are 1 and </a:t>
            </a:r>
            <a:r>
              <a:rPr lang="en-US" sz="2000" b="1" i="1" dirty="0">
                <a:latin typeface="Georgia" panose="02040502050405020303" pitchFamily="18" charset="0"/>
                <a:sym typeface="Symbol" pitchFamily="18" charset="2"/>
              </a:rPr>
              <a:t>p</a:t>
            </a:r>
          </a:p>
          <a:p>
            <a:pPr>
              <a:lnSpc>
                <a:spcPct val="90000"/>
              </a:lnSpc>
            </a:pPr>
            <a:r>
              <a:rPr lang="en-US" sz="2400" dirty="0">
                <a:latin typeface="Georgia" panose="02040502050405020303" pitchFamily="18" charset="0"/>
                <a:sym typeface="Symbol" pitchFamily="18" charset="2"/>
              </a:rPr>
              <a:t>Examples</a:t>
            </a:r>
          </a:p>
          <a:p>
            <a:pPr lvl="1">
              <a:lnSpc>
                <a:spcPct val="90000"/>
              </a:lnSpc>
            </a:pPr>
            <a:r>
              <a:rPr lang="en-US" sz="2000" dirty="0">
                <a:latin typeface="Georgia" panose="02040502050405020303" pitchFamily="18" charset="0"/>
              </a:rPr>
              <a:t>2, 7, 19 </a:t>
            </a:r>
            <a:r>
              <a:rPr lang="en-US" sz="2000" dirty="0">
                <a:latin typeface="Georgia" panose="02040502050405020303" pitchFamily="18" charset="0"/>
                <a:sym typeface="Symbol" pitchFamily="18" charset="2"/>
              </a:rPr>
              <a:t>are primes</a:t>
            </a:r>
          </a:p>
          <a:p>
            <a:pPr lvl="1">
              <a:lnSpc>
                <a:spcPct val="90000"/>
              </a:lnSpc>
            </a:pPr>
            <a:r>
              <a:rPr lang="en-US" sz="2000" dirty="0">
                <a:latin typeface="Georgia" panose="02040502050405020303" pitchFamily="18" charset="0"/>
                <a:sym typeface="Symbol" pitchFamily="18" charset="2"/>
              </a:rPr>
              <a:t>-3, 0, 1, 6 are not primes</a:t>
            </a:r>
          </a:p>
          <a:p>
            <a:pPr>
              <a:lnSpc>
                <a:spcPct val="90000"/>
              </a:lnSpc>
            </a:pPr>
            <a:r>
              <a:rPr lang="en-US" sz="2400" dirty="0">
                <a:latin typeface="Georgia" panose="02040502050405020303" pitchFamily="18" charset="0"/>
                <a:sym typeface="Symbol" pitchFamily="18" charset="2"/>
              </a:rPr>
              <a:t>Prime decomposition of a positive integer </a:t>
            </a:r>
            <a:r>
              <a:rPr lang="en-US" sz="2400" b="1" i="1" dirty="0">
                <a:latin typeface="Georgia" panose="02040502050405020303" pitchFamily="18" charset="0"/>
              </a:rPr>
              <a:t>n</a:t>
            </a:r>
            <a:r>
              <a:rPr lang="en-US" sz="2400" dirty="0">
                <a:latin typeface="Georgia" panose="02040502050405020303" pitchFamily="18" charset="0"/>
                <a:sym typeface="Symbol" pitchFamily="18" charset="2"/>
              </a:rPr>
              <a:t>:</a:t>
            </a:r>
          </a:p>
          <a:p>
            <a:pPr>
              <a:lnSpc>
                <a:spcPct val="90000"/>
              </a:lnSpc>
              <a:buFont typeface="Wingdings" charset="2"/>
              <a:buNone/>
            </a:pPr>
            <a:r>
              <a:rPr lang="en-US" sz="2400" dirty="0">
                <a:latin typeface="Georgia" panose="02040502050405020303" pitchFamily="18" charset="0"/>
                <a:sym typeface="Symbol" pitchFamily="18" charset="2"/>
              </a:rPr>
              <a:t>		</a:t>
            </a:r>
            <a:r>
              <a:rPr lang="en-US" sz="2400" b="1" i="1" dirty="0">
                <a:latin typeface="Georgia" panose="02040502050405020303" pitchFamily="18" charset="0"/>
                <a:sym typeface="Symbol" pitchFamily="18" charset="2"/>
              </a:rPr>
              <a:t>n</a:t>
            </a:r>
            <a:r>
              <a:rPr lang="en-US" sz="2400" dirty="0">
                <a:latin typeface="Georgia" panose="02040502050405020303" pitchFamily="18" charset="0"/>
                <a:sym typeface="Symbol" pitchFamily="18" charset="2"/>
              </a:rPr>
              <a:t> = </a:t>
            </a:r>
            <a:r>
              <a:rPr lang="en-US" sz="2400" b="1" i="1" dirty="0">
                <a:latin typeface="Georgia" panose="02040502050405020303" pitchFamily="18" charset="0"/>
                <a:sym typeface="Symbol" pitchFamily="18" charset="2"/>
              </a:rPr>
              <a:t>p</a:t>
            </a:r>
            <a:r>
              <a:rPr lang="en-US" sz="2400" baseline="-25000" dirty="0">
                <a:latin typeface="Georgia" panose="02040502050405020303" pitchFamily="18" charset="0"/>
                <a:sym typeface="Symbol" pitchFamily="18" charset="2"/>
              </a:rPr>
              <a:t>1</a:t>
            </a:r>
            <a:r>
              <a:rPr lang="en-US" b="1" i="1" baseline="30000" dirty="0">
                <a:latin typeface="Georgia" panose="02040502050405020303" pitchFamily="18" charset="0"/>
                <a:sym typeface="Symbol" pitchFamily="18" charset="2"/>
              </a:rPr>
              <a:t>e</a:t>
            </a:r>
            <a:r>
              <a:rPr lang="en-US" sz="1400" dirty="0">
                <a:latin typeface="Georgia" panose="02040502050405020303" pitchFamily="18" charset="0"/>
                <a:sym typeface="Symbol" pitchFamily="18" charset="2"/>
              </a:rPr>
              <a:t>1</a:t>
            </a:r>
            <a:r>
              <a:rPr lang="en-US" sz="2400" dirty="0">
                <a:latin typeface="Georgia" panose="02040502050405020303" pitchFamily="18" charset="0"/>
                <a:sym typeface="Symbol" pitchFamily="18" charset="2"/>
              </a:rPr>
              <a:t>  …  </a:t>
            </a:r>
            <a:r>
              <a:rPr lang="en-US" sz="2400" b="1" i="1" dirty="0" err="1">
                <a:latin typeface="Georgia" panose="02040502050405020303" pitchFamily="18" charset="0"/>
                <a:sym typeface="Symbol" pitchFamily="18" charset="2"/>
              </a:rPr>
              <a:t>p</a:t>
            </a:r>
            <a:r>
              <a:rPr lang="en-US" sz="2400" b="1" i="1" baseline="-25000" dirty="0" err="1">
                <a:latin typeface="Georgia" panose="02040502050405020303" pitchFamily="18" charset="0"/>
                <a:sym typeface="Symbol" pitchFamily="18" charset="2"/>
              </a:rPr>
              <a:t>k</a:t>
            </a:r>
            <a:r>
              <a:rPr lang="en-US" b="1" i="1" baseline="30000" dirty="0" err="1">
                <a:latin typeface="Georgia" panose="02040502050405020303" pitchFamily="18" charset="0"/>
                <a:sym typeface="Symbol" pitchFamily="18" charset="2"/>
              </a:rPr>
              <a:t>e</a:t>
            </a:r>
            <a:r>
              <a:rPr lang="en-US" sz="1400" b="1" i="1" dirty="0" err="1">
                <a:latin typeface="Georgia" panose="02040502050405020303" pitchFamily="18" charset="0"/>
                <a:sym typeface="Symbol" pitchFamily="18" charset="2"/>
              </a:rPr>
              <a:t>k</a:t>
            </a:r>
            <a:endParaRPr lang="en-US" sz="2400" b="1" i="1" dirty="0">
              <a:latin typeface="Georgia" panose="02040502050405020303" pitchFamily="18" charset="0"/>
              <a:sym typeface="Symbol" pitchFamily="18" charset="2"/>
            </a:endParaRPr>
          </a:p>
          <a:p>
            <a:pPr>
              <a:lnSpc>
                <a:spcPct val="90000"/>
              </a:lnSpc>
            </a:pPr>
            <a:r>
              <a:rPr lang="en-US" sz="2400" dirty="0">
                <a:latin typeface="Georgia" panose="02040502050405020303" pitchFamily="18" charset="0"/>
              </a:rPr>
              <a:t>Example:</a:t>
            </a:r>
          </a:p>
          <a:p>
            <a:pPr lvl="1">
              <a:lnSpc>
                <a:spcPct val="90000"/>
              </a:lnSpc>
            </a:pPr>
            <a:r>
              <a:rPr lang="en-US" sz="2000" dirty="0">
                <a:latin typeface="Georgia" panose="02040502050405020303" pitchFamily="18" charset="0"/>
              </a:rPr>
              <a:t>200 = 2</a:t>
            </a:r>
            <a:r>
              <a:rPr lang="en-US" sz="2000" baseline="30000" dirty="0">
                <a:latin typeface="Georgia" panose="02040502050405020303" pitchFamily="18" charset="0"/>
              </a:rPr>
              <a:t>3</a:t>
            </a:r>
            <a:r>
              <a:rPr lang="en-US" sz="2000" dirty="0">
                <a:latin typeface="Georgia" panose="02040502050405020303" pitchFamily="18" charset="0"/>
              </a:rPr>
              <a:t> </a:t>
            </a:r>
            <a:r>
              <a:rPr lang="en-US" sz="2000" dirty="0">
                <a:latin typeface="Georgia" panose="02040502050405020303" pitchFamily="18" charset="0"/>
                <a:sym typeface="Symbol" pitchFamily="18" charset="2"/>
              </a:rPr>
              <a:t> 5</a:t>
            </a:r>
            <a:r>
              <a:rPr lang="en-US" sz="2000" baseline="30000" dirty="0">
                <a:latin typeface="Georgia" panose="02040502050405020303" pitchFamily="18" charset="0"/>
                <a:sym typeface="Symbol" pitchFamily="18" charset="2"/>
              </a:rPr>
              <a:t>2</a:t>
            </a:r>
          </a:p>
          <a:p>
            <a:endParaRPr lang="en-US" baseline="30000" dirty="0">
              <a:latin typeface="Georgia" panose="02040502050405020303" pitchFamily="18" charset="0"/>
              <a:sym typeface="Symbol" pitchFamily="18" charset="2"/>
            </a:endParaRPr>
          </a:p>
          <a:p>
            <a:r>
              <a:rPr lang="en-US" baseline="30000" dirty="0">
                <a:latin typeface="Georgia" panose="02040502050405020303" pitchFamily="18" charset="0"/>
                <a:sym typeface="Symbol" pitchFamily="18" charset="2"/>
              </a:rPr>
              <a:t>Primality test in polynomial time</a:t>
            </a:r>
          </a:p>
          <a:p>
            <a:pPr lvl="1"/>
            <a:r>
              <a:rPr lang="en-US" baseline="30000" dirty="0">
                <a:latin typeface="Georgia" panose="02040502050405020303" pitchFamily="18" charset="0"/>
                <a:sym typeface="Symbol" pitchFamily="18" charset="2"/>
              </a:rPr>
              <a:t>Read AKS primality test</a:t>
            </a:r>
          </a:p>
          <a:p>
            <a:pPr lvl="1"/>
            <a:endParaRPr lang="en-US" baseline="30000" dirty="0">
              <a:latin typeface="Georgia" panose="02040502050405020303" pitchFamily="18" charset="0"/>
              <a:sym typeface="Symbol" pitchFamily="18" charset="2"/>
            </a:endParaRPr>
          </a:p>
          <a:p>
            <a:pPr marL="0" indent="0">
              <a:buNone/>
            </a:pPr>
            <a:endParaRPr lang="en-US" baseline="30000" dirty="0">
              <a:latin typeface="Georgia" panose="02040502050405020303" pitchFamily="18" charset="0"/>
              <a:sym typeface="Symbol" pitchFamily="18" charset="2"/>
            </a:endParaRPr>
          </a:p>
          <a:p>
            <a:endParaRPr lang="en-US" sz="2400" baseline="30000" dirty="0">
              <a:latin typeface="Georgia" panose="02040502050405020303" pitchFamily="18" charset="0"/>
              <a:sym typeface="Symbol" pitchFamily="18" charset="2"/>
            </a:endParaRPr>
          </a:p>
        </p:txBody>
      </p:sp>
      <p:sp>
        <p:nvSpPr>
          <p:cNvPr id="6" name="Slide Number Placeholder 5"/>
          <p:cNvSpPr>
            <a:spLocks noGrp="1"/>
          </p:cNvSpPr>
          <p:nvPr>
            <p:ph type="sldNum" sz="quarter" idx="12"/>
          </p:nvPr>
        </p:nvSpPr>
        <p:spPr/>
        <p:txBody>
          <a:bodyPr/>
          <a:lstStyle/>
          <a:p>
            <a:pPr defTabSz="457200" eaLnBrk="0" fontAlgn="base" hangingPunct="0">
              <a:lnSpc>
                <a:spcPct val="93000"/>
              </a:lnSpc>
              <a:spcBef>
                <a:spcPct val="0"/>
              </a:spcBef>
              <a:spcAft>
                <a:spcPct val="0"/>
              </a:spcAft>
              <a:buClr>
                <a:srgbClr val="000000"/>
              </a:buClr>
              <a:buSzPct val="100000"/>
              <a:defRPr/>
            </a:pPr>
            <a:fld id="{EF8A3B71-216C-414D-9F25-8D4F1F0E35D9}" type="slidenum">
              <a:rPr lang="en-US">
                <a:solidFill>
                  <a:prstClr val="black">
                    <a:tint val="75000"/>
                  </a:prstClr>
                </a:solidFill>
                <a:latin typeface="Georgia" panose="02040502050405020303" pitchFamily="18" charset="0"/>
              </a:rPr>
              <a:pPr defTabSz="457200" eaLnBrk="0" fontAlgn="base" hangingPunct="0">
                <a:lnSpc>
                  <a:spcPct val="93000"/>
                </a:lnSpc>
                <a:spcBef>
                  <a:spcPct val="0"/>
                </a:spcBef>
                <a:spcAft>
                  <a:spcPct val="0"/>
                </a:spcAft>
                <a:buClr>
                  <a:srgbClr val="000000"/>
                </a:buClr>
                <a:buSzPct val="100000"/>
                <a:defRPr/>
              </a:pPr>
              <a:t>21</a:t>
            </a:fld>
            <a:endParaRPr lang="en-US">
              <a:solidFill>
                <a:prstClr val="black">
                  <a:tint val="75000"/>
                </a:prstClr>
              </a:solidFill>
              <a:latin typeface="Georgia" panose="02040502050405020303" pitchFamily="18" charset="0"/>
            </a:endParaRPr>
          </a:p>
        </p:txBody>
      </p:sp>
      <p:sp>
        <p:nvSpPr>
          <p:cNvPr id="2" name="Rectangle 1">
            <a:extLst>
              <a:ext uri="{FF2B5EF4-FFF2-40B4-BE49-F238E27FC236}">
                <a16:creationId xmlns:a16="http://schemas.microsoft.com/office/drawing/2014/main" id="{06EAC86F-5297-C19F-E058-ED9CF9EDD930}"/>
              </a:ext>
            </a:extLst>
          </p:cNvPr>
          <p:cNvSpPr/>
          <p:nvPr/>
        </p:nvSpPr>
        <p:spPr>
          <a:xfrm>
            <a:off x="838200" y="5581403"/>
            <a:ext cx="4796642" cy="9114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2651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547254" y="0"/>
            <a:ext cx="10515600" cy="1325563"/>
          </a:xfrm>
        </p:spPr>
        <p:txBody>
          <a:bodyPr/>
          <a:lstStyle/>
          <a:p>
            <a:r>
              <a:rPr lang="en-US" dirty="0"/>
              <a:t>Modular Arithmetic</a:t>
            </a:r>
          </a:p>
        </p:txBody>
      </p:sp>
      <p:sp>
        <p:nvSpPr>
          <p:cNvPr id="194563" name="Rectangle 3" descr="Rectangle: Click to edit Master text styles&#10;Second level&#10;Third level&#10;Fourth level&#10;Fifth level"/>
          <p:cNvSpPr>
            <a:spLocks noGrp="1" noChangeArrowheads="1"/>
          </p:cNvSpPr>
          <p:nvPr>
            <p:ph idx="1"/>
          </p:nvPr>
        </p:nvSpPr>
        <p:spPr>
          <a:xfrm>
            <a:off x="378691" y="1311564"/>
            <a:ext cx="11665527" cy="5269345"/>
          </a:xfrm>
        </p:spPr>
        <p:txBody>
          <a:bodyPr>
            <a:normAutofit/>
          </a:bodyPr>
          <a:lstStyle/>
          <a:p>
            <a:pPr>
              <a:lnSpc>
                <a:spcPct val="90000"/>
              </a:lnSpc>
            </a:pPr>
            <a:r>
              <a:rPr lang="en-US" dirty="0"/>
              <a:t>Modulo operator for a positive integer </a:t>
            </a:r>
            <a:r>
              <a:rPr lang="en-US" b="1" i="1" dirty="0">
                <a:latin typeface="Times New Roman" pitchFamily="18" charset="0"/>
              </a:rPr>
              <a:t>n</a:t>
            </a:r>
            <a:endParaRPr lang="en-US" dirty="0"/>
          </a:p>
          <a:p>
            <a:pPr>
              <a:lnSpc>
                <a:spcPct val="90000"/>
              </a:lnSpc>
              <a:buFont typeface="Wingdings" charset="2"/>
              <a:buNone/>
            </a:pPr>
            <a:r>
              <a:rPr lang="en-US" b="1" i="1" dirty="0">
                <a:latin typeface="Times New Roman" pitchFamily="18" charset="0"/>
              </a:rPr>
              <a:t>			r</a:t>
            </a:r>
            <a:r>
              <a:rPr lang="en-US" dirty="0">
                <a:latin typeface="Times New Roman" pitchFamily="18" charset="0"/>
              </a:rPr>
              <a:t> </a:t>
            </a:r>
            <a:r>
              <a:rPr lang="en-US" dirty="0">
                <a:latin typeface="Symbol" pitchFamily="18" charset="2"/>
              </a:rPr>
              <a:t>=</a:t>
            </a:r>
            <a:r>
              <a:rPr lang="en-US" dirty="0">
                <a:latin typeface="Times New Roman" pitchFamily="18" charset="0"/>
              </a:rPr>
              <a:t> </a:t>
            </a:r>
            <a:r>
              <a:rPr lang="en-US" b="1" i="1" dirty="0">
                <a:latin typeface="Times New Roman" pitchFamily="18" charset="0"/>
              </a:rPr>
              <a:t>a</a:t>
            </a:r>
            <a:r>
              <a:rPr lang="en-US" dirty="0">
                <a:latin typeface="Times New Roman" pitchFamily="18" charset="0"/>
              </a:rPr>
              <a:t> mod </a:t>
            </a:r>
            <a:r>
              <a:rPr lang="en-US" b="1" i="1" dirty="0">
                <a:latin typeface="Times New Roman" pitchFamily="18" charset="0"/>
              </a:rPr>
              <a:t>n</a:t>
            </a:r>
          </a:p>
          <a:p>
            <a:pPr>
              <a:lnSpc>
                <a:spcPct val="90000"/>
              </a:lnSpc>
              <a:buFont typeface="Wingdings" charset="2"/>
              <a:buNone/>
            </a:pPr>
            <a:r>
              <a:rPr lang="en-US" i="1" dirty="0"/>
              <a:t>	</a:t>
            </a:r>
            <a:r>
              <a:rPr lang="en-US" dirty="0"/>
              <a:t>equivalent to</a:t>
            </a:r>
          </a:p>
          <a:p>
            <a:pPr>
              <a:lnSpc>
                <a:spcPct val="90000"/>
              </a:lnSpc>
              <a:buFont typeface="Wingdings" charset="2"/>
              <a:buNone/>
            </a:pPr>
            <a:r>
              <a:rPr lang="en-US" dirty="0"/>
              <a:t>			</a:t>
            </a:r>
            <a:r>
              <a:rPr lang="en-US" b="1" i="1" dirty="0">
                <a:latin typeface="Times New Roman" pitchFamily="18" charset="0"/>
              </a:rPr>
              <a:t>a</a:t>
            </a:r>
            <a:r>
              <a:rPr lang="en-US" dirty="0">
                <a:latin typeface="Times New Roman" pitchFamily="18" charset="0"/>
              </a:rPr>
              <a:t> </a:t>
            </a:r>
            <a:r>
              <a:rPr lang="en-US" dirty="0">
                <a:latin typeface="Symbol" pitchFamily="18" charset="2"/>
              </a:rPr>
              <a:t>=</a:t>
            </a:r>
            <a:r>
              <a:rPr lang="en-US" dirty="0">
                <a:latin typeface="Times New Roman" pitchFamily="18" charset="0"/>
              </a:rPr>
              <a:t> </a:t>
            </a:r>
            <a:r>
              <a:rPr lang="en-US" b="1" i="1" dirty="0">
                <a:latin typeface="Times New Roman" pitchFamily="18" charset="0"/>
              </a:rPr>
              <a:t>r</a:t>
            </a:r>
            <a:r>
              <a:rPr lang="en-US" i="1" dirty="0">
                <a:latin typeface="Symbol" pitchFamily="18" charset="2"/>
              </a:rPr>
              <a:t> </a:t>
            </a:r>
            <a:r>
              <a:rPr lang="en-US" dirty="0">
                <a:latin typeface="Symbol" pitchFamily="18" charset="2"/>
              </a:rPr>
              <a:t>+ </a:t>
            </a:r>
            <a:r>
              <a:rPr lang="en-US" b="1" i="1" dirty="0" err="1">
                <a:latin typeface="Times New Roman" pitchFamily="18" charset="0"/>
              </a:rPr>
              <a:t>kn</a:t>
            </a:r>
            <a:endParaRPr lang="en-US" b="1" dirty="0">
              <a:latin typeface="Times New Roman" pitchFamily="18" charset="0"/>
              <a:sym typeface="Symbol" pitchFamily="18" charset="2"/>
            </a:endParaRPr>
          </a:p>
          <a:p>
            <a:pPr>
              <a:lnSpc>
                <a:spcPct val="90000"/>
              </a:lnSpc>
              <a:buFont typeface="Wingdings" charset="2"/>
              <a:buNone/>
            </a:pPr>
            <a:r>
              <a:rPr lang="en-US" dirty="0">
                <a:sym typeface="Symbol" pitchFamily="18" charset="2"/>
              </a:rPr>
              <a:t>	and</a:t>
            </a:r>
          </a:p>
          <a:p>
            <a:pPr>
              <a:lnSpc>
                <a:spcPct val="90000"/>
              </a:lnSpc>
              <a:buFont typeface="Wingdings" charset="2"/>
              <a:buNone/>
            </a:pPr>
            <a:r>
              <a:rPr lang="en-US" b="1" i="1" dirty="0">
                <a:latin typeface="Times New Roman" pitchFamily="18" charset="0"/>
              </a:rPr>
              <a:t>			r</a:t>
            </a:r>
            <a:r>
              <a:rPr lang="en-US" dirty="0">
                <a:latin typeface="Times New Roman" pitchFamily="18" charset="0"/>
              </a:rPr>
              <a:t> </a:t>
            </a:r>
            <a:r>
              <a:rPr lang="en-US" dirty="0">
                <a:latin typeface="Symbol" pitchFamily="18" charset="2"/>
              </a:rPr>
              <a:t>=</a:t>
            </a:r>
            <a:r>
              <a:rPr lang="en-US" dirty="0">
                <a:latin typeface="Times New Roman" pitchFamily="18" charset="0"/>
              </a:rPr>
              <a:t> </a:t>
            </a:r>
            <a:r>
              <a:rPr lang="en-US" b="1" i="1" dirty="0">
                <a:latin typeface="Times New Roman" pitchFamily="18" charset="0"/>
              </a:rPr>
              <a:t>a</a:t>
            </a:r>
            <a:r>
              <a:rPr lang="en-US" i="1" dirty="0">
                <a:latin typeface="Times New Roman" pitchFamily="18" charset="0"/>
              </a:rPr>
              <a:t> </a:t>
            </a:r>
            <a:r>
              <a:rPr lang="en-US" dirty="0">
                <a:latin typeface="Symbol" pitchFamily="18" charset="2"/>
              </a:rPr>
              <a:t>- </a:t>
            </a:r>
            <a:r>
              <a:rPr lang="en-US" dirty="0">
                <a:latin typeface="Symbol" pitchFamily="18" charset="2"/>
                <a:sym typeface="Symbol" pitchFamily="18" charset="2"/>
              </a:rPr>
              <a:t></a:t>
            </a:r>
            <a:r>
              <a:rPr lang="en-US" b="1" i="1" dirty="0">
                <a:latin typeface="Times New Roman" pitchFamily="18" charset="0"/>
              </a:rPr>
              <a:t>a</a:t>
            </a:r>
            <a:r>
              <a:rPr lang="en-US" dirty="0">
                <a:latin typeface="Times New Roman" pitchFamily="18" charset="0"/>
                <a:sym typeface="Symbol" pitchFamily="18" charset="2"/>
              </a:rPr>
              <a:t>/</a:t>
            </a:r>
            <a:r>
              <a:rPr lang="en-US" b="1" i="1" dirty="0">
                <a:latin typeface="Times New Roman" pitchFamily="18" charset="0"/>
                <a:sym typeface="Symbol" pitchFamily="18" charset="2"/>
              </a:rPr>
              <a:t>n</a:t>
            </a:r>
            <a:r>
              <a:rPr lang="en-US" dirty="0">
                <a:latin typeface="Symbol" pitchFamily="18" charset="2"/>
                <a:sym typeface="Symbol" pitchFamily="18" charset="2"/>
              </a:rPr>
              <a:t></a:t>
            </a:r>
            <a:r>
              <a:rPr lang="en-US" dirty="0">
                <a:latin typeface="Times New Roman" pitchFamily="18" charset="0"/>
                <a:sym typeface="Symbol" pitchFamily="18" charset="2"/>
              </a:rPr>
              <a:t> </a:t>
            </a:r>
            <a:r>
              <a:rPr lang="en-US" b="1" i="1" dirty="0">
                <a:latin typeface="Times New Roman" pitchFamily="18" charset="0"/>
                <a:sym typeface="Symbol" pitchFamily="18" charset="2"/>
              </a:rPr>
              <a:t>n</a:t>
            </a:r>
          </a:p>
          <a:p>
            <a:pPr>
              <a:lnSpc>
                <a:spcPct val="90000"/>
              </a:lnSpc>
            </a:pPr>
            <a:r>
              <a:rPr lang="en-US" dirty="0">
                <a:sym typeface="Symbol" pitchFamily="18" charset="2"/>
              </a:rPr>
              <a:t>Example:</a:t>
            </a:r>
          </a:p>
          <a:p>
            <a:pPr lvl="1">
              <a:lnSpc>
                <a:spcPct val="90000"/>
              </a:lnSpc>
              <a:buFont typeface="Wingdings" charset="2"/>
              <a:buNone/>
            </a:pPr>
            <a:r>
              <a:rPr lang="en-US" dirty="0">
                <a:latin typeface="Times New Roman" pitchFamily="18" charset="0"/>
              </a:rPr>
              <a:t>		29 mod 13 </a:t>
            </a:r>
            <a:r>
              <a:rPr lang="en-US" dirty="0">
                <a:latin typeface="Symbol" pitchFamily="18" charset="2"/>
              </a:rPr>
              <a:t>=</a:t>
            </a:r>
            <a:r>
              <a:rPr lang="en-US" dirty="0">
                <a:latin typeface="Times New Roman" pitchFamily="18" charset="0"/>
              </a:rPr>
              <a:t> 3	13 mod 13  </a:t>
            </a:r>
            <a:r>
              <a:rPr lang="en-US" dirty="0">
                <a:latin typeface="Symbol" pitchFamily="18" charset="2"/>
              </a:rPr>
              <a:t>=</a:t>
            </a:r>
            <a:r>
              <a:rPr lang="en-US" dirty="0">
                <a:latin typeface="Times New Roman" pitchFamily="18" charset="0"/>
              </a:rPr>
              <a:t> 0	</a:t>
            </a:r>
            <a:r>
              <a:rPr lang="en-US" dirty="0">
                <a:latin typeface="Symbol" pitchFamily="18" charset="2"/>
              </a:rPr>
              <a:t>-</a:t>
            </a:r>
            <a:r>
              <a:rPr lang="en-US" dirty="0">
                <a:latin typeface="Times New Roman" pitchFamily="18" charset="0"/>
              </a:rPr>
              <a:t>1 mod 13  </a:t>
            </a:r>
            <a:r>
              <a:rPr lang="en-US" dirty="0">
                <a:latin typeface="Symbol" pitchFamily="18" charset="2"/>
              </a:rPr>
              <a:t>=</a:t>
            </a:r>
            <a:r>
              <a:rPr lang="en-US" dirty="0">
                <a:latin typeface="Times New Roman" pitchFamily="18" charset="0"/>
              </a:rPr>
              <a:t> 12</a:t>
            </a:r>
          </a:p>
          <a:p>
            <a:pPr lvl="1">
              <a:lnSpc>
                <a:spcPct val="90000"/>
              </a:lnSpc>
              <a:buFont typeface="Wingdings" charset="2"/>
              <a:buNone/>
            </a:pPr>
            <a:r>
              <a:rPr lang="en-US" dirty="0">
                <a:latin typeface="Times New Roman" pitchFamily="18" charset="0"/>
              </a:rPr>
              <a:t>		29  </a:t>
            </a:r>
            <a:r>
              <a:rPr lang="en-US" dirty="0">
                <a:latin typeface="Symbol" pitchFamily="18" charset="2"/>
              </a:rPr>
              <a:t>= </a:t>
            </a:r>
            <a:r>
              <a:rPr lang="en-US" dirty="0">
                <a:latin typeface="Times New Roman" pitchFamily="18" charset="0"/>
              </a:rPr>
              <a:t>3 </a:t>
            </a:r>
            <a:r>
              <a:rPr lang="en-US" dirty="0">
                <a:latin typeface="Symbol" pitchFamily="18" charset="2"/>
              </a:rPr>
              <a:t>+</a:t>
            </a:r>
            <a:r>
              <a:rPr lang="en-US" dirty="0">
                <a:latin typeface="Times New Roman" pitchFamily="18" charset="0"/>
              </a:rPr>
              <a:t> 2</a:t>
            </a:r>
            <a:r>
              <a:rPr lang="en-US" dirty="0">
                <a:latin typeface="Symbol" pitchFamily="18" charset="2"/>
                <a:sym typeface="Symbol" pitchFamily="18" charset="2"/>
              </a:rPr>
              <a:t></a:t>
            </a:r>
            <a:r>
              <a:rPr lang="en-US" dirty="0">
                <a:latin typeface="Times New Roman" pitchFamily="18" charset="0"/>
              </a:rPr>
              <a:t>13	13 </a:t>
            </a:r>
            <a:r>
              <a:rPr lang="en-US" dirty="0">
                <a:latin typeface="Symbol" pitchFamily="18" charset="2"/>
              </a:rPr>
              <a:t>= </a:t>
            </a:r>
            <a:r>
              <a:rPr lang="en-US" dirty="0">
                <a:latin typeface="Times New Roman" pitchFamily="18" charset="0"/>
              </a:rPr>
              <a:t>0 </a:t>
            </a:r>
            <a:r>
              <a:rPr lang="en-US" dirty="0">
                <a:latin typeface="Symbol" pitchFamily="18" charset="2"/>
              </a:rPr>
              <a:t>+</a:t>
            </a:r>
            <a:r>
              <a:rPr lang="en-US" dirty="0">
                <a:latin typeface="Times New Roman" pitchFamily="18" charset="0"/>
              </a:rPr>
              <a:t> 1</a:t>
            </a:r>
            <a:r>
              <a:rPr lang="en-US" dirty="0">
                <a:latin typeface="Symbol" pitchFamily="18" charset="2"/>
                <a:sym typeface="Symbol" pitchFamily="18" charset="2"/>
              </a:rPr>
              <a:t></a:t>
            </a:r>
            <a:r>
              <a:rPr lang="en-US" dirty="0">
                <a:latin typeface="Times New Roman" pitchFamily="18" charset="0"/>
              </a:rPr>
              <a:t>13	12 </a:t>
            </a:r>
            <a:r>
              <a:rPr lang="en-US" dirty="0">
                <a:latin typeface="Symbol" pitchFamily="18" charset="2"/>
              </a:rPr>
              <a:t>= -</a:t>
            </a:r>
            <a:r>
              <a:rPr lang="en-US" dirty="0">
                <a:latin typeface="Times New Roman" pitchFamily="18" charset="0"/>
              </a:rPr>
              <a:t>1 </a:t>
            </a:r>
            <a:r>
              <a:rPr lang="en-US" dirty="0">
                <a:latin typeface="Symbol" pitchFamily="18" charset="2"/>
              </a:rPr>
              <a:t>+</a:t>
            </a:r>
            <a:r>
              <a:rPr lang="en-US" dirty="0">
                <a:latin typeface="Times New Roman" pitchFamily="18" charset="0"/>
              </a:rPr>
              <a:t> 1</a:t>
            </a:r>
            <a:r>
              <a:rPr lang="en-US" dirty="0">
                <a:latin typeface="Symbol" pitchFamily="18" charset="2"/>
                <a:sym typeface="Symbol" pitchFamily="18" charset="2"/>
              </a:rPr>
              <a:t></a:t>
            </a:r>
            <a:r>
              <a:rPr lang="en-US" dirty="0">
                <a:latin typeface="Times New Roman" pitchFamily="18" charset="0"/>
              </a:rPr>
              <a:t>13</a:t>
            </a:r>
            <a:endParaRPr lang="en-US" dirty="0">
              <a:sym typeface="Symbol" pitchFamily="18" charset="2"/>
            </a:endParaRPr>
          </a:p>
        </p:txBody>
      </p:sp>
      <p:sp>
        <p:nvSpPr>
          <p:cNvPr id="6" name="Slide Number Placeholder 5"/>
          <p:cNvSpPr>
            <a:spLocks noGrp="1"/>
          </p:cNvSpPr>
          <p:nvPr>
            <p:ph type="sldNum" sz="quarter" idx="12"/>
          </p:nvPr>
        </p:nvSpPr>
        <p:spPr/>
        <p:txBody>
          <a:bodyPr/>
          <a:lstStyle/>
          <a:p>
            <a:pPr defTabSz="457200" eaLnBrk="0" fontAlgn="base" hangingPunct="0">
              <a:lnSpc>
                <a:spcPct val="93000"/>
              </a:lnSpc>
              <a:spcBef>
                <a:spcPct val="0"/>
              </a:spcBef>
              <a:spcAft>
                <a:spcPct val="0"/>
              </a:spcAft>
              <a:buClr>
                <a:srgbClr val="000000"/>
              </a:buClr>
              <a:buSzPct val="100000"/>
              <a:defRPr/>
            </a:pPr>
            <a:fld id="{6D73AB04-1BF8-47E4-B366-6BC56285B60C}" type="slidenum">
              <a:rPr lang="en-US">
                <a:solidFill>
                  <a:prstClr val="black">
                    <a:tint val="75000"/>
                  </a:prstClr>
                </a:solidFill>
                <a:latin typeface="Arial" charset="0"/>
              </a:rPr>
              <a:pPr defTabSz="457200" eaLnBrk="0" fontAlgn="base" hangingPunct="0">
                <a:lnSpc>
                  <a:spcPct val="93000"/>
                </a:lnSpc>
                <a:spcBef>
                  <a:spcPct val="0"/>
                </a:spcBef>
                <a:spcAft>
                  <a:spcPct val="0"/>
                </a:spcAft>
                <a:buClr>
                  <a:srgbClr val="000000"/>
                </a:buClr>
                <a:buSzPct val="100000"/>
                <a:defRPr/>
              </a:pPr>
              <a:t>22</a:t>
            </a:fld>
            <a:endParaRPr lang="en-US">
              <a:solidFill>
                <a:prstClr val="black">
                  <a:tint val="75000"/>
                </a:prstClr>
              </a:solidFill>
              <a:latin typeface="Arial" charset="0"/>
            </a:endParaRPr>
          </a:p>
        </p:txBody>
      </p:sp>
    </p:spTree>
    <p:extLst>
      <p:ext uri="{BB962C8B-B14F-4D97-AF65-F5344CB8AC3E}">
        <p14:creationId xmlns:p14="http://schemas.microsoft.com/office/powerpoint/2010/main" val="3854031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061DF-EB32-E70E-68B2-CFE3C4F514C0}"/>
              </a:ext>
            </a:extLst>
          </p:cNvPr>
          <p:cNvSpPr>
            <a:spLocks noGrp="1"/>
          </p:cNvSpPr>
          <p:nvPr>
            <p:ph type="title"/>
          </p:nvPr>
        </p:nvSpPr>
        <p:spPr/>
        <p:txBody>
          <a:bodyPr/>
          <a:lstStyle/>
          <a:p>
            <a:r>
              <a:rPr lang="en-US" dirty="0"/>
              <a:t>Modular Arithmetic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D5B47F-2ACF-1DB7-DCD2-26DFAF34CC33}"/>
                  </a:ext>
                </a:extLst>
              </p:cNvPr>
              <p:cNvSpPr>
                <a:spLocks noGrp="1"/>
              </p:cNvSpPr>
              <p:nvPr>
                <p:ph idx="1"/>
              </p:nvPr>
            </p:nvSpPr>
            <p:spPr/>
            <p:txBody>
              <a:bodyPr/>
              <a:lstStyle/>
              <a:p>
                <a:r>
                  <a:rPr lang="en-US" dirty="0"/>
                  <a:t>simplify intermediate values mod n</a:t>
                </a:r>
              </a:p>
              <a:p>
                <a:endParaRPr lang="en-US" dirty="0"/>
              </a:p>
              <a:p>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oMath>
                </a14:m>
                <a:endParaRPr lang="en-US" dirty="0"/>
              </a:p>
              <a:p>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m:t>
                    </m:r>
                    <m:r>
                      <a:rPr lang="en-US" i="1">
                        <a:latin typeface="Cambria Math" panose="02040503050406030204" pitchFamily="18" charset="0"/>
                      </a:rPr>
                      <m:t>𝑚𝑜𝑑</m:t>
                    </m:r>
                    <m:r>
                      <a:rPr lang="en-US" i="1">
                        <a:latin typeface="Cambria Math" panose="02040503050406030204" pitchFamily="18" charset="0"/>
                      </a:rPr>
                      <m:t> </m:t>
                    </m:r>
                    <m:r>
                      <a:rPr lang="en-US" i="1">
                        <a:latin typeface="Cambria Math" panose="02040503050406030204" pitchFamily="18" charset="0"/>
                      </a:rPr>
                      <m:t>𝑛</m:t>
                    </m:r>
                    <m:r>
                      <a:rPr lang="en-US" i="1">
                        <a:latin typeface="Cambria Math" panose="02040503050406030204" pitchFamily="18" charset="0"/>
                      </a:rPr>
                      <m:t>=</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i="1">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i="1">
                            <a:latin typeface="Cambria Math" panose="02040503050406030204" pitchFamily="18" charset="0"/>
                          </a:rPr>
                          <m:t>⋅</m:t>
                        </m:r>
                        <m:r>
                          <a:rPr lang="en-US" b="0" i="1" smtClean="0">
                            <a:latin typeface="Cambria Math" panose="02040503050406030204" pitchFamily="18" charset="0"/>
                          </a:rPr>
                          <m:t>𝑐</m:t>
                        </m:r>
                      </m:e>
                    </m:d>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 …. </m:t>
                    </m:r>
                    <m:r>
                      <a:rPr lang="en-US" b="0" i="1" smtClean="0">
                        <a:latin typeface="Cambria Math" panose="02040503050406030204" pitchFamily="18" charset="0"/>
                      </a:rPr>
                      <m:t>𝑚𝑜𝑑</m:t>
                    </m:r>
                    <m:r>
                      <a:rPr lang="en-US" b="0" i="1" smtClean="0">
                        <a:latin typeface="Cambria Math" panose="02040503050406030204" pitchFamily="18" charset="0"/>
                      </a:rPr>
                      <m:t> </m:t>
                    </m:r>
                    <m:r>
                      <a:rPr lang="en-US" b="0" i="1" smtClean="0">
                        <a:latin typeface="Cambria Math" panose="02040503050406030204" pitchFamily="18" charset="0"/>
                      </a:rPr>
                      <m:t>𝑛</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35D5B47F-2ACF-1DB7-DCD2-26DFAF34CC33}"/>
                  </a:ext>
                </a:extLst>
              </p:cNvPr>
              <p:cNvSpPr>
                <a:spLocks noGrp="1" noRot="1" noChangeAspect="1" noMove="1" noResize="1" noEditPoints="1" noAdjustHandles="1" noChangeArrowheads="1" noChangeShapeType="1" noTextEdit="1"/>
              </p:cNvSpPr>
              <p:nvPr>
                <p:ph idx="1"/>
              </p:nvPr>
            </p:nvSpPr>
            <p:spPr>
              <a:blipFill>
                <a:blip r:embed="rId2"/>
                <a:stretch>
                  <a:fillRect l="-1043" t="-2521"/>
                </a:stretch>
              </a:blipFill>
            </p:spPr>
            <p:txBody>
              <a:bodyPr/>
              <a:lstStyle/>
              <a:p>
                <a:r>
                  <a:rPr lang="en-US">
                    <a:noFill/>
                  </a:rPr>
                  <a:t> </a:t>
                </a:r>
              </a:p>
            </p:txBody>
          </p:sp>
        </mc:Fallback>
      </mc:AlternateContent>
    </p:spTree>
    <p:extLst>
      <p:ext uri="{BB962C8B-B14F-4D97-AF65-F5344CB8AC3E}">
        <p14:creationId xmlns:p14="http://schemas.microsoft.com/office/powerpoint/2010/main" val="1250908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1C14-9B87-02C2-5252-1BD5323E45A9}"/>
              </a:ext>
            </a:extLst>
          </p:cNvPr>
          <p:cNvSpPr>
            <a:spLocks noGrp="1"/>
          </p:cNvSpPr>
          <p:nvPr>
            <p:ph type="title"/>
          </p:nvPr>
        </p:nvSpPr>
        <p:spPr/>
        <p:txBody>
          <a:bodyPr/>
          <a:lstStyle/>
          <a:p>
            <a:r>
              <a:rPr lang="en-US" dirty="0"/>
              <a:t>Modular exponentiation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3D753A5-9C8C-F8E9-0055-51203BEF740A}"/>
                  </a:ext>
                </a:extLst>
              </p:cNvPr>
              <p:cNvSpPr>
                <a:spLocks noGrp="1"/>
              </p:cNvSpPr>
              <p:nvPr>
                <p:ph idx="1"/>
              </p:nvPr>
            </p:nvSpPr>
            <p:spPr/>
            <p:txBody>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sup>
                    </m:sSup>
                  </m:oMath>
                </a14:m>
                <a:r>
                  <a:rPr lang="en-US" b="0" dirty="0"/>
                  <a:t> mod n</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m:t>
                            </m:r>
                          </m:sup>
                        </m:sSup>
                        <m:r>
                          <a:rPr lang="en-US" b="0" i="1" smtClean="0">
                            <a:latin typeface="Cambria Math" panose="02040503050406030204" pitchFamily="18" charset="0"/>
                          </a:rPr>
                          <m:t>)</m:t>
                        </m:r>
                      </m:e>
                      <m:sup>
                        <m:r>
                          <a:rPr lang="en-US" b="0" i="1" smtClean="0">
                            <a:latin typeface="Cambria Math" panose="02040503050406030204" pitchFamily="18" charset="0"/>
                          </a:rPr>
                          <m:t>𝑏</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𝑎𝑏</m:t>
                        </m:r>
                      </m:sup>
                    </m:sSup>
                  </m:oMath>
                </a14:m>
                <a:r>
                  <a:rPr lang="en-US" dirty="0"/>
                  <a:t> mod n</a:t>
                </a:r>
              </a:p>
            </p:txBody>
          </p:sp>
        </mc:Choice>
        <mc:Fallback xmlns="">
          <p:sp>
            <p:nvSpPr>
              <p:cNvPr id="3" name="Content Placeholder 2">
                <a:extLst>
                  <a:ext uri="{FF2B5EF4-FFF2-40B4-BE49-F238E27FC236}">
                    <a16:creationId xmlns:a16="http://schemas.microsoft.com/office/drawing/2014/main" id="{83D753A5-9C8C-F8E9-0055-51203BEF740A}"/>
                  </a:ext>
                </a:extLst>
              </p:cNvPr>
              <p:cNvSpPr>
                <a:spLocks noGrp="1" noRot="1" noChangeAspect="1" noMove="1" noResize="1" noEditPoints="1" noAdjustHandles="1" noChangeArrowheads="1" noChangeShapeType="1" noTextEdit="1"/>
              </p:cNvSpPr>
              <p:nvPr>
                <p:ph idx="1"/>
              </p:nvPr>
            </p:nvSpPr>
            <p:spPr>
              <a:blipFill>
                <a:blip r:embed="rId2"/>
                <a:stretch>
                  <a:fillRect t="-2241"/>
                </a:stretch>
              </a:blipFill>
            </p:spPr>
            <p:txBody>
              <a:bodyPr/>
              <a:lstStyle/>
              <a:p>
                <a:r>
                  <a:rPr lang="en-US">
                    <a:noFill/>
                  </a:rPr>
                  <a:t> </a:t>
                </a:r>
              </a:p>
            </p:txBody>
          </p:sp>
        </mc:Fallback>
      </mc:AlternateContent>
    </p:spTree>
    <p:extLst>
      <p:ext uri="{BB962C8B-B14F-4D97-AF65-F5344CB8AC3E}">
        <p14:creationId xmlns:p14="http://schemas.microsoft.com/office/powerpoint/2010/main" val="3016746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978F-7C5A-4E49-B1EF-E929A9771A05}"/>
              </a:ext>
            </a:extLst>
          </p:cNvPr>
          <p:cNvSpPr>
            <a:spLocks noGrp="1"/>
          </p:cNvSpPr>
          <p:nvPr>
            <p:ph type="title"/>
          </p:nvPr>
        </p:nvSpPr>
        <p:spPr>
          <a:xfrm>
            <a:off x="445476" y="286726"/>
            <a:ext cx="11502279" cy="1325563"/>
          </a:xfrm>
        </p:spPr>
        <p:txBody>
          <a:bodyPr/>
          <a:lstStyle/>
          <a:p>
            <a:r>
              <a:rPr lang="en-US" dirty="0"/>
              <a:t>Asymptotic complexity</a:t>
            </a:r>
          </a:p>
        </p:txBody>
      </p:sp>
      <p:sp>
        <p:nvSpPr>
          <p:cNvPr id="3" name="Content Placeholder 2">
            <a:extLst>
              <a:ext uri="{FF2B5EF4-FFF2-40B4-BE49-F238E27FC236}">
                <a16:creationId xmlns:a16="http://schemas.microsoft.com/office/drawing/2014/main" id="{BB1AD432-1F9F-44A0-966D-E62BDF3192C4}"/>
              </a:ext>
            </a:extLst>
          </p:cNvPr>
          <p:cNvSpPr>
            <a:spLocks noGrp="1"/>
          </p:cNvSpPr>
          <p:nvPr>
            <p:ph idx="1"/>
          </p:nvPr>
        </p:nvSpPr>
        <p:spPr>
          <a:xfrm>
            <a:off x="445477" y="1532965"/>
            <a:ext cx="10515600" cy="4561570"/>
          </a:xfrm>
        </p:spPr>
        <p:txBody>
          <a:bodyPr/>
          <a:lstStyle/>
          <a:p>
            <a:r>
              <a:rPr lang="en-US" dirty="0"/>
              <a:t>Big O notation O(n), O(2</a:t>
            </a:r>
            <a:r>
              <a:rPr lang="en-US" baseline="30000" dirty="0"/>
              <a:t>n</a:t>
            </a:r>
            <a:r>
              <a:rPr lang="en-US" dirty="0"/>
              <a:t>)</a:t>
            </a:r>
          </a:p>
          <a:p>
            <a:pPr lvl="1"/>
            <a:r>
              <a:rPr lang="en-US" dirty="0"/>
              <a:t>E.g., for sufficiently large integer n, O(2</a:t>
            </a:r>
            <a:r>
              <a:rPr lang="en-US" baseline="30000" dirty="0"/>
              <a:t>n</a:t>
            </a:r>
            <a:r>
              <a:rPr lang="en-US" dirty="0"/>
              <a:t>)&gt;O(</a:t>
            </a:r>
            <a:r>
              <a:rPr lang="en-US" dirty="0" err="1"/>
              <a:t>n</a:t>
            </a:r>
            <a:r>
              <a:rPr lang="en-US" baseline="30000" dirty="0" err="1"/>
              <a:t>c</a:t>
            </a:r>
            <a:r>
              <a:rPr lang="en-US" dirty="0"/>
              <a:t>)</a:t>
            </a:r>
          </a:p>
          <a:p>
            <a:endParaRPr lang="en-US" dirty="0"/>
          </a:p>
          <a:p>
            <a:endParaRPr lang="en-US" dirty="0"/>
          </a:p>
        </p:txBody>
      </p:sp>
      <p:pic>
        <p:nvPicPr>
          <p:cNvPr id="5" name="Picture 4">
            <a:extLst>
              <a:ext uri="{FF2B5EF4-FFF2-40B4-BE49-F238E27FC236}">
                <a16:creationId xmlns:a16="http://schemas.microsoft.com/office/drawing/2014/main" id="{07EE06FC-526D-F921-9F60-C83718B1A61E}"/>
              </a:ext>
            </a:extLst>
          </p:cNvPr>
          <p:cNvPicPr>
            <a:picLocks noChangeAspect="1"/>
          </p:cNvPicPr>
          <p:nvPr/>
        </p:nvPicPr>
        <p:blipFill>
          <a:blip r:embed="rId2"/>
          <a:stretch>
            <a:fillRect/>
          </a:stretch>
        </p:blipFill>
        <p:spPr>
          <a:xfrm>
            <a:off x="2109035" y="2585913"/>
            <a:ext cx="7535707" cy="4272087"/>
          </a:xfrm>
          <a:prstGeom prst="rect">
            <a:avLst/>
          </a:prstGeom>
        </p:spPr>
      </p:pic>
    </p:spTree>
    <p:extLst>
      <p:ext uri="{BB962C8B-B14F-4D97-AF65-F5344CB8AC3E}">
        <p14:creationId xmlns:p14="http://schemas.microsoft.com/office/powerpoint/2010/main" val="220236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7B04A-7F2E-4DB3-A2F3-CE92534DDC64}"/>
              </a:ext>
            </a:extLst>
          </p:cNvPr>
          <p:cNvSpPr>
            <a:spLocks noGrp="1"/>
          </p:cNvSpPr>
          <p:nvPr>
            <p:ph type="title"/>
          </p:nvPr>
        </p:nvSpPr>
        <p:spPr/>
        <p:txBody>
          <a:bodyPr/>
          <a:lstStyle/>
          <a:p>
            <a:r>
              <a:rPr lang="en-US" dirty="0"/>
              <a:t>Binary representation</a:t>
            </a:r>
          </a:p>
        </p:txBody>
      </p:sp>
      <p:sp>
        <p:nvSpPr>
          <p:cNvPr id="3" name="Content Placeholder 2">
            <a:extLst>
              <a:ext uri="{FF2B5EF4-FFF2-40B4-BE49-F238E27FC236}">
                <a16:creationId xmlns:a16="http://schemas.microsoft.com/office/drawing/2014/main" id="{430D11D4-BAA5-47C8-B4D1-5942B5830ED7}"/>
              </a:ext>
            </a:extLst>
          </p:cNvPr>
          <p:cNvSpPr>
            <a:spLocks noGrp="1"/>
          </p:cNvSpPr>
          <p:nvPr>
            <p:ph idx="1"/>
          </p:nvPr>
        </p:nvSpPr>
        <p:spPr/>
        <p:txBody>
          <a:bodyPr/>
          <a:lstStyle/>
          <a:p>
            <a:r>
              <a:rPr lang="en-US" dirty="0"/>
              <a:t>17 = 10001, 38 = 100110</a:t>
            </a:r>
          </a:p>
          <a:p>
            <a:pPr marL="0" indent="0">
              <a:buNone/>
            </a:pPr>
            <a:endParaRPr lang="en-US" dirty="0"/>
          </a:p>
          <a:p>
            <a:r>
              <a:rPr lang="en-US" dirty="0"/>
              <a:t>Bitlength of number k is log</a:t>
            </a:r>
            <a:r>
              <a:rPr lang="en-US" baseline="-25000" dirty="0"/>
              <a:t>2</a:t>
            </a:r>
            <a:r>
              <a:rPr lang="en-US" dirty="0"/>
              <a:t> k</a:t>
            </a:r>
          </a:p>
          <a:p>
            <a:endParaRPr lang="en-US" dirty="0"/>
          </a:p>
          <a:p>
            <a:r>
              <a:rPr lang="en-US" dirty="0"/>
              <a:t>Complexity of an algorithm taking an integer k as input is computed on its bitlength</a:t>
            </a:r>
          </a:p>
        </p:txBody>
      </p:sp>
    </p:spTree>
    <p:extLst>
      <p:ext uri="{BB962C8B-B14F-4D97-AF65-F5344CB8AC3E}">
        <p14:creationId xmlns:p14="http://schemas.microsoft.com/office/powerpoint/2010/main" val="1108044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AEFEC-55BC-06CA-C391-F57EC235B898}"/>
              </a:ext>
            </a:extLst>
          </p:cNvPr>
          <p:cNvSpPr>
            <a:spLocks noGrp="1"/>
          </p:cNvSpPr>
          <p:nvPr>
            <p:ph type="title"/>
          </p:nvPr>
        </p:nvSpPr>
        <p:spPr/>
        <p:txBody>
          <a:bodyPr/>
          <a:lstStyle/>
          <a:p>
            <a:r>
              <a:rPr lang="en-US" dirty="0"/>
              <a:t>Binary string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229D69-7A5A-09BC-FF3A-4BC4F7D1690C}"/>
                  </a:ext>
                </a:extLst>
              </p:cNvPr>
              <p:cNvSpPr>
                <a:spLocks noGrp="1"/>
              </p:cNvSpPr>
              <p:nvPr>
                <p:ph idx="1"/>
              </p:nvPr>
            </p:nvSpPr>
            <p:spPr>
              <a:xfrm>
                <a:off x="445477" y="1736473"/>
                <a:ext cx="10515600" cy="4351338"/>
              </a:xfrm>
            </p:spPr>
            <p:txBody>
              <a:bodyPr/>
              <a:lstStyle/>
              <a:p>
                <a14:m>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𝑛</m:t>
                        </m:r>
                      </m:sup>
                    </m:sSup>
                  </m:oMath>
                </a14:m>
                <a:r>
                  <a:rPr lang="en-US" dirty="0"/>
                  <a:t> denotes the set of n-bit binary string. </a:t>
                </a:r>
              </a:p>
              <a:p>
                <a:endParaRPr lang="en-US" dirty="0"/>
              </a:p>
              <a:p>
                <a14:m>
                  <m:oMath xmlns:m="http://schemas.openxmlformats.org/officeDocument/2006/math">
                    <m:r>
                      <a:rPr lang="en-US" b="0" i="1" smtClean="0">
                        <a:latin typeface="Cambria Math" panose="02040503050406030204" pitchFamily="18" charset="0"/>
                      </a:rPr>
                      <m:t>⊕</m:t>
                    </m:r>
                  </m:oMath>
                </a14:m>
                <a:r>
                  <a:rPr lang="en-US" dirty="0"/>
                  <a:t> </a:t>
                </a:r>
                <a:r>
                  <a:rPr lang="en-US" dirty="0" err="1"/>
                  <a:t>xor</a:t>
                </a:r>
                <a:r>
                  <a:rPr lang="en-US" dirty="0"/>
                  <a:t>: </a:t>
                </a:r>
              </a:p>
              <a:p>
                <a:pPr lvl="1"/>
                <a:r>
                  <a:rPr lang="en-US" dirty="0"/>
                  <a:t>Same as addition mod 2</a:t>
                </a:r>
              </a:p>
            </p:txBody>
          </p:sp>
        </mc:Choice>
        <mc:Fallback xmlns="">
          <p:sp>
            <p:nvSpPr>
              <p:cNvPr id="3" name="Content Placeholder 2">
                <a:extLst>
                  <a:ext uri="{FF2B5EF4-FFF2-40B4-BE49-F238E27FC236}">
                    <a16:creationId xmlns:a16="http://schemas.microsoft.com/office/drawing/2014/main" id="{93229D69-7A5A-09BC-FF3A-4BC4F7D1690C}"/>
                  </a:ext>
                </a:extLst>
              </p:cNvPr>
              <p:cNvSpPr>
                <a:spLocks noGrp="1" noRot="1" noChangeAspect="1" noMove="1" noResize="1" noEditPoints="1" noAdjustHandles="1" noChangeArrowheads="1" noChangeShapeType="1" noTextEdit="1"/>
              </p:cNvSpPr>
              <p:nvPr>
                <p:ph idx="1"/>
              </p:nvPr>
            </p:nvSpPr>
            <p:spPr>
              <a:xfrm>
                <a:off x="445477" y="1736473"/>
                <a:ext cx="10515600" cy="4351338"/>
              </a:xfrm>
              <a:blipFill>
                <a:blip r:embed="rId2"/>
                <a:stretch>
                  <a:fillRect t="-25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1E2ED02-1624-7193-A9D6-B5219FB2E2A1}"/>
                  </a:ext>
                </a:extLst>
              </p:cNvPr>
              <p:cNvGraphicFramePr>
                <a:graphicFrameLocks noGrp="1"/>
              </p:cNvGraphicFramePr>
              <p:nvPr/>
            </p:nvGraphicFramePr>
            <p:xfrm>
              <a:off x="8009447" y="2985042"/>
              <a:ext cx="2743200" cy="1854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3204074840"/>
                        </a:ext>
                      </a:extLst>
                    </a:gridCol>
                    <a:gridCol w="914400">
                      <a:extLst>
                        <a:ext uri="{9D8B030D-6E8A-4147-A177-3AD203B41FA5}">
                          <a16:colId xmlns:a16="http://schemas.microsoft.com/office/drawing/2014/main" val="271378785"/>
                        </a:ext>
                      </a:extLst>
                    </a:gridCol>
                    <a:gridCol w="914400">
                      <a:extLst>
                        <a:ext uri="{9D8B030D-6E8A-4147-A177-3AD203B41FA5}">
                          <a16:colId xmlns:a16="http://schemas.microsoft.com/office/drawing/2014/main" val="156411876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𝑎</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𝑏</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oMath>
                            </m:oMathPara>
                          </a14:m>
                          <a:endParaRPr lang="en-US" dirty="0"/>
                        </a:p>
                      </a:txBody>
                      <a:tcPr/>
                    </a:tc>
                    <a:extLst>
                      <a:ext uri="{0D108BD9-81ED-4DB2-BD59-A6C34878D82A}">
                        <a16:rowId xmlns:a16="http://schemas.microsoft.com/office/drawing/2014/main" val="28827822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304420606"/>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3688787150"/>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483209414"/>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414286967"/>
                      </a:ext>
                    </a:extLst>
                  </a:tr>
                </a:tbl>
              </a:graphicData>
            </a:graphic>
          </p:graphicFrame>
        </mc:Choice>
        <mc:Fallback xmlns="">
          <p:graphicFrame>
            <p:nvGraphicFramePr>
              <p:cNvPr id="4" name="Table 3">
                <a:extLst>
                  <a:ext uri="{FF2B5EF4-FFF2-40B4-BE49-F238E27FC236}">
                    <a16:creationId xmlns:a16="http://schemas.microsoft.com/office/drawing/2014/main" id="{61E2ED02-1624-7193-A9D6-B5219FB2E2A1}"/>
                  </a:ext>
                </a:extLst>
              </p:cNvPr>
              <p:cNvGraphicFramePr>
                <a:graphicFrameLocks noGrp="1"/>
              </p:cNvGraphicFramePr>
              <p:nvPr>
                <p:extLst>
                  <p:ext uri="{D42A27DB-BD31-4B8C-83A1-F6EECF244321}">
                    <p14:modId xmlns:p14="http://schemas.microsoft.com/office/powerpoint/2010/main" val="2276981947"/>
                  </p:ext>
                </p:extLst>
              </p:nvPr>
            </p:nvGraphicFramePr>
            <p:xfrm>
              <a:off x="8009447" y="2985042"/>
              <a:ext cx="2743200" cy="1854200"/>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3204074840"/>
                        </a:ext>
                      </a:extLst>
                    </a:gridCol>
                    <a:gridCol w="914400">
                      <a:extLst>
                        <a:ext uri="{9D8B030D-6E8A-4147-A177-3AD203B41FA5}">
                          <a16:colId xmlns:a16="http://schemas.microsoft.com/office/drawing/2014/main" val="271378785"/>
                        </a:ext>
                      </a:extLst>
                    </a:gridCol>
                    <a:gridCol w="914400">
                      <a:extLst>
                        <a:ext uri="{9D8B030D-6E8A-4147-A177-3AD203B41FA5}">
                          <a16:colId xmlns:a16="http://schemas.microsoft.com/office/drawing/2014/main" val="1564118763"/>
                        </a:ext>
                      </a:extLst>
                    </a:gridCol>
                  </a:tblGrid>
                  <a:tr h="370840">
                    <a:tc>
                      <a:txBody>
                        <a:bodyPr/>
                        <a:lstStyle/>
                        <a:p>
                          <a:endParaRPr lang="en-US"/>
                        </a:p>
                      </a:txBody>
                      <a:tcPr>
                        <a:blipFill>
                          <a:blip r:embed="rId3"/>
                          <a:stretch>
                            <a:fillRect l="-667" t="-1639" r="-202000" b="-424590"/>
                          </a:stretch>
                        </a:blipFill>
                      </a:tcPr>
                    </a:tc>
                    <a:tc>
                      <a:txBody>
                        <a:bodyPr/>
                        <a:lstStyle/>
                        <a:p>
                          <a:endParaRPr lang="en-US"/>
                        </a:p>
                      </a:txBody>
                      <a:tcPr>
                        <a:blipFill>
                          <a:blip r:embed="rId3"/>
                          <a:stretch>
                            <a:fillRect l="-100000" t="-1639" r="-100662" b="-424590"/>
                          </a:stretch>
                        </a:blipFill>
                      </a:tcPr>
                    </a:tc>
                    <a:tc>
                      <a:txBody>
                        <a:bodyPr/>
                        <a:lstStyle/>
                        <a:p>
                          <a:endParaRPr lang="en-US"/>
                        </a:p>
                      </a:txBody>
                      <a:tcPr>
                        <a:blipFill>
                          <a:blip r:embed="rId3"/>
                          <a:stretch>
                            <a:fillRect l="-201333" t="-1639" r="-1333" b="-424590"/>
                          </a:stretch>
                        </a:blipFill>
                      </a:tcPr>
                    </a:tc>
                    <a:extLst>
                      <a:ext uri="{0D108BD9-81ED-4DB2-BD59-A6C34878D82A}">
                        <a16:rowId xmlns:a16="http://schemas.microsoft.com/office/drawing/2014/main" val="2882782248"/>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304420606"/>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3688787150"/>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3483209414"/>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1414286967"/>
                      </a:ext>
                    </a:extLst>
                  </a:tr>
                </a:tbl>
              </a:graphicData>
            </a:graphic>
          </p:graphicFrame>
        </mc:Fallback>
      </mc:AlternateContent>
      <p:pic>
        <p:nvPicPr>
          <p:cNvPr id="6" name="Picture 5">
            <a:extLst>
              <a:ext uri="{FF2B5EF4-FFF2-40B4-BE49-F238E27FC236}">
                <a16:creationId xmlns:a16="http://schemas.microsoft.com/office/drawing/2014/main" id="{968970D6-D8AF-2538-07E1-0B90E56597FD}"/>
              </a:ext>
            </a:extLst>
          </p:cNvPr>
          <p:cNvPicPr>
            <a:picLocks noChangeAspect="1"/>
          </p:cNvPicPr>
          <p:nvPr/>
        </p:nvPicPr>
        <p:blipFill>
          <a:blip r:embed="rId4"/>
          <a:stretch>
            <a:fillRect/>
          </a:stretch>
        </p:blipFill>
        <p:spPr>
          <a:xfrm>
            <a:off x="250514" y="4369542"/>
            <a:ext cx="7570674" cy="1854200"/>
          </a:xfrm>
          <a:prstGeom prst="rect">
            <a:avLst/>
          </a:prstGeom>
        </p:spPr>
      </p:pic>
    </p:spTree>
    <p:extLst>
      <p:ext uri="{BB962C8B-B14F-4D97-AF65-F5344CB8AC3E}">
        <p14:creationId xmlns:p14="http://schemas.microsoft.com/office/powerpoint/2010/main" val="353009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i="1" dirty="0"/>
                  <a:t>Event</a:t>
                </a:r>
                <a:r>
                  <a:rPr lang="en-US" dirty="0"/>
                  <a:t>: a particular occurrence in some experiment</a:t>
                </a:r>
              </a:p>
              <a:p>
                <a:pPr lvl="1"/>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𝐸</m:t>
                    </m:r>
                    <m:r>
                      <a:rPr lang="en-US" i="1" dirty="0">
                        <a:latin typeface="Cambria Math" panose="02040503050406030204" pitchFamily="18" charset="0"/>
                      </a:rPr>
                      <m:t>]</m:t>
                    </m:r>
                  </m:oMath>
                </a14:m>
                <a:r>
                  <a:rPr lang="en-US" dirty="0"/>
                  <a:t>: probability of event E</a:t>
                </a:r>
              </a:p>
              <a:p>
                <a:pPr lvl="1"/>
                <a:endParaRPr lang="en-US" sz="2800" dirty="0"/>
              </a:p>
              <a:p>
                <a:r>
                  <a:rPr lang="en-US" dirty="0"/>
                  <a:t>Conditional probability: probability that one event occurs, </a:t>
                </a:r>
                <a:r>
                  <a:rPr lang="en-US" i="1" dirty="0"/>
                  <a:t>given that </a:t>
                </a:r>
                <a:r>
                  <a:rPr lang="en-US" dirty="0"/>
                  <a:t>some other event occurred</a:t>
                </a:r>
              </a:p>
              <a:p>
                <a:pPr lvl="1"/>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 </m:t>
                    </m:r>
                    <m:r>
                      <a:rPr lang="en-US" i="1" dirty="0">
                        <a:latin typeface="Cambria Math" panose="02040503050406030204" pitchFamily="18" charset="0"/>
                      </a:rPr>
                      <m:t>𝐵</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dirty="0">
                        <a:latin typeface="Cambria Math" panose="02040503050406030204" pitchFamily="18" charset="0"/>
                      </a:rPr>
                      <m:t>𝑎𝑛𝑑</m:t>
                    </m:r>
                    <m:r>
                      <a:rPr lang="en-US" i="1" dirty="0">
                        <a:latin typeface="Cambria Math" panose="02040503050406030204" pitchFamily="18" charset="0"/>
                      </a:rPr>
                      <m:t> </m:t>
                    </m:r>
                    <m:r>
                      <a:rPr lang="en-US" i="1" dirty="0">
                        <a:latin typeface="Cambria Math" panose="02040503050406030204" pitchFamily="18" charset="0"/>
                      </a:rPr>
                      <m:t>𝐵</m:t>
                    </m:r>
                    <m:r>
                      <a:rPr lang="en-US" i="1" dirty="0">
                        <a:latin typeface="Cambria Math" panose="02040503050406030204" pitchFamily="18" charset="0"/>
                      </a:rPr>
                      <m:t>]/</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m:t>
                    </m:r>
                  </m:oMath>
                </a14:m>
                <a:endParaRPr lang="en-US" dirty="0"/>
              </a:p>
              <a:p>
                <a:pPr lvl="1"/>
                <a:endParaRPr lang="en-US" dirty="0"/>
              </a:p>
              <a:p>
                <a:r>
                  <a:rPr lang="en-US" dirty="0"/>
                  <a:t>Two </a:t>
                </a:r>
                <a:r>
                  <a:rPr lang="en-US" dirty="0" err="1"/>
                  <a:t>r.v.’s</a:t>
                </a:r>
                <a:r>
                  <a:rPr lang="en-US" dirty="0"/>
                  <a:t> X, Y are </a:t>
                </a:r>
                <a:r>
                  <a:rPr lang="en-US" i="1" dirty="0"/>
                  <a:t>independent</a:t>
                </a:r>
                <a:r>
                  <a:rPr lang="en-US" dirty="0"/>
                  <a:t> if</a:t>
                </a:r>
                <a:br>
                  <a:rPr lang="en-US" dirty="0"/>
                </a:br>
                <a:r>
                  <a:rPr lang="en-US" dirty="0"/>
                  <a:t>  for all x, y: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𝑌</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 = </m:t>
                    </m:r>
                    <m:r>
                      <m:rPr>
                        <m:sty m:val="p"/>
                      </m:rPr>
                      <a:rPr lang="en-US" i="1" dirty="0" err="1">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521" r="-1681"/>
                </a:stretch>
              </a:blipFill>
            </p:spPr>
            <p:txBody>
              <a:bodyPr/>
              <a:lstStyle/>
              <a:p>
                <a:r>
                  <a:rPr lang="en-US">
                    <a:noFill/>
                  </a:rPr>
                  <a:t> </a:t>
                </a:r>
              </a:p>
            </p:txBody>
          </p:sp>
        </mc:Fallback>
      </mc:AlternateContent>
    </p:spTree>
    <p:extLst>
      <p:ext uri="{BB962C8B-B14F-4D97-AF65-F5344CB8AC3E}">
        <p14:creationId xmlns:p14="http://schemas.microsoft.com/office/powerpoint/2010/main" val="737309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Law of total probability: say E</a:t>
                </a:r>
                <a:r>
                  <a:rPr lang="en-US" baseline="-25000" dirty="0"/>
                  <a:t>1</a:t>
                </a:r>
                <a:r>
                  <a:rPr lang="en-US" dirty="0"/>
                  <a:t>, …, E</a:t>
                </a:r>
                <a:r>
                  <a:rPr lang="en-US" baseline="-25000" dirty="0"/>
                  <a:t>n</a:t>
                </a:r>
                <a:r>
                  <a:rPr lang="en-US" dirty="0"/>
                  <a:t> are a </a:t>
                </a:r>
                <a:r>
                  <a:rPr lang="en-US" i="1" dirty="0"/>
                  <a:t>partition</a:t>
                </a:r>
                <a:r>
                  <a:rPr lang="en-US" dirty="0"/>
                  <a:t> of all possibilities. Then for any A:</a:t>
                </a:r>
                <a:br>
                  <a:rPr lang="en-US" dirty="0"/>
                </a:br>
                <a:r>
                  <a:rPr lang="en-US" dirty="0"/>
                  <a:t>    </a:t>
                </a:r>
              </a:p>
              <a:p>
                <a:pPr marL="0" indent="0">
                  <a:buNone/>
                </a:pPr>
                <a:r>
                  <a:rPr lang="en-US" dirty="0"/>
                  <a:t>	 </a:t>
                </a:r>
                <a14:m>
                  <m:oMath xmlns:m="http://schemas.openxmlformats.org/officeDocument/2006/math">
                    <m:r>
                      <m:rPr>
                        <m:sty m:val="p"/>
                      </m:rPr>
                      <a:rPr lang="en-US" i="1" dirty="0" smtClean="0">
                        <a:latin typeface="Cambria Math" panose="02040503050406030204" pitchFamily="18" charset="0"/>
                      </a:rPr>
                      <m:t>Pr</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baseline="-25000" dirty="0" err="1">
                        <a:latin typeface="Cambria Math" panose="02040503050406030204" pitchFamily="18" charset="0"/>
                        <a:sym typeface="Symbol"/>
                      </a:rPr>
                      <m:t>𝑖</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m:t>
                    </m:r>
                    <m:r>
                      <a:rPr lang="en-US" i="1" dirty="0">
                        <a:latin typeface="Cambria Math" panose="02040503050406030204" pitchFamily="18" charset="0"/>
                        <a:sym typeface="Symbol"/>
                      </a:rPr>
                      <m:t>𝑎𝑛𝑑</m:t>
                    </m:r>
                    <m:r>
                      <a:rPr lang="en-US" i="1" dirty="0">
                        <a:latin typeface="Cambria Math" panose="02040503050406030204" pitchFamily="18" charset="0"/>
                        <a:sym typeface="Symbol"/>
                      </a:rPr>
                      <m:t>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a:latin typeface="Cambria Math" panose="02040503050406030204" pitchFamily="18" charset="0"/>
                        <a:sym typeface="Symbol"/>
                      </a:rPr>
                      <m:t>𝐴</m:t>
                    </m:r>
                    <m:r>
                      <a:rPr lang="en-US" i="1" dirty="0">
                        <a:latin typeface="Cambria Math" panose="02040503050406030204" pitchFamily="18" charset="0"/>
                        <a:sym typeface="Symbol"/>
                      </a:rPr>
                      <m:t> | </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 </m:t>
                    </m:r>
                    <m:r>
                      <m:rPr>
                        <m:sty m:val="p"/>
                      </m:rPr>
                      <a:rPr lang="en-US" i="1" dirty="0" err="1">
                        <a:latin typeface="Cambria Math" panose="02040503050406030204" pitchFamily="18" charset="0"/>
                        <a:sym typeface="Symbol"/>
                      </a:rPr>
                      <m:t>Pr</m:t>
                    </m:r>
                    <m:r>
                      <a:rPr lang="en-US" i="1" dirty="0">
                        <a:latin typeface="Cambria Math" panose="02040503050406030204" pitchFamily="18" charset="0"/>
                        <a:sym typeface="Symbol"/>
                      </a:rPr>
                      <m:t>⁡[</m:t>
                    </m:r>
                    <m:r>
                      <a:rPr lang="en-US" i="1" dirty="0" err="1">
                        <a:latin typeface="Cambria Math" panose="02040503050406030204" pitchFamily="18" charset="0"/>
                        <a:sym typeface="Symbol"/>
                      </a:rPr>
                      <m:t>𝐸</m:t>
                    </m:r>
                    <m:r>
                      <a:rPr lang="en-US" i="1" baseline="-25000" dirty="0" err="1">
                        <a:latin typeface="Cambria Math" panose="02040503050406030204" pitchFamily="18" charset="0"/>
                        <a:sym typeface="Symbol"/>
                      </a:rPr>
                      <m:t>𝑖</m:t>
                    </m:r>
                    <m:r>
                      <a:rPr lang="en-US" i="1" dirty="0">
                        <a:latin typeface="Cambria Math" panose="02040503050406030204" pitchFamily="18" charset="0"/>
                        <a:sym typeface="Symbol"/>
                      </a:rPr>
                      <m:t>] </m:t>
                    </m:r>
                  </m:oMath>
                </a14:m>
                <a:endParaRPr lang="en-US" dirty="0"/>
              </a:p>
              <a:p>
                <a:pPr marL="0" indent="0">
                  <a:buNone/>
                </a:pPr>
                <a:endParaRPr lang="en-US" dirty="0"/>
              </a:p>
              <a:p>
                <a:r>
                  <a:rPr lang="en-US" dirty="0" err="1"/>
                  <a:t>Bayes’s</a:t>
                </a:r>
                <a:r>
                  <a:rPr lang="en-US" dirty="0"/>
                  <a:t> theorem: </a:t>
                </a:r>
                <a14:m>
                  <m:oMath xmlns:m="http://schemas.openxmlformats.org/officeDocument/2006/math">
                    <m:r>
                      <m:rPr>
                        <m:sty m:val="p"/>
                      </m:rPr>
                      <a:rPr lang="en-US" i="1" dirty="0"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𝐴</m:t>
                    </m:r>
                    <m:r>
                      <a:rPr lang="en-US" i="1" dirty="0" smtClean="0">
                        <a:latin typeface="Cambria Math" panose="02040503050406030204" pitchFamily="18" charset="0"/>
                      </a:rPr>
                      <m:t> | </m:t>
                    </m:r>
                    <m:r>
                      <a:rPr lang="en-US" i="1" dirty="0" smtClean="0">
                        <a:latin typeface="Cambria Math" panose="02040503050406030204" pitchFamily="18" charset="0"/>
                      </a:rPr>
                      <m:t>𝐵</m:t>
                    </m:r>
                    <m:r>
                      <a:rPr lang="en-US" i="1" dirty="0" smtClean="0">
                        <a:latin typeface="Cambria Math" panose="02040503050406030204" pitchFamily="18" charset="0"/>
                      </a:rPr>
                      <m:t>] · </m:t>
                    </m:r>
                    <m:r>
                      <m:rPr>
                        <m:sty m:val="p"/>
                      </m:rPr>
                      <a:rPr lang="en-US" i="1" dirty="0" err="1"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𝐵</m:t>
                    </m:r>
                    <m:r>
                      <a:rPr lang="en-US" i="1" dirty="0" smtClean="0">
                        <a:latin typeface="Cambria Math" panose="02040503050406030204" pitchFamily="18" charset="0"/>
                      </a:rPr>
                      <m:t>] = </m:t>
                    </m:r>
                    <m:r>
                      <m:rPr>
                        <m:sty m:val="p"/>
                      </m:rPr>
                      <a:rPr lang="en-US" i="1" dirty="0" err="1"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𝐵</m:t>
                    </m:r>
                    <m:r>
                      <a:rPr lang="en-US" i="1" dirty="0" smtClean="0">
                        <a:latin typeface="Cambria Math" panose="02040503050406030204" pitchFamily="18" charset="0"/>
                      </a:rPr>
                      <m:t> | </m:t>
                    </m:r>
                    <m:r>
                      <a:rPr lang="en-US" i="1" dirty="0" smtClean="0">
                        <a:latin typeface="Cambria Math" panose="02040503050406030204" pitchFamily="18" charset="0"/>
                      </a:rPr>
                      <m:t>𝐴</m:t>
                    </m:r>
                    <m:r>
                      <a:rPr lang="en-US" i="1" dirty="0" smtClean="0">
                        <a:latin typeface="Cambria Math" panose="02040503050406030204" pitchFamily="18" charset="0"/>
                      </a:rPr>
                      <m:t>] · </m:t>
                    </m:r>
                    <m:r>
                      <m:rPr>
                        <m:sty m:val="p"/>
                      </m:rPr>
                      <a:rPr lang="en-US" i="1" dirty="0" err="1" smtClean="0">
                        <a:latin typeface="Cambria Math" panose="02040503050406030204" pitchFamily="18" charset="0"/>
                      </a:rPr>
                      <m:t>Pr</m:t>
                    </m:r>
                    <m:r>
                      <a:rPr lang="en-US" i="1" dirty="0" smtClean="0">
                        <a:latin typeface="Cambria Math" panose="02040503050406030204" pitchFamily="18" charset="0"/>
                      </a:rPr>
                      <m:t>⁡[</m:t>
                    </m:r>
                    <m:r>
                      <a:rPr lang="en-US" i="1" dirty="0" smtClean="0">
                        <a:latin typeface="Cambria Math" panose="02040503050406030204" pitchFamily="18" charset="0"/>
                      </a:rPr>
                      <m:t>𝐴</m:t>
                    </m:r>
                    <m:r>
                      <a:rPr lang="en-US" i="1" dirty="0" smtClean="0">
                        <a:latin typeface="Cambria Math" panose="02040503050406030204" pitchFamily="18" charset="0"/>
                      </a:rPr>
                      <m:t>]</m:t>
                    </m:r>
                  </m:oMath>
                </a14:m>
                <a:endParaRPr lang="en-US" dirty="0"/>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886691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3077</TotalTime>
  <Words>1766</Words>
  <Application>Microsoft Macintosh PowerPoint</Application>
  <PresentationFormat>Widescreen</PresentationFormat>
  <Paragraphs>220</Paragraphs>
  <Slides>29</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Source Sans Variable</vt:lpstr>
      <vt:lpstr>Aptos</vt:lpstr>
      <vt:lpstr>Aptos Display</vt:lpstr>
      <vt:lpstr>Arial</vt:lpstr>
      <vt:lpstr>Cambria Math</vt:lpstr>
      <vt:lpstr>Georgia</vt:lpstr>
      <vt:lpstr>Symbol</vt:lpstr>
      <vt:lpstr>Times New Roman</vt:lpstr>
      <vt:lpstr>Wingdings</vt:lpstr>
      <vt:lpstr>Office Theme</vt:lpstr>
      <vt:lpstr>ECE/CS 407  Cryptography</vt:lpstr>
      <vt:lpstr>About Me </vt:lpstr>
      <vt:lpstr>Course Information</vt:lpstr>
      <vt:lpstr>Resources</vt:lpstr>
      <vt:lpstr>Prerequisites</vt:lpstr>
      <vt:lpstr>Grading Policy</vt:lpstr>
      <vt:lpstr>4 credit hours project</vt:lpstr>
      <vt:lpstr>Ethics &amp; Academic Integrity</vt:lpstr>
      <vt:lpstr>Emergencies</vt:lpstr>
      <vt:lpstr>Diversity, Equity, and Inclusion</vt:lpstr>
      <vt:lpstr>What is this course not about?</vt:lpstr>
      <vt:lpstr>Why cryptography?</vt:lpstr>
      <vt:lpstr>Why cryptography?</vt:lpstr>
      <vt:lpstr>Cryptography</vt:lpstr>
      <vt:lpstr>PowerPoint Presentation</vt:lpstr>
      <vt:lpstr>Textbook</vt:lpstr>
      <vt:lpstr>What is this course about?   Proof </vt:lpstr>
      <vt:lpstr>What is this course about?   Math </vt:lpstr>
      <vt:lpstr> (NOT) All Background You Need for This Course</vt:lpstr>
      <vt:lpstr>Exponentiation and log</vt:lpstr>
      <vt:lpstr>Prime Number</vt:lpstr>
      <vt:lpstr>Modular Arithmetic</vt:lpstr>
      <vt:lpstr>Modular Arithmetic</vt:lpstr>
      <vt:lpstr>Modular exponentiation</vt:lpstr>
      <vt:lpstr>Asymptotic complexity</vt:lpstr>
      <vt:lpstr>Binary representation</vt:lpstr>
      <vt:lpstr>Binary string</vt:lpstr>
      <vt:lpstr>Probability</vt:lpstr>
      <vt:lpstr>Probability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Luo, Ning</dc:creator>
  <cp:lastModifiedBy>Luo, Ning</cp:lastModifiedBy>
  <cp:revision>5</cp:revision>
  <dcterms:created xsi:type="dcterms:W3CDTF">2025-08-24T17:30:31Z</dcterms:created>
  <dcterms:modified xsi:type="dcterms:W3CDTF">2026-08-18T20:14:06Z</dcterms:modified>
</cp:coreProperties>
</file>