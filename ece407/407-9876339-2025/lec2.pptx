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644" r:id="rId2"/>
    <p:sldId id="273" r:id="rId3"/>
    <p:sldId id="535" r:id="rId4"/>
    <p:sldId id="409" r:id="rId5"/>
    <p:sldId id="411" r:id="rId6"/>
    <p:sldId id="536" r:id="rId7"/>
    <p:sldId id="537" r:id="rId8"/>
    <p:sldId id="264" r:id="rId9"/>
    <p:sldId id="645" r:id="rId10"/>
    <p:sldId id="459" r:id="rId11"/>
    <p:sldId id="619" r:id="rId12"/>
    <p:sldId id="265" r:id="rId13"/>
    <p:sldId id="460" r:id="rId14"/>
    <p:sldId id="461" r:id="rId15"/>
    <p:sldId id="620" r:id="rId16"/>
    <p:sldId id="268" r:id="rId17"/>
    <p:sldId id="285" r:id="rId18"/>
    <p:sldId id="462" r:id="rId19"/>
    <p:sldId id="287" r:id="rId20"/>
    <p:sldId id="621" r:id="rId21"/>
    <p:sldId id="622" r:id="rId22"/>
    <p:sldId id="381" r:id="rId23"/>
    <p:sldId id="624" r:id="rId24"/>
    <p:sldId id="643" r:id="rId25"/>
    <p:sldId id="642" r:id="rId26"/>
    <p:sldId id="625" r:id="rId27"/>
    <p:sldId id="272" r:id="rId28"/>
    <p:sldId id="458" r:id="rId29"/>
    <p:sldId id="592" r:id="rId30"/>
    <p:sldId id="383" r:id="rId31"/>
    <p:sldId id="634" r:id="rId32"/>
    <p:sldId id="636" r:id="rId33"/>
    <p:sldId id="635" r:id="rId34"/>
    <p:sldId id="637" r:id="rId35"/>
    <p:sldId id="627" r:id="rId36"/>
    <p:sldId id="630" r:id="rId37"/>
    <p:sldId id="628" r:id="rId38"/>
    <p:sldId id="626" r:id="rId39"/>
    <p:sldId id="593" r:id="rId40"/>
    <p:sldId id="594" r:id="rId41"/>
    <p:sldId id="464" r:id="rId42"/>
    <p:sldId id="465" r:id="rId43"/>
    <p:sldId id="631" r:id="rId44"/>
    <p:sldId id="632" r:id="rId45"/>
    <p:sldId id="382" r:id="rId46"/>
    <p:sldId id="638" r:id="rId47"/>
    <p:sldId id="639" r:id="rId48"/>
    <p:sldId id="640" r:id="rId49"/>
    <p:sldId id="641" r:id="rId50"/>
    <p:sldId id="466" r:id="rId51"/>
    <p:sldId id="62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88"/>
    <p:restoredTop sz="76735"/>
  </p:normalViewPr>
  <p:slideViewPr>
    <p:cSldViewPr snapToGrid="0">
      <p:cViewPr varScale="1">
        <p:scale>
          <a:sx n="97" d="100"/>
          <a:sy n="97" d="100"/>
        </p:scale>
        <p:origin x="16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F2DB9-8D06-234D-9A1D-9A93417AB3C1}" type="datetimeFigureOut">
              <a:rPr lang="en-US" smtClean="0"/>
              <a:t>8/28/25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8B666-1126-2442-959D-ED94D2DB974E}" type="slidenum">
              <a:rPr lang="en-US" smtClean="0"/>
              <a:t>‹#›</a:t>
            </a:fld>
            <a:endParaRPr lang="en-US"/>
          </a:p>
        </p:txBody>
      </p:sp>
    </p:spTree>
    <p:extLst>
      <p:ext uri="{BB962C8B-B14F-4D97-AF65-F5344CB8AC3E}">
        <p14:creationId xmlns:p14="http://schemas.microsoft.com/office/powerpoint/2010/main" val="3927613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Julius Caesar, Roman dictator</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A319894-E90D-449B-AB9F-276BCEC71F5A}"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sym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Arial" charset="0"/>
              <a:ea typeface="+mn-ea"/>
              <a:cs typeface="+mn-cs"/>
              <a:sym typeface="Arial" charset="0"/>
            </a:endParaRPr>
          </a:p>
        </p:txBody>
      </p:sp>
    </p:spTree>
    <p:extLst>
      <p:ext uri="{BB962C8B-B14F-4D97-AF65-F5344CB8AC3E}">
        <p14:creationId xmlns:p14="http://schemas.microsoft.com/office/powerpoint/2010/main" val="1268825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by the key </a:t>
            </a:r>
          </a:p>
          <a:p>
            <a:endParaRPr lang="en-US" dirty="0"/>
          </a:p>
          <a:p>
            <a:r>
              <a:rPr lang="en-US" dirty="0"/>
              <a:t>What that means by shift by key </a:t>
            </a:r>
          </a:p>
          <a:p>
            <a:endParaRPr lang="en-US" dirty="0"/>
          </a:p>
          <a:p>
            <a:endParaRPr lang="en-US" dirty="0"/>
          </a:p>
          <a:p>
            <a:r>
              <a:rPr lang="en-US" b="0" i="0" dirty="0">
                <a:solidFill>
                  <a:srgbClr val="0A0A0A"/>
                </a:solidFill>
                <a:effectLst/>
                <a:latin typeface="Google Sans"/>
              </a:rPr>
              <a:t>Align the plaintext and the repeating keyword</a:t>
            </a:r>
          </a:p>
          <a:p>
            <a:endParaRPr lang="en-US" b="0" i="0" dirty="0">
              <a:solidFill>
                <a:srgbClr val="0A0A0A"/>
              </a:solidFill>
              <a:effectLst/>
              <a:latin typeface="Google Sans"/>
            </a:endParaRPr>
          </a:p>
          <a:p>
            <a:r>
              <a:rPr lang="en-US" b="0" i="0" dirty="0">
                <a:solidFill>
                  <a:srgbClr val="0A0A0A"/>
                </a:solidFill>
                <a:effectLst/>
                <a:latin typeface="Google Sans"/>
              </a:rPr>
              <a:t>Encrypt each letter of the plaintext with the corresponding letter of the repeated key by rotation. </a:t>
            </a:r>
            <a:endParaRPr lang="en-US" dirty="0"/>
          </a:p>
        </p:txBody>
      </p:sp>
      <p:sp>
        <p:nvSpPr>
          <p:cNvPr id="4" name="Slide Number Placeholder 3"/>
          <p:cNvSpPr>
            <a:spLocks noGrp="1"/>
          </p:cNvSpPr>
          <p:nvPr>
            <p:ph type="sldNum" sz="quarter" idx="5"/>
          </p:nvPr>
        </p:nvSpPr>
        <p:spPr/>
        <p:txBody>
          <a:bodyPr/>
          <a:lstStyle/>
          <a:p>
            <a:fld id="{8328B666-1126-2442-959D-ED94D2DB974E}" type="slidenum">
              <a:rPr lang="en-US" smtClean="0"/>
              <a:t>18</a:t>
            </a:fld>
            <a:endParaRPr lang="en-US"/>
          </a:p>
        </p:txBody>
      </p:sp>
    </p:spTree>
    <p:extLst>
      <p:ext uri="{BB962C8B-B14F-4D97-AF65-F5344CB8AC3E}">
        <p14:creationId xmlns:p14="http://schemas.microsoft.com/office/powerpoint/2010/main" val="320772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1/l  0.065 + </a:t>
            </a:r>
          </a:p>
        </p:txBody>
      </p:sp>
      <p:sp>
        <p:nvSpPr>
          <p:cNvPr id="4" name="Slide Number Placeholder 3"/>
          <p:cNvSpPr>
            <a:spLocks noGrp="1"/>
          </p:cNvSpPr>
          <p:nvPr>
            <p:ph type="sldNum" sz="quarter" idx="5"/>
          </p:nvPr>
        </p:nvSpPr>
        <p:spPr/>
        <p:txBody>
          <a:bodyPr/>
          <a:lstStyle/>
          <a:p>
            <a:fld id="{8328B666-1126-2442-959D-ED94D2DB974E}" type="slidenum">
              <a:rPr lang="en-US" smtClean="0"/>
              <a:t>23</a:t>
            </a:fld>
            <a:endParaRPr lang="en-US"/>
          </a:p>
        </p:txBody>
      </p:sp>
    </p:spTree>
    <p:extLst>
      <p:ext uri="{BB962C8B-B14F-4D97-AF65-F5344CB8AC3E}">
        <p14:creationId xmlns:p14="http://schemas.microsoft.com/office/powerpoint/2010/main" val="259614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7CA986-3AF3-4A96-96D9-81DF283B350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0677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1E8587-C61B-49BA-BD3C-A9EE353D70EB}" type="slidenum">
              <a:rPr lang="en-US" smtClean="0"/>
              <a:t>47</a:t>
            </a:fld>
            <a:endParaRPr lang="en-US"/>
          </a:p>
        </p:txBody>
      </p:sp>
    </p:spTree>
    <p:extLst>
      <p:ext uri="{BB962C8B-B14F-4D97-AF65-F5344CB8AC3E}">
        <p14:creationId xmlns:p14="http://schemas.microsoft.com/office/powerpoint/2010/main" val="3096393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72298-13FD-A53E-E81A-29407919CD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79347A-F469-D5E7-17D3-5CC797D51F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7EAD0D-C8AE-4DF4-B753-280B4FF5C3E0}"/>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5" name="Footer Placeholder 4">
            <a:extLst>
              <a:ext uri="{FF2B5EF4-FFF2-40B4-BE49-F238E27FC236}">
                <a16:creationId xmlns:a16="http://schemas.microsoft.com/office/drawing/2014/main" id="{027E3100-6B45-0127-A5EC-1AC22A503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6366D3-A398-2581-C110-6570EC597765}"/>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2852442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7B52D-CB1C-EFB0-32A7-F6E064D14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5E4298-46C8-4ECE-8362-DFAFAD3F70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B2EC12-1B1B-88E2-8452-13A1E41DEFA1}"/>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5" name="Footer Placeholder 4">
            <a:extLst>
              <a:ext uri="{FF2B5EF4-FFF2-40B4-BE49-F238E27FC236}">
                <a16:creationId xmlns:a16="http://schemas.microsoft.com/office/drawing/2014/main" id="{6EEE477D-8D7D-2A5F-B5D0-292E837A1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6C7F2F-4DBF-281A-DA76-1F5BA51B1CDC}"/>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2825585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8D5DD-3DC3-8480-4B06-198183F3FA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D9DEDC-5206-A31D-44C7-06D3928AE3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A8CE1E-7139-3B4B-B853-658683ADBA5B}"/>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5" name="Footer Placeholder 4">
            <a:extLst>
              <a:ext uri="{FF2B5EF4-FFF2-40B4-BE49-F238E27FC236}">
                <a16:creationId xmlns:a16="http://schemas.microsoft.com/office/drawing/2014/main" id="{0E836798-E41E-4587-CFA1-CF3779C6D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B3EEBC-6EA6-8257-1873-D97E8453D5DF}"/>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2443855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8296-1D0E-BC58-78B5-6F09DDB63D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28D852-4378-D645-2DBA-1D3A075408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8A144E-23D8-F6F6-5CFF-FE1B06ACDD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B18CF4-5BE0-4242-93BE-11ADB3FE8F3B}"/>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6" name="Footer Placeholder 5">
            <a:extLst>
              <a:ext uri="{FF2B5EF4-FFF2-40B4-BE49-F238E27FC236}">
                <a16:creationId xmlns:a16="http://schemas.microsoft.com/office/drawing/2014/main" id="{DA9A302E-C332-2593-0A21-EC88803D2F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0A1E6E-8B1C-174C-4A40-EA570BF0707E}"/>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761543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39E17-3171-3BC2-7524-9BED2616AF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A70970-C3CA-F7F3-6EE7-753B792688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44E703-4ECA-4828-5EE7-46AB98D294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841883-DD4F-DF5C-2BAA-5D37E891FC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2C4AF0-3CFA-18D2-293A-ED9A7934CC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A5CD90-4996-EA7C-F2A1-24265FB7279B}"/>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8" name="Footer Placeholder 7">
            <a:extLst>
              <a:ext uri="{FF2B5EF4-FFF2-40B4-BE49-F238E27FC236}">
                <a16:creationId xmlns:a16="http://schemas.microsoft.com/office/drawing/2014/main" id="{26A4B745-C364-F223-8680-AAC6280C48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70B5A4-9259-0D3E-4D2F-5FF6D168EF95}"/>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006650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1CD30-B976-17A3-4B45-19D01E2AA6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96082F-EC36-BB3B-866F-8D03379E3C84}"/>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4" name="Footer Placeholder 3">
            <a:extLst>
              <a:ext uri="{FF2B5EF4-FFF2-40B4-BE49-F238E27FC236}">
                <a16:creationId xmlns:a16="http://schemas.microsoft.com/office/drawing/2014/main" id="{D51FBEE4-B67F-F90F-E5D4-EDE3A6E599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F3BF27-76A1-D473-0A0B-1A67846E66E8}"/>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965808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E87E17-D710-D74D-671F-5F835C0651B6}"/>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3" name="Footer Placeholder 2">
            <a:extLst>
              <a:ext uri="{FF2B5EF4-FFF2-40B4-BE49-F238E27FC236}">
                <a16:creationId xmlns:a16="http://schemas.microsoft.com/office/drawing/2014/main" id="{0D2EEBF7-3C53-0A5C-B6CD-5A910BEE4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E27071-4842-D491-3ACF-21F143ADDC9D}"/>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2094486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14758-ED28-5FD0-E39E-517F7895F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93C0B-79A5-BB9E-B88C-AA35F5FD9F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A847F0-C14C-0DEF-35EA-AA96A170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1146A7-8326-B5BF-EAB1-62280FB1208D}"/>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6" name="Footer Placeholder 5">
            <a:extLst>
              <a:ext uri="{FF2B5EF4-FFF2-40B4-BE49-F238E27FC236}">
                <a16:creationId xmlns:a16="http://schemas.microsoft.com/office/drawing/2014/main" id="{AE8EE1A6-4663-1964-0BC7-B847BCEB5A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DFBA4-BDB4-EA74-0C93-1587A27C54AF}"/>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356576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2A08E-A531-E807-933E-8DF8D3EE2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0D7672-5EF7-E5F1-5F6A-8FD714168A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7A014E-BE43-D259-CD28-638D20B6A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C30AEF-1BD9-6663-AE98-F9E918A12679}"/>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6" name="Footer Placeholder 5">
            <a:extLst>
              <a:ext uri="{FF2B5EF4-FFF2-40B4-BE49-F238E27FC236}">
                <a16:creationId xmlns:a16="http://schemas.microsoft.com/office/drawing/2014/main" id="{9BC83E14-9836-6A89-86DF-27809272F9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2ED08-1C0A-9F4C-8BD6-CCABE0F09D36}"/>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099038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B676A-E870-D485-12FE-1B2F0DCFF6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E53F22-A5EE-CB59-91D4-672E5FA2F2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00DAAB-10D0-799B-62EB-B28D78EF9B25}"/>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5" name="Footer Placeholder 4">
            <a:extLst>
              <a:ext uri="{FF2B5EF4-FFF2-40B4-BE49-F238E27FC236}">
                <a16:creationId xmlns:a16="http://schemas.microsoft.com/office/drawing/2014/main" id="{ACDF5C25-25D9-A286-3132-50AF7F737D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E6A8DE-914F-632D-9615-3D63D2C43254}"/>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1715868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A2F5E2-78A5-7456-6431-4A6C3B75C4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E566E1-44C7-8D96-39B8-58CB0F177E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9998DA-8695-2438-5A95-36FB6241F4C2}"/>
              </a:ext>
            </a:extLst>
          </p:cNvPr>
          <p:cNvSpPr>
            <a:spLocks noGrp="1"/>
          </p:cNvSpPr>
          <p:nvPr>
            <p:ph type="dt" sz="half" idx="10"/>
          </p:nvPr>
        </p:nvSpPr>
        <p:spPr/>
        <p:txBody>
          <a:bodyPr/>
          <a:lstStyle/>
          <a:p>
            <a:fld id="{783664A2-732D-0A42-A0B3-B37B01E57B79}" type="datetimeFigureOut">
              <a:rPr lang="en-US" smtClean="0"/>
              <a:t>8/28/25</a:t>
            </a:fld>
            <a:endParaRPr lang="en-US"/>
          </a:p>
        </p:txBody>
      </p:sp>
      <p:sp>
        <p:nvSpPr>
          <p:cNvPr id="5" name="Footer Placeholder 4">
            <a:extLst>
              <a:ext uri="{FF2B5EF4-FFF2-40B4-BE49-F238E27FC236}">
                <a16:creationId xmlns:a16="http://schemas.microsoft.com/office/drawing/2014/main" id="{3970B4C6-78E5-4A23-422D-3D261FF1F1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7BD50F-0AF4-42A3-3694-C1784EA8CA72}"/>
              </a:ext>
            </a:extLst>
          </p:cNvPr>
          <p:cNvSpPr>
            <a:spLocks noGrp="1"/>
          </p:cNvSpPr>
          <p:nvPr>
            <p:ph type="sldNum" sz="quarter" idx="12"/>
          </p:nvPr>
        </p:nvSpPr>
        <p:spPr/>
        <p:txBody>
          <a:bodyPr/>
          <a:lstStyle/>
          <a:p>
            <a:fld id="{9E689E1B-9684-7B4C-B9AC-1C9D17F0C9CA}" type="slidenum">
              <a:rPr lang="en-US" smtClean="0"/>
              <a:t>‹#›</a:t>
            </a:fld>
            <a:endParaRPr lang="en-US"/>
          </a:p>
        </p:txBody>
      </p:sp>
    </p:spTree>
    <p:extLst>
      <p:ext uri="{BB962C8B-B14F-4D97-AF65-F5344CB8AC3E}">
        <p14:creationId xmlns:p14="http://schemas.microsoft.com/office/powerpoint/2010/main" val="3586175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874322-4BA5-AB0E-DA54-33043310D3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D5CED1-073A-B783-5A09-0F22F02C2B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60ECDB-3E52-EF49-0B01-B3A48A4C44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3664A2-732D-0A42-A0B3-B37B01E57B79}" type="datetimeFigureOut">
              <a:rPr lang="en-US" smtClean="0"/>
              <a:t>8/28/25</a:t>
            </a:fld>
            <a:endParaRPr lang="en-US"/>
          </a:p>
        </p:txBody>
      </p:sp>
      <p:sp>
        <p:nvSpPr>
          <p:cNvPr id="5" name="Footer Placeholder 4">
            <a:extLst>
              <a:ext uri="{FF2B5EF4-FFF2-40B4-BE49-F238E27FC236}">
                <a16:creationId xmlns:a16="http://schemas.microsoft.com/office/drawing/2014/main" id="{76B54CE7-66C6-4C2E-9AEC-DBF3BD5274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B1AC45-F6A2-8B83-4A0A-39DD32D0E0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689E1B-9684-7B4C-B9AC-1C9D17F0C9CA}" type="slidenum">
              <a:rPr lang="en-US" smtClean="0"/>
              <a:t>‹#›</a:t>
            </a:fld>
            <a:endParaRPr lang="en-US"/>
          </a:p>
        </p:txBody>
      </p:sp>
    </p:spTree>
    <p:extLst>
      <p:ext uri="{BB962C8B-B14F-4D97-AF65-F5344CB8AC3E}">
        <p14:creationId xmlns:p14="http://schemas.microsoft.com/office/powerpoint/2010/main" val="2612905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joyofcryptography.com/pdf/chap0.pd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0.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00D0-FF00-DB45-9974-1F6D114A06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4D9447-F417-0C86-9073-D19C2AF4843F}"/>
              </a:ext>
            </a:extLst>
          </p:cNvPr>
          <p:cNvSpPr>
            <a:spLocks noGrp="1"/>
          </p:cNvSpPr>
          <p:nvPr>
            <p:ph idx="1"/>
          </p:nvPr>
        </p:nvSpPr>
        <p:spPr/>
        <p:txBody>
          <a:bodyPr/>
          <a:lstStyle/>
          <a:p>
            <a:r>
              <a:rPr lang="en-US" dirty="0"/>
              <a:t>My office hour:  3-4PM Friday CSL 457</a:t>
            </a:r>
          </a:p>
        </p:txBody>
      </p:sp>
    </p:spTree>
    <p:extLst>
      <p:ext uri="{BB962C8B-B14F-4D97-AF65-F5344CB8AC3E}">
        <p14:creationId xmlns:p14="http://schemas.microsoft.com/office/powerpoint/2010/main" val="3682361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9FB3-4A93-4CDB-84B7-E950CEB6ECB0}"/>
              </a:ext>
            </a:extLst>
          </p:cNvPr>
          <p:cNvSpPr>
            <a:spLocks noGrp="1"/>
          </p:cNvSpPr>
          <p:nvPr>
            <p:ph type="title"/>
          </p:nvPr>
        </p:nvSpPr>
        <p:spPr>
          <a:xfrm>
            <a:off x="589429" y="1179328"/>
            <a:ext cx="10971199" cy="1325563"/>
          </a:xfrm>
        </p:spPr>
        <p:txBody>
          <a:bodyPr/>
          <a:lstStyle/>
          <a:p>
            <a:pPr algn="ctr"/>
            <a:r>
              <a:rPr lang="en-US" dirty="0">
                <a:latin typeface="Georgia" panose="02040502050405020303" pitchFamily="18" charset="0"/>
              </a:rPr>
              <a:t> </a:t>
            </a:r>
            <a:r>
              <a:rPr lang="en-US" dirty="0">
                <a:solidFill>
                  <a:srgbClr val="FF0000"/>
                </a:solidFill>
                <a:latin typeface="Georgia" panose="02040502050405020303" pitchFamily="18" charset="0"/>
              </a:rPr>
              <a:t>(NOT) </a:t>
            </a:r>
            <a:r>
              <a:rPr lang="en-US" dirty="0">
                <a:latin typeface="Georgia" panose="02040502050405020303" pitchFamily="18" charset="0"/>
              </a:rPr>
              <a:t>All Background You Need for This Course</a:t>
            </a:r>
          </a:p>
        </p:txBody>
      </p:sp>
      <p:sp>
        <p:nvSpPr>
          <p:cNvPr id="3" name="Content Placeholder 2">
            <a:extLst>
              <a:ext uri="{FF2B5EF4-FFF2-40B4-BE49-F238E27FC236}">
                <a16:creationId xmlns:a16="http://schemas.microsoft.com/office/drawing/2014/main" id="{0D89DB11-763D-B154-DFDC-75FE8F315883}"/>
              </a:ext>
            </a:extLst>
          </p:cNvPr>
          <p:cNvSpPr>
            <a:spLocks noGrp="1"/>
          </p:cNvSpPr>
          <p:nvPr>
            <p:ph idx="1"/>
          </p:nvPr>
        </p:nvSpPr>
        <p:spPr>
          <a:xfrm>
            <a:off x="889229" y="3072652"/>
            <a:ext cx="10515600" cy="2403317"/>
          </a:xfrm>
        </p:spPr>
        <p:txBody>
          <a:bodyPr/>
          <a:lstStyle/>
          <a:p>
            <a:pPr marL="0" indent="0" algn="ctr">
              <a:buNone/>
            </a:pPr>
            <a:r>
              <a:rPr lang="en-US" dirty="0">
                <a:hlinkClick r:id="rId2"/>
              </a:rPr>
              <a:t>https://joyofcryptography.com/pdf/chap0.pdf</a:t>
            </a:r>
            <a:endParaRPr lang="en-US" dirty="0"/>
          </a:p>
          <a:p>
            <a:pPr algn="ctr"/>
            <a:endParaRPr lang="en-US" dirty="0"/>
          </a:p>
        </p:txBody>
      </p:sp>
      <p:sp>
        <p:nvSpPr>
          <p:cNvPr id="4" name="Rectangle 3">
            <a:extLst>
              <a:ext uri="{FF2B5EF4-FFF2-40B4-BE49-F238E27FC236}">
                <a16:creationId xmlns:a16="http://schemas.microsoft.com/office/drawing/2014/main" id="{EB674673-F8CF-B06D-F37D-8924AFAFDC36}"/>
              </a:ext>
            </a:extLst>
          </p:cNvPr>
          <p:cNvSpPr/>
          <p:nvPr/>
        </p:nvSpPr>
        <p:spPr>
          <a:xfrm>
            <a:off x="889229" y="1021278"/>
            <a:ext cx="1925223" cy="9381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2670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4FF7B-0EC5-466C-BC53-F09E4566CA4C}"/>
              </a:ext>
            </a:extLst>
          </p:cNvPr>
          <p:cNvSpPr>
            <a:spLocks noGrp="1"/>
          </p:cNvSpPr>
          <p:nvPr>
            <p:ph type="title"/>
          </p:nvPr>
        </p:nvSpPr>
        <p:spPr/>
        <p:txBody>
          <a:bodyPr/>
          <a:lstStyle/>
          <a:p>
            <a:r>
              <a:rPr lang="en-US" dirty="0">
                <a:latin typeface="Georgia" panose="02040502050405020303" pitchFamily="18" charset="0"/>
              </a:rPr>
              <a:t>Exponentiation and log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2AA891-18B8-AE5E-D12E-F36D5C2A22F5}"/>
                  </a:ext>
                </a:extLst>
              </p:cNvPr>
              <p:cNvSpPr>
                <a:spLocks noGrp="1"/>
              </p:cNvSpPr>
              <p:nvPr>
                <p:ph idx="1"/>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up>
                    </m:sSup>
                  </m:oMath>
                </a14:m>
                <a:endParaRPr lang="en-US" b="0"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endParaRPr lang="en-US"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𝑥</m:t>
                                </m:r>
                              </m:sub>
                            </m:sSub>
                          </m:fName>
                          <m:e>
                            <m:r>
                              <a:rPr lang="en-US" i="1">
                                <a:latin typeface="Cambria Math" panose="02040503050406030204" pitchFamily="18" charset="0"/>
                              </a:rPr>
                              <m:t>𝑎𝑏</m:t>
                            </m:r>
                            <m:r>
                              <a:rPr lang="en-US" i="1">
                                <a:latin typeface="Cambria Math" panose="02040503050406030204" pitchFamily="18" charset="0"/>
                              </a:rPr>
                              <m:t> </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𝑎</m:t>
                            </m:r>
                          </m:e>
                        </m:func>
                      </m:e>
                      <m:sup>
                        <m:r>
                          <a:rPr lang="en-US" b="0" i="1" smtClean="0">
                            <a:latin typeface="Cambria Math" panose="02040503050406030204" pitchFamily="18" charset="0"/>
                          </a:rPr>
                          <m:t> </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𝑏</m:t>
                        </m:r>
                      </m:e>
                    </m:func>
                  </m:oMath>
                </a14:m>
                <a:endParaRPr lang="en-US" b="0" dirty="0">
                  <a:latin typeface="Georgia" panose="02040502050405020303" pitchFamily="18" charset="0"/>
                </a:endParaRPr>
              </a:p>
              <a:p>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i="1">
                                <a:latin typeface="Cambria Math" panose="02040503050406030204" pitchFamily="18" charset="0"/>
                              </a:rPr>
                              <m:t>𝑎</m:t>
                            </m:r>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𝑏</m:t>
                        </m:r>
                        <m:r>
                          <a:rPr lang="en-US" b="0" i="1" smtClean="0">
                            <a:latin typeface="Cambria Math" panose="02040503050406030204" pitchFamily="18" charset="0"/>
                          </a:rPr>
                          <m:t> </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𝑎</m:t>
                            </m:r>
                          </m:sup>
                        </m:sSup>
                      </m:e>
                    </m:func>
                  </m:oMath>
                </a14:m>
                <a:endParaRPr lang="en-US" dirty="0">
                  <a:latin typeface="Georgia" panose="02040502050405020303" pitchFamily="18" charset="0"/>
                </a:endParaRPr>
              </a:p>
              <a:p>
                <a:endParaRPr lang="en-US" dirty="0">
                  <a:latin typeface="Georgia" panose="02040502050405020303" pitchFamily="18" charset="0"/>
                </a:endParaRPr>
              </a:p>
              <a:p>
                <a:endParaRPr lang="en-US"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oMath>
                </a14:m>
                <a:r>
                  <a:rPr lang="en-US" dirty="0">
                    <a:latin typeface="Georgia" panose="02040502050405020303" pitchFamily="18" charset="0"/>
                  </a:rPr>
                  <a:t> is </a:t>
                </a:r>
                <a:r>
                  <a:rPr lang="en-US" b="1" dirty="0">
                    <a:latin typeface="Georgia" panose="02040502050405020303" pitchFamily="18" charset="0"/>
                  </a:rPr>
                  <a:t>not</a:t>
                </a:r>
                <a:r>
                  <a:rPr lang="en-US" dirty="0">
                    <a:latin typeface="Georgia" panose="02040502050405020303" pitchFamily="18" charset="0"/>
                  </a:rPr>
                  <a:t> equal to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r>
                  <a:rPr lang="en-US" dirty="0">
                    <a:latin typeface="Georgia" panose="02040502050405020303" pitchFamily="18" charset="0"/>
                  </a:rPr>
                  <a:t> !!!</a:t>
                </a:r>
              </a:p>
              <a:p>
                <a:endParaRPr lang="en-US" dirty="0">
                  <a:latin typeface="Georgia" panose="02040502050405020303" pitchFamily="18" charset="0"/>
                </a:endParaRPr>
              </a:p>
            </p:txBody>
          </p:sp>
        </mc:Choice>
        <mc:Fallback xmlns="">
          <p:sp>
            <p:nvSpPr>
              <p:cNvPr id="3" name="Content Placeholder 2">
                <a:extLst>
                  <a:ext uri="{FF2B5EF4-FFF2-40B4-BE49-F238E27FC236}">
                    <a16:creationId xmlns:a16="http://schemas.microsoft.com/office/drawing/2014/main" id="{EC2AA891-18B8-AE5E-D12E-F36D5C2A22F5}"/>
                  </a:ext>
                </a:extLst>
              </p:cNvPr>
              <p:cNvSpPr>
                <a:spLocks noGrp="1" noRot="1" noChangeAspect="1" noMove="1" noResize="1" noEditPoints="1" noAdjustHandles="1" noChangeArrowheads="1" noChangeShapeType="1" noTextEdit="1"/>
              </p:cNvSpPr>
              <p:nvPr>
                <p:ph idx="1"/>
              </p:nvPr>
            </p:nvSpPr>
            <p:spPr>
              <a:blipFill>
                <a:blip r:embed="rId2"/>
                <a:stretch>
                  <a:fillRect l="-1086" t="-1453"/>
                </a:stretch>
              </a:blipFill>
            </p:spPr>
            <p:txBody>
              <a:bodyPr/>
              <a:lstStyle/>
              <a:p>
                <a:r>
                  <a:rPr lang="en-US">
                    <a:noFill/>
                  </a:rPr>
                  <a:t> </a:t>
                </a:r>
              </a:p>
            </p:txBody>
          </p:sp>
        </mc:Fallback>
      </mc:AlternateContent>
    </p:spTree>
    <p:extLst>
      <p:ext uri="{BB962C8B-B14F-4D97-AF65-F5344CB8AC3E}">
        <p14:creationId xmlns:p14="http://schemas.microsoft.com/office/powerpoint/2010/main" val="3190851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dirty="0">
                <a:latin typeface="Georgia" panose="02040502050405020303" pitchFamily="18" charset="0"/>
              </a:rPr>
              <a:t>Prime Number</a:t>
            </a:r>
          </a:p>
        </p:txBody>
      </p:sp>
      <p:sp>
        <p:nvSpPr>
          <p:cNvPr id="192515" name="Rectangle 3" descr="Rectangle: Click to edit Master text styles&#10;Second level&#10;Third level&#10;Fourth level&#10;Fifth level"/>
          <p:cNvSpPr>
            <a:spLocks noGrp="1" noChangeArrowheads="1"/>
          </p:cNvSpPr>
          <p:nvPr>
            <p:ph idx="1"/>
          </p:nvPr>
        </p:nvSpPr>
        <p:spPr>
          <a:xfrm>
            <a:off x="838200" y="1505239"/>
            <a:ext cx="10515600" cy="4987636"/>
          </a:xfrm>
        </p:spPr>
        <p:txBody>
          <a:bodyPr>
            <a:normAutofit lnSpcReduction="10000"/>
          </a:bodyPr>
          <a:lstStyle/>
          <a:p>
            <a:pPr>
              <a:lnSpc>
                <a:spcPct val="90000"/>
              </a:lnSpc>
            </a:pPr>
            <a:r>
              <a:rPr lang="en-US" sz="2400" dirty="0">
                <a:latin typeface="Georgia" panose="02040502050405020303" pitchFamily="18" charset="0"/>
              </a:rPr>
              <a:t>Prime number </a:t>
            </a:r>
            <a:r>
              <a:rPr lang="en-US" sz="2400" b="1" i="1" dirty="0">
                <a:latin typeface="Georgia" panose="02040502050405020303" pitchFamily="18" charset="0"/>
              </a:rPr>
              <a:t>p</a:t>
            </a:r>
            <a:r>
              <a:rPr lang="en-US" sz="2400" dirty="0">
                <a:latin typeface="Georgia" panose="02040502050405020303" pitchFamily="18" charset="0"/>
              </a:rPr>
              <a:t>:</a:t>
            </a:r>
          </a:p>
          <a:p>
            <a:pPr lvl="1">
              <a:lnSpc>
                <a:spcPct val="90000"/>
              </a:lnSpc>
            </a:pPr>
            <a:r>
              <a:rPr lang="en-US" sz="2000" b="1" i="1" dirty="0">
                <a:latin typeface="Georgia" panose="02040502050405020303" pitchFamily="18" charset="0"/>
              </a:rPr>
              <a:t>p</a:t>
            </a:r>
            <a:r>
              <a:rPr lang="en-US" sz="2000" dirty="0">
                <a:latin typeface="Georgia" panose="02040502050405020303" pitchFamily="18" charset="0"/>
              </a:rPr>
              <a:t> </a:t>
            </a:r>
            <a:r>
              <a:rPr lang="en-US" sz="2000" dirty="0">
                <a:latin typeface="Georgia" panose="02040502050405020303" pitchFamily="18" charset="0"/>
                <a:sym typeface="Symbol" pitchFamily="18" charset="2"/>
              </a:rPr>
              <a:t>is an integer</a:t>
            </a:r>
            <a:endParaRPr lang="en-US" sz="2000" b="1" i="1" dirty="0">
              <a:latin typeface="Georgia" panose="02040502050405020303" pitchFamily="18" charset="0"/>
            </a:endParaRPr>
          </a:p>
          <a:p>
            <a:pPr lvl="1">
              <a:lnSpc>
                <a:spcPct val="90000"/>
              </a:lnSpc>
            </a:pPr>
            <a:r>
              <a:rPr lang="en-US" sz="2000" b="1" i="1" dirty="0">
                <a:latin typeface="Georgia" panose="02040502050405020303" pitchFamily="18" charset="0"/>
              </a:rPr>
              <a:t>p</a:t>
            </a:r>
            <a:r>
              <a:rPr lang="en-US" sz="2000" dirty="0">
                <a:latin typeface="Georgia" panose="02040502050405020303" pitchFamily="18" charset="0"/>
              </a:rPr>
              <a:t> </a:t>
            </a:r>
            <a:r>
              <a:rPr lang="en-US" sz="2000" dirty="0">
                <a:latin typeface="Georgia" panose="02040502050405020303" pitchFamily="18" charset="0"/>
                <a:sym typeface="Symbol" pitchFamily="18" charset="2"/>
              </a:rPr>
              <a:t> 2</a:t>
            </a:r>
          </a:p>
          <a:p>
            <a:pPr lvl="1">
              <a:lnSpc>
                <a:spcPct val="90000"/>
              </a:lnSpc>
            </a:pPr>
            <a:r>
              <a:rPr lang="en-US" sz="2000" dirty="0">
                <a:latin typeface="Georgia" panose="02040502050405020303" pitchFamily="18" charset="0"/>
                <a:sym typeface="Symbol" pitchFamily="18" charset="2"/>
              </a:rPr>
              <a:t>The only divisors of </a:t>
            </a:r>
            <a:r>
              <a:rPr lang="en-US" sz="2000" b="1" i="1" dirty="0">
                <a:latin typeface="Georgia" panose="02040502050405020303" pitchFamily="18" charset="0"/>
                <a:sym typeface="Symbol" pitchFamily="18" charset="2"/>
              </a:rPr>
              <a:t>p</a:t>
            </a:r>
            <a:r>
              <a:rPr lang="en-US" sz="2000" dirty="0">
                <a:latin typeface="Georgia" panose="02040502050405020303" pitchFamily="18" charset="0"/>
                <a:sym typeface="Symbol" pitchFamily="18" charset="2"/>
              </a:rPr>
              <a:t> are 1 and </a:t>
            </a:r>
            <a:r>
              <a:rPr lang="en-US" sz="2000" b="1" i="1" dirty="0">
                <a:latin typeface="Georgia" panose="02040502050405020303" pitchFamily="18" charset="0"/>
                <a:sym typeface="Symbol" pitchFamily="18" charset="2"/>
              </a:rPr>
              <a:t>p</a:t>
            </a:r>
          </a:p>
          <a:p>
            <a:pPr>
              <a:lnSpc>
                <a:spcPct val="90000"/>
              </a:lnSpc>
            </a:pPr>
            <a:r>
              <a:rPr lang="en-US" sz="2400" dirty="0">
                <a:latin typeface="Georgia" panose="02040502050405020303" pitchFamily="18" charset="0"/>
                <a:sym typeface="Symbol" pitchFamily="18" charset="2"/>
              </a:rPr>
              <a:t>Examples</a:t>
            </a:r>
          </a:p>
          <a:p>
            <a:pPr lvl="1">
              <a:lnSpc>
                <a:spcPct val="90000"/>
              </a:lnSpc>
            </a:pPr>
            <a:r>
              <a:rPr lang="en-US" sz="2000" dirty="0">
                <a:latin typeface="Georgia" panose="02040502050405020303" pitchFamily="18" charset="0"/>
              </a:rPr>
              <a:t>2, 7, 19 </a:t>
            </a:r>
            <a:r>
              <a:rPr lang="en-US" sz="2000" dirty="0">
                <a:latin typeface="Georgia" panose="02040502050405020303" pitchFamily="18" charset="0"/>
                <a:sym typeface="Symbol" pitchFamily="18" charset="2"/>
              </a:rPr>
              <a:t>are primes</a:t>
            </a:r>
          </a:p>
          <a:p>
            <a:pPr lvl="1">
              <a:lnSpc>
                <a:spcPct val="90000"/>
              </a:lnSpc>
            </a:pPr>
            <a:r>
              <a:rPr lang="en-US" sz="2000" dirty="0">
                <a:latin typeface="Georgia" panose="02040502050405020303" pitchFamily="18" charset="0"/>
                <a:sym typeface="Symbol" pitchFamily="18" charset="2"/>
              </a:rPr>
              <a:t>-3, 0, 1, 6 are not primes</a:t>
            </a:r>
          </a:p>
          <a:p>
            <a:pPr>
              <a:lnSpc>
                <a:spcPct val="90000"/>
              </a:lnSpc>
            </a:pPr>
            <a:r>
              <a:rPr lang="en-US" sz="2400" dirty="0">
                <a:latin typeface="Georgia" panose="02040502050405020303" pitchFamily="18" charset="0"/>
                <a:sym typeface="Symbol" pitchFamily="18" charset="2"/>
              </a:rPr>
              <a:t>Prime decomposition of a positive integer </a:t>
            </a:r>
            <a:r>
              <a:rPr lang="en-US" sz="2400" b="1" i="1" dirty="0">
                <a:latin typeface="Georgia" panose="02040502050405020303" pitchFamily="18" charset="0"/>
              </a:rPr>
              <a:t>n</a:t>
            </a:r>
            <a:r>
              <a:rPr lang="en-US" sz="2400" dirty="0">
                <a:latin typeface="Georgia" panose="02040502050405020303" pitchFamily="18" charset="0"/>
                <a:sym typeface="Symbol" pitchFamily="18" charset="2"/>
              </a:rPr>
              <a:t>:</a:t>
            </a:r>
          </a:p>
          <a:p>
            <a:pPr>
              <a:lnSpc>
                <a:spcPct val="90000"/>
              </a:lnSpc>
              <a:buFont typeface="Wingdings" charset="2"/>
              <a:buNone/>
            </a:pPr>
            <a:r>
              <a:rPr lang="en-US" sz="2400" dirty="0">
                <a:latin typeface="Georgia" panose="02040502050405020303" pitchFamily="18" charset="0"/>
                <a:sym typeface="Symbol" pitchFamily="18" charset="2"/>
              </a:rPr>
              <a:t>		</a:t>
            </a:r>
            <a:r>
              <a:rPr lang="en-US" sz="2400" b="1" i="1" dirty="0">
                <a:latin typeface="Georgia" panose="02040502050405020303" pitchFamily="18" charset="0"/>
                <a:sym typeface="Symbol" pitchFamily="18" charset="2"/>
              </a:rPr>
              <a:t>n</a:t>
            </a:r>
            <a:r>
              <a:rPr lang="en-US" sz="2400" dirty="0">
                <a:latin typeface="Georgia" panose="02040502050405020303" pitchFamily="18" charset="0"/>
                <a:sym typeface="Symbol" pitchFamily="18" charset="2"/>
              </a:rPr>
              <a:t> = </a:t>
            </a:r>
            <a:r>
              <a:rPr lang="en-US" sz="2400" b="1" i="1" dirty="0">
                <a:latin typeface="Georgia" panose="02040502050405020303" pitchFamily="18" charset="0"/>
                <a:sym typeface="Symbol" pitchFamily="18" charset="2"/>
              </a:rPr>
              <a:t>p</a:t>
            </a:r>
            <a:r>
              <a:rPr lang="en-US" sz="2400" baseline="-25000" dirty="0">
                <a:latin typeface="Georgia" panose="02040502050405020303" pitchFamily="18" charset="0"/>
                <a:sym typeface="Symbol" pitchFamily="18" charset="2"/>
              </a:rPr>
              <a:t>1</a:t>
            </a:r>
            <a:r>
              <a:rPr lang="en-US" b="1" i="1" baseline="30000" dirty="0">
                <a:latin typeface="Georgia" panose="02040502050405020303" pitchFamily="18" charset="0"/>
                <a:sym typeface="Symbol" pitchFamily="18" charset="2"/>
              </a:rPr>
              <a:t>e</a:t>
            </a:r>
            <a:r>
              <a:rPr lang="en-US" sz="1400" dirty="0">
                <a:latin typeface="Georgia" panose="02040502050405020303" pitchFamily="18" charset="0"/>
                <a:sym typeface="Symbol" pitchFamily="18" charset="2"/>
              </a:rPr>
              <a:t>1</a:t>
            </a:r>
            <a:r>
              <a:rPr lang="en-US" sz="2400" dirty="0">
                <a:latin typeface="Georgia" panose="02040502050405020303" pitchFamily="18" charset="0"/>
                <a:sym typeface="Symbol" pitchFamily="18" charset="2"/>
              </a:rPr>
              <a:t>  …  </a:t>
            </a:r>
            <a:r>
              <a:rPr lang="en-US" sz="2400" b="1" i="1" dirty="0" err="1">
                <a:latin typeface="Georgia" panose="02040502050405020303" pitchFamily="18" charset="0"/>
                <a:sym typeface="Symbol" pitchFamily="18" charset="2"/>
              </a:rPr>
              <a:t>p</a:t>
            </a:r>
            <a:r>
              <a:rPr lang="en-US" sz="2400" b="1" i="1" baseline="-25000" dirty="0" err="1">
                <a:latin typeface="Georgia" panose="02040502050405020303" pitchFamily="18" charset="0"/>
                <a:sym typeface="Symbol" pitchFamily="18" charset="2"/>
              </a:rPr>
              <a:t>k</a:t>
            </a:r>
            <a:r>
              <a:rPr lang="en-US" b="1" i="1" baseline="30000" dirty="0" err="1">
                <a:latin typeface="Georgia" panose="02040502050405020303" pitchFamily="18" charset="0"/>
                <a:sym typeface="Symbol" pitchFamily="18" charset="2"/>
              </a:rPr>
              <a:t>e</a:t>
            </a:r>
            <a:r>
              <a:rPr lang="en-US" sz="1400" b="1" i="1" dirty="0" err="1">
                <a:latin typeface="Georgia" panose="02040502050405020303" pitchFamily="18" charset="0"/>
                <a:sym typeface="Symbol" pitchFamily="18" charset="2"/>
              </a:rPr>
              <a:t>k</a:t>
            </a:r>
            <a:endParaRPr lang="en-US" sz="2400" b="1" i="1" dirty="0">
              <a:latin typeface="Georgia" panose="02040502050405020303" pitchFamily="18" charset="0"/>
              <a:sym typeface="Symbol" pitchFamily="18" charset="2"/>
            </a:endParaRPr>
          </a:p>
          <a:p>
            <a:pPr>
              <a:lnSpc>
                <a:spcPct val="90000"/>
              </a:lnSpc>
            </a:pPr>
            <a:r>
              <a:rPr lang="en-US" sz="2400" dirty="0">
                <a:latin typeface="Georgia" panose="02040502050405020303" pitchFamily="18" charset="0"/>
              </a:rPr>
              <a:t>Example:</a:t>
            </a:r>
          </a:p>
          <a:p>
            <a:pPr lvl="1">
              <a:lnSpc>
                <a:spcPct val="90000"/>
              </a:lnSpc>
            </a:pPr>
            <a:r>
              <a:rPr lang="en-US" sz="2000" dirty="0">
                <a:latin typeface="Georgia" panose="02040502050405020303" pitchFamily="18" charset="0"/>
              </a:rPr>
              <a:t>200 = 2</a:t>
            </a:r>
            <a:r>
              <a:rPr lang="en-US" sz="2000" baseline="30000" dirty="0">
                <a:latin typeface="Georgia" panose="02040502050405020303" pitchFamily="18" charset="0"/>
              </a:rPr>
              <a:t>3</a:t>
            </a:r>
            <a:r>
              <a:rPr lang="en-US" sz="2000" dirty="0">
                <a:latin typeface="Georgia" panose="02040502050405020303" pitchFamily="18" charset="0"/>
              </a:rPr>
              <a:t> </a:t>
            </a:r>
            <a:r>
              <a:rPr lang="en-US" sz="2000" dirty="0">
                <a:latin typeface="Georgia" panose="02040502050405020303" pitchFamily="18" charset="0"/>
                <a:sym typeface="Symbol" pitchFamily="18" charset="2"/>
              </a:rPr>
              <a:t> 5</a:t>
            </a:r>
            <a:r>
              <a:rPr lang="en-US" sz="2000" baseline="30000" dirty="0">
                <a:latin typeface="Georgia" panose="02040502050405020303" pitchFamily="18" charset="0"/>
                <a:sym typeface="Symbol" pitchFamily="18" charset="2"/>
              </a:rPr>
              <a:t>2</a:t>
            </a:r>
          </a:p>
          <a:p>
            <a:endParaRPr lang="en-US" baseline="30000" dirty="0">
              <a:latin typeface="Georgia" panose="02040502050405020303" pitchFamily="18" charset="0"/>
              <a:sym typeface="Symbol" pitchFamily="18" charset="2"/>
            </a:endParaRPr>
          </a:p>
          <a:p>
            <a:r>
              <a:rPr lang="en-US" sz="3600" baseline="30000" dirty="0">
                <a:latin typeface="Georgia" panose="02040502050405020303" pitchFamily="18" charset="0"/>
                <a:sym typeface="Symbol" pitchFamily="18" charset="2"/>
              </a:rPr>
              <a:t>Primality test in polynomial time</a:t>
            </a:r>
          </a:p>
          <a:p>
            <a:pPr lvl="1"/>
            <a:r>
              <a:rPr lang="en-US" baseline="30000" dirty="0">
                <a:latin typeface="Georgia" panose="02040502050405020303" pitchFamily="18" charset="0"/>
                <a:sym typeface="Symbol" pitchFamily="18" charset="2"/>
              </a:rPr>
              <a:t>Read AKS primality test</a:t>
            </a:r>
          </a:p>
          <a:p>
            <a:pPr lvl="1"/>
            <a:endParaRPr lang="en-US" baseline="30000" dirty="0">
              <a:latin typeface="Georgia" panose="02040502050405020303" pitchFamily="18" charset="0"/>
              <a:sym typeface="Symbol" pitchFamily="18" charset="2"/>
            </a:endParaRPr>
          </a:p>
          <a:p>
            <a:pPr marL="0" indent="0">
              <a:buNone/>
            </a:pPr>
            <a:endParaRPr lang="en-US" baseline="30000" dirty="0">
              <a:latin typeface="Georgia" panose="02040502050405020303" pitchFamily="18" charset="0"/>
              <a:sym typeface="Symbol" pitchFamily="18" charset="2"/>
            </a:endParaRPr>
          </a:p>
          <a:p>
            <a:endParaRPr lang="en-US" sz="2400" baseline="30000" dirty="0">
              <a:latin typeface="Georgia" panose="02040502050405020303" pitchFamily="18" charset="0"/>
              <a:sym typeface="Symbol" pitchFamily="18" charset="2"/>
            </a:endParaRPr>
          </a:p>
        </p:txBody>
      </p:sp>
      <p:sp>
        <p:nvSpPr>
          <p:cNvPr id="6" name="Slide Number Placeholder 5"/>
          <p:cNvSpPr>
            <a:spLocks noGrp="1"/>
          </p:cNvSpPr>
          <p:nvPr>
            <p:ph type="sldNum" sz="quarter" idx="12"/>
          </p:nvPr>
        </p:nvSpPr>
        <p:spPr/>
        <p:txBody>
          <a:bodyPr/>
          <a:lstStyle/>
          <a:p>
            <a:pPr defTabSz="457200" eaLnBrk="0" fontAlgn="base" hangingPunct="0">
              <a:lnSpc>
                <a:spcPct val="93000"/>
              </a:lnSpc>
              <a:spcBef>
                <a:spcPct val="0"/>
              </a:spcBef>
              <a:spcAft>
                <a:spcPct val="0"/>
              </a:spcAft>
              <a:buClr>
                <a:srgbClr val="000000"/>
              </a:buClr>
              <a:buSzPct val="100000"/>
              <a:defRPr/>
            </a:pPr>
            <a:fld id="{EF8A3B71-216C-414D-9F25-8D4F1F0E35D9}" type="slidenum">
              <a:rPr lang="en-US">
                <a:solidFill>
                  <a:prstClr val="black">
                    <a:tint val="75000"/>
                  </a:prstClr>
                </a:solidFill>
                <a:latin typeface="Georgia" panose="02040502050405020303" pitchFamily="18" charset="0"/>
              </a:rPr>
              <a:pPr defTabSz="457200" eaLnBrk="0" fontAlgn="base" hangingPunct="0">
                <a:lnSpc>
                  <a:spcPct val="93000"/>
                </a:lnSpc>
                <a:spcBef>
                  <a:spcPct val="0"/>
                </a:spcBef>
                <a:spcAft>
                  <a:spcPct val="0"/>
                </a:spcAft>
                <a:buClr>
                  <a:srgbClr val="000000"/>
                </a:buClr>
                <a:buSzPct val="100000"/>
                <a:defRPr/>
              </a:pPr>
              <a:t>4</a:t>
            </a:fld>
            <a:endParaRPr lang="en-US">
              <a:solidFill>
                <a:prstClr val="black">
                  <a:tint val="75000"/>
                </a:prstClr>
              </a:solidFill>
              <a:latin typeface="Georgia" panose="02040502050405020303" pitchFamily="18" charset="0"/>
            </a:endParaRPr>
          </a:p>
        </p:txBody>
      </p:sp>
      <p:sp>
        <p:nvSpPr>
          <p:cNvPr id="2" name="Rectangle 1">
            <a:extLst>
              <a:ext uri="{FF2B5EF4-FFF2-40B4-BE49-F238E27FC236}">
                <a16:creationId xmlns:a16="http://schemas.microsoft.com/office/drawing/2014/main" id="{06EAC86F-5297-C19F-E058-ED9CF9EDD930}"/>
              </a:ext>
            </a:extLst>
          </p:cNvPr>
          <p:cNvSpPr/>
          <p:nvPr/>
        </p:nvSpPr>
        <p:spPr>
          <a:xfrm>
            <a:off x="838200" y="5468588"/>
            <a:ext cx="4796642" cy="1183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265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547254" y="0"/>
            <a:ext cx="10515600" cy="1325563"/>
          </a:xfrm>
        </p:spPr>
        <p:txBody>
          <a:bodyPr/>
          <a:lstStyle/>
          <a:p>
            <a:r>
              <a:rPr lang="en-US" dirty="0">
                <a:latin typeface="Georgia" panose="02040502050405020303" pitchFamily="18" charset="0"/>
              </a:rPr>
              <a:t>Modular Arithmetic</a:t>
            </a:r>
          </a:p>
        </p:txBody>
      </p:sp>
      <p:sp>
        <p:nvSpPr>
          <p:cNvPr id="194563" name="Rectangle 3" descr="Rectangle: Click to edit Master text styles&#10;Second level&#10;Third level&#10;Fourth level&#10;Fifth level"/>
          <p:cNvSpPr>
            <a:spLocks noGrp="1" noChangeArrowheads="1"/>
          </p:cNvSpPr>
          <p:nvPr>
            <p:ph idx="1"/>
          </p:nvPr>
        </p:nvSpPr>
        <p:spPr>
          <a:xfrm>
            <a:off x="378691" y="1311564"/>
            <a:ext cx="11665527" cy="5269345"/>
          </a:xfrm>
        </p:spPr>
        <p:txBody>
          <a:bodyPr>
            <a:normAutofit/>
          </a:bodyPr>
          <a:lstStyle/>
          <a:p>
            <a:pPr>
              <a:lnSpc>
                <a:spcPct val="90000"/>
              </a:lnSpc>
            </a:pPr>
            <a:r>
              <a:rPr lang="en-US" dirty="0">
                <a:latin typeface="Georgia" panose="02040502050405020303" pitchFamily="18" charset="0"/>
              </a:rPr>
              <a:t>Modulo operator for a positive integer </a:t>
            </a:r>
            <a:r>
              <a:rPr lang="en-US" b="1" i="1" dirty="0">
                <a:latin typeface="Georgia" panose="02040502050405020303" pitchFamily="18" charset="0"/>
              </a:rPr>
              <a:t>n</a:t>
            </a:r>
            <a:endParaRPr lang="en-US" dirty="0">
              <a:latin typeface="Georgia" panose="02040502050405020303" pitchFamily="18" charset="0"/>
            </a:endParaRPr>
          </a:p>
          <a:p>
            <a:pPr>
              <a:lnSpc>
                <a:spcPct val="90000"/>
              </a:lnSpc>
              <a:buFont typeface="Wingdings" charset="2"/>
              <a:buNone/>
            </a:pPr>
            <a:r>
              <a:rPr lang="en-US" b="1" i="1" dirty="0">
                <a:latin typeface="Georgia" panose="02040502050405020303" pitchFamily="18" charset="0"/>
              </a:rPr>
              <a:t>			r</a:t>
            </a:r>
            <a:r>
              <a:rPr lang="en-US" dirty="0">
                <a:latin typeface="Georgia" panose="02040502050405020303" pitchFamily="18" charset="0"/>
              </a:rPr>
              <a:t> = </a:t>
            </a:r>
            <a:r>
              <a:rPr lang="en-US" b="1" i="1" dirty="0">
                <a:latin typeface="Georgia" panose="02040502050405020303" pitchFamily="18" charset="0"/>
              </a:rPr>
              <a:t>a</a:t>
            </a:r>
            <a:r>
              <a:rPr lang="en-US" dirty="0">
                <a:latin typeface="Georgia" panose="02040502050405020303" pitchFamily="18" charset="0"/>
              </a:rPr>
              <a:t> mod </a:t>
            </a:r>
            <a:r>
              <a:rPr lang="en-US" b="1" i="1" dirty="0">
                <a:latin typeface="Georgia" panose="02040502050405020303" pitchFamily="18" charset="0"/>
              </a:rPr>
              <a:t>n</a:t>
            </a:r>
          </a:p>
          <a:p>
            <a:pPr>
              <a:lnSpc>
                <a:spcPct val="90000"/>
              </a:lnSpc>
              <a:buFont typeface="Wingdings" charset="2"/>
              <a:buNone/>
            </a:pPr>
            <a:r>
              <a:rPr lang="en-US" i="1" dirty="0">
                <a:latin typeface="Georgia" panose="02040502050405020303" pitchFamily="18" charset="0"/>
              </a:rPr>
              <a:t>	</a:t>
            </a:r>
            <a:r>
              <a:rPr lang="en-US" dirty="0">
                <a:latin typeface="Georgia" panose="02040502050405020303" pitchFamily="18" charset="0"/>
              </a:rPr>
              <a:t>equivalent to</a:t>
            </a:r>
          </a:p>
          <a:p>
            <a:pPr>
              <a:lnSpc>
                <a:spcPct val="90000"/>
              </a:lnSpc>
              <a:buFont typeface="Wingdings" charset="2"/>
              <a:buNone/>
            </a:pPr>
            <a:r>
              <a:rPr lang="en-US" dirty="0">
                <a:latin typeface="Georgia" panose="02040502050405020303" pitchFamily="18" charset="0"/>
              </a:rPr>
              <a:t>			</a:t>
            </a:r>
            <a:r>
              <a:rPr lang="en-US" b="1" i="1" dirty="0">
                <a:latin typeface="Georgia" panose="02040502050405020303" pitchFamily="18" charset="0"/>
              </a:rPr>
              <a:t>a</a:t>
            </a:r>
            <a:r>
              <a:rPr lang="en-US" dirty="0">
                <a:latin typeface="Georgia" panose="02040502050405020303" pitchFamily="18" charset="0"/>
              </a:rPr>
              <a:t> = </a:t>
            </a:r>
            <a:r>
              <a:rPr lang="en-US" b="1" i="1" dirty="0">
                <a:latin typeface="Georgia" panose="02040502050405020303" pitchFamily="18" charset="0"/>
              </a:rPr>
              <a:t>r</a:t>
            </a:r>
            <a:r>
              <a:rPr lang="en-US" i="1" dirty="0">
                <a:latin typeface="Georgia" panose="02040502050405020303" pitchFamily="18" charset="0"/>
              </a:rPr>
              <a:t> </a:t>
            </a:r>
            <a:r>
              <a:rPr lang="en-US" dirty="0">
                <a:latin typeface="Georgia" panose="02040502050405020303" pitchFamily="18" charset="0"/>
              </a:rPr>
              <a:t>+ </a:t>
            </a:r>
            <a:r>
              <a:rPr lang="en-US" b="1" i="1" dirty="0" err="1">
                <a:latin typeface="Georgia" panose="02040502050405020303" pitchFamily="18" charset="0"/>
              </a:rPr>
              <a:t>kn</a:t>
            </a:r>
            <a:endParaRPr lang="en-US" b="1" dirty="0">
              <a:latin typeface="Georgia" panose="02040502050405020303" pitchFamily="18" charset="0"/>
              <a:sym typeface="Symbol" pitchFamily="18" charset="2"/>
            </a:endParaRPr>
          </a:p>
          <a:p>
            <a:pPr>
              <a:lnSpc>
                <a:spcPct val="90000"/>
              </a:lnSpc>
              <a:buFont typeface="Wingdings" charset="2"/>
              <a:buNone/>
            </a:pPr>
            <a:r>
              <a:rPr lang="en-US" dirty="0">
                <a:latin typeface="Georgia" panose="02040502050405020303" pitchFamily="18" charset="0"/>
                <a:sym typeface="Symbol" pitchFamily="18" charset="2"/>
              </a:rPr>
              <a:t>	and</a:t>
            </a:r>
          </a:p>
          <a:p>
            <a:pPr>
              <a:lnSpc>
                <a:spcPct val="90000"/>
              </a:lnSpc>
              <a:buFont typeface="Wingdings" charset="2"/>
              <a:buNone/>
            </a:pPr>
            <a:r>
              <a:rPr lang="en-US" b="1" i="1" dirty="0">
                <a:latin typeface="Georgia" panose="02040502050405020303" pitchFamily="18" charset="0"/>
              </a:rPr>
              <a:t>			r</a:t>
            </a:r>
            <a:r>
              <a:rPr lang="en-US" dirty="0">
                <a:latin typeface="Georgia" panose="02040502050405020303" pitchFamily="18" charset="0"/>
              </a:rPr>
              <a:t> = </a:t>
            </a:r>
            <a:r>
              <a:rPr lang="en-US" b="1" i="1" dirty="0">
                <a:latin typeface="Georgia" panose="02040502050405020303" pitchFamily="18" charset="0"/>
              </a:rPr>
              <a:t>a</a:t>
            </a:r>
            <a:r>
              <a:rPr lang="en-US" i="1" dirty="0">
                <a:latin typeface="Georgia" panose="02040502050405020303" pitchFamily="18" charset="0"/>
              </a:rPr>
              <a:t> </a:t>
            </a:r>
            <a:r>
              <a:rPr lang="en-US" dirty="0">
                <a:latin typeface="Georgia" panose="02040502050405020303" pitchFamily="18" charset="0"/>
              </a:rPr>
              <a:t>- </a:t>
            </a:r>
            <a:r>
              <a:rPr lang="en-US" dirty="0">
                <a:latin typeface="Georgia" panose="02040502050405020303" pitchFamily="18" charset="0"/>
                <a:sym typeface="Symbol" pitchFamily="18" charset="2"/>
              </a:rPr>
              <a:t></a:t>
            </a:r>
            <a:r>
              <a:rPr lang="en-US" b="1" i="1" dirty="0">
                <a:latin typeface="Georgia" panose="02040502050405020303" pitchFamily="18" charset="0"/>
              </a:rPr>
              <a:t>a</a:t>
            </a:r>
            <a:r>
              <a:rPr lang="en-US" dirty="0">
                <a:latin typeface="Georgia" panose="02040502050405020303" pitchFamily="18" charset="0"/>
                <a:sym typeface="Symbol" pitchFamily="18" charset="2"/>
              </a:rPr>
              <a:t>/</a:t>
            </a:r>
            <a:r>
              <a:rPr lang="en-US" b="1" i="1" dirty="0">
                <a:latin typeface="Georgia" panose="02040502050405020303" pitchFamily="18" charset="0"/>
                <a:sym typeface="Symbol" pitchFamily="18" charset="2"/>
              </a:rPr>
              <a:t>n</a:t>
            </a:r>
            <a:r>
              <a:rPr lang="en-US" dirty="0">
                <a:latin typeface="Georgia" panose="02040502050405020303" pitchFamily="18" charset="0"/>
                <a:sym typeface="Symbol" pitchFamily="18" charset="2"/>
              </a:rPr>
              <a:t> </a:t>
            </a:r>
            <a:r>
              <a:rPr lang="en-US" b="1" i="1" dirty="0">
                <a:latin typeface="Georgia" panose="02040502050405020303" pitchFamily="18" charset="0"/>
                <a:sym typeface="Symbol" pitchFamily="18" charset="2"/>
              </a:rPr>
              <a:t>n</a:t>
            </a:r>
          </a:p>
          <a:p>
            <a:pPr>
              <a:lnSpc>
                <a:spcPct val="90000"/>
              </a:lnSpc>
            </a:pPr>
            <a:r>
              <a:rPr lang="en-US" dirty="0">
                <a:latin typeface="Georgia" panose="02040502050405020303" pitchFamily="18" charset="0"/>
                <a:sym typeface="Symbol" pitchFamily="18" charset="2"/>
              </a:rPr>
              <a:t>Example:</a:t>
            </a:r>
          </a:p>
          <a:p>
            <a:pPr lvl="1">
              <a:lnSpc>
                <a:spcPct val="90000"/>
              </a:lnSpc>
              <a:buFont typeface="Wingdings" charset="2"/>
              <a:buNone/>
            </a:pPr>
            <a:r>
              <a:rPr lang="en-US" dirty="0">
                <a:latin typeface="Georgia" panose="02040502050405020303" pitchFamily="18" charset="0"/>
              </a:rPr>
              <a:t>		29 mod 13 = 3	13 mod 13  = 0	-1 mod 13  = 12</a:t>
            </a:r>
          </a:p>
          <a:p>
            <a:pPr lvl="1">
              <a:lnSpc>
                <a:spcPct val="90000"/>
              </a:lnSpc>
              <a:buFont typeface="Wingdings" charset="2"/>
              <a:buNone/>
            </a:pPr>
            <a:r>
              <a:rPr lang="en-US" dirty="0">
                <a:latin typeface="Georgia" panose="02040502050405020303" pitchFamily="18" charset="0"/>
              </a:rPr>
              <a:t>		29  = 3 + 2</a:t>
            </a:r>
            <a:r>
              <a:rPr lang="en-US" dirty="0">
                <a:latin typeface="Georgia" panose="02040502050405020303" pitchFamily="18" charset="0"/>
                <a:sym typeface="Symbol" pitchFamily="18" charset="2"/>
              </a:rPr>
              <a:t></a:t>
            </a:r>
            <a:r>
              <a:rPr lang="en-US" dirty="0">
                <a:latin typeface="Georgia" panose="02040502050405020303" pitchFamily="18" charset="0"/>
              </a:rPr>
              <a:t>13	13 = 0 + 1</a:t>
            </a:r>
            <a:r>
              <a:rPr lang="en-US" dirty="0">
                <a:latin typeface="Georgia" panose="02040502050405020303" pitchFamily="18" charset="0"/>
                <a:sym typeface="Symbol" pitchFamily="18" charset="2"/>
              </a:rPr>
              <a:t></a:t>
            </a:r>
            <a:r>
              <a:rPr lang="en-US" dirty="0">
                <a:latin typeface="Georgia" panose="02040502050405020303" pitchFamily="18" charset="0"/>
              </a:rPr>
              <a:t>13	12 = -1 + 1</a:t>
            </a:r>
            <a:r>
              <a:rPr lang="en-US" dirty="0">
                <a:latin typeface="Georgia" panose="02040502050405020303" pitchFamily="18" charset="0"/>
                <a:sym typeface="Symbol" pitchFamily="18" charset="2"/>
              </a:rPr>
              <a:t></a:t>
            </a:r>
            <a:r>
              <a:rPr lang="en-US" dirty="0">
                <a:latin typeface="Georgia" panose="02040502050405020303" pitchFamily="18" charset="0"/>
              </a:rPr>
              <a:t>1</a:t>
            </a:r>
          </a:p>
          <a:p>
            <a:pPr lvl="1">
              <a:lnSpc>
                <a:spcPct val="90000"/>
              </a:lnSpc>
              <a:buFont typeface="Wingdings" charset="2"/>
              <a:buNone/>
            </a:pPr>
            <a:endParaRPr lang="en-US" dirty="0">
              <a:latin typeface="Georgia" panose="02040502050405020303" pitchFamily="18" charset="0"/>
            </a:endParaRPr>
          </a:p>
        </p:txBody>
      </p:sp>
      <p:sp>
        <p:nvSpPr>
          <p:cNvPr id="6" name="Slide Number Placeholder 5"/>
          <p:cNvSpPr>
            <a:spLocks noGrp="1"/>
          </p:cNvSpPr>
          <p:nvPr>
            <p:ph type="sldNum" sz="quarter" idx="12"/>
          </p:nvPr>
        </p:nvSpPr>
        <p:spPr/>
        <p:txBody>
          <a:bodyPr/>
          <a:lstStyle/>
          <a:p>
            <a:pPr defTabSz="457200" eaLnBrk="0" fontAlgn="base" hangingPunct="0">
              <a:lnSpc>
                <a:spcPct val="93000"/>
              </a:lnSpc>
              <a:spcBef>
                <a:spcPct val="0"/>
              </a:spcBef>
              <a:spcAft>
                <a:spcPct val="0"/>
              </a:spcAft>
              <a:buClr>
                <a:srgbClr val="000000"/>
              </a:buClr>
              <a:buSzPct val="100000"/>
              <a:defRPr/>
            </a:pPr>
            <a:fld id="{6D73AB04-1BF8-47E4-B366-6BC56285B60C}" type="slidenum">
              <a:rPr lang="en-US">
                <a:solidFill>
                  <a:prstClr val="black">
                    <a:tint val="75000"/>
                  </a:prstClr>
                </a:solidFill>
                <a:latin typeface="Georgia" panose="02040502050405020303" pitchFamily="18" charset="0"/>
              </a:rPr>
              <a:pPr defTabSz="457200" eaLnBrk="0" fontAlgn="base" hangingPunct="0">
                <a:lnSpc>
                  <a:spcPct val="93000"/>
                </a:lnSpc>
                <a:spcBef>
                  <a:spcPct val="0"/>
                </a:spcBef>
                <a:spcAft>
                  <a:spcPct val="0"/>
                </a:spcAft>
                <a:buClr>
                  <a:srgbClr val="000000"/>
                </a:buClr>
                <a:buSzPct val="100000"/>
                <a:defRPr/>
              </a:pPr>
              <a:t>5</a:t>
            </a:fld>
            <a:endParaRPr lang="en-US">
              <a:solidFill>
                <a:prstClr val="black">
                  <a:tint val="75000"/>
                </a:prstClr>
              </a:solidFill>
              <a:latin typeface="Georgia" panose="02040502050405020303" pitchFamily="18" charset="0"/>
            </a:endParaRPr>
          </a:p>
        </p:txBody>
      </p:sp>
    </p:spTree>
    <p:extLst>
      <p:ext uri="{BB962C8B-B14F-4D97-AF65-F5344CB8AC3E}">
        <p14:creationId xmlns:p14="http://schemas.microsoft.com/office/powerpoint/2010/main" val="3854031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61DF-EB32-E70E-68B2-CFE3C4F514C0}"/>
              </a:ext>
            </a:extLst>
          </p:cNvPr>
          <p:cNvSpPr>
            <a:spLocks noGrp="1"/>
          </p:cNvSpPr>
          <p:nvPr>
            <p:ph type="title"/>
          </p:nvPr>
        </p:nvSpPr>
        <p:spPr/>
        <p:txBody>
          <a:bodyPr/>
          <a:lstStyle/>
          <a:p>
            <a:r>
              <a:rPr lang="en-US" dirty="0">
                <a:latin typeface="Georgia" panose="02040502050405020303" pitchFamily="18" charset="0"/>
              </a:rPr>
              <a:t>Modular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D5B47F-2ACF-1DB7-DCD2-26DFAF34CC33}"/>
                  </a:ext>
                </a:extLst>
              </p:cNvPr>
              <p:cNvSpPr>
                <a:spLocks noGrp="1"/>
              </p:cNvSpPr>
              <p:nvPr>
                <p:ph idx="1"/>
              </p:nvPr>
            </p:nvSpPr>
            <p:spPr/>
            <p:txBody>
              <a:bodyPr/>
              <a:lstStyle/>
              <a:p>
                <a:r>
                  <a:rPr lang="en-US" dirty="0">
                    <a:latin typeface="Georgia" panose="02040502050405020303" pitchFamily="18" charset="0"/>
                  </a:rPr>
                  <a:t>simplify intermediate values mod n</a:t>
                </a:r>
              </a:p>
              <a:p>
                <a:endParaRPr lang="en-US" dirty="0">
                  <a:latin typeface="Georgia" panose="02040502050405020303" pitchFamily="18" charset="0"/>
                </a:endParaRPr>
              </a:p>
              <a:p>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endParaRPr lang="en-US" dirty="0">
                  <a:latin typeface="Georgia" panose="02040502050405020303" pitchFamily="18" charset="0"/>
                </a:endParaRPr>
              </a:p>
              <a:p>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m:t>
                    </m:r>
                    <m:r>
                      <a:rPr lang="en-US" i="1">
                        <a:latin typeface="Cambria Math" panose="02040503050406030204" pitchFamily="18" charset="0"/>
                      </a:rPr>
                      <m:t>𝑚𝑜𝑑</m:t>
                    </m:r>
                    <m:r>
                      <a:rPr lang="en-US" i="1">
                        <a:latin typeface="Cambria Math" panose="02040503050406030204" pitchFamily="18" charset="0"/>
                      </a:rPr>
                      <m:t> </m:t>
                    </m:r>
                    <m:r>
                      <a:rPr lang="en-US" i="1">
                        <a:latin typeface="Cambria Math" panose="02040503050406030204" pitchFamily="18" charset="0"/>
                      </a:rPr>
                      <m:t>𝑛</m:t>
                    </m:r>
                    <m:r>
                      <a:rPr lang="en-US" i="1">
                        <a:latin typeface="Cambria Math" panose="02040503050406030204" pitchFamily="18" charset="0"/>
                      </a:rPr>
                      <m:t>=</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i="1">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endParaRPr lang="en-US" dirty="0">
                  <a:latin typeface="Georgia" panose="02040502050405020303" pitchFamily="18" charset="0"/>
                </a:endParaRPr>
              </a:p>
              <a:p>
                <a:endParaRPr lang="en-US" dirty="0">
                  <a:latin typeface="Georgia" panose="02040502050405020303" pitchFamily="18" charset="0"/>
                </a:endParaRPr>
              </a:p>
              <a:p>
                <a:endParaRPr lang="en-US" dirty="0">
                  <a:latin typeface="Georgia" panose="02040502050405020303" pitchFamily="18" charset="0"/>
                </a:endParaRPr>
              </a:p>
            </p:txBody>
          </p:sp>
        </mc:Choice>
        <mc:Fallback xmlns="">
          <p:sp>
            <p:nvSpPr>
              <p:cNvPr id="3" name="Content Placeholder 2">
                <a:extLst>
                  <a:ext uri="{FF2B5EF4-FFF2-40B4-BE49-F238E27FC236}">
                    <a16:creationId xmlns:a16="http://schemas.microsoft.com/office/drawing/2014/main" id="{35D5B47F-2ACF-1DB7-DCD2-26DFAF34CC33}"/>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250908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1C14-9B87-02C2-5252-1BD5323E45A9}"/>
              </a:ext>
            </a:extLst>
          </p:cNvPr>
          <p:cNvSpPr>
            <a:spLocks noGrp="1"/>
          </p:cNvSpPr>
          <p:nvPr>
            <p:ph type="title"/>
          </p:nvPr>
        </p:nvSpPr>
        <p:spPr/>
        <p:txBody>
          <a:bodyPr/>
          <a:lstStyle/>
          <a:p>
            <a:r>
              <a:rPr lang="en-US" dirty="0">
                <a:latin typeface="Georgia" panose="02040502050405020303" pitchFamily="18" charset="0"/>
              </a:rPr>
              <a:t>Modular exponentiation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753A5-9C8C-F8E9-0055-51203BEF740A}"/>
                  </a:ext>
                </a:extLst>
              </p:cNvPr>
              <p:cNvSpPr>
                <a:spLocks noGrp="1"/>
              </p:cNvSpPr>
              <p:nvPr>
                <p:ph idx="1"/>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up>
                    </m:sSup>
                  </m:oMath>
                </a14:m>
                <a:r>
                  <a:rPr lang="en-US" b="0" dirty="0">
                    <a:latin typeface="Georgia" panose="02040502050405020303" pitchFamily="18" charset="0"/>
                  </a:rPr>
                  <a:t> mod n</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r>
                  <a:rPr lang="en-US" dirty="0">
                    <a:latin typeface="Georgia" panose="02040502050405020303" pitchFamily="18" charset="0"/>
                  </a:rPr>
                  <a:t> mod n</a:t>
                </a:r>
              </a:p>
              <a:p>
                <a:endParaRPr lang="en-US" dirty="0">
                  <a:latin typeface="Georgia" panose="02040502050405020303" pitchFamily="18" charset="0"/>
                </a:endParaRPr>
              </a:p>
              <a:p>
                <a:endParaRPr lang="en-US" dirty="0">
                  <a:latin typeface="Georgia" panose="02040502050405020303" pitchFamily="18" charset="0"/>
                </a:endParaRPr>
              </a:p>
              <a:p>
                <a:r>
                  <a:rPr lang="en-US" dirty="0">
                    <a:latin typeface="Georgia" panose="02040502050405020303" pitchFamily="18" charset="0"/>
                  </a:rPr>
                  <a:t>What is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2</m:t>
                        </m:r>
                      </m:e>
                      <m:sup>
                        <m:r>
                          <a:rPr lang="en-US" b="0" i="1" dirty="0" smtClean="0">
                            <a:latin typeface="Cambria Math" panose="02040503050406030204" pitchFamily="18" charset="0"/>
                          </a:rPr>
                          <m:t>64</m:t>
                        </m:r>
                      </m:sup>
                    </m:sSup>
                  </m:oMath>
                </a14:m>
                <a:r>
                  <a:rPr lang="en-US" dirty="0">
                    <a:latin typeface="Georgia" panose="02040502050405020303" pitchFamily="18" charset="0"/>
                  </a:rPr>
                  <a:t> mod 10?</a:t>
                </a:r>
              </a:p>
            </p:txBody>
          </p:sp>
        </mc:Choice>
        <mc:Fallback xmlns="">
          <p:sp>
            <p:nvSpPr>
              <p:cNvPr id="3" name="Content Placeholder 2">
                <a:extLst>
                  <a:ext uri="{FF2B5EF4-FFF2-40B4-BE49-F238E27FC236}">
                    <a16:creationId xmlns:a16="http://schemas.microsoft.com/office/drawing/2014/main" id="{83D753A5-9C8C-F8E9-0055-51203BEF740A}"/>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016746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978F-7C5A-4E49-B1EF-E929A9771A05}"/>
              </a:ext>
            </a:extLst>
          </p:cNvPr>
          <p:cNvSpPr>
            <a:spLocks noGrp="1"/>
          </p:cNvSpPr>
          <p:nvPr>
            <p:ph type="title"/>
          </p:nvPr>
        </p:nvSpPr>
        <p:spPr>
          <a:xfrm>
            <a:off x="445476" y="286726"/>
            <a:ext cx="11502279" cy="1325563"/>
          </a:xfrm>
        </p:spPr>
        <p:txBody>
          <a:bodyPr/>
          <a:lstStyle/>
          <a:p>
            <a:r>
              <a:rPr lang="en-US" dirty="0">
                <a:latin typeface="Georgia" panose="02040502050405020303" pitchFamily="18" charset="0"/>
              </a:rPr>
              <a:t>Asymptotic complexity</a:t>
            </a:r>
          </a:p>
        </p:txBody>
      </p:sp>
      <p:sp>
        <p:nvSpPr>
          <p:cNvPr id="3" name="Content Placeholder 2">
            <a:extLst>
              <a:ext uri="{FF2B5EF4-FFF2-40B4-BE49-F238E27FC236}">
                <a16:creationId xmlns:a16="http://schemas.microsoft.com/office/drawing/2014/main" id="{BB1AD432-1F9F-44A0-966D-E62BDF3192C4}"/>
              </a:ext>
            </a:extLst>
          </p:cNvPr>
          <p:cNvSpPr>
            <a:spLocks noGrp="1"/>
          </p:cNvSpPr>
          <p:nvPr>
            <p:ph idx="1"/>
          </p:nvPr>
        </p:nvSpPr>
        <p:spPr>
          <a:xfrm>
            <a:off x="445477" y="1532965"/>
            <a:ext cx="10515600" cy="4561570"/>
          </a:xfrm>
        </p:spPr>
        <p:txBody>
          <a:bodyPr/>
          <a:lstStyle/>
          <a:p>
            <a:r>
              <a:rPr lang="en-US" dirty="0">
                <a:latin typeface="Georgia" panose="02040502050405020303" pitchFamily="18" charset="0"/>
              </a:rPr>
              <a:t>Big O notation O(n), O(2</a:t>
            </a:r>
            <a:r>
              <a:rPr lang="en-US" baseline="30000" dirty="0">
                <a:latin typeface="Georgia" panose="02040502050405020303" pitchFamily="18" charset="0"/>
              </a:rPr>
              <a:t>n</a:t>
            </a:r>
            <a:r>
              <a:rPr lang="en-US" dirty="0">
                <a:latin typeface="Georgia" panose="02040502050405020303" pitchFamily="18" charset="0"/>
              </a:rPr>
              <a:t>)</a:t>
            </a:r>
          </a:p>
          <a:p>
            <a:pPr lvl="1"/>
            <a:r>
              <a:rPr lang="en-US" dirty="0">
                <a:latin typeface="Georgia" panose="02040502050405020303" pitchFamily="18" charset="0"/>
              </a:rPr>
              <a:t>E.g., for sufficiently large integer n, O(2</a:t>
            </a:r>
            <a:r>
              <a:rPr lang="en-US" baseline="30000" dirty="0">
                <a:latin typeface="Georgia" panose="02040502050405020303" pitchFamily="18" charset="0"/>
              </a:rPr>
              <a:t>n</a:t>
            </a:r>
            <a:r>
              <a:rPr lang="en-US" dirty="0">
                <a:latin typeface="Georgia" panose="02040502050405020303" pitchFamily="18" charset="0"/>
              </a:rPr>
              <a:t>)&gt;O(</a:t>
            </a:r>
            <a:r>
              <a:rPr lang="en-US" dirty="0" err="1">
                <a:latin typeface="Georgia" panose="02040502050405020303" pitchFamily="18" charset="0"/>
              </a:rPr>
              <a:t>n</a:t>
            </a:r>
            <a:r>
              <a:rPr lang="en-US" baseline="30000" dirty="0" err="1">
                <a:latin typeface="Georgia" panose="02040502050405020303" pitchFamily="18" charset="0"/>
              </a:rPr>
              <a:t>c</a:t>
            </a:r>
            <a:r>
              <a:rPr lang="en-US" dirty="0">
                <a:latin typeface="Georgia" panose="02040502050405020303" pitchFamily="18" charset="0"/>
              </a:rPr>
              <a:t>)</a:t>
            </a:r>
          </a:p>
          <a:p>
            <a:endParaRPr lang="en-US" dirty="0">
              <a:latin typeface="Georgia" panose="02040502050405020303" pitchFamily="18" charset="0"/>
            </a:endParaRPr>
          </a:p>
          <a:p>
            <a:endParaRPr lang="en-US" dirty="0">
              <a:latin typeface="Georgia" panose="02040502050405020303" pitchFamily="18" charset="0"/>
            </a:endParaRPr>
          </a:p>
        </p:txBody>
      </p:sp>
      <p:pic>
        <p:nvPicPr>
          <p:cNvPr id="5" name="Picture 4">
            <a:extLst>
              <a:ext uri="{FF2B5EF4-FFF2-40B4-BE49-F238E27FC236}">
                <a16:creationId xmlns:a16="http://schemas.microsoft.com/office/drawing/2014/main" id="{07EE06FC-526D-F921-9F60-C83718B1A61E}"/>
              </a:ext>
            </a:extLst>
          </p:cNvPr>
          <p:cNvPicPr>
            <a:picLocks noChangeAspect="1"/>
          </p:cNvPicPr>
          <p:nvPr/>
        </p:nvPicPr>
        <p:blipFill>
          <a:blip r:embed="rId2"/>
          <a:stretch>
            <a:fillRect/>
          </a:stretch>
        </p:blipFill>
        <p:spPr>
          <a:xfrm>
            <a:off x="2025908" y="2449347"/>
            <a:ext cx="7535707" cy="4272087"/>
          </a:xfrm>
          <a:prstGeom prst="rect">
            <a:avLst/>
          </a:prstGeom>
        </p:spPr>
      </p:pic>
    </p:spTree>
    <p:extLst>
      <p:ext uri="{BB962C8B-B14F-4D97-AF65-F5344CB8AC3E}">
        <p14:creationId xmlns:p14="http://schemas.microsoft.com/office/powerpoint/2010/main" val="220236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D847F-F7AD-FF9F-BA63-50842A5906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AAB07D-6701-62AD-C8F3-5BD04CF64E1B}"/>
              </a:ext>
            </a:extLst>
          </p:cNvPr>
          <p:cNvSpPr>
            <a:spLocks noGrp="1"/>
          </p:cNvSpPr>
          <p:nvPr>
            <p:ph idx="1"/>
          </p:nvPr>
        </p:nvSpPr>
        <p:spPr/>
        <p:txBody>
          <a:bodyPr/>
          <a:lstStyle/>
          <a:p>
            <a:r>
              <a:rPr lang="en-US" dirty="0"/>
              <a:t>Quiz</a:t>
            </a:r>
          </a:p>
        </p:txBody>
      </p:sp>
    </p:spTree>
    <p:extLst>
      <p:ext uri="{BB962C8B-B14F-4D97-AF65-F5344CB8AC3E}">
        <p14:creationId xmlns:p14="http://schemas.microsoft.com/office/powerpoint/2010/main" val="2075576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9E1B-77E5-4FC6-8282-59CDD70DEFDD}"/>
              </a:ext>
            </a:extLst>
          </p:cNvPr>
          <p:cNvSpPr>
            <a:spLocks noGrp="1"/>
          </p:cNvSpPr>
          <p:nvPr>
            <p:ph type="ctrTitle"/>
          </p:nvPr>
        </p:nvSpPr>
        <p:spPr>
          <a:xfrm>
            <a:off x="1524000" y="1626281"/>
            <a:ext cx="9144000" cy="2103178"/>
          </a:xfrm>
        </p:spPr>
        <p:txBody>
          <a:bodyPr>
            <a:normAutofit/>
          </a:bodyPr>
          <a:lstStyle/>
          <a:p>
            <a:r>
              <a:rPr lang="en-US" sz="4800" b="1" dirty="0">
                <a:latin typeface="Georgia" panose="02040502050405020303" pitchFamily="18" charset="0"/>
              </a:rPr>
              <a:t>Ancient</a:t>
            </a:r>
            <a:r>
              <a:rPr lang="en-US" sz="4800" b="1" dirty="0"/>
              <a:t> Ciphers</a:t>
            </a:r>
            <a:endParaRPr lang="en-US" sz="2800" dirty="0"/>
          </a:p>
        </p:txBody>
      </p:sp>
    </p:spTree>
    <p:extLst>
      <p:ext uri="{BB962C8B-B14F-4D97-AF65-F5344CB8AC3E}">
        <p14:creationId xmlns:p14="http://schemas.microsoft.com/office/powerpoint/2010/main" val="3690079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6FB1-D7EC-6182-5707-5578580AB9D6}"/>
              </a:ext>
            </a:extLst>
          </p:cNvPr>
          <p:cNvSpPr>
            <a:spLocks noGrp="1"/>
          </p:cNvSpPr>
          <p:nvPr>
            <p:ph type="title"/>
          </p:nvPr>
        </p:nvSpPr>
        <p:spPr>
          <a:xfrm>
            <a:off x="2300298" y="695602"/>
            <a:ext cx="7323854" cy="1325563"/>
          </a:xfrm>
        </p:spPr>
        <p:txBody>
          <a:bodyPr/>
          <a:lstStyle/>
          <a:p>
            <a:r>
              <a:rPr lang="en-US" dirty="0"/>
              <a:t>How to encrypt a message?</a:t>
            </a:r>
          </a:p>
        </p:txBody>
      </p:sp>
      <p:pic>
        <p:nvPicPr>
          <p:cNvPr id="4" name="Picture 3">
            <a:extLst>
              <a:ext uri="{FF2B5EF4-FFF2-40B4-BE49-F238E27FC236}">
                <a16:creationId xmlns:a16="http://schemas.microsoft.com/office/drawing/2014/main" id="{D40E6BBB-57C3-1669-6D77-98182EEE8DF6}"/>
              </a:ext>
            </a:extLst>
          </p:cNvPr>
          <p:cNvPicPr>
            <a:picLocks noChangeAspect="1"/>
          </p:cNvPicPr>
          <p:nvPr/>
        </p:nvPicPr>
        <p:blipFill>
          <a:blip r:embed="rId2"/>
          <a:stretch>
            <a:fillRect/>
          </a:stretch>
        </p:blipFill>
        <p:spPr>
          <a:xfrm>
            <a:off x="8778025" y="4508976"/>
            <a:ext cx="619600" cy="990640"/>
          </a:xfrm>
          <a:prstGeom prst="rect">
            <a:avLst/>
          </a:prstGeom>
        </p:spPr>
      </p:pic>
      <p:pic>
        <p:nvPicPr>
          <p:cNvPr id="5" name="Picture 4">
            <a:extLst>
              <a:ext uri="{FF2B5EF4-FFF2-40B4-BE49-F238E27FC236}">
                <a16:creationId xmlns:a16="http://schemas.microsoft.com/office/drawing/2014/main" id="{69C0E594-0D42-341E-33EB-E055D2279228}"/>
              </a:ext>
            </a:extLst>
          </p:cNvPr>
          <p:cNvPicPr>
            <a:picLocks noChangeAspect="1"/>
          </p:cNvPicPr>
          <p:nvPr/>
        </p:nvPicPr>
        <p:blipFill>
          <a:blip r:embed="rId3"/>
          <a:stretch>
            <a:fillRect/>
          </a:stretch>
        </p:blipFill>
        <p:spPr>
          <a:xfrm>
            <a:off x="2105595" y="4642540"/>
            <a:ext cx="689498" cy="1041742"/>
          </a:xfrm>
          <a:prstGeom prst="rect">
            <a:avLst/>
          </a:prstGeom>
        </p:spPr>
      </p:pic>
      <p:pic>
        <p:nvPicPr>
          <p:cNvPr id="6" name="Picture 5">
            <a:extLst>
              <a:ext uri="{FF2B5EF4-FFF2-40B4-BE49-F238E27FC236}">
                <a16:creationId xmlns:a16="http://schemas.microsoft.com/office/drawing/2014/main" id="{94EC387F-605C-7B90-EBA5-5F0CED087E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89799" y="2567227"/>
            <a:ext cx="744853" cy="744853"/>
          </a:xfrm>
          <a:prstGeom prst="rect">
            <a:avLst/>
          </a:prstGeom>
        </p:spPr>
      </p:pic>
      <p:sp>
        <p:nvSpPr>
          <p:cNvPr id="8" name="Rectangle 7">
            <a:extLst>
              <a:ext uri="{FF2B5EF4-FFF2-40B4-BE49-F238E27FC236}">
                <a16:creationId xmlns:a16="http://schemas.microsoft.com/office/drawing/2014/main" id="{E5407A58-DC8D-6937-8814-67EDCF7164FA}"/>
              </a:ext>
            </a:extLst>
          </p:cNvPr>
          <p:cNvSpPr/>
          <p:nvPr/>
        </p:nvSpPr>
        <p:spPr>
          <a:xfrm>
            <a:off x="4252511" y="3955055"/>
            <a:ext cx="3723701" cy="17292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000" dirty="0"/>
              <a:t>PLAY</a:t>
            </a:r>
            <a:endParaRPr lang="en-US" sz="4000" dirty="0"/>
          </a:p>
        </p:txBody>
      </p:sp>
      <p:pic>
        <p:nvPicPr>
          <p:cNvPr id="6146" name="Picture 2">
            <a:extLst>
              <a:ext uri="{FF2B5EF4-FFF2-40B4-BE49-F238E27FC236}">
                <a16:creationId xmlns:a16="http://schemas.microsoft.com/office/drawing/2014/main" id="{4B7E9FC4-E0CC-2D3C-9DF7-D66D3AC0F9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4160" y="532426"/>
            <a:ext cx="2724896" cy="3633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068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408A-4B20-4C65-9EA2-069B35316A04}"/>
              </a:ext>
            </a:extLst>
          </p:cNvPr>
          <p:cNvSpPr>
            <a:spLocks noGrp="1"/>
          </p:cNvSpPr>
          <p:nvPr>
            <p:ph type="title"/>
          </p:nvPr>
        </p:nvSpPr>
        <p:spPr/>
        <p:txBody>
          <a:bodyPr>
            <a:normAutofit/>
          </a:bodyPr>
          <a:lstStyle/>
          <a:p>
            <a:r>
              <a:rPr lang="en-US" dirty="0"/>
              <a:t>Idea 1: rotation (shift) cipher</a:t>
            </a:r>
          </a:p>
        </p:txBody>
      </p:sp>
      <p:sp>
        <p:nvSpPr>
          <p:cNvPr id="10" name="TextBox 9">
            <a:extLst>
              <a:ext uri="{FF2B5EF4-FFF2-40B4-BE49-F238E27FC236}">
                <a16:creationId xmlns:a16="http://schemas.microsoft.com/office/drawing/2014/main" id="{96A9E595-685C-4CD8-B7DA-D30DCB6C7B52}"/>
              </a:ext>
            </a:extLst>
          </p:cNvPr>
          <p:cNvSpPr txBox="1"/>
          <p:nvPr/>
        </p:nvSpPr>
        <p:spPr>
          <a:xfrm>
            <a:off x="1543022" y="6092178"/>
            <a:ext cx="2889278" cy="369332"/>
          </a:xfrm>
          <a:prstGeom prst="rect">
            <a:avLst/>
          </a:prstGeom>
          <a:noFill/>
        </p:spPr>
        <p:txBody>
          <a:bodyPr wrap="square" rtlCol="0">
            <a:spAutoFit/>
          </a:bodyPr>
          <a:lstStyle/>
          <a:p>
            <a:pPr fontAlgn="base">
              <a:spcBef>
                <a:spcPct val="0"/>
              </a:spcBef>
              <a:spcAft>
                <a:spcPct val="0"/>
              </a:spcAft>
              <a:defRPr/>
            </a:pPr>
            <a:r>
              <a:rPr lang="en-US" dirty="0">
                <a:solidFill>
                  <a:srgbClr val="000000"/>
                </a:solidFill>
                <a:latin typeface="Arial" charset="0"/>
                <a:sym typeface="Arial" charset="0"/>
              </a:rPr>
              <a:t>rotate by 5, K = 5</a:t>
            </a:r>
          </a:p>
        </p:txBody>
      </p:sp>
      <p:graphicFrame>
        <p:nvGraphicFramePr>
          <p:cNvPr id="13" name="Table 12">
            <a:extLst>
              <a:ext uri="{FF2B5EF4-FFF2-40B4-BE49-F238E27FC236}">
                <a16:creationId xmlns:a16="http://schemas.microsoft.com/office/drawing/2014/main" id="{BF5497E0-B86D-435F-BC5B-751E71D9DFF4}"/>
              </a:ext>
            </a:extLst>
          </p:cNvPr>
          <p:cNvGraphicFramePr>
            <a:graphicFrameLocks noGrp="1"/>
          </p:cNvGraphicFramePr>
          <p:nvPr>
            <p:extLst>
              <p:ext uri="{D42A27DB-BD31-4B8C-83A1-F6EECF244321}">
                <p14:modId xmlns:p14="http://schemas.microsoft.com/office/powerpoint/2010/main" val="1237059780"/>
              </p:ext>
            </p:extLst>
          </p:nvPr>
        </p:nvGraphicFramePr>
        <p:xfrm>
          <a:off x="4785936" y="3398421"/>
          <a:ext cx="4226560" cy="278130"/>
        </p:xfrm>
        <a:graphic>
          <a:graphicData uri="http://schemas.openxmlformats.org/drawingml/2006/table">
            <a:tbl>
              <a:tblPr>
                <a:tableStyleId>{073A0DAA-6AF3-43AB-8588-CEC1D06C72B9}</a:tableStyleId>
              </a:tblPr>
              <a:tblGrid>
                <a:gridCol w="162560">
                  <a:extLst>
                    <a:ext uri="{9D8B030D-6E8A-4147-A177-3AD203B41FA5}">
                      <a16:colId xmlns:a16="http://schemas.microsoft.com/office/drawing/2014/main" val="4006317317"/>
                    </a:ext>
                  </a:extLst>
                </a:gridCol>
                <a:gridCol w="162560">
                  <a:extLst>
                    <a:ext uri="{9D8B030D-6E8A-4147-A177-3AD203B41FA5}">
                      <a16:colId xmlns:a16="http://schemas.microsoft.com/office/drawing/2014/main" val="3275819919"/>
                    </a:ext>
                  </a:extLst>
                </a:gridCol>
                <a:gridCol w="162560">
                  <a:extLst>
                    <a:ext uri="{9D8B030D-6E8A-4147-A177-3AD203B41FA5}">
                      <a16:colId xmlns:a16="http://schemas.microsoft.com/office/drawing/2014/main" val="2751720165"/>
                    </a:ext>
                  </a:extLst>
                </a:gridCol>
                <a:gridCol w="162560">
                  <a:extLst>
                    <a:ext uri="{9D8B030D-6E8A-4147-A177-3AD203B41FA5}">
                      <a16:colId xmlns:a16="http://schemas.microsoft.com/office/drawing/2014/main" val="330544239"/>
                    </a:ext>
                  </a:extLst>
                </a:gridCol>
                <a:gridCol w="162560">
                  <a:extLst>
                    <a:ext uri="{9D8B030D-6E8A-4147-A177-3AD203B41FA5}">
                      <a16:colId xmlns:a16="http://schemas.microsoft.com/office/drawing/2014/main" val="4124381074"/>
                    </a:ext>
                  </a:extLst>
                </a:gridCol>
                <a:gridCol w="162560">
                  <a:extLst>
                    <a:ext uri="{9D8B030D-6E8A-4147-A177-3AD203B41FA5}">
                      <a16:colId xmlns:a16="http://schemas.microsoft.com/office/drawing/2014/main" val="1982933281"/>
                    </a:ext>
                  </a:extLst>
                </a:gridCol>
                <a:gridCol w="162560">
                  <a:extLst>
                    <a:ext uri="{9D8B030D-6E8A-4147-A177-3AD203B41FA5}">
                      <a16:colId xmlns:a16="http://schemas.microsoft.com/office/drawing/2014/main" val="3074078155"/>
                    </a:ext>
                  </a:extLst>
                </a:gridCol>
                <a:gridCol w="162560">
                  <a:extLst>
                    <a:ext uri="{9D8B030D-6E8A-4147-A177-3AD203B41FA5}">
                      <a16:colId xmlns:a16="http://schemas.microsoft.com/office/drawing/2014/main" val="1655617911"/>
                    </a:ext>
                  </a:extLst>
                </a:gridCol>
                <a:gridCol w="162560">
                  <a:extLst>
                    <a:ext uri="{9D8B030D-6E8A-4147-A177-3AD203B41FA5}">
                      <a16:colId xmlns:a16="http://schemas.microsoft.com/office/drawing/2014/main" val="2997259767"/>
                    </a:ext>
                  </a:extLst>
                </a:gridCol>
                <a:gridCol w="162560">
                  <a:extLst>
                    <a:ext uri="{9D8B030D-6E8A-4147-A177-3AD203B41FA5}">
                      <a16:colId xmlns:a16="http://schemas.microsoft.com/office/drawing/2014/main" val="3702727068"/>
                    </a:ext>
                  </a:extLst>
                </a:gridCol>
                <a:gridCol w="162560">
                  <a:extLst>
                    <a:ext uri="{9D8B030D-6E8A-4147-A177-3AD203B41FA5}">
                      <a16:colId xmlns:a16="http://schemas.microsoft.com/office/drawing/2014/main" val="1359166803"/>
                    </a:ext>
                  </a:extLst>
                </a:gridCol>
                <a:gridCol w="162560">
                  <a:extLst>
                    <a:ext uri="{9D8B030D-6E8A-4147-A177-3AD203B41FA5}">
                      <a16:colId xmlns:a16="http://schemas.microsoft.com/office/drawing/2014/main" val="4074643480"/>
                    </a:ext>
                  </a:extLst>
                </a:gridCol>
                <a:gridCol w="162560">
                  <a:extLst>
                    <a:ext uri="{9D8B030D-6E8A-4147-A177-3AD203B41FA5}">
                      <a16:colId xmlns:a16="http://schemas.microsoft.com/office/drawing/2014/main" val="75006098"/>
                    </a:ext>
                  </a:extLst>
                </a:gridCol>
                <a:gridCol w="162560">
                  <a:extLst>
                    <a:ext uri="{9D8B030D-6E8A-4147-A177-3AD203B41FA5}">
                      <a16:colId xmlns:a16="http://schemas.microsoft.com/office/drawing/2014/main" val="1697249287"/>
                    </a:ext>
                  </a:extLst>
                </a:gridCol>
                <a:gridCol w="162560">
                  <a:extLst>
                    <a:ext uri="{9D8B030D-6E8A-4147-A177-3AD203B41FA5}">
                      <a16:colId xmlns:a16="http://schemas.microsoft.com/office/drawing/2014/main" val="334534308"/>
                    </a:ext>
                  </a:extLst>
                </a:gridCol>
                <a:gridCol w="162560">
                  <a:extLst>
                    <a:ext uri="{9D8B030D-6E8A-4147-A177-3AD203B41FA5}">
                      <a16:colId xmlns:a16="http://schemas.microsoft.com/office/drawing/2014/main" val="2761267355"/>
                    </a:ext>
                  </a:extLst>
                </a:gridCol>
                <a:gridCol w="162560">
                  <a:extLst>
                    <a:ext uri="{9D8B030D-6E8A-4147-A177-3AD203B41FA5}">
                      <a16:colId xmlns:a16="http://schemas.microsoft.com/office/drawing/2014/main" val="276006313"/>
                    </a:ext>
                  </a:extLst>
                </a:gridCol>
                <a:gridCol w="162560">
                  <a:extLst>
                    <a:ext uri="{9D8B030D-6E8A-4147-A177-3AD203B41FA5}">
                      <a16:colId xmlns:a16="http://schemas.microsoft.com/office/drawing/2014/main" val="4174241117"/>
                    </a:ext>
                  </a:extLst>
                </a:gridCol>
                <a:gridCol w="162560">
                  <a:extLst>
                    <a:ext uri="{9D8B030D-6E8A-4147-A177-3AD203B41FA5}">
                      <a16:colId xmlns:a16="http://schemas.microsoft.com/office/drawing/2014/main" val="2590946139"/>
                    </a:ext>
                  </a:extLst>
                </a:gridCol>
                <a:gridCol w="162560">
                  <a:extLst>
                    <a:ext uri="{9D8B030D-6E8A-4147-A177-3AD203B41FA5}">
                      <a16:colId xmlns:a16="http://schemas.microsoft.com/office/drawing/2014/main" val="1001922585"/>
                    </a:ext>
                  </a:extLst>
                </a:gridCol>
                <a:gridCol w="162560">
                  <a:extLst>
                    <a:ext uri="{9D8B030D-6E8A-4147-A177-3AD203B41FA5}">
                      <a16:colId xmlns:a16="http://schemas.microsoft.com/office/drawing/2014/main" val="2910563186"/>
                    </a:ext>
                  </a:extLst>
                </a:gridCol>
                <a:gridCol w="162560">
                  <a:extLst>
                    <a:ext uri="{9D8B030D-6E8A-4147-A177-3AD203B41FA5}">
                      <a16:colId xmlns:a16="http://schemas.microsoft.com/office/drawing/2014/main" val="2690904484"/>
                    </a:ext>
                  </a:extLst>
                </a:gridCol>
                <a:gridCol w="162560">
                  <a:extLst>
                    <a:ext uri="{9D8B030D-6E8A-4147-A177-3AD203B41FA5}">
                      <a16:colId xmlns:a16="http://schemas.microsoft.com/office/drawing/2014/main" val="3493408171"/>
                    </a:ext>
                  </a:extLst>
                </a:gridCol>
                <a:gridCol w="162560">
                  <a:extLst>
                    <a:ext uri="{9D8B030D-6E8A-4147-A177-3AD203B41FA5}">
                      <a16:colId xmlns:a16="http://schemas.microsoft.com/office/drawing/2014/main" val="2167708993"/>
                    </a:ext>
                  </a:extLst>
                </a:gridCol>
                <a:gridCol w="162560">
                  <a:extLst>
                    <a:ext uri="{9D8B030D-6E8A-4147-A177-3AD203B41FA5}">
                      <a16:colId xmlns:a16="http://schemas.microsoft.com/office/drawing/2014/main" val="1478401149"/>
                    </a:ext>
                  </a:extLst>
                </a:gridCol>
                <a:gridCol w="162560">
                  <a:extLst>
                    <a:ext uri="{9D8B030D-6E8A-4147-A177-3AD203B41FA5}">
                      <a16:colId xmlns:a16="http://schemas.microsoft.com/office/drawing/2014/main" val="997665192"/>
                    </a:ext>
                  </a:extLst>
                </a:gridCol>
              </a:tblGrid>
              <a:tr h="278130">
                <a:tc>
                  <a:txBody>
                    <a:bodyPr/>
                    <a:lstStyle/>
                    <a:p>
                      <a:pPr algn="ctr"/>
                      <a:r>
                        <a:rPr lang="en-US" sz="1200" dirty="0"/>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b</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f</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err="1"/>
                        <a:t>i</a:t>
                      </a:r>
                      <a:endParaRPr lang="en-US" sz="12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j</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k</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m</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q</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r</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u</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v</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w</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t>z</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0057956"/>
                  </a:ext>
                </a:extLst>
              </a:tr>
            </a:tbl>
          </a:graphicData>
        </a:graphic>
      </p:graphicFrame>
      <p:sp>
        <p:nvSpPr>
          <p:cNvPr id="39" name="Arrow: U-Turn 38">
            <a:extLst>
              <a:ext uri="{FF2B5EF4-FFF2-40B4-BE49-F238E27FC236}">
                <a16:creationId xmlns:a16="http://schemas.microsoft.com/office/drawing/2014/main" id="{48BE2DE8-9092-4F43-9D79-E0A6B703B618}"/>
              </a:ext>
            </a:extLst>
          </p:cNvPr>
          <p:cNvSpPr/>
          <p:nvPr/>
        </p:nvSpPr>
        <p:spPr>
          <a:xfrm rot="10800000" flipH="1">
            <a:off x="4854353" y="3676550"/>
            <a:ext cx="855204" cy="195949"/>
          </a:xfrm>
          <a:prstGeom prst="uturnArrow">
            <a:avLst>
              <a:gd name="adj1" fmla="val 3882"/>
              <a:gd name="adj2" fmla="val 13607"/>
              <a:gd name="adj3" fmla="val 17776"/>
              <a:gd name="adj4" fmla="val 43750"/>
              <a:gd name="adj5" fmla="val 10000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defRPr/>
            </a:pPr>
            <a:endParaRPr lang="en-US" sz="900">
              <a:solidFill>
                <a:prstClr val="black"/>
              </a:solidFill>
              <a:latin typeface="Calibri"/>
              <a:sym typeface="Arial" charset="0"/>
            </a:endParaRPr>
          </a:p>
        </p:txBody>
      </p:sp>
      <p:sp>
        <p:nvSpPr>
          <p:cNvPr id="40" name="Arrow: U-Turn 39">
            <a:extLst>
              <a:ext uri="{FF2B5EF4-FFF2-40B4-BE49-F238E27FC236}">
                <a16:creationId xmlns:a16="http://schemas.microsoft.com/office/drawing/2014/main" id="{C600F410-615B-42A4-897D-161345773072}"/>
              </a:ext>
            </a:extLst>
          </p:cNvPr>
          <p:cNvSpPr/>
          <p:nvPr/>
        </p:nvSpPr>
        <p:spPr>
          <a:xfrm rot="10800000" flipH="1">
            <a:off x="4978403" y="3676550"/>
            <a:ext cx="855204" cy="291299"/>
          </a:xfrm>
          <a:prstGeom prst="uturnArrow">
            <a:avLst>
              <a:gd name="adj1" fmla="val 3882"/>
              <a:gd name="adj2" fmla="val 13607"/>
              <a:gd name="adj3" fmla="val 17776"/>
              <a:gd name="adj4" fmla="val 43750"/>
              <a:gd name="adj5" fmla="val 10000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defRPr/>
            </a:pPr>
            <a:endParaRPr lang="en-US" sz="900">
              <a:solidFill>
                <a:prstClr val="black"/>
              </a:solidFill>
              <a:latin typeface="Calibri"/>
              <a:sym typeface="Arial" charset="0"/>
            </a:endParaRPr>
          </a:p>
        </p:txBody>
      </p:sp>
      <p:pic>
        <p:nvPicPr>
          <p:cNvPr id="3" name="Picture 2">
            <a:extLst>
              <a:ext uri="{FF2B5EF4-FFF2-40B4-BE49-F238E27FC236}">
                <a16:creationId xmlns:a16="http://schemas.microsoft.com/office/drawing/2014/main" id="{6A985D4D-B49E-2AE7-E9C3-8D7FD916010D}"/>
              </a:ext>
            </a:extLst>
          </p:cNvPr>
          <p:cNvPicPr>
            <a:picLocks noChangeAspect="1"/>
          </p:cNvPicPr>
          <p:nvPr/>
        </p:nvPicPr>
        <p:blipFill>
          <a:blip r:embed="rId3"/>
          <a:stretch>
            <a:fillRect/>
          </a:stretch>
        </p:blipFill>
        <p:spPr>
          <a:xfrm>
            <a:off x="7069567" y="5470870"/>
            <a:ext cx="619600" cy="990640"/>
          </a:xfrm>
          <a:prstGeom prst="rect">
            <a:avLst/>
          </a:prstGeom>
        </p:spPr>
      </p:pic>
      <p:pic>
        <p:nvPicPr>
          <p:cNvPr id="7" name="Picture 6">
            <a:extLst>
              <a:ext uri="{FF2B5EF4-FFF2-40B4-BE49-F238E27FC236}">
                <a16:creationId xmlns:a16="http://schemas.microsoft.com/office/drawing/2014/main" id="{0C35792D-BDB0-C84D-8BAE-EBC02B81CE81}"/>
              </a:ext>
            </a:extLst>
          </p:cNvPr>
          <p:cNvPicPr>
            <a:picLocks noChangeAspect="1"/>
          </p:cNvPicPr>
          <p:nvPr/>
        </p:nvPicPr>
        <p:blipFill>
          <a:blip r:embed="rId4"/>
          <a:stretch>
            <a:fillRect/>
          </a:stretch>
        </p:blipFill>
        <p:spPr>
          <a:xfrm>
            <a:off x="314895" y="5666825"/>
            <a:ext cx="689498" cy="1041742"/>
          </a:xfrm>
          <a:prstGeom prst="rect">
            <a:avLst/>
          </a:prstGeom>
        </p:spPr>
      </p:pic>
      <p:pic>
        <p:nvPicPr>
          <p:cNvPr id="12" name="Picture 11">
            <a:extLst>
              <a:ext uri="{FF2B5EF4-FFF2-40B4-BE49-F238E27FC236}">
                <a16:creationId xmlns:a16="http://schemas.microsoft.com/office/drawing/2014/main" id="{4E6EBF31-2E2E-E00C-74E3-14CFB0473FC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9099" y="3591512"/>
            <a:ext cx="744853" cy="744853"/>
          </a:xfrm>
          <a:prstGeom prst="rect">
            <a:avLst/>
          </a:prstGeom>
        </p:spPr>
      </p:pic>
      <p:sp>
        <p:nvSpPr>
          <p:cNvPr id="14" name="Speech Bubble: Oval 13">
            <a:extLst>
              <a:ext uri="{FF2B5EF4-FFF2-40B4-BE49-F238E27FC236}">
                <a16:creationId xmlns:a16="http://schemas.microsoft.com/office/drawing/2014/main" id="{76709526-0489-05CD-5FFB-421F0054014C}"/>
              </a:ext>
            </a:extLst>
          </p:cNvPr>
          <p:cNvSpPr/>
          <p:nvPr/>
        </p:nvSpPr>
        <p:spPr>
          <a:xfrm>
            <a:off x="2400132" y="4359480"/>
            <a:ext cx="4048564" cy="1430383"/>
          </a:xfrm>
          <a:prstGeom prst="wedgeEllipseCallout">
            <a:avLst>
              <a:gd name="adj1" fmla="val -74652"/>
              <a:gd name="adj2" fmla="val 59304"/>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The lecture is so boring !!!</a:t>
            </a:r>
          </a:p>
        </p:txBody>
      </p:sp>
      <p:sp>
        <p:nvSpPr>
          <p:cNvPr id="15" name="Speech Bubble: Oval 14">
            <a:extLst>
              <a:ext uri="{FF2B5EF4-FFF2-40B4-BE49-F238E27FC236}">
                <a16:creationId xmlns:a16="http://schemas.microsoft.com/office/drawing/2014/main" id="{A5CCFEFE-5EBE-0D0E-CB1D-DCBAEAE607F4}"/>
              </a:ext>
            </a:extLst>
          </p:cNvPr>
          <p:cNvSpPr/>
          <p:nvPr/>
        </p:nvSpPr>
        <p:spPr>
          <a:xfrm>
            <a:off x="2400132" y="4359480"/>
            <a:ext cx="4287640" cy="1430383"/>
          </a:xfrm>
          <a:prstGeom prst="wedgeEllipseCallout">
            <a:avLst>
              <a:gd name="adj1" fmla="val -74652"/>
              <a:gd name="adj2" fmla="val 59304"/>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err="1">
                <a:solidFill>
                  <a:schemeClr val="tx1"/>
                </a:solidFill>
              </a:rPr>
              <a:t>Ymj</a:t>
            </a:r>
            <a:r>
              <a:rPr lang="en-US" dirty="0">
                <a:solidFill>
                  <a:schemeClr val="tx1"/>
                </a:solidFill>
              </a:rPr>
              <a:t> </a:t>
            </a:r>
            <a:r>
              <a:rPr lang="en-US" dirty="0" err="1">
                <a:solidFill>
                  <a:schemeClr val="tx1"/>
                </a:solidFill>
              </a:rPr>
              <a:t>qjhyzwj</a:t>
            </a:r>
            <a:r>
              <a:rPr lang="en-US" dirty="0">
                <a:solidFill>
                  <a:schemeClr val="tx1"/>
                </a:solidFill>
              </a:rPr>
              <a:t> </a:t>
            </a:r>
            <a:r>
              <a:rPr lang="en-US" dirty="0" err="1">
                <a:solidFill>
                  <a:schemeClr val="tx1"/>
                </a:solidFill>
              </a:rPr>
              <a:t>nx</a:t>
            </a:r>
            <a:r>
              <a:rPr lang="en-US" dirty="0">
                <a:solidFill>
                  <a:schemeClr val="tx1"/>
                </a:solidFill>
              </a:rPr>
              <a:t> </a:t>
            </a:r>
            <a:r>
              <a:rPr lang="en-US" dirty="0" err="1">
                <a:solidFill>
                  <a:schemeClr val="tx1"/>
                </a:solidFill>
              </a:rPr>
              <a:t>xt</a:t>
            </a:r>
            <a:r>
              <a:rPr lang="en-US" dirty="0">
                <a:solidFill>
                  <a:schemeClr val="tx1"/>
                </a:solidFill>
              </a:rPr>
              <a:t> </a:t>
            </a:r>
            <a:r>
              <a:rPr lang="en-US" dirty="0" err="1">
                <a:solidFill>
                  <a:schemeClr val="tx1"/>
                </a:solidFill>
              </a:rPr>
              <a:t>gtwnsl</a:t>
            </a:r>
            <a:r>
              <a:rPr lang="en-US" dirty="0">
                <a:solidFill>
                  <a:schemeClr val="tx1"/>
                </a:solidFill>
              </a:rPr>
              <a:t> !!!</a:t>
            </a:r>
          </a:p>
        </p:txBody>
      </p:sp>
      <p:grpSp>
        <p:nvGrpSpPr>
          <p:cNvPr id="21" name="Group 20">
            <a:extLst>
              <a:ext uri="{FF2B5EF4-FFF2-40B4-BE49-F238E27FC236}">
                <a16:creationId xmlns:a16="http://schemas.microsoft.com/office/drawing/2014/main" id="{EAB4306E-FBA8-2ECD-4999-F9515D84E03E}"/>
              </a:ext>
            </a:extLst>
          </p:cNvPr>
          <p:cNvGrpSpPr/>
          <p:nvPr/>
        </p:nvGrpSpPr>
        <p:grpSpPr>
          <a:xfrm>
            <a:off x="613736" y="1480785"/>
            <a:ext cx="11578264" cy="1234707"/>
            <a:chOff x="613736" y="1480785"/>
            <a:chExt cx="11578264" cy="1234707"/>
          </a:xfrm>
        </p:grpSpPr>
        <p:sp>
          <p:nvSpPr>
            <p:cNvPr id="9" name="TextBox 8">
              <a:extLst>
                <a:ext uri="{FF2B5EF4-FFF2-40B4-BE49-F238E27FC236}">
                  <a16:creationId xmlns:a16="http://schemas.microsoft.com/office/drawing/2014/main" id="{5BCCC36A-B8AD-4B0F-9B05-20D68265B31A}"/>
                </a:ext>
              </a:extLst>
            </p:cNvPr>
            <p:cNvSpPr txBox="1"/>
            <p:nvPr/>
          </p:nvSpPr>
          <p:spPr>
            <a:xfrm>
              <a:off x="613736" y="1640089"/>
              <a:ext cx="11578264" cy="1015663"/>
            </a:xfrm>
            <a:prstGeom prst="rect">
              <a:avLst/>
            </a:prstGeom>
            <a:noFill/>
          </p:spPr>
          <p:txBody>
            <a:bodyPr wrap="square" rtlCol="0">
              <a:spAutoFit/>
            </a:bodyPr>
            <a:lstStyle/>
            <a:p>
              <a:pPr marL="285750" indent="-285750" fontAlgn="base">
                <a:spcBef>
                  <a:spcPct val="0"/>
                </a:spcBef>
                <a:spcAft>
                  <a:spcPct val="0"/>
                </a:spcAft>
                <a:buFont typeface="Arial" panose="020B0604020202020204" pitchFamily="34" charset="0"/>
                <a:buChar char="•"/>
                <a:defRPr/>
              </a:pPr>
              <a:r>
                <a:rPr lang="en-US" sz="2000" b="1" dirty="0">
                  <a:solidFill>
                    <a:srgbClr val="000000"/>
                  </a:solidFill>
                  <a:latin typeface="Georgia" panose="02040502050405020303" pitchFamily="18" charset="0"/>
                  <a:sym typeface="Arial" charset="0"/>
                </a:rPr>
                <a:t>C = X + K mod 26 </a:t>
              </a:r>
            </a:p>
            <a:p>
              <a:pPr marL="285750" indent="-285750" fontAlgn="base">
                <a:spcBef>
                  <a:spcPct val="0"/>
                </a:spcBef>
                <a:spcAft>
                  <a:spcPct val="0"/>
                </a:spcAft>
                <a:buFont typeface="Arial" panose="020B0604020202020204" pitchFamily="34" charset="0"/>
                <a:buChar char="•"/>
                <a:defRPr/>
              </a:pPr>
              <a:endParaRPr lang="en-US" sz="2000" b="1" dirty="0">
                <a:solidFill>
                  <a:srgbClr val="000000"/>
                </a:solidFill>
                <a:latin typeface="Georgia" panose="02040502050405020303" pitchFamily="18" charset="0"/>
                <a:sym typeface="Arial" charset="0"/>
              </a:endParaRPr>
            </a:p>
            <a:p>
              <a:pPr marL="285750" indent="-285750" fontAlgn="base">
                <a:spcBef>
                  <a:spcPct val="0"/>
                </a:spcBef>
                <a:spcAft>
                  <a:spcPct val="0"/>
                </a:spcAft>
                <a:buFont typeface="Arial" panose="020B0604020202020204" pitchFamily="34" charset="0"/>
                <a:buChar char="•"/>
                <a:defRPr/>
              </a:pPr>
              <a:r>
                <a:rPr lang="en-US" sz="2000" b="1" dirty="0">
                  <a:solidFill>
                    <a:srgbClr val="000000"/>
                  </a:solidFill>
                  <a:latin typeface="Georgia" panose="02040502050405020303" pitchFamily="18" charset="0"/>
                  <a:sym typeface="Arial" charset="0"/>
                </a:rPr>
                <a:t>C, X, K are number of corresponding letters. </a:t>
              </a:r>
            </a:p>
          </p:txBody>
        </p:sp>
        <p:pic>
          <p:nvPicPr>
            <p:cNvPr id="4100" name="Picture 4" descr="Introduction to Caesar Cipher - Naukri Code 360">
              <a:extLst>
                <a:ext uri="{FF2B5EF4-FFF2-40B4-BE49-F238E27FC236}">
                  <a16:creationId xmlns:a16="http://schemas.microsoft.com/office/drawing/2014/main" id="{95A35BA8-3D3A-E760-3AB7-9D0A6921DA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99216" y="1480785"/>
              <a:ext cx="4938829" cy="1234707"/>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extBox 18">
            <a:extLst>
              <a:ext uri="{FF2B5EF4-FFF2-40B4-BE49-F238E27FC236}">
                <a16:creationId xmlns:a16="http://schemas.microsoft.com/office/drawing/2014/main" id="{DB209846-7619-0FD8-9A4D-3697A4D23029}"/>
              </a:ext>
            </a:extLst>
          </p:cNvPr>
          <p:cNvSpPr txBox="1"/>
          <p:nvPr/>
        </p:nvSpPr>
        <p:spPr>
          <a:xfrm>
            <a:off x="7759700" y="6003030"/>
            <a:ext cx="2889278" cy="369332"/>
          </a:xfrm>
          <a:prstGeom prst="rect">
            <a:avLst/>
          </a:prstGeom>
          <a:noFill/>
        </p:spPr>
        <p:txBody>
          <a:bodyPr wrap="square" rtlCol="0">
            <a:spAutoFit/>
          </a:bodyPr>
          <a:lstStyle/>
          <a:p>
            <a:pPr fontAlgn="base">
              <a:spcBef>
                <a:spcPct val="0"/>
              </a:spcBef>
              <a:spcAft>
                <a:spcPct val="0"/>
              </a:spcAft>
              <a:defRPr/>
            </a:pPr>
            <a:r>
              <a:rPr lang="en-US" dirty="0">
                <a:solidFill>
                  <a:srgbClr val="000000"/>
                </a:solidFill>
                <a:latin typeface="Arial" charset="0"/>
                <a:sym typeface="Arial" charset="0"/>
              </a:rPr>
              <a:t>rotate by 5, K = 5</a:t>
            </a:r>
          </a:p>
        </p:txBody>
      </p:sp>
      <p:sp>
        <p:nvSpPr>
          <p:cNvPr id="20" name="TextBox 19">
            <a:extLst>
              <a:ext uri="{FF2B5EF4-FFF2-40B4-BE49-F238E27FC236}">
                <a16:creationId xmlns:a16="http://schemas.microsoft.com/office/drawing/2014/main" id="{9D120C6E-6BE1-84E6-62CD-F7AA531FCEF8}"/>
              </a:ext>
            </a:extLst>
          </p:cNvPr>
          <p:cNvSpPr txBox="1"/>
          <p:nvPr/>
        </p:nvSpPr>
        <p:spPr>
          <a:xfrm>
            <a:off x="7391009" y="3967849"/>
            <a:ext cx="4226560" cy="369332"/>
          </a:xfrm>
          <a:prstGeom prst="rect">
            <a:avLst/>
          </a:prstGeom>
          <a:noFill/>
        </p:spPr>
        <p:txBody>
          <a:bodyPr wrap="square" rtlCol="0">
            <a:spAutoFit/>
          </a:bodyPr>
          <a:lstStyle/>
          <a:p>
            <a:r>
              <a:rPr lang="en-US" b="1" dirty="0">
                <a:solidFill>
                  <a:srgbClr val="FF0000"/>
                </a:solidFill>
              </a:rPr>
              <a:t>Number of Possible Key?</a:t>
            </a:r>
          </a:p>
        </p:txBody>
      </p:sp>
    </p:spTree>
    <p:extLst>
      <p:ext uri="{BB962C8B-B14F-4D97-AF65-F5344CB8AC3E}">
        <p14:creationId xmlns:p14="http://schemas.microsoft.com/office/powerpoint/2010/main" val="233341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xit" presetSubtype="0" fill="hold" grpId="0" nodeType="withEffect">
                                  <p:stCondLst>
                                    <p:cond delay="0"/>
                                  </p:stCondLst>
                                  <p:childTnLst>
                                    <p:animEffect transition="out" filter="fade">
                                      <p:cBhvr>
                                        <p:cTn id="9" dur="500"/>
                                        <p:tgtEl>
                                          <p:spTgt spid="14"/>
                                        </p:tgtEl>
                                      </p:cBhvr>
                                    </p:animEffect>
                                    <p:set>
                                      <p:cBhvr>
                                        <p:cTn id="10" dur="1" fill="hold">
                                          <p:stCondLst>
                                            <p:cond delay="499"/>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anim calcmode="lin" valueType="num">
                                      <p:cBhvr additive="base">
                                        <p:cTn id="23"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animBg="1"/>
      <p:bldP spid="15" grpId="0" animBg="1"/>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7E7A-2F9D-434A-B632-9E56AF5EED4B}"/>
              </a:ext>
            </a:extLst>
          </p:cNvPr>
          <p:cNvSpPr>
            <a:spLocks noGrp="1"/>
          </p:cNvSpPr>
          <p:nvPr>
            <p:ph type="title"/>
          </p:nvPr>
        </p:nvSpPr>
        <p:spPr/>
        <p:txBody>
          <a:bodyPr/>
          <a:lstStyle/>
          <a:p>
            <a:r>
              <a:rPr lang="en-US" dirty="0"/>
              <a:t>Idea 2: substitution cipher</a:t>
            </a:r>
          </a:p>
        </p:txBody>
      </p:sp>
      <p:graphicFrame>
        <p:nvGraphicFramePr>
          <p:cNvPr id="5" name="Content Placeholder 4">
            <a:extLst>
              <a:ext uri="{FF2B5EF4-FFF2-40B4-BE49-F238E27FC236}">
                <a16:creationId xmlns:a16="http://schemas.microsoft.com/office/drawing/2014/main" id="{685F5570-892D-46F2-9982-0B0B111DF111}"/>
              </a:ext>
            </a:extLst>
          </p:cNvPr>
          <p:cNvGraphicFramePr>
            <a:graphicFrameLocks noGrp="1"/>
          </p:cNvGraphicFramePr>
          <p:nvPr>
            <p:ph idx="1"/>
          </p:nvPr>
        </p:nvGraphicFramePr>
        <p:xfrm>
          <a:off x="400596" y="1533434"/>
          <a:ext cx="11406302" cy="741680"/>
        </p:xfrm>
        <a:graphic>
          <a:graphicData uri="http://schemas.openxmlformats.org/drawingml/2006/table">
            <a:tbl>
              <a:tblPr>
                <a:tableStyleId>{073A0DAA-6AF3-43AB-8588-CEC1D06C72B9}</a:tableStyleId>
              </a:tblPr>
              <a:tblGrid>
                <a:gridCol w="1280160">
                  <a:extLst>
                    <a:ext uri="{9D8B030D-6E8A-4147-A177-3AD203B41FA5}">
                      <a16:colId xmlns:a16="http://schemas.microsoft.com/office/drawing/2014/main" val="808542146"/>
                    </a:ext>
                  </a:extLst>
                </a:gridCol>
                <a:gridCol w="389467">
                  <a:extLst>
                    <a:ext uri="{9D8B030D-6E8A-4147-A177-3AD203B41FA5}">
                      <a16:colId xmlns:a16="http://schemas.microsoft.com/office/drawing/2014/main" val="1740949199"/>
                    </a:ext>
                  </a:extLst>
                </a:gridCol>
                <a:gridCol w="389467">
                  <a:extLst>
                    <a:ext uri="{9D8B030D-6E8A-4147-A177-3AD203B41FA5}">
                      <a16:colId xmlns:a16="http://schemas.microsoft.com/office/drawing/2014/main" val="4084889085"/>
                    </a:ext>
                  </a:extLst>
                </a:gridCol>
                <a:gridCol w="389467">
                  <a:extLst>
                    <a:ext uri="{9D8B030D-6E8A-4147-A177-3AD203B41FA5}">
                      <a16:colId xmlns:a16="http://schemas.microsoft.com/office/drawing/2014/main" val="267683738"/>
                    </a:ext>
                  </a:extLst>
                </a:gridCol>
                <a:gridCol w="389467">
                  <a:extLst>
                    <a:ext uri="{9D8B030D-6E8A-4147-A177-3AD203B41FA5}">
                      <a16:colId xmlns:a16="http://schemas.microsoft.com/office/drawing/2014/main" val="127696465"/>
                    </a:ext>
                  </a:extLst>
                </a:gridCol>
                <a:gridCol w="389467">
                  <a:extLst>
                    <a:ext uri="{9D8B030D-6E8A-4147-A177-3AD203B41FA5}">
                      <a16:colId xmlns:a16="http://schemas.microsoft.com/office/drawing/2014/main" val="99498354"/>
                    </a:ext>
                  </a:extLst>
                </a:gridCol>
                <a:gridCol w="389467">
                  <a:extLst>
                    <a:ext uri="{9D8B030D-6E8A-4147-A177-3AD203B41FA5}">
                      <a16:colId xmlns:a16="http://schemas.microsoft.com/office/drawing/2014/main" val="4116058545"/>
                    </a:ext>
                  </a:extLst>
                </a:gridCol>
                <a:gridCol w="389467">
                  <a:extLst>
                    <a:ext uri="{9D8B030D-6E8A-4147-A177-3AD203B41FA5}">
                      <a16:colId xmlns:a16="http://schemas.microsoft.com/office/drawing/2014/main" val="3745464105"/>
                    </a:ext>
                  </a:extLst>
                </a:gridCol>
                <a:gridCol w="389467">
                  <a:extLst>
                    <a:ext uri="{9D8B030D-6E8A-4147-A177-3AD203B41FA5}">
                      <a16:colId xmlns:a16="http://schemas.microsoft.com/office/drawing/2014/main" val="3583360836"/>
                    </a:ext>
                  </a:extLst>
                </a:gridCol>
                <a:gridCol w="389467">
                  <a:extLst>
                    <a:ext uri="{9D8B030D-6E8A-4147-A177-3AD203B41FA5}">
                      <a16:colId xmlns:a16="http://schemas.microsoft.com/office/drawing/2014/main" val="1595051044"/>
                    </a:ext>
                  </a:extLst>
                </a:gridCol>
                <a:gridCol w="389467">
                  <a:extLst>
                    <a:ext uri="{9D8B030D-6E8A-4147-A177-3AD203B41FA5}">
                      <a16:colId xmlns:a16="http://schemas.microsoft.com/office/drawing/2014/main" val="3624252688"/>
                    </a:ext>
                  </a:extLst>
                </a:gridCol>
                <a:gridCol w="389467">
                  <a:extLst>
                    <a:ext uri="{9D8B030D-6E8A-4147-A177-3AD203B41FA5}">
                      <a16:colId xmlns:a16="http://schemas.microsoft.com/office/drawing/2014/main" val="2042598271"/>
                    </a:ext>
                  </a:extLst>
                </a:gridCol>
                <a:gridCol w="389467">
                  <a:extLst>
                    <a:ext uri="{9D8B030D-6E8A-4147-A177-3AD203B41FA5}">
                      <a16:colId xmlns:a16="http://schemas.microsoft.com/office/drawing/2014/main" val="3413079376"/>
                    </a:ext>
                  </a:extLst>
                </a:gridCol>
                <a:gridCol w="389467">
                  <a:extLst>
                    <a:ext uri="{9D8B030D-6E8A-4147-A177-3AD203B41FA5}">
                      <a16:colId xmlns:a16="http://schemas.microsoft.com/office/drawing/2014/main" val="1304008897"/>
                    </a:ext>
                  </a:extLst>
                </a:gridCol>
                <a:gridCol w="389467">
                  <a:extLst>
                    <a:ext uri="{9D8B030D-6E8A-4147-A177-3AD203B41FA5}">
                      <a16:colId xmlns:a16="http://schemas.microsoft.com/office/drawing/2014/main" val="4126626881"/>
                    </a:ext>
                  </a:extLst>
                </a:gridCol>
                <a:gridCol w="389467">
                  <a:extLst>
                    <a:ext uri="{9D8B030D-6E8A-4147-A177-3AD203B41FA5}">
                      <a16:colId xmlns:a16="http://schemas.microsoft.com/office/drawing/2014/main" val="2494054372"/>
                    </a:ext>
                  </a:extLst>
                </a:gridCol>
                <a:gridCol w="389467">
                  <a:extLst>
                    <a:ext uri="{9D8B030D-6E8A-4147-A177-3AD203B41FA5}">
                      <a16:colId xmlns:a16="http://schemas.microsoft.com/office/drawing/2014/main" val="3611166042"/>
                    </a:ext>
                  </a:extLst>
                </a:gridCol>
                <a:gridCol w="389467">
                  <a:extLst>
                    <a:ext uri="{9D8B030D-6E8A-4147-A177-3AD203B41FA5}">
                      <a16:colId xmlns:a16="http://schemas.microsoft.com/office/drawing/2014/main" val="3031964292"/>
                    </a:ext>
                  </a:extLst>
                </a:gridCol>
                <a:gridCol w="389467">
                  <a:extLst>
                    <a:ext uri="{9D8B030D-6E8A-4147-A177-3AD203B41FA5}">
                      <a16:colId xmlns:a16="http://schemas.microsoft.com/office/drawing/2014/main" val="1755830632"/>
                    </a:ext>
                  </a:extLst>
                </a:gridCol>
                <a:gridCol w="389467">
                  <a:extLst>
                    <a:ext uri="{9D8B030D-6E8A-4147-A177-3AD203B41FA5}">
                      <a16:colId xmlns:a16="http://schemas.microsoft.com/office/drawing/2014/main" val="2922063860"/>
                    </a:ext>
                  </a:extLst>
                </a:gridCol>
                <a:gridCol w="389467">
                  <a:extLst>
                    <a:ext uri="{9D8B030D-6E8A-4147-A177-3AD203B41FA5}">
                      <a16:colId xmlns:a16="http://schemas.microsoft.com/office/drawing/2014/main" val="2373471949"/>
                    </a:ext>
                  </a:extLst>
                </a:gridCol>
                <a:gridCol w="389467">
                  <a:extLst>
                    <a:ext uri="{9D8B030D-6E8A-4147-A177-3AD203B41FA5}">
                      <a16:colId xmlns:a16="http://schemas.microsoft.com/office/drawing/2014/main" val="2285319349"/>
                    </a:ext>
                  </a:extLst>
                </a:gridCol>
                <a:gridCol w="389467">
                  <a:extLst>
                    <a:ext uri="{9D8B030D-6E8A-4147-A177-3AD203B41FA5}">
                      <a16:colId xmlns:a16="http://schemas.microsoft.com/office/drawing/2014/main" val="2210955963"/>
                    </a:ext>
                  </a:extLst>
                </a:gridCol>
                <a:gridCol w="389467">
                  <a:extLst>
                    <a:ext uri="{9D8B030D-6E8A-4147-A177-3AD203B41FA5}">
                      <a16:colId xmlns:a16="http://schemas.microsoft.com/office/drawing/2014/main" val="1639329555"/>
                    </a:ext>
                  </a:extLst>
                </a:gridCol>
                <a:gridCol w="389467">
                  <a:extLst>
                    <a:ext uri="{9D8B030D-6E8A-4147-A177-3AD203B41FA5}">
                      <a16:colId xmlns:a16="http://schemas.microsoft.com/office/drawing/2014/main" val="2002622303"/>
                    </a:ext>
                  </a:extLst>
                </a:gridCol>
                <a:gridCol w="389467">
                  <a:extLst>
                    <a:ext uri="{9D8B030D-6E8A-4147-A177-3AD203B41FA5}">
                      <a16:colId xmlns:a16="http://schemas.microsoft.com/office/drawing/2014/main" val="2670939652"/>
                    </a:ext>
                  </a:extLst>
                </a:gridCol>
                <a:gridCol w="389467">
                  <a:extLst>
                    <a:ext uri="{9D8B030D-6E8A-4147-A177-3AD203B41FA5}">
                      <a16:colId xmlns:a16="http://schemas.microsoft.com/office/drawing/2014/main" val="2388437450"/>
                    </a:ext>
                  </a:extLst>
                </a:gridCol>
              </a:tblGrid>
              <a:tr h="370840">
                <a:tc>
                  <a:txBody>
                    <a:bodyPr/>
                    <a:lstStyle/>
                    <a:p>
                      <a:pPr algn="ctr"/>
                      <a:r>
                        <a:rPr lang="en-US" b="1" dirty="0">
                          <a:solidFill>
                            <a:srgbClr val="0070C0"/>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err="1"/>
                        <a:t>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7154432"/>
                  </a:ext>
                </a:extLst>
              </a:tr>
              <a:tr h="370840">
                <a:tc>
                  <a:txBody>
                    <a:bodyPr/>
                    <a:lstStyle/>
                    <a:p>
                      <a:pPr algn="ctr"/>
                      <a:r>
                        <a:rPr lang="en-US" b="1" dirty="0">
                          <a:solidFill>
                            <a:srgbClr val="0070C0"/>
                          </a:solidFill>
                        </a:rPr>
                        <a:t>replace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err="1"/>
                        <a:t>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7964112"/>
                  </a:ext>
                </a:extLst>
              </a:tr>
            </a:tbl>
          </a:graphicData>
        </a:graphic>
      </p:graphicFrame>
      <p:sp>
        <p:nvSpPr>
          <p:cNvPr id="7" name="Rectangle 6">
            <a:extLst>
              <a:ext uri="{FF2B5EF4-FFF2-40B4-BE49-F238E27FC236}">
                <a16:creationId xmlns:a16="http://schemas.microsoft.com/office/drawing/2014/main" id="{E80EAEF2-D9E9-46A8-A1EE-E9D4DBE5CBC9}"/>
              </a:ext>
            </a:extLst>
          </p:cNvPr>
          <p:cNvSpPr/>
          <p:nvPr/>
        </p:nvSpPr>
        <p:spPr>
          <a:xfrm>
            <a:off x="3048000" y="2599119"/>
            <a:ext cx="6096000" cy="3046988"/>
          </a:xfrm>
          <a:prstGeom prst="rect">
            <a:avLst/>
          </a:prstGeom>
        </p:spPr>
        <p:txBody>
          <a:bodyPr>
            <a:spAutoFit/>
          </a:bodyPr>
          <a:lstStyle/>
          <a:p>
            <a:r>
              <a:rPr lang="en-US" sz="1600" dirty="0" err="1"/>
              <a:t>hpd</a:t>
            </a:r>
            <a:r>
              <a:rPr lang="en-US" sz="1600" dirty="0"/>
              <a:t> </a:t>
            </a:r>
            <a:r>
              <a:rPr lang="en-US" sz="1600" dirty="0" err="1"/>
              <a:t>mevdshzjdo</a:t>
            </a:r>
            <a:r>
              <a:rPr lang="en-US" sz="1600" dirty="0"/>
              <a:t> mt </a:t>
            </a:r>
            <a:r>
              <a:rPr lang="en-US" sz="1600" dirty="0" err="1"/>
              <a:t>hpzo</a:t>
            </a:r>
            <a:r>
              <a:rPr lang="en-US" sz="1600" dirty="0"/>
              <a:t> </a:t>
            </a:r>
            <a:r>
              <a:rPr lang="en-US" sz="1600" dirty="0" err="1"/>
              <a:t>smknod</a:t>
            </a:r>
            <a:r>
              <a:rPr lang="en-US" sz="1600" dirty="0"/>
              <a:t> und hm </a:t>
            </a:r>
            <a:r>
              <a:rPr lang="en-US" sz="1600" dirty="0" err="1"/>
              <a:t>zqtmni</a:t>
            </a:r>
            <a:r>
              <a:rPr lang="en-US" sz="1600" dirty="0"/>
              <a:t> </a:t>
            </a:r>
            <a:r>
              <a:rPr lang="en-US" sz="1600" dirty="0" err="1"/>
              <a:t>ohkfdqho</a:t>
            </a:r>
            <a:r>
              <a:rPr lang="en-US" sz="1600" dirty="0"/>
              <a:t> </a:t>
            </a:r>
            <a:r>
              <a:rPr lang="en-US" sz="1600" dirty="0" err="1"/>
              <a:t>uemkh</a:t>
            </a:r>
            <a:r>
              <a:rPr lang="en-US" sz="1600" dirty="0"/>
              <a:t> </a:t>
            </a:r>
            <a:r>
              <a:rPr lang="en-US" sz="1600" dirty="0" err="1"/>
              <a:t>hpd</a:t>
            </a:r>
            <a:r>
              <a:rPr lang="en-US" sz="1600" dirty="0"/>
              <a:t> </a:t>
            </a:r>
            <a:r>
              <a:rPr lang="en-US" sz="1600" dirty="0" err="1"/>
              <a:t>tzdcf</a:t>
            </a:r>
            <a:r>
              <a:rPr lang="en-US" sz="1600" dirty="0"/>
              <a:t> mt </a:t>
            </a:r>
            <a:r>
              <a:rPr lang="en-US" sz="1600" dirty="0" err="1"/>
              <a:t>smigkhdn</a:t>
            </a:r>
            <a:r>
              <a:rPr lang="en-US" sz="1600" dirty="0"/>
              <a:t> </a:t>
            </a:r>
            <a:r>
              <a:rPr lang="en-US" sz="1600" dirty="0" err="1"/>
              <a:t>oszdqsd</a:t>
            </a:r>
            <a:r>
              <a:rPr lang="en-US" sz="1600" dirty="0"/>
              <a:t> </a:t>
            </a:r>
            <a:r>
              <a:rPr lang="en-US" sz="1600" dirty="0" err="1"/>
              <a:t>uqf</a:t>
            </a:r>
            <a:r>
              <a:rPr lang="en-US" sz="1600" dirty="0"/>
              <a:t> </a:t>
            </a:r>
            <a:r>
              <a:rPr lang="en-US" sz="1600" dirty="0" err="1"/>
              <a:t>dqazqddnzqa</a:t>
            </a:r>
            <a:r>
              <a:rPr lang="en-US" sz="1600" dirty="0"/>
              <a:t>, </a:t>
            </a:r>
            <a:r>
              <a:rPr lang="en-US" sz="1600" dirty="0" err="1"/>
              <a:t>uqf</a:t>
            </a:r>
            <a:r>
              <a:rPr lang="en-US" sz="1600" dirty="0"/>
              <a:t> hm </a:t>
            </a:r>
            <a:r>
              <a:rPr lang="en-US" sz="1600" dirty="0" err="1"/>
              <a:t>zqhnmfksd</a:t>
            </a:r>
            <a:r>
              <a:rPr lang="en-US" sz="1600" dirty="0"/>
              <a:t> </a:t>
            </a:r>
            <a:r>
              <a:rPr lang="en-US" sz="1600" dirty="0" err="1"/>
              <a:t>hpdi</a:t>
            </a:r>
            <a:r>
              <a:rPr lang="en-US" sz="1600" dirty="0"/>
              <a:t> hm </a:t>
            </a:r>
            <a:r>
              <a:rPr lang="en-US" sz="1600" dirty="0" err="1"/>
              <a:t>hpd</a:t>
            </a:r>
            <a:r>
              <a:rPr lang="en-US" sz="1600" dirty="0"/>
              <a:t> </a:t>
            </a:r>
            <a:r>
              <a:rPr lang="en-US" sz="1600" dirty="0" err="1"/>
              <a:t>xzfd</a:t>
            </a:r>
            <a:r>
              <a:rPr lang="en-US" sz="1600" dirty="0"/>
              <a:t> </a:t>
            </a:r>
            <a:r>
              <a:rPr lang="en-US" sz="1600" dirty="0" err="1"/>
              <a:t>nuqad</a:t>
            </a:r>
            <a:r>
              <a:rPr lang="en-US" sz="1600" dirty="0"/>
              <a:t> mt </a:t>
            </a:r>
            <a:r>
              <a:rPr lang="en-US" sz="1600" dirty="0" err="1"/>
              <a:t>dbszhzqa</a:t>
            </a:r>
            <a:r>
              <a:rPr lang="en-US" sz="1600" dirty="0"/>
              <a:t> </a:t>
            </a:r>
            <a:r>
              <a:rPr lang="en-US" sz="1600" dirty="0" err="1"/>
              <a:t>uggczsuhzmqo</a:t>
            </a:r>
            <a:r>
              <a:rPr lang="en-US" sz="1600" dirty="0"/>
              <a:t> mt </a:t>
            </a:r>
            <a:r>
              <a:rPr lang="en-US" sz="1600" dirty="0" err="1"/>
              <a:t>smigkhuhzmq</a:t>
            </a:r>
            <a:r>
              <a:rPr lang="en-US" sz="1600" dirty="0"/>
              <a:t> </a:t>
            </a:r>
            <a:r>
              <a:rPr lang="en-US" sz="1600" dirty="0" err="1"/>
              <a:t>uqf</a:t>
            </a:r>
            <a:r>
              <a:rPr lang="en-US" sz="1600" dirty="0"/>
              <a:t> </a:t>
            </a:r>
            <a:r>
              <a:rPr lang="en-US" sz="1600" dirty="0" err="1"/>
              <a:t>hdspqmcmal</a:t>
            </a:r>
            <a:r>
              <a:rPr lang="en-US" sz="1600" dirty="0"/>
              <a:t> </a:t>
            </a:r>
            <a:r>
              <a:rPr lang="en-US" sz="1600" dirty="0" err="1"/>
              <a:t>zq</a:t>
            </a:r>
            <a:r>
              <a:rPr lang="en-US" sz="1600" dirty="0"/>
              <a:t> </a:t>
            </a:r>
            <a:r>
              <a:rPr lang="en-US" sz="1600" dirty="0" err="1"/>
              <a:t>omszdhl</a:t>
            </a:r>
            <a:r>
              <a:rPr lang="en-US" sz="1600" dirty="0"/>
              <a:t>. </a:t>
            </a:r>
            <a:r>
              <a:rPr lang="en-US" sz="1600" dirty="0" err="1"/>
              <a:t>xd</a:t>
            </a:r>
            <a:r>
              <a:rPr lang="en-US" sz="1600" dirty="0"/>
              <a:t> </a:t>
            </a:r>
            <a:r>
              <a:rPr lang="en-US" sz="1600" dirty="0" err="1"/>
              <a:t>xzcc</a:t>
            </a:r>
            <a:r>
              <a:rPr lang="en-US" sz="1600" dirty="0"/>
              <a:t> </a:t>
            </a:r>
            <a:r>
              <a:rPr lang="en-US" sz="1600" dirty="0" err="1"/>
              <a:t>dbgcuzq</a:t>
            </a:r>
            <a:r>
              <a:rPr lang="en-US" sz="1600" dirty="0"/>
              <a:t> </a:t>
            </a:r>
            <a:r>
              <a:rPr lang="en-US" sz="1600" dirty="0" err="1"/>
              <a:t>hpuh</a:t>
            </a:r>
            <a:r>
              <a:rPr lang="en-US" sz="1600" dirty="0"/>
              <a:t> </a:t>
            </a:r>
            <a:r>
              <a:rPr lang="en-US" sz="1600" dirty="0" err="1"/>
              <a:t>smigkhdn</a:t>
            </a:r>
            <a:r>
              <a:rPr lang="en-US" sz="1600" dirty="0"/>
              <a:t> </a:t>
            </a:r>
            <a:r>
              <a:rPr lang="en-US" sz="1600" dirty="0" err="1"/>
              <a:t>oszdqsd</a:t>
            </a:r>
            <a:r>
              <a:rPr lang="en-US" sz="1600" dirty="0"/>
              <a:t> zo </a:t>
            </a:r>
            <a:r>
              <a:rPr lang="en-US" sz="1600" dirty="0" err="1"/>
              <a:t>qmh</a:t>
            </a:r>
            <a:r>
              <a:rPr lang="en-US" sz="1600" dirty="0"/>
              <a:t> </a:t>
            </a:r>
            <a:r>
              <a:rPr lang="en-US" sz="1600" dirty="0" err="1"/>
              <a:t>vkoh</a:t>
            </a:r>
            <a:r>
              <a:rPr lang="en-US" sz="1600" dirty="0"/>
              <a:t> </a:t>
            </a:r>
            <a:r>
              <a:rPr lang="en-US" sz="1600" dirty="0" err="1"/>
              <a:t>uemkh</a:t>
            </a:r>
            <a:r>
              <a:rPr lang="en-US" sz="1600" dirty="0"/>
              <a:t> </a:t>
            </a:r>
            <a:r>
              <a:rPr lang="en-US" sz="1600" dirty="0" err="1"/>
              <a:t>gnmanuiizqa</a:t>
            </a:r>
            <a:r>
              <a:rPr lang="en-US" sz="1600" dirty="0"/>
              <a:t>, </a:t>
            </a:r>
            <a:r>
              <a:rPr lang="en-US" sz="1600" dirty="0" err="1"/>
              <a:t>ekh</a:t>
            </a:r>
            <a:r>
              <a:rPr lang="en-US" sz="1600" dirty="0"/>
              <a:t> </a:t>
            </a:r>
            <a:r>
              <a:rPr lang="en-US" sz="1600" dirty="0" err="1"/>
              <a:t>uemkh</a:t>
            </a:r>
            <a:r>
              <a:rPr lang="en-US" sz="1600" dirty="0"/>
              <a:t> </a:t>
            </a:r>
            <a:r>
              <a:rPr lang="en-US" sz="1600" dirty="0" err="1"/>
              <a:t>smigkhuhzmquc</a:t>
            </a:r>
            <a:r>
              <a:rPr lang="en-US" sz="1600" dirty="0"/>
              <a:t> </a:t>
            </a:r>
            <a:r>
              <a:rPr lang="en-US" sz="1600" dirty="0" err="1"/>
              <a:t>hpzqrzqa</a:t>
            </a:r>
            <a:r>
              <a:rPr lang="en-US" sz="1600" dirty="0"/>
              <a:t> </a:t>
            </a:r>
            <a:r>
              <a:rPr lang="en-US" sz="1600" dirty="0" err="1"/>
              <a:t>uqf</a:t>
            </a:r>
            <a:r>
              <a:rPr lang="en-US" sz="1600" dirty="0"/>
              <a:t> </a:t>
            </a:r>
            <a:r>
              <a:rPr lang="en-US" sz="1600" dirty="0" err="1"/>
              <a:t>hpd</a:t>
            </a:r>
            <a:r>
              <a:rPr lang="en-US" sz="1600" dirty="0"/>
              <a:t> </a:t>
            </a:r>
            <a:r>
              <a:rPr lang="en-US" sz="1600" dirty="0" err="1"/>
              <a:t>ohkfl</a:t>
            </a:r>
            <a:r>
              <a:rPr lang="en-US" sz="1600" dirty="0"/>
              <a:t> mt </a:t>
            </a:r>
            <a:r>
              <a:rPr lang="en-US" sz="1600" dirty="0" err="1"/>
              <a:t>ucamnzhpio</a:t>
            </a:r>
            <a:r>
              <a:rPr lang="en-US" sz="1600" dirty="0"/>
              <a:t>. </a:t>
            </a:r>
            <a:r>
              <a:rPr lang="en-US" sz="1600" dirty="0" err="1"/>
              <a:t>zigmnhuqh</a:t>
            </a:r>
            <a:r>
              <a:rPr lang="en-US" sz="1600" dirty="0"/>
              <a:t> </a:t>
            </a:r>
            <a:r>
              <a:rPr lang="en-US" sz="1600" dirty="0" err="1"/>
              <a:t>hdnio</a:t>
            </a:r>
            <a:r>
              <a:rPr lang="en-US" sz="1600" dirty="0"/>
              <a:t> </a:t>
            </a:r>
            <a:r>
              <a:rPr lang="en-US" sz="1600" dirty="0" err="1"/>
              <a:t>uqf</a:t>
            </a:r>
            <a:r>
              <a:rPr lang="en-US" sz="1600" dirty="0"/>
              <a:t> </a:t>
            </a:r>
            <a:r>
              <a:rPr lang="en-US" sz="1600" dirty="0" err="1"/>
              <a:t>smqsdgho</a:t>
            </a:r>
            <a:r>
              <a:rPr lang="en-US" sz="1600" dirty="0"/>
              <a:t> </a:t>
            </a:r>
            <a:r>
              <a:rPr lang="en-US" sz="1600" dirty="0" err="1"/>
              <a:t>zq</a:t>
            </a:r>
            <a:r>
              <a:rPr lang="en-US" sz="1600" dirty="0"/>
              <a:t> </a:t>
            </a:r>
            <a:r>
              <a:rPr lang="en-US" sz="1600" dirty="0" err="1"/>
              <a:t>hpd</a:t>
            </a:r>
            <a:r>
              <a:rPr lang="en-US" sz="1600" dirty="0"/>
              <a:t> </a:t>
            </a:r>
            <a:r>
              <a:rPr lang="en-US" sz="1600" dirty="0" err="1"/>
              <a:t>tzdcf</a:t>
            </a:r>
            <a:r>
              <a:rPr lang="en-US" sz="1600" dirty="0"/>
              <a:t> </a:t>
            </a:r>
            <a:r>
              <a:rPr lang="en-US" sz="1600" dirty="0" err="1"/>
              <a:t>xzcc</a:t>
            </a:r>
            <a:r>
              <a:rPr lang="en-US" sz="1600" dirty="0"/>
              <a:t> ed </a:t>
            </a:r>
            <a:r>
              <a:rPr lang="en-US" sz="1600" dirty="0" err="1"/>
              <a:t>zqhnmfksdf</a:t>
            </a:r>
            <a:r>
              <a:rPr lang="en-US" sz="1600" dirty="0"/>
              <a:t>, </a:t>
            </a:r>
            <a:r>
              <a:rPr lang="en-US" sz="1600" dirty="0" err="1"/>
              <a:t>uo</a:t>
            </a:r>
            <a:r>
              <a:rPr lang="en-US" sz="1600" dirty="0"/>
              <a:t> u </a:t>
            </a:r>
            <a:r>
              <a:rPr lang="en-US" sz="1600" dirty="0" err="1"/>
              <a:t>gndjzdx</a:t>
            </a:r>
            <a:r>
              <a:rPr lang="en-US" sz="1600" dirty="0"/>
              <a:t> hm </a:t>
            </a:r>
            <a:r>
              <a:rPr lang="en-US" sz="1600" dirty="0" err="1"/>
              <a:t>xpuh</a:t>
            </a:r>
            <a:r>
              <a:rPr lang="en-US" sz="1600" dirty="0"/>
              <a:t> </a:t>
            </a:r>
            <a:r>
              <a:rPr lang="en-US" sz="1600" dirty="0" err="1"/>
              <a:t>xzcc</a:t>
            </a:r>
            <a:r>
              <a:rPr lang="en-US" sz="1600" dirty="0"/>
              <a:t> ed </a:t>
            </a:r>
            <a:r>
              <a:rPr lang="en-US" sz="1600" dirty="0" err="1"/>
              <a:t>cdunqdf</a:t>
            </a:r>
            <a:r>
              <a:rPr lang="en-US" sz="1600" dirty="0"/>
              <a:t> </a:t>
            </a:r>
            <a:r>
              <a:rPr lang="en-US" sz="1600" dirty="0" err="1"/>
              <a:t>zq</a:t>
            </a:r>
            <a:r>
              <a:rPr lang="en-US" sz="1600" dirty="0"/>
              <a:t> </a:t>
            </a:r>
            <a:r>
              <a:rPr lang="en-US" sz="1600" dirty="0" err="1"/>
              <a:t>mhpdn</a:t>
            </a:r>
            <a:r>
              <a:rPr lang="en-US" sz="1600" dirty="0"/>
              <a:t> </a:t>
            </a:r>
            <a:r>
              <a:rPr lang="en-US" sz="1600" dirty="0" err="1"/>
              <a:t>smknodo</a:t>
            </a:r>
            <a:r>
              <a:rPr lang="en-US" sz="1600" dirty="0"/>
              <a:t>. </a:t>
            </a:r>
            <a:r>
              <a:rPr lang="en-US" sz="1600" dirty="0" err="1"/>
              <a:t>xd</a:t>
            </a:r>
            <a:r>
              <a:rPr lang="en-US" sz="1600" dirty="0"/>
              <a:t> </a:t>
            </a:r>
            <a:r>
              <a:rPr lang="en-US" sz="1600" dirty="0" err="1"/>
              <a:t>xzcc</a:t>
            </a:r>
            <a:r>
              <a:rPr lang="en-US" sz="1600" dirty="0"/>
              <a:t> </a:t>
            </a:r>
            <a:r>
              <a:rPr lang="en-US" sz="1600" dirty="0" err="1"/>
              <a:t>dbgcuzq</a:t>
            </a:r>
            <a:r>
              <a:rPr lang="en-US" sz="1600" dirty="0"/>
              <a:t> </a:t>
            </a:r>
            <a:r>
              <a:rPr lang="en-US" sz="1600" dirty="0" err="1"/>
              <a:t>hpd</a:t>
            </a:r>
            <a:r>
              <a:rPr lang="en-US" sz="1600" dirty="0"/>
              <a:t> </a:t>
            </a:r>
            <a:r>
              <a:rPr lang="en-US" sz="1600" dirty="0" err="1"/>
              <a:t>imhzjuhzmq</a:t>
            </a:r>
            <a:r>
              <a:rPr lang="en-US" sz="1600" dirty="0"/>
              <a:t> </a:t>
            </a:r>
            <a:r>
              <a:rPr lang="en-US" sz="1600" dirty="0" err="1"/>
              <a:t>tmn</a:t>
            </a:r>
            <a:r>
              <a:rPr lang="en-US" sz="1600" dirty="0"/>
              <a:t> </a:t>
            </a:r>
            <a:r>
              <a:rPr lang="en-US" sz="1600" dirty="0" err="1"/>
              <a:t>junzmko</a:t>
            </a:r>
            <a:r>
              <a:rPr lang="en-US" sz="1600" dirty="0"/>
              <a:t> </a:t>
            </a:r>
            <a:r>
              <a:rPr lang="en-US" sz="1600" dirty="0" err="1"/>
              <a:t>uogdsho</a:t>
            </a:r>
            <a:r>
              <a:rPr lang="en-US" sz="1600" dirty="0"/>
              <a:t> mt </a:t>
            </a:r>
            <a:r>
              <a:rPr lang="en-US" sz="1600" dirty="0" err="1"/>
              <a:t>mkn</a:t>
            </a:r>
            <a:r>
              <a:rPr lang="en-US" sz="1600" dirty="0"/>
              <a:t> </a:t>
            </a:r>
            <a:r>
              <a:rPr lang="en-US" sz="1600" dirty="0" err="1"/>
              <a:t>iuvmn</a:t>
            </a:r>
            <a:r>
              <a:rPr lang="en-US" sz="1600" dirty="0"/>
              <a:t>, </a:t>
            </a:r>
            <a:r>
              <a:rPr lang="en-US" sz="1600" dirty="0" err="1"/>
              <a:t>zqsckfzqa</a:t>
            </a:r>
            <a:r>
              <a:rPr lang="en-US" sz="1600" dirty="0"/>
              <a:t> </a:t>
            </a:r>
            <a:r>
              <a:rPr lang="en-US" sz="1600" dirty="0" err="1"/>
              <a:t>hpd</a:t>
            </a:r>
            <a:r>
              <a:rPr lang="en-US" sz="1600" dirty="0"/>
              <a:t> </a:t>
            </a:r>
            <a:r>
              <a:rPr lang="en-US" sz="1600" dirty="0" err="1"/>
              <a:t>smnd</a:t>
            </a:r>
            <a:r>
              <a:rPr lang="en-US" sz="1600" dirty="0"/>
              <a:t> </a:t>
            </a:r>
            <a:r>
              <a:rPr lang="en-US" sz="1600" dirty="0" err="1"/>
              <a:t>smknod</a:t>
            </a:r>
            <a:r>
              <a:rPr lang="en-US" sz="1600" dirty="0"/>
              <a:t> </a:t>
            </a:r>
            <a:r>
              <a:rPr lang="en-US" sz="1600" dirty="0" err="1"/>
              <a:t>odwkdqsd</a:t>
            </a:r>
            <a:r>
              <a:rPr lang="en-US" sz="1600" dirty="0"/>
              <a:t> </a:t>
            </a:r>
            <a:r>
              <a:rPr lang="en-US" sz="1600" dirty="0" err="1"/>
              <a:t>zq</a:t>
            </a:r>
            <a:r>
              <a:rPr lang="en-US" sz="1600" dirty="0"/>
              <a:t> </a:t>
            </a:r>
            <a:r>
              <a:rPr lang="en-US" sz="1600" dirty="0" err="1"/>
              <a:t>mkn</a:t>
            </a:r>
            <a:r>
              <a:rPr lang="en-US" sz="1600" dirty="0"/>
              <a:t> </a:t>
            </a:r>
            <a:r>
              <a:rPr lang="en-US" sz="1600" dirty="0" err="1"/>
              <a:t>sknnzskcki</a:t>
            </a:r>
            <a:r>
              <a:rPr lang="en-US" sz="1600" dirty="0"/>
              <a:t>, </a:t>
            </a:r>
            <a:r>
              <a:rPr lang="en-US" sz="1600" dirty="0" err="1"/>
              <a:t>iuhp</a:t>
            </a:r>
            <a:r>
              <a:rPr lang="en-US" sz="1600" dirty="0"/>
              <a:t> </a:t>
            </a:r>
            <a:r>
              <a:rPr lang="en-US" sz="1600" dirty="0" err="1"/>
              <a:t>ndwkzndidqho</a:t>
            </a:r>
            <a:r>
              <a:rPr lang="en-US" sz="1600" dirty="0"/>
              <a:t>, </a:t>
            </a:r>
            <a:r>
              <a:rPr lang="en-US" sz="1600" dirty="0" err="1"/>
              <a:t>okggmnhzqa</a:t>
            </a:r>
            <a:r>
              <a:rPr lang="en-US" sz="1600" dirty="0"/>
              <a:t> </a:t>
            </a:r>
            <a:r>
              <a:rPr lang="en-US" sz="1600" dirty="0" err="1"/>
              <a:t>undu</a:t>
            </a:r>
            <a:r>
              <a:rPr lang="en-US" sz="1600" dirty="0"/>
              <a:t>, </a:t>
            </a:r>
            <a:r>
              <a:rPr lang="en-US" sz="1600" dirty="0" err="1"/>
              <a:t>sm-mgo</a:t>
            </a:r>
            <a:r>
              <a:rPr lang="en-US" sz="1600" dirty="0"/>
              <a:t>, </a:t>
            </a:r>
            <a:r>
              <a:rPr lang="en-US" sz="1600" dirty="0" err="1"/>
              <a:t>dhs</a:t>
            </a:r>
            <a:r>
              <a:rPr lang="en-US" sz="1600" dirty="0"/>
              <a:t>. </a:t>
            </a:r>
          </a:p>
        </p:txBody>
      </p:sp>
      <p:sp>
        <p:nvSpPr>
          <p:cNvPr id="10" name="Speech Bubble: Rectangle 9">
            <a:extLst>
              <a:ext uri="{FF2B5EF4-FFF2-40B4-BE49-F238E27FC236}">
                <a16:creationId xmlns:a16="http://schemas.microsoft.com/office/drawing/2014/main" id="{2AA9DA4D-1911-46A8-964D-8CE90AE04779}"/>
              </a:ext>
            </a:extLst>
          </p:cNvPr>
          <p:cNvSpPr/>
          <p:nvPr/>
        </p:nvSpPr>
        <p:spPr>
          <a:xfrm>
            <a:off x="2906486" y="2560320"/>
            <a:ext cx="6279443" cy="3148149"/>
          </a:xfrm>
          <a:prstGeom prst="wedgeRectCallout">
            <a:avLst>
              <a:gd name="adj1" fmla="val -56509"/>
              <a:gd name="adj2" fmla="val 30953"/>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F8A54E0-831E-493E-9B12-6B4E9BB1E1A0}"/>
                  </a:ext>
                </a:extLst>
              </p:cNvPr>
              <p:cNvSpPr txBox="1"/>
              <p:nvPr/>
            </p:nvSpPr>
            <p:spPr>
              <a:xfrm>
                <a:off x="3048000" y="5819503"/>
                <a:ext cx="5841274" cy="375552"/>
              </a:xfrm>
              <a:prstGeom prst="rect">
                <a:avLst/>
              </a:prstGeom>
              <a:noFill/>
            </p:spPr>
            <p:txBody>
              <a:bodyPr wrap="square" rtlCol="0">
                <a:spAutoFit/>
              </a:bodyPr>
              <a:lstStyle/>
              <a:p>
                <a:r>
                  <a:rPr lang="en-US" b="1" dirty="0">
                    <a:solidFill>
                      <a:srgbClr val="0070C0"/>
                    </a:solidFill>
                  </a:rPr>
                  <a:t>Try all possible substitutions? 26! = </a:t>
                </a:r>
                <a14:m>
                  <m:oMath xmlns:m="http://schemas.openxmlformats.org/officeDocument/2006/math">
                    <m:r>
                      <a:rPr lang="en-US" b="1" i="1" smtClean="0">
                        <a:solidFill>
                          <a:srgbClr val="0070C0"/>
                        </a:solidFill>
                        <a:latin typeface="Cambria Math" panose="02040503050406030204" pitchFamily="18" charset="0"/>
                      </a:rPr>
                      <m:t>𝟒</m:t>
                    </m:r>
                    <m:r>
                      <a:rPr lang="en-US" b="1" i="1" smtClean="0">
                        <a:solidFill>
                          <a:srgbClr val="0070C0"/>
                        </a:solidFill>
                        <a:latin typeface="Cambria Math" panose="02040503050406030204" pitchFamily="18" charset="0"/>
                      </a:rPr>
                      <m:t>×</m:t>
                    </m:r>
                    <m:sSup>
                      <m:sSupPr>
                        <m:ctrlPr>
                          <a:rPr lang="en-US" b="1" i="1" smtClean="0">
                            <a:solidFill>
                              <a:srgbClr val="0070C0"/>
                            </a:solidFill>
                            <a:latin typeface="Cambria Math" panose="02040503050406030204" pitchFamily="18" charset="0"/>
                          </a:rPr>
                        </m:ctrlPr>
                      </m:sSupPr>
                      <m:e>
                        <m:r>
                          <a:rPr lang="en-US" b="1" i="1" smtClean="0">
                            <a:solidFill>
                              <a:srgbClr val="0070C0"/>
                            </a:solidFill>
                            <a:latin typeface="Cambria Math" panose="02040503050406030204" pitchFamily="18" charset="0"/>
                          </a:rPr>
                          <m:t>𝟏𝟎</m:t>
                        </m:r>
                      </m:e>
                      <m:sup>
                        <m:r>
                          <a:rPr lang="en-US" b="1" i="1" smtClean="0">
                            <a:solidFill>
                              <a:srgbClr val="0070C0"/>
                            </a:solidFill>
                            <a:latin typeface="Cambria Math" panose="02040503050406030204" pitchFamily="18" charset="0"/>
                          </a:rPr>
                          <m:t>𝟐𝟔</m:t>
                        </m:r>
                      </m:sup>
                    </m:sSup>
                  </m:oMath>
                </a14:m>
                <a:endParaRPr lang="en-US" b="1" dirty="0">
                  <a:solidFill>
                    <a:srgbClr val="0070C0"/>
                  </a:solidFill>
                </a:endParaRPr>
              </a:p>
            </p:txBody>
          </p:sp>
        </mc:Choice>
        <mc:Fallback xmlns="">
          <p:sp>
            <p:nvSpPr>
              <p:cNvPr id="11" name="TextBox 10">
                <a:extLst>
                  <a:ext uri="{FF2B5EF4-FFF2-40B4-BE49-F238E27FC236}">
                    <a16:creationId xmlns:a16="http://schemas.microsoft.com/office/drawing/2014/main" id="{0F8A54E0-831E-493E-9B12-6B4E9BB1E1A0}"/>
                  </a:ext>
                </a:extLst>
              </p:cNvPr>
              <p:cNvSpPr txBox="1">
                <a:spLocks noRot="1" noChangeAspect="1" noMove="1" noResize="1" noEditPoints="1" noAdjustHandles="1" noChangeArrowheads="1" noChangeShapeType="1" noTextEdit="1"/>
              </p:cNvSpPr>
              <p:nvPr/>
            </p:nvSpPr>
            <p:spPr>
              <a:xfrm>
                <a:off x="3048000" y="5819503"/>
                <a:ext cx="5841274" cy="375552"/>
              </a:xfrm>
              <a:prstGeom prst="rect">
                <a:avLst/>
              </a:prstGeom>
              <a:blipFill>
                <a:blip r:embed="rId4"/>
                <a:stretch>
                  <a:fillRect l="-835" t="-8197" b="-26230"/>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CBD650E7-4A90-0C9A-981C-20212CE1709A}"/>
              </a:ext>
            </a:extLst>
          </p:cNvPr>
          <p:cNvPicPr>
            <a:picLocks noChangeAspect="1"/>
          </p:cNvPicPr>
          <p:nvPr/>
        </p:nvPicPr>
        <p:blipFill>
          <a:blip r:embed="rId5"/>
          <a:stretch>
            <a:fillRect/>
          </a:stretch>
        </p:blipFill>
        <p:spPr>
          <a:xfrm>
            <a:off x="9668604" y="4997171"/>
            <a:ext cx="651563" cy="1041743"/>
          </a:xfrm>
          <a:prstGeom prst="rect">
            <a:avLst/>
          </a:prstGeom>
        </p:spPr>
      </p:pic>
      <p:pic>
        <p:nvPicPr>
          <p:cNvPr id="4" name="Picture 3">
            <a:extLst>
              <a:ext uri="{FF2B5EF4-FFF2-40B4-BE49-F238E27FC236}">
                <a16:creationId xmlns:a16="http://schemas.microsoft.com/office/drawing/2014/main" id="{4A483DBC-1BEC-555E-3ACE-1C71BD776F49}"/>
              </a:ext>
            </a:extLst>
          </p:cNvPr>
          <p:cNvPicPr>
            <a:picLocks noChangeAspect="1"/>
          </p:cNvPicPr>
          <p:nvPr/>
        </p:nvPicPr>
        <p:blipFill>
          <a:blip r:embed="rId6"/>
          <a:stretch>
            <a:fillRect/>
          </a:stretch>
        </p:blipFill>
        <p:spPr>
          <a:xfrm>
            <a:off x="1508116" y="4986797"/>
            <a:ext cx="689498" cy="1041742"/>
          </a:xfrm>
          <a:prstGeom prst="rect">
            <a:avLst/>
          </a:prstGeom>
        </p:spPr>
      </p:pic>
    </p:spTree>
    <p:extLst>
      <p:ext uri="{BB962C8B-B14F-4D97-AF65-F5344CB8AC3E}">
        <p14:creationId xmlns:p14="http://schemas.microsoft.com/office/powerpoint/2010/main" val="335889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2D07-6D70-419D-A344-0BDD2212B3C3}"/>
              </a:ext>
            </a:extLst>
          </p:cNvPr>
          <p:cNvSpPr>
            <a:spLocks noGrp="1"/>
          </p:cNvSpPr>
          <p:nvPr>
            <p:ph type="title"/>
          </p:nvPr>
        </p:nvSpPr>
        <p:spPr/>
        <p:txBody>
          <a:bodyPr/>
          <a:lstStyle/>
          <a:p>
            <a:r>
              <a:rPr lang="en-US" dirty="0"/>
              <a:t>Attack: frequency analysis</a:t>
            </a:r>
          </a:p>
        </p:txBody>
      </p:sp>
      <p:pic>
        <p:nvPicPr>
          <p:cNvPr id="6" name="Picture 5">
            <a:extLst>
              <a:ext uri="{FF2B5EF4-FFF2-40B4-BE49-F238E27FC236}">
                <a16:creationId xmlns:a16="http://schemas.microsoft.com/office/drawing/2014/main" id="{FC0B7EAE-2AC5-47C1-AE20-454619F498E1}"/>
              </a:ext>
            </a:extLst>
          </p:cNvPr>
          <p:cNvPicPr>
            <a:picLocks noChangeAspect="1"/>
          </p:cNvPicPr>
          <p:nvPr/>
        </p:nvPicPr>
        <p:blipFill>
          <a:blip r:embed="rId2"/>
          <a:stretch>
            <a:fillRect/>
          </a:stretch>
        </p:blipFill>
        <p:spPr>
          <a:xfrm>
            <a:off x="7326087" y="622804"/>
            <a:ext cx="4360817" cy="5973939"/>
          </a:xfrm>
          <a:prstGeom prst="rect">
            <a:avLst/>
          </a:prstGeom>
        </p:spPr>
      </p:pic>
      <p:sp>
        <p:nvSpPr>
          <p:cNvPr id="3" name="Rectangle 2">
            <a:extLst>
              <a:ext uri="{FF2B5EF4-FFF2-40B4-BE49-F238E27FC236}">
                <a16:creationId xmlns:a16="http://schemas.microsoft.com/office/drawing/2014/main" id="{54E3FDB4-5CDB-3859-1D65-D1240DC482CA}"/>
              </a:ext>
            </a:extLst>
          </p:cNvPr>
          <p:cNvSpPr/>
          <p:nvPr/>
        </p:nvSpPr>
        <p:spPr>
          <a:xfrm>
            <a:off x="740228" y="1815348"/>
            <a:ext cx="6096000" cy="3046988"/>
          </a:xfrm>
          <a:prstGeom prst="rect">
            <a:avLst/>
          </a:prstGeom>
        </p:spPr>
        <p:txBody>
          <a:bodyPr>
            <a:spAutoFit/>
          </a:bodyPr>
          <a:lstStyle/>
          <a:p>
            <a:r>
              <a:rPr lang="en-US" sz="1600" dirty="0" err="1"/>
              <a:t>hpd</a:t>
            </a:r>
            <a:r>
              <a:rPr lang="en-US" sz="1600" dirty="0"/>
              <a:t> </a:t>
            </a:r>
            <a:r>
              <a:rPr lang="en-US" sz="1600" dirty="0" err="1"/>
              <a:t>mevdshzjdo</a:t>
            </a:r>
            <a:r>
              <a:rPr lang="en-US" sz="1600" dirty="0"/>
              <a:t> mt </a:t>
            </a:r>
            <a:r>
              <a:rPr lang="en-US" sz="1600" dirty="0" err="1"/>
              <a:t>hpzo</a:t>
            </a:r>
            <a:r>
              <a:rPr lang="en-US" sz="1600" dirty="0"/>
              <a:t> </a:t>
            </a:r>
            <a:r>
              <a:rPr lang="en-US" sz="1600" dirty="0" err="1"/>
              <a:t>smknod</a:t>
            </a:r>
            <a:r>
              <a:rPr lang="en-US" sz="1600" dirty="0"/>
              <a:t> und hm </a:t>
            </a:r>
            <a:r>
              <a:rPr lang="en-US" sz="1600" dirty="0" err="1"/>
              <a:t>zqtmni</a:t>
            </a:r>
            <a:r>
              <a:rPr lang="en-US" sz="1600" dirty="0"/>
              <a:t> </a:t>
            </a:r>
            <a:r>
              <a:rPr lang="en-US" sz="1600" dirty="0" err="1"/>
              <a:t>ohkfdqho</a:t>
            </a:r>
            <a:r>
              <a:rPr lang="en-US" sz="1600" dirty="0"/>
              <a:t> </a:t>
            </a:r>
            <a:r>
              <a:rPr lang="en-US" sz="1600" dirty="0" err="1"/>
              <a:t>uemkh</a:t>
            </a:r>
            <a:r>
              <a:rPr lang="en-US" sz="1600" dirty="0"/>
              <a:t> </a:t>
            </a:r>
            <a:r>
              <a:rPr lang="en-US" sz="1600" dirty="0" err="1"/>
              <a:t>hpd</a:t>
            </a:r>
            <a:r>
              <a:rPr lang="en-US" sz="1600" dirty="0"/>
              <a:t> </a:t>
            </a:r>
            <a:r>
              <a:rPr lang="en-US" sz="1600" dirty="0" err="1"/>
              <a:t>tzdcf</a:t>
            </a:r>
            <a:r>
              <a:rPr lang="en-US" sz="1600" dirty="0"/>
              <a:t> mt </a:t>
            </a:r>
            <a:r>
              <a:rPr lang="en-US" sz="1600" dirty="0" err="1"/>
              <a:t>smigkhdn</a:t>
            </a:r>
            <a:r>
              <a:rPr lang="en-US" sz="1600" dirty="0"/>
              <a:t> </a:t>
            </a:r>
            <a:r>
              <a:rPr lang="en-US" sz="1600" dirty="0" err="1"/>
              <a:t>oszdqsd</a:t>
            </a:r>
            <a:r>
              <a:rPr lang="en-US" sz="1600" dirty="0"/>
              <a:t> </a:t>
            </a:r>
            <a:r>
              <a:rPr lang="en-US" sz="1600" dirty="0" err="1"/>
              <a:t>uqf</a:t>
            </a:r>
            <a:r>
              <a:rPr lang="en-US" sz="1600" dirty="0"/>
              <a:t> </a:t>
            </a:r>
            <a:r>
              <a:rPr lang="en-US" sz="1600" dirty="0" err="1"/>
              <a:t>dqazqddnzqa</a:t>
            </a:r>
            <a:r>
              <a:rPr lang="en-US" sz="1600" dirty="0"/>
              <a:t>, </a:t>
            </a:r>
            <a:r>
              <a:rPr lang="en-US" sz="1600" dirty="0" err="1"/>
              <a:t>uqf</a:t>
            </a:r>
            <a:r>
              <a:rPr lang="en-US" sz="1600" dirty="0"/>
              <a:t> hm </a:t>
            </a:r>
            <a:r>
              <a:rPr lang="en-US" sz="1600" dirty="0" err="1"/>
              <a:t>zqhnmfksd</a:t>
            </a:r>
            <a:r>
              <a:rPr lang="en-US" sz="1600" dirty="0"/>
              <a:t> </a:t>
            </a:r>
            <a:r>
              <a:rPr lang="en-US" sz="1600" dirty="0" err="1"/>
              <a:t>hpdi</a:t>
            </a:r>
            <a:r>
              <a:rPr lang="en-US" sz="1600" dirty="0"/>
              <a:t> hm </a:t>
            </a:r>
            <a:r>
              <a:rPr lang="en-US" sz="1600" dirty="0" err="1"/>
              <a:t>hpd</a:t>
            </a:r>
            <a:r>
              <a:rPr lang="en-US" sz="1600" dirty="0"/>
              <a:t> </a:t>
            </a:r>
            <a:r>
              <a:rPr lang="en-US" sz="1600" dirty="0" err="1"/>
              <a:t>xzfd</a:t>
            </a:r>
            <a:r>
              <a:rPr lang="en-US" sz="1600" dirty="0"/>
              <a:t> </a:t>
            </a:r>
            <a:r>
              <a:rPr lang="en-US" sz="1600" dirty="0" err="1"/>
              <a:t>nuqad</a:t>
            </a:r>
            <a:r>
              <a:rPr lang="en-US" sz="1600" dirty="0"/>
              <a:t> mt </a:t>
            </a:r>
            <a:r>
              <a:rPr lang="en-US" sz="1600" dirty="0" err="1"/>
              <a:t>dbszhzqa</a:t>
            </a:r>
            <a:r>
              <a:rPr lang="en-US" sz="1600" dirty="0"/>
              <a:t> </a:t>
            </a:r>
            <a:r>
              <a:rPr lang="en-US" sz="1600" dirty="0" err="1"/>
              <a:t>uggczsuhzmqo</a:t>
            </a:r>
            <a:r>
              <a:rPr lang="en-US" sz="1600" dirty="0"/>
              <a:t> mt </a:t>
            </a:r>
            <a:r>
              <a:rPr lang="en-US" sz="1600" dirty="0" err="1"/>
              <a:t>smigkhuhzmq</a:t>
            </a:r>
            <a:r>
              <a:rPr lang="en-US" sz="1600" dirty="0"/>
              <a:t> </a:t>
            </a:r>
            <a:r>
              <a:rPr lang="en-US" sz="1600" dirty="0" err="1"/>
              <a:t>uqf</a:t>
            </a:r>
            <a:r>
              <a:rPr lang="en-US" sz="1600" dirty="0"/>
              <a:t> </a:t>
            </a:r>
            <a:r>
              <a:rPr lang="en-US" sz="1600" dirty="0" err="1"/>
              <a:t>hdspqmcmal</a:t>
            </a:r>
            <a:r>
              <a:rPr lang="en-US" sz="1600" dirty="0"/>
              <a:t> </a:t>
            </a:r>
            <a:r>
              <a:rPr lang="en-US" sz="1600" dirty="0" err="1"/>
              <a:t>zq</a:t>
            </a:r>
            <a:r>
              <a:rPr lang="en-US" sz="1600" dirty="0"/>
              <a:t> </a:t>
            </a:r>
            <a:r>
              <a:rPr lang="en-US" sz="1600" dirty="0" err="1"/>
              <a:t>omszdhl</a:t>
            </a:r>
            <a:r>
              <a:rPr lang="en-US" sz="1600" dirty="0"/>
              <a:t>. </a:t>
            </a:r>
            <a:r>
              <a:rPr lang="en-US" sz="1600" dirty="0" err="1"/>
              <a:t>xd</a:t>
            </a:r>
            <a:r>
              <a:rPr lang="en-US" sz="1600" dirty="0"/>
              <a:t> </a:t>
            </a:r>
            <a:r>
              <a:rPr lang="en-US" sz="1600" dirty="0" err="1"/>
              <a:t>xzcc</a:t>
            </a:r>
            <a:r>
              <a:rPr lang="en-US" sz="1600" dirty="0"/>
              <a:t> </a:t>
            </a:r>
            <a:r>
              <a:rPr lang="en-US" sz="1600" dirty="0" err="1"/>
              <a:t>dbgcuzq</a:t>
            </a:r>
            <a:r>
              <a:rPr lang="en-US" sz="1600" dirty="0"/>
              <a:t> </a:t>
            </a:r>
            <a:r>
              <a:rPr lang="en-US" sz="1600" dirty="0" err="1"/>
              <a:t>hpuh</a:t>
            </a:r>
            <a:r>
              <a:rPr lang="en-US" sz="1600" dirty="0"/>
              <a:t> </a:t>
            </a:r>
            <a:r>
              <a:rPr lang="en-US" sz="1600" dirty="0" err="1"/>
              <a:t>smigkhdn</a:t>
            </a:r>
            <a:r>
              <a:rPr lang="en-US" sz="1600" dirty="0"/>
              <a:t> </a:t>
            </a:r>
            <a:r>
              <a:rPr lang="en-US" sz="1600" dirty="0" err="1"/>
              <a:t>oszdqsd</a:t>
            </a:r>
            <a:r>
              <a:rPr lang="en-US" sz="1600" dirty="0"/>
              <a:t> zo </a:t>
            </a:r>
            <a:r>
              <a:rPr lang="en-US" sz="1600" dirty="0" err="1"/>
              <a:t>qmh</a:t>
            </a:r>
            <a:r>
              <a:rPr lang="en-US" sz="1600" dirty="0"/>
              <a:t> </a:t>
            </a:r>
            <a:r>
              <a:rPr lang="en-US" sz="1600" dirty="0" err="1"/>
              <a:t>vkoh</a:t>
            </a:r>
            <a:r>
              <a:rPr lang="en-US" sz="1600" dirty="0"/>
              <a:t> </a:t>
            </a:r>
            <a:r>
              <a:rPr lang="en-US" sz="1600" dirty="0" err="1"/>
              <a:t>uemkh</a:t>
            </a:r>
            <a:r>
              <a:rPr lang="en-US" sz="1600" dirty="0"/>
              <a:t> </a:t>
            </a:r>
            <a:r>
              <a:rPr lang="en-US" sz="1600" dirty="0" err="1"/>
              <a:t>gnmanuiizqa</a:t>
            </a:r>
            <a:r>
              <a:rPr lang="en-US" sz="1600" dirty="0"/>
              <a:t>, </a:t>
            </a:r>
            <a:r>
              <a:rPr lang="en-US" sz="1600" dirty="0" err="1"/>
              <a:t>ekh</a:t>
            </a:r>
            <a:r>
              <a:rPr lang="en-US" sz="1600" dirty="0"/>
              <a:t> </a:t>
            </a:r>
            <a:r>
              <a:rPr lang="en-US" sz="1600" dirty="0" err="1"/>
              <a:t>uemkh</a:t>
            </a:r>
            <a:r>
              <a:rPr lang="en-US" sz="1600" dirty="0"/>
              <a:t> </a:t>
            </a:r>
            <a:r>
              <a:rPr lang="en-US" sz="1600" dirty="0" err="1"/>
              <a:t>smigkhuhzmquc</a:t>
            </a:r>
            <a:r>
              <a:rPr lang="en-US" sz="1600" dirty="0"/>
              <a:t> </a:t>
            </a:r>
            <a:r>
              <a:rPr lang="en-US" sz="1600" dirty="0" err="1"/>
              <a:t>hpzqrzqa</a:t>
            </a:r>
            <a:r>
              <a:rPr lang="en-US" sz="1600" dirty="0"/>
              <a:t> </a:t>
            </a:r>
            <a:r>
              <a:rPr lang="en-US" sz="1600" dirty="0" err="1"/>
              <a:t>uqf</a:t>
            </a:r>
            <a:r>
              <a:rPr lang="en-US" sz="1600" dirty="0"/>
              <a:t> </a:t>
            </a:r>
            <a:r>
              <a:rPr lang="en-US" sz="1600" dirty="0" err="1"/>
              <a:t>hpd</a:t>
            </a:r>
            <a:r>
              <a:rPr lang="en-US" sz="1600" dirty="0"/>
              <a:t> </a:t>
            </a:r>
            <a:r>
              <a:rPr lang="en-US" sz="1600" dirty="0" err="1"/>
              <a:t>ohkfl</a:t>
            </a:r>
            <a:r>
              <a:rPr lang="en-US" sz="1600" dirty="0"/>
              <a:t> mt </a:t>
            </a:r>
            <a:r>
              <a:rPr lang="en-US" sz="1600" dirty="0" err="1"/>
              <a:t>ucamnzhpio</a:t>
            </a:r>
            <a:r>
              <a:rPr lang="en-US" sz="1600" dirty="0"/>
              <a:t>. </a:t>
            </a:r>
            <a:r>
              <a:rPr lang="en-US" sz="1600" dirty="0" err="1"/>
              <a:t>zigmnhuqh</a:t>
            </a:r>
            <a:r>
              <a:rPr lang="en-US" sz="1600" dirty="0"/>
              <a:t> </a:t>
            </a:r>
            <a:r>
              <a:rPr lang="en-US" sz="1600" dirty="0" err="1"/>
              <a:t>hdnio</a:t>
            </a:r>
            <a:r>
              <a:rPr lang="en-US" sz="1600" dirty="0"/>
              <a:t> </a:t>
            </a:r>
            <a:r>
              <a:rPr lang="en-US" sz="1600" dirty="0" err="1"/>
              <a:t>uqf</a:t>
            </a:r>
            <a:r>
              <a:rPr lang="en-US" sz="1600" dirty="0"/>
              <a:t> </a:t>
            </a:r>
            <a:r>
              <a:rPr lang="en-US" sz="1600" dirty="0" err="1"/>
              <a:t>smqsdgho</a:t>
            </a:r>
            <a:r>
              <a:rPr lang="en-US" sz="1600" dirty="0"/>
              <a:t> </a:t>
            </a:r>
            <a:r>
              <a:rPr lang="en-US" sz="1600" dirty="0" err="1"/>
              <a:t>zq</a:t>
            </a:r>
            <a:r>
              <a:rPr lang="en-US" sz="1600" dirty="0"/>
              <a:t> </a:t>
            </a:r>
            <a:r>
              <a:rPr lang="en-US" sz="1600" dirty="0" err="1"/>
              <a:t>hpd</a:t>
            </a:r>
            <a:r>
              <a:rPr lang="en-US" sz="1600" dirty="0"/>
              <a:t> </a:t>
            </a:r>
            <a:r>
              <a:rPr lang="en-US" sz="1600" dirty="0" err="1"/>
              <a:t>tzdcf</a:t>
            </a:r>
            <a:r>
              <a:rPr lang="en-US" sz="1600" dirty="0"/>
              <a:t> </a:t>
            </a:r>
            <a:r>
              <a:rPr lang="en-US" sz="1600" dirty="0" err="1"/>
              <a:t>xzcc</a:t>
            </a:r>
            <a:r>
              <a:rPr lang="en-US" sz="1600" dirty="0"/>
              <a:t> ed </a:t>
            </a:r>
            <a:r>
              <a:rPr lang="en-US" sz="1600" dirty="0" err="1"/>
              <a:t>zqhnmfksdf</a:t>
            </a:r>
            <a:r>
              <a:rPr lang="en-US" sz="1600" dirty="0"/>
              <a:t>, </a:t>
            </a:r>
            <a:r>
              <a:rPr lang="en-US" sz="1600" dirty="0" err="1"/>
              <a:t>uo</a:t>
            </a:r>
            <a:r>
              <a:rPr lang="en-US" sz="1600" dirty="0"/>
              <a:t> u </a:t>
            </a:r>
            <a:r>
              <a:rPr lang="en-US" sz="1600" dirty="0" err="1"/>
              <a:t>gndjzdx</a:t>
            </a:r>
            <a:r>
              <a:rPr lang="en-US" sz="1600" dirty="0"/>
              <a:t> hm </a:t>
            </a:r>
            <a:r>
              <a:rPr lang="en-US" sz="1600" dirty="0" err="1"/>
              <a:t>xpuh</a:t>
            </a:r>
            <a:r>
              <a:rPr lang="en-US" sz="1600" dirty="0"/>
              <a:t> </a:t>
            </a:r>
            <a:r>
              <a:rPr lang="en-US" sz="1600" dirty="0" err="1"/>
              <a:t>xzcc</a:t>
            </a:r>
            <a:r>
              <a:rPr lang="en-US" sz="1600" dirty="0"/>
              <a:t> ed </a:t>
            </a:r>
            <a:r>
              <a:rPr lang="en-US" sz="1600" dirty="0" err="1"/>
              <a:t>cdunqdf</a:t>
            </a:r>
            <a:r>
              <a:rPr lang="en-US" sz="1600" dirty="0"/>
              <a:t> </a:t>
            </a:r>
            <a:r>
              <a:rPr lang="en-US" sz="1600" dirty="0" err="1"/>
              <a:t>zq</a:t>
            </a:r>
            <a:r>
              <a:rPr lang="en-US" sz="1600" dirty="0"/>
              <a:t> </a:t>
            </a:r>
            <a:r>
              <a:rPr lang="en-US" sz="1600" dirty="0" err="1"/>
              <a:t>mhpdn</a:t>
            </a:r>
            <a:r>
              <a:rPr lang="en-US" sz="1600" dirty="0"/>
              <a:t> </a:t>
            </a:r>
            <a:r>
              <a:rPr lang="en-US" sz="1600" dirty="0" err="1"/>
              <a:t>smknodo</a:t>
            </a:r>
            <a:r>
              <a:rPr lang="en-US" sz="1600" dirty="0"/>
              <a:t>. </a:t>
            </a:r>
            <a:r>
              <a:rPr lang="en-US" sz="1600" dirty="0" err="1"/>
              <a:t>xd</a:t>
            </a:r>
            <a:r>
              <a:rPr lang="en-US" sz="1600" dirty="0"/>
              <a:t> </a:t>
            </a:r>
            <a:r>
              <a:rPr lang="en-US" sz="1600" dirty="0" err="1"/>
              <a:t>xzcc</a:t>
            </a:r>
            <a:r>
              <a:rPr lang="en-US" sz="1600" dirty="0"/>
              <a:t> </a:t>
            </a:r>
            <a:r>
              <a:rPr lang="en-US" sz="1600" dirty="0" err="1"/>
              <a:t>dbgcuzq</a:t>
            </a:r>
            <a:r>
              <a:rPr lang="en-US" sz="1600" dirty="0"/>
              <a:t> </a:t>
            </a:r>
            <a:r>
              <a:rPr lang="en-US" sz="1600" dirty="0" err="1"/>
              <a:t>hpd</a:t>
            </a:r>
            <a:r>
              <a:rPr lang="en-US" sz="1600" dirty="0"/>
              <a:t> </a:t>
            </a:r>
            <a:r>
              <a:rPr lang="en-US" sz="1600" dirty="0" err="1"/>
              <a:t>imhzjuhzmq</a:t>
            </a:r>
            <a:r>
              <a:rPr lang="en-US" sz="1600" dirty="0"/>
              <a:t> </a:t>
            </a:r>
            <a:r>
              <a:rPr lang="en-US" sz="1600" dirty="0" err="1"/>
              <a:t>tmn</a:t>
            </a:r>
            <a:r>
              <a:rPr lang="en-US" sz="1600" dirty="0"/>
              <a:t> </a:t>
            </a:r>
            <a:r>
              <a:rPr lang="en-US" sz="1600" dirty="0" err="1"/>
              <a:t>junzmko</a:t>
            </a:r>
            <a:r>
              <a:rPr lang="en-US" sz="1600" dirty="0"/>
              <a:t> </a:t>
            </a:r>
            <a:r>
              <a:rPr lang="en-US" sz="1600" dirty="0" err="1"/>
              <a:t>uogdsho</a:t>
            </a:r>
            <a:r>
              <a:rPr lang="en-US" sz="1600" dirty="0"/>
              <a:t> mt </a:t>
            </a:r>
            <a:r>
              <a:rPr lang="en-US" sz="1600" dirty="0" err="1"/>
              <a:t>mkn</a:t>
            </a:r>
            <a:r>
              <a:rPr lang="en-US" sz="1600" dirty="0"/>
              <a:t> </a:t>
            </a:r>
            <a:r>
              <a:rPr lang="en-US" sz="1600" dirty="0" err="1"/>
              <a:t>iuvmn</a:t>
            </a:r>
            <a:r>
              <a:rPr lang="en-US" sz="1600" dirty="0"/>
              <a:t>, </a:t>
            </a:r>
            <a:r>
              <a:rPr lang="en-US" sz="1600" dirty="0" err="1"/>
              <a:t>zqsckfzqa</a:t>
            </a:r>
            <a:r>
              <a:rPr lang="en-US" sz="1600" dirty="0"/>
              <a:t> </a:t>
            </a:r>
            <a:r>
              <a:rPr lang="en-US" sz="1600" dirty="0" err="1"/>
              <a:t>hpd</a:t>
            </a:r>
            <a:r>
              <a:rPr lang="en-US" sz="1600" dirty="0"/>
              <a:t> </a:t>
            </a:r>
            <a:r>
              <a:rPr lang="en-US" sz="1600" dirty="0" err="1"/>
              <a:t>smnd</a:t>
            </a:r>
            <a:r>
              <a:rPr lang="en-US" sz="1600" dirty="0"/>
              <a:t> </a:t>
            </a:r>
            <a:r>
              <a:rPr lang="en-US" sz="1600" dirty="0" err="1"/>
              <a:t>smknod</a:t>
            </a:r>
            <a:r>
              <a:rPr lang="en-US" sz="1600" dirty="0"/>
              <a:t> </a:t>
            </a:r>
            <a:r>
              <a:rPr lang="en-US" sz="1600" dirty="0" err="1"/>
              <a:t>odwkdqsd</a:t>
            </a:r>
            <a:r>
              <a:rPr lang="en-US" sz="1600" dirty="0"/>
              <a:t> </a:t>
            </a:r>
            <a:r>
              <a:rPr lang="en-US" sz="1600" dirty="0" err="1"/>
              <a:t>zq</a:t>
            </a:r>
            <a:r>
              <a:rPr lang="en-US" sz="1600" dirty="0"/>
              <a:t> </a:t>
            </a:r>
            <a:r>
              <a:rPr lang="en-US" sz="1600" dirty="0" err="1"/>
              <a:t>mkn</a:t>
            </a:r>
            <a:r>
              <a:rPr lang="en-US" sz="1600" dirty="0"/>
              <a:t> </a:t>
            </a:r>
            <a:r>
              <a:rPr lang="en-US" sz="1600" dirty="0" err="1"/>
              <a:t>sknnzskcki</a:t>
            </a:r>
            <a:r>
              <a:rPr lang="en-US" sz="1600" dirty="0"/>
              <a:t>, </a:t>
            </a:r>
            <a:r>
              <a:rPr lang="en-US" sz="1600" dirty="0" err="1"/>
              <a:t>iuhp</a:t>
            </a:r>
            <a:r>
              <a:rPr lang="en-US" sz="1600" dirty="0"/>
              <a:t> </a:t>
            </a:r>
            <a:r>
              <a:rPr lang="en-US" sz="1600" dirty="0" err="1"/>
              <a:t>ndwkzndidqho</a:t>
            </a:r>
            <a:r>
              <a:rPr lang="en-US" sz="1600" dirty="0"/>
              <a:t>, </a:t>
            </a:r>
            <a:r>
              <a:rPr lang="en-US" sz="1600" dirty="0" err="1"/>
              <a:t>okggmnhzqa</a:t>
            </a:r>
            <a:r>
              <a:rPr lang="en-US" sz="1600" dirty="0"/>
              <a:t> </a:t>
            </a:r>
            <a:r>
              <a:rPr lang="en-US" sz="1600" dirty="0" err="1"/>
              <a:t>undu</a:t>
            </a:r>
            <a:r>
              <a:rPr lang="en-US" sz="1600" dirty="0"/>
              <a:t>, </a:t>
            </a:r>
            <a:r>
              <a:rPr lang="en-US" sz="1600" dirty="0" err="1"/>
              <a:t>sm-mgo</a:t>
            </a:r>
            <a:r>
              <a:rPr lang="en-US" sz="1600" dirty="0"/>
              <a:t>, </a:t>
            </a:r>
            <a:r>
              <a:rPr lang="en-US" sz="1600" dirty="0" err="1"/>
              <a:t>dhs</a:t>
            </a:r>
            <a:r>
              <a:rPr lang="en-US" sz="1600" dirty="0"/>
              <a:t>. </a:t>
            </a:r>
          </a:p>
        </p:txBody>
      </p:sp>
      <p:sp>
        <p:nvSpPr>
          <p:cNvPr id="4" name="Speech Bubble: Rectangle 9">
            <a:extLst>
              <a:ext uri="{FF2B5EF4-FFF2-40B4-BE49-F238E27FC236}">
                <a16:creationId xmlns:a16="http://schemas.microsoft.com/office/drawing/2014/main" id="{EFF68C46-3996-3E5E-2F65-6F53474F1479}"/>
              </a:ext>
            </a:extLst>
          </p:cNvPr>
          <p:cNvSpPr/>
          <p:nvPr/>
        </p:nvSpPr>
        <p:spPr>
          <a:xfrm>
            <a:off x="598714" y="1776549"/>
            <a:ext cx="6279443" cy="3148149"/>
          </a:xfrm>
          <a:prstGeom prst="wedgeRectCallout">
            <a:avLst>
              <a:gd name="adj1" fmla="val -56509"/>
              <a:gd name="adj2" fmla="val 30953"/>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718A0E9-96C3-46FF-C4A2-29B325DD5516}"/>
              </a:ext>
            </a:extLst>
          </p:cNvPr>
          <p:cNvSpPr txBox="1"/>
          <p:nvPr/>
        </p:nvSpPr>
        <p:spPr>
          <a:xfrm>
            <a:off x="505096" y="5199622"/>
            <a:ext cx="6681235" cy="461665"/>
          </a:xfrm>
          <a:prstGeom prst="rect">
            <a:avLst/>
          </a:prstGeom>
          <a:noFill/>
        </p:spPr>
        <p:txBody>
          <a:bodyPr wrap="square" rtlCol="0">
            <a:spAutoFit/>
          </a:bodyPr>
          <a:lstStyle/>
          <a:p>
            <a:r>
              <a:rPr lang="en-US" sz="2400" dirty="0">
                <a:latin typeface="Georgia" panose="02040502050405020303" pitchFamily="18" charset="0"/>
              </a:rPr>
              <a:t>Observation: substitution preserves frequency!!</a:t>
            </a:r>
          </a:p>
        </p:txBody>
      </p:sp>
    </p:spTree>
    <p:extLst>
      <p:ext uri="{BB962C8B-B14F-4D97-AF65-F5344CB8AC3E}">
        <p14:creationId xmlns:p14="http://schemas.microsoft.com/office/powerpoint/2010/main" val="149744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48ECC-7DAA-CB97-62AC-91DD6BDF47E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F9C154F-FC54-4F5E-B83D-EA7F61910A15}"/>
              </a:ext>
            </a:extLst>
          </p:cNvPr>
          <p:cNvPicPr>
            <a:picLocks noChangeAspect="1"/>
          </p:cNvPicPr>
          <p:nvPr/>
        </p:nvPicPr>
        <p:blipFill>
          <a:blip r:embed="rId2"/>
          <a:stretch>
            <a:fillRect/>
          </a:stretch>
        </p:blipFill>
        <p:spPr>
          <a:xfrm>
            <a:off x="2375735" y="225036"/>
            <a:ext cx="2866406" cy="5157937"/>
          </a:xfrm>
          <a:prstGeom prst="rect">
            <a:avLst/>
          </a:prstGeom>
        </p:spPr>
      </p:pic>
      <p:graphicFrame>
        <p:nvGraphicFramePr>
          <p:cNvPr id="11" name="Table 10">
            <a:extLst>
              <a:ext uri="{FF2B5EF4-FFF2-40B4-BE49-F238E27FC236}">
                <a16:creationId xmlns:a16="http://schemas.microsoft.com/office/drawing/2014/main" id="{3C801E05-DE76-4793-E7C4-F665EF5E9D1E}"/>
              </a:ext>
            </a:extLst>
          </p:cNvPr>
          <p:cNvGraphicFramePr>
            <a:graphicFrameLocks noGrp="1"/>
          </p:cNvGraphicFramePr>
          <p:nvPr>
            <p:extLst>
              <p:ext uri="{D42A27DB-BD31-4B8C-83A1-F6EECF244321}">
                <p14:modId xmlns:p14="http://schemas.microsoft.com/office/powerpoint/2010/main" val="242219991"/>
              </p:ext>
            </p:extLst>
          </p:nvPr>
        </p:nvGraphicFramePr>
        <p:xfrm>
          <a:off x="6729417" y="345802"/>
          <a:ext cx="1748300" cy="5037171"/>
        </p:xfrm>
        <a:graphic>
          <a:graphicData uri="http://schemas.openxmlformats.org/drawingml/2006/table">
            <a:tbl>
              <a:tblPr>
                <a:tableStyleId>{5C22544A-7EE6-4342-B048-85BDC9FD1C3A}</a:tableStyleId>
              </a:tblPr>
              <a:tblGrid>
                <a:gridCol w="333469">
                  <a:extLst>
                    <a:ext uri="{9D8B030D-6E8A-4147-A177-3AD203B41FA5}">
                      <a16:colId xmlns:a16="http://schemas.microsoft.com/office/drawing/2014/main" val="2317284861"/>
                    </a:ext>
                  </a:extLst>
                </a:gridCol>
                <a:gridCol w="1414831">
                  <a:extLst>
                    <a:ext uri="{9D8B030D-6E8A-4147-A177-3AD203B41FA5}">
                      <a16:colId xmlns:a16="http://schemas.microsoft.com/office/drawing/2014/main" val="1257552120"/>
                    </a:ext>
                  </a:extLst>
                </a:gridCol>
              </a:tblGrid>
              <a:tr h="181991">
                <a:tc>
                  <a:txBody>
                    <a:bodyPr/>
                    <a:lstStyle/>
                    <a:p>
                      <a:pPr algn="ctr" fontAlgn="ctr"/>
                      <a:r>
                        <a:rPr lang="en-US" sz="1200" u="none" strike="noStrike" dirty="0">
                          <a:effectLst/>
                        </a:rPr>
                        <a:t>d</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10.85%</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252714972"/>
                  </a:ext>
                </a:extLst>
              </a:tr>
              <a:tr h="186365">
                <a:tc>
                  <a:txBody>
                    <a:bodyPr/>
                    <a:lstStyle/>
                    <a:p>
                      <a:pPr algn="ctr" fontAlgn="ctr"/>
                      <a:r>
                        <a:rPr lang="en-US" sz="1200" u="none" strike="noStrike" dirty="0">
                          <a:effectLst/>
                        </a:rPr>
                        <a:t>h</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10.08%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289546094"/>
                  </a:ext>
                </a:extLst>
              </a:tr>
              <a:tr h="0">
                <a:tc>
                  <a:txBody>
                    <a:bodyPr/>
                    <a:lstStyle/>
                    <a:p>
                      <a:pPr algn="ctr" fontAlgn="ctr"/>
                      <a:r>
                        <a:rPr lang="en-US" sz="1200" u="none" strike="noStrike" dirty="0">
                          <a:effectLst/>
                        </a:rPr>
                        <a:t>m</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9.11%</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873433915"/>
                  </a:ext>
                </a:extLst>
              </a:tr>
              <a:tr h="186365">
                <a:tc>
                  <a:txBody>
                    <a:bodyPr/>
                    <a:lstStyle/>
                    <a:p>
                      <a:pPr algn="ctr" fontAlgn="ctr"/>
                      <a:r>
                        <a:rPr lang="en-US" sz="1200" u="none" strike="noStrike" dirty="0">
                          <a:effectLst/>
                        </a:rPr>
                        <a:t>z</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8.53%</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563891695"/>
                  </a:ext>
                </a:extLst>
              </a:tr>
              <a:tr h="186365">
                <a:tc>
                  <a:txBody>
                    <a:bodyPr/>
                    <a:lstStyle/>
                    <a:p>
                      <a:pPr algn="ctr" fontAlgn="ctr"/>
                      <a:r>
                        <a:rPr lang="en-US" sz="1200" u="none" strike="noStrike" dirty="0">
                          <a:effectLst/>
                        </a:rPr>
                        <a:t>q</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7.56%</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217329637"/>
                  </a:ext>
                </a:extLst>
              </a:tr>
              <a:tr h="186365">
                <a:tc>
                  <a:txBody>
                    <a:bodyPr/>
                    <a:lstStyle/>
                    <a:p>
                      <a:pPr algn="ctr" fontAlgn="ctr"/>
                      <a:r>
                        <a:rPr lang="en-US" sz="1200" u="none" strike="noStrike" dirty="0">
                          <a:effectLst/>
                        </a:rPr>
                        <a:t>u</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6.20%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551526655"/>
                  </a:ext>
                </a:extLst>
              </a:tr>
              <a:tr h="186365">
                <a:tc>
                  <a:txBody>
                    <a:bodyPr/>
                    <a:lstStyle/>
                    <a:p>
                      <a:pPr algn="ctr" fontAlgn="ctr"/>
                      <a:r>
                        <a:rPr lang="en-US" sz="1200" u="none" strike="noStrike" dirty="0">
                          <a:effectLst/>
                        </a:rPr>
                        <a:t>n</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6.01%</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4253398515"/>
                  </a:ext>
                </a:extLst>
              </a:tr>
              <a:tr h="290846">
                <a:tc>
                  <a:txBody>
                    <a:bodyPr/>
                    <a:lstStyle/>
                    <a:p>
                      <a:pPr algn="ctr" fontAlgn="ctr"/>
                      <a:r>
                        <a:rPr lang="en-US" sz="1200" u="none" strike="noStrike" dirty="0">
                          <a:effectLst/>
                        </a:rPr>
                        <a:t>s</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5.43%</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497730799"/>
                  </a:ext>
                </a:extLst>
              </a:tr>
              <a:tr h="186365">
                <a:tc>
                  <a:txBody>
                    <a:bodyPr/>
                    <a:lstStyle/>
                    <a:p>
                      <a:pPr algn="ctr" fontAlgn="ctr"/>
                      <a:r>
                        <a:rPr lang="en-US" sz="1200" u="none" strike="noStrike" dirty="0">
                          <a:effectLst/>
                        </a:rPr>
                        <a:t>k</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5.04%</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874203107"/>
                  </a:ext>
                </a:extLst>
              </a:tr>
              <a:tr h="186365">
                <a:tc>
                  <a:txBody>
                    <a:bodyPr/>
                    <a:lstStyle/>
                    <a:p>
                      <a:pPr algn="ctr" fontAlgn="ctr"/>
                      <a:r>
                        <a:rPr lang="en-US" sz="1200" u="none" strike="noStrike" dirty="0">
                          <a:effectLst/>
                        </a:rPr>
                        <a:t>o</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5.04%</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80578067"/>
                  </a:ext>
                </a:extLst>
              </a:tr>
              <a:tr h="186365">
                <a:tc>
                  <a:txBody>
                    <a:bodyPr/>
                    <a:lstStyle/>
                    <a:p>
                      <a:pPr algn="ctr" fontAlgn="ctr"/>
                      <a:r>
                        <a:rPr lang="en-US" sz="1200" u="none" strike="noStrike" dirty="0">
                          <a:effectLst/>
                        </a:rPr>
                        <a:t>c</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3.68%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971334803"/>
                  </a:ext>
                </a:extLst>
              </a:tr>
              <a:tr h="186365">
                <a:tc>
                  <a:txBody>
                    <a:bodyPr/>
                    <a:lstStyle/>
                    <a:p>
                      <a:pPr algn="ctr" fontAlgn="ctr"/>
                      <a:r>
                        <a:rPr lang="en-US" sz="1200" u="none" strike="noStrike" dirty="0">
                          <a:effectLst/>
                        </a:rPr>
                        <a:t>g</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3.10%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525792249"/>
                  </a:ext>
                </a:extLst>
              </a:tr>
              <a:tr h="186365">
                <a:tc>
                  <a:txBody>
                    <a:bodyPr/>
                    <a:lstStyle/>
                    <a:p>
                      <a:pPr algn="ctr" fontAlgn="ctr"/>
                      <a:r>
                        <a:rPr lang="en-US" sz="1200" u="none" strike="noStrike" dirty="0">
                          <a:effectLst/>
                        </a:rPr>
                        <a:t>p</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3.10%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909566066"/>
                  </a:ext>
                </a:extLst>
              </a:tr>
              <a:tr h="186365">
                <a:tc>
                  <a:txBody>
                    <a:bodyPr/>
                    <a:lstStyle/>
                    <a:p>
                      <a:pPr algn="ctr" fontAlgn="ctr"/>
                      <a:r>
                        <a:rPr lang="en-US" sz="1200" u="none" strike="noStrike" dirty="0" err="1">
                          <a:effectLst/>
                        </a:rPr>
                        <a:t>i</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3.10%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995573475"/>
                  </a:ext>
                </a:extLst>
              </a:tr>
              <a:tr h="186365">
                <a:tc>
                  <a:txBody>
                    <a:bodyPr/>
                    <a:lstStyle/>
                    <a:p>
                      <a:pPr algn="ctr" fontAlgn="ctr"/>
                      <a:r>
                        <a:rPr lang="en-US" sz="1200" u="none" strike="noStrike" dirty="0">
                          <a:effectLst/>
                        </a:rPr>
                        <a:t>f</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2.91%</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173602259"/>
                  </a:ext>
                </a:extLst>
              </a:tr>
              <a:tr h="186365">
                <a:tc>
                  <a:txBody>
                    <a:bodyPr/>
                    <a:lstStyle/>
                    <a:p>
                      <a:pPr algn="ctr" fontAlgn="ctr"/>
                      <a:r>
                        <a:rPr lang="en-US" sz="1200" u="none" strike="noStrike" dirty="0">
                          <a:effectLst/>
                        </a:rPr>
                        <a:t>a</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2.13%</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588264636"/>
                  </a:ext>
                </a:extLst>
              </a:tr>
              <a:tr h="186365">
                <a:tc>
                  <a:txBody>
                    <a:bodyPr/>
                    <a:lstStyle/>
                    <a:p>
                      <a:pPr algn="ctr" fontAlgn="ctr"/>
                      <a:r>
                        <a:rPr lang="en-US" sz="1200" u="none" strike="noStrike" dirty="0">
                          <a:effectLst/>
                        </a:rPr>
                        <a:t>t</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1.94%</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650511396"/>
                  </a:ext>
                </a:extLst>
              </a:tr>
              <a:tr h="186365">
                <a:tc>
                  <a:txBody>
                    <a:bodyPr/>
                    <a:lstStyle/>
                    <a:p>
                      <a:pPr algn="ctr" fontAlgn="ctr"/>
                      <a:r>
                        <a:rPr lang="en-US" sz="1200" u="none" strike="noStrike" dirty="0">
                          <a:effectLst/>
                        </a:rPr>
                        <a:t>x</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1.74%</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098654522"/>
                  </a:ext>
                </a:extLst>
              </a:tr>
              <a:tr h="186365">
                <a:tc>
                  <a:txBody>
                    <a:bodyPr/>
                    <a:lstStyle/>
                    <a:p>
                      <a:pPr algn="ctr" fontAlgn="ctr"/>
                      <a:r>
                        <a:rPr lang="en-US" sz="1200" u="none" strike="noStrike" dirty="0">
                          <a:effectLst/>
                        </a:rPr>
                        <a:t>e</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1.36%</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176973181"/>
                  </a:ext>
                </a:extLst>
              </a:tr>
              <a:tr h="186365">
                <a:tc>
                  <a:txBody>
                    <a:bodyPr/>
                    <a:lstStyle/>
                    <a:p>
                      <a:pPr algn="ctr" fontAlgn="ctr"/>
                      <a:r>
                        <a:rPr lang="en-US" sz="1200" u="none" strike="noStrike" dirty="0">
                          <a:effectLst/>
                        </a:rPr>
                        <a:t>j</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0.78%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534211068"/>
                  </a:ext>
                </a:extLst>
              </a:tr>
              <a:tr h="186365">
                <a:tc>
                  <a:txBody>
                    <a:bodyPr/>
                    <a:lstStyle/>
                    <a:p>
                      <a:pPr algn="ctr" fontAlgn="ctr"/>
                      <a:r>
                        <a:rPr lang="en-US" sz="1200" u="none" strike="noStrike" dirty="0">
                          <a:effectLst/>
                        </a:rPr>
                        <a:t>b</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0.58%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764506268"/>
                  </a:ext>
                </a:extLst>
              </a:tr>
              <a:tr h="186365">
                <a:tc>
                  <a:txBody>
                    <a:bodyPr/>
                    <a:lstStyle/>
                    <a:p>
                      <a:pPr algn="ctr" fontAlgn="ctr"/>
                      <a:r>
                        <a:rPr lang="en-US" sz="1200" u="none" strike="noStrike" dirty="0">
                          <a:effectLst/>
                        </a:rPr>
                        <a:t>l</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0.58%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830125278"/>
                  </a:ext>
                </a:extLst>
              </a:tr>
              <a:tr h="186365">
                <a:tc>
                  <a:txBody>
                    <a:bodyPr/>
                    <a:lstStyle/>
                    <a:p>
                      <a:pPr algn="ctr" fontAlgn="ctr"/>
                      <a:r>
                        <a:rPr lang="en-US" sz="1200" u="none" strike="noStrike" dirty="0">
                          <a:effectLst/>
                        </a:rPr>
                        <a:t>v</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0.58%</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727886329"/>
                  </a:ext>
                </a:extLst>
              </a:tr>
              <a:tr h="186365">
                <a:tc>
                  <a:txBody>
                    <a:bodyPr/>
                    <a:lstStyle/>
                    <a:p>
                      <a:pPr algn="ctr" fontAlgn="ctr"/>
                      <a:r>
                        <a:rPr lang="en-US" sz="1200" u="none" strike="noStrike" dirty="0">
                          <a:effectLst/>
                        </a:rPr>
                        <a:t>r</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0.39%</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65550850"/>
                  </a:ext>
                </a:extLst>
              </a:tr>
              <a:tr h="186365">
                <a:tc>
                  <a:txBody>
                    <a:bodyPr/>
                    <a:lstStyle/>
                    <a:p>
                      <a:pPr algn="ctr" fontAlgn="ctr"/>
                      <a:r>
                        <a:rPr lang="en-US" sz="1200" u="none" strike="noStrike" dirty="0">
                          <a:effectLst/>
                        </a:rPr>
                        <a:t>w</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0.19%</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260004786"/>
                  </a:ext>
                </a:extLst>
              </a:tr>
              <a:tr h="186365">
                <a:tc>
                  <a:txBody>
                    <a:bodyPr/>
                    <a:lstStyle/>
                    <a:p>
                      <a:pPr algn="ctr" fontAlgn="ctr"/>
                      <a:r>
                        <a:rPr lang="en-US" sz="1200" u="none" strike="noStrike" dirty="0">
                          <a:effectLst/>
                        </a:rPr>
                        <a:t>y</a:t>
                      </a:r>
                      <a:endParaRPr lang="en-US" sz="12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ctr" fontAlgn="ctr"/>
                      <a:r>
                        <a:rPr lang="en-US" sz="1200" u="none" strike="noStrike" dirty="0">
                          <a:effectLst/>
                        </a:rPr>
                        <a:t>0</a:t>
                      </a:r>
                      <a:endParaRPr lang="en-US" sz="12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592118501"/>
                  </a:ext>
                </a:extLst>
              </a:tr>
            </a:tbl>
          </a:graphicData>
        </a:graphic>
      </p:graphicFrame>
      <p:graphicFrame>
        <p:nvGraphicFramePr>
          <p:cNvPr id="16" name="Content Placeholder 4">
            <a:extLst>
              <a:ext uri="{FF2B5EF4-FFF2-40B4-BE49-F238E27FC236}">
                <a16:creationId xmlns:a16="http://schemas.microsoft.com/office/drawing/2014/main" id="{99E04AD8-6C43-050F-7EAE-C2643FBAD3D7}"/>
              </a:ext>
            </a:extLst>
          </p:cNvPr>
          <p:cNvGraphicFramePr>
            <a:graphicFrameLocks noGrp="1"/>
          </p:cNvGraphicFramePr>
          <p:nvPr>
            <p:ph idx="1"/>
            <p:extLst>
              <p:ext uri="{D42A27DB-BD31-4B8C-83A1-F6EECF244321}">
                <p14:modId xmlns:p14="http://schemas.microsoft.com/office/powerpoint/2010/main" val="2315861794"/>
              </p:ext>
            </p:extLst>
          </p:nvPr>
        </p:nvGraphicFramePr>
        <p:xfrm>
          <a:off x="392849" y="5561187"/>
          <a:ext cx="11406302" cy="736600"/>
        </p:xfrm>
        <a:graphic>
          <a:graphicData uri="http://schemas.openxmlformats.org/drawingml/2006/table">
            <a:tbl>
              <a:tblPr>
                <a:tableStyleId>{073A0DAA-6AF3-43AB-8588-CEC1D06C72B9}</a:tableStyleId>
              </a:tblPr>
              <a:tblGrid>
                <a:gridCol w="1280160">
                  <a:extLst>
                    <a:ext uri="{9D8B030D-6E8A-4147-A177-3AD203B41FA5}">
                      <a16:colId xmlns:a16="http://schemas.microsoft.com/office/drawing/2014/main" val="808542146"/>
                    </a:ext>
                  </a:extLst>
                </a:gridCol>
                <a:gridCol w="389467">
                  <a:extLst>
                    <a:ext uri="{9D8B030D-6E8A-4147-A177-3AD203B41FA5}">
                      <a16:colId xmlns:a16="http://schemas.microsoft.com/office/drawing/2014/main" val="1740949199"/>
                    </a:ext>
                  </a:extLst>
                </a:gridCol>
                <a:gridCol w="389467">
                  <a:extLst>
                    <a:ext uri="{9D8B030D-6E8A-4147-A177-3AD203B41FA5}">
                      <a16:colId xmlns:a16="http://schemas.microsoft.com/office/drawing/2014/main" val="4084889085"/>
                    </a:ext>
                  </a:extLst>
                </a:gridCol>
                <a:gridCol w="389467">
                  <a:extLst>
                    <a:ext uri="{9D8B030D-6E8A-4147-A177-3AD203B41FA5}">
                      <a16:colId xmlns:a16="http://schemas.microsoft.com/office/drawing/2014/main" val="267683738"/>
                    </a:ext>
                  </a:extLst>
                </a:gridCol>
                <a:gridCol w="389467">
                  <a:extLst>
                    <a:ext uri="{9D8B030D-6E8A-4147-A177-3AD203B41FA5}">
                      <a16:colId xmlns:a16="http://schemas.microsoft.com/office/drawing/2014/main" val="127696465"/>
                    </a:ext>
                  </a:extLst>
                </a:gridCol>
                <a:gridCol w="389467">
                  <a:extLst>
                    <a:ext uri="{9D8B030D-6E8A-4147-A177-3AD203B41FA5}">
                      <a16:colId xmlns:a16="http://schemas.microsoft.com/office/drawing/2014/main" val="99498354"/>
                    </a:ext>
                  </a:extLst>
                </a:gridCol>
                <a:gridCol w="389467">
                  <a:extLst>
                    <a:ext uri="{9D8B030D-6E8A-4147-A177-3AD203B41FA5}">
                      <a16:colId xmlns:a16="http://schemas.microsoft.com/office/drawing/2014/main" val="4116058545"/>
                    </a:ext>
                  </a:extLst>
                </a:gridCol>
                <a:gridCol w="389467">
                  <a:extLst>
                    <a:ext uri="{9D8B030D-6E8A-4147-A177-3AD203B41FA5}">
                      <a16:colId xmlns:a16="http://schemas.microsoft.com/office/drawing/2014/main" val="3745464105"/>
                    </a:ext>
                  </a:extLst>
                </a:gridCol>
                <a:gridCol w="389467">
                  <a:extLst>
                    <a:ext uri="{9D8B030D-6E8A-4147-A177-3AD203B41FA5}">
                      <a16:colId xmlns:a16="http://schemas.microsoft.com/office/drawing/2014/main" val="3583360836"/>
                    </a:ext>
                  </a:extLst>
                </a:gridCol>
                <a:gridCol w="389467">
                  <a:extLst>
                    <a:ext uri="{9D8B030D-6E8A-4147-A177-3AD203B41FA5}">
                      <a16:colId xmlns:a16="http://schemas.microsoft.com/office/drawing/2014/main" val="1595051044"/>
                    </a:ext>
                  </a:extLst>
                </a:gridCol>
                <a:gridCol w="389467">
                  <a:extLst>
                    <a:ext uri="{9D8B030D-6E8A-4147-A177-3AD203B41FA5}">
                      <a16:colId xmlns:a16="http://schemas.microsoft.com/office/drawing/2014/main" val="3624252688"/>
                    </a:ext>
                  </a:extLst>
                </a:gridCol>
                <a:gridCol w="389467">
                  <a:extLst>
                    <a:ext uri="{9D8B030D-6E8A-4147-A177-3AD203B41FA5}">
                      <a16:colId xmlns:a16="http://schemas.microsoft.com/office/drawing/2014/main" val="2042598271"/>
                    </a:ext>
                  </a:extLst>
                </a:gridCol>
                <a:gridCol w="389467">
                  <a:extLst>
                    <a:ext uri="{9D8B030D-6E8A-4147-A177-3AD203B41FA5}">
                      <a16:colId xmlns:a16="http://schemas.microsoft.com/office/drawing/2014/main" val="3413079376"/>
                    </a:ext>
                  </a:extLst>
                </a:gridCol>
                <a:gridCol w="389467">
                  <a:extLst>
                    <a:ext uri="{9D8B030D-6E8A-4147-A177-3AD203B41FA5}">
                      <a16:colId xmlns:a16="http://schemas.microsoft.com/office/drawing/2014/main" val="1304008897"/>
                    </a:ext>
                  </a:extLst>
                </a:gridCol>
                <a:gridCol w="389467">
                  <a:extLst>
                    <a:ext uri="{9D8B030D-6E8A-4147-A177-3AD203B41FA5}">
                      <a16:colId xmlns:a16="http://schemas.microsoft.com/office/drawing/2014/main" val="4126626881"/>
                    </a:ext>
                  </a:extLst>
                </a:gridCol>
                <a:gridCol w="389467">
                  <a:extLst>
                    <a:ext uri="{9D8B030D-6E8A-4147-A177-3AD203B41FA5}">
                      <a16:colId xmlns:a16="http://schemas.microsoft.com/office/drawing/2014/main" val="2494054372"/>
                    </a:ext>
                  </a:extLst>
                </a:gridCol>
                <a:gridCol w="389467">
                  <a:extLst>
                    <a:ext uri="{9D8B030D-6E8A-4147-A177-3AD203B41FA5}">
                      <a16:colId xmlns:a16="http://schemas.microsoft.com/office/drawing/2014/main" val="3611166042"/>
                    </a:ext>
                  </a:extLst>
                </a:gridCol>
                <a:gridCol w="389467">
                  <a:extLst>
                    <a:ext uri="{9D8B030D-6E8A-4147-A177-3AD203B41FA5}">
                      <a16:colId xmlns:a16="http://schemas.microsoft.com/office/drawing/2014/main" val="3031964292"/>
                    </a:ext>
                  </a:extLst>
                </a:gridCol>
                <a:gridCol w="389467">
                  <a:extLst>
                    <a:ext uri="{9D8B030D-6E8A-4147-A177-3AD203B41FA5}">
                      <a16:colId xmlns:a16="http://schemas.microsoft.com/office/drawing/2014/main" val="1755830632"/>
                    </a:ext>
                  </a:extLst>
                </a:gridCol>
                <a:gridCol w="389467">
                  <a:extLst>
                    <a:ext uri="{9D8B030D-6E8A-4147-A177-3AD203B41FA5}">
                      <a16:colId xmlns:a16="http://schemas.microsoft.com/office/drawing/2014/main" val="2922063860"/>
                    </a:ext>
                  </a:extLst>
                </a:gridCol>
                <a:gridCol w="389467">
                  <a:extLst>
                    <a:ext uri="{9D8B030D-6E8A-4147-A177-3AD203B41FA5}">
                      <a16:colId xmlns:a16="http://schemas.microsoft.com/office/drawing/2014/main" val="2373471949"/>
                    </a:ext>
                  </a:extLst>
                </a:gridCol>
                <a:gridCol w="389467">
                  <a:extLst>
                    <a:ext uri="{9D8B030D-6E8A-4147-A177-3AD203B41FA5}">
                      <a16:colId xmlns:a16="http://schemas.microsoft.com/office/drawing/2014/main" val="2285319349"/>
                    </a:ext>
                  </a:extLst>
                </a:gridCol>
                <a:gridCol w="389467">
                  <a:extLst>
                    <a:ext uri="{9D8B030D-6E8A-4147-A177-3AD203B41FA5}">
                      <a16:colId xmlns:a16="http://schemas.microsoft.com/office/drawing/2014/main" val="2210955963"/>
                    </a:ext>
                  </a:extLst>
                </a:gridCol>
                <a:gridCol w="389467">
                  <a:extLst>
                    <a:ext uri="{9D8B030D-6E8A-4147-A177-3AD203B41FA5}">
                      <a16:colId xmlns:a16="http://schemas.microsoft.com/office/drawing/2014/main" val="1639329555"/>
                    </a:ext>
                  </a:extLst>
                </a:gridCol>
                <a:gridCol w="389467">
                  <a:extLst>
                    <a:ext uri="{9D8B030D-6E8A-4147-A177-3AD203B41FA5}">
                      <a16:colId xmlns:a16="http://schemas.microsoft.com/office/drawing/2014/main" val="2002622303"/>
                    </a:ext>
                  </a:extLst>
                </a:gridCol>
                <a:gridCol w="389467">
                  <a:extLst>
                    <a:ext uri="{9D8B030D-6E8A-4147-A177-3AD203B41FA5}">
                      <a16:colId xmlns:a16="http://schemas.microsoft.com/office/drawing/2014/main" val="2670939652"/>
                    </a:ext>
                  </a:extLst>
                </a:gridCol>
                <a:gridCol w="389467">
                  <a:extLst>
                    <a:ext uri="{9D8B030D-6E8A-4147-A177-3AD203B41FA5}">
                      <a16:colId xmlns:a16="http://schemas.microsoft.com/office/drawing/2014/main" val="2388437450"/>
                    </a:ext>
                  </a:extLst>
                </a:gridCol>
              </a:tblGrid>
              <a:tr h="0">
                <a:tc>
                  <a:txBody>
                    <a:bodyPr/>
                    <a:lstStyle/>
                    <a:p>
                      <a:pPr algn="ctr"/>
                      <a:r>
                        <a:rPr lang="en-US" b="1" dirty="0">
                          <a:solidFill>
                            <a:srgbClr val="0070C0"/>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err="1"/>
                        <a:t>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7154432"/>
                  </a:ext>
                </a:extLst>
              </a:tr>
              <a:tr h="370840">
                <a:tc>
                  <a:txBody>
                    <a:bodyPr/>
                    <a:lstStyle/>
                    <a:p>
                      <a:pPr algn="ctr"/>
                      <a:r>
                        <a:rPr lang="en-US" b="1" dirty="0">
                          <a:solidFill>
                            <a:srgbClr val="0070C0"/>
                          </a:solidFill>
                        </a:rPr>
                        <a:t>replace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err="1">
                          <a:solidFill>
                            <a:srgbClr val="FF0000"/>
                          </a:solidFill>
                        </a:rPr>
                        <a:t>i</a:t>
                      </a:r>
                      <a:endParaRPr lang="en-US"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FF0000"/>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7964112"/>
                  </a:ext>
                </a:extLst>
              </a:tr>
            </a:tbl>
          </a:graphicData>
        </a:graphic>
      </p:graphicFrame>
      <p:sp>
        <p:nvSpPr>
          <p:cNvPr id="19" name="Striped Right Arrow 18">
            <a:extLst>
              <a:ext uri="{FF2B5EF4-FFF2-40B4-BE49-F238E27FC236}">
                <a16:creationId xmlns:a16="http://schemas.microsoft.com/office/drawing/2014/main" id="{4FB51610-3D9E-6F5A-C4F4-120649819BB1}"/>
              </a:ext>
            </a:extLst>
          </p:cNvPr>
          <p:cNvSpPr/>
          <p:nvPr/>
        </p:nvSpPr>
        <p:spPr>
          <a:xfrm>
            <a:off x="5467986" y="2184458"/>
            <a:ext cx="1035586" cy="451692"/>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787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168F7-2607-4F3E-8CE9-32C8243AEEC0}"/>
              </a:ext>
            </a:extLst>
          </p:cNvPr>
          <p:cNvSpPr>
            <a:spLocks noGrp="1"/>
          </p:cNvSpPr>
          <p:nvPr>
            <p:ph type="title"/>
          </p:nvPr>
        </p:nvSpPr>
        <p:spPr/>
        <p:txBody>
          <a:bodyPr/>
          <a:lstStyle/>
          <a:p>
            <a:r>
              <a:rPr lang="en-US" dirty="0"/>
              <a:t>Attacking substitution cipher</a:t>
            </a:r>
          </a:p>
        </p:txBody>
      </p:sp>
      <p:sp>
        <p:nvSpPr>
          <p:cNvPr id="4" name="Rectangle 3">
            <a:extLst>
              <a:ext uri="{FF2B5EF4-FFF2-40B4-BE49-F238E27FC236}">
                <a16:creationId xmlns:a16="http://schemas.microsoft.com/office/drawing/2014/main" id="{0B6FA2D8-F172-49AF-9F75-81D10F3F4EF1}"/>
              </a:ext>
            </a:extLst>
          </p:cNvPr>
          <p:cNvSpPr/>
          <p:nvPr/>
        </p:nvSpPr>
        <p:spPr>
          <a:xfrm>
            <a:off x="1702526" y="1377742"/>
            <a:ext cx="6096000" cy="3046988"/>
          </a:xfrm>
          <a:prstGeom prst="rect">
            <a:avLst/>
          </a:prstGeom>
        </p:spPr>
        <p:txBody>
          <a:bodyPr>
            <a:spAutoFit/>
          </a:bodyPr>
          <a:lstStyle/>
          <a:p>
            <a:r>
              <a:rPr lang="en-US" sz="1600" dirty="0" err="1"/>
              <a:t>hpd</a:t>
            </a:r>
            <a:r>
              <a:rPr lang="en-US" sz="1600" dirty="0"/>
              <a:t> </a:t>
            </a:r>
            <a:r>
              <a:rPr lang="en-US" sz="1600" dirty="0" err="1"/>
              <a:t>mevdshzjdo</a:t>
            </a:r>
            <a:r>
              <a:rPr lang="en-US" sz="1600" dirty="0"/>
              <a:t> mt </a:t>
            </a:r>
            <a:r>
              <a:rPr lang="en-US" sz="1600" dirty="0" err="1"/>
              <a:t>hpzo</a:t>
            </a:r>
            <a:r>
              <a:rPr lang="en-US" sz="1600" dirty="0"/>
              <a:t> </a:t>
            </a:r>
            <a:r>
              <a:rPr lang="en-US" sz="1600" dirty="0" err="1"/>
              <a:t>smknod</a:t>
            </a:r>
            <a:r>
              <a:rPr lang="en-US" sz="1600" dirty="0"/>
              <a:t> und hm </a:t>
            </a:r>
            <a:r>
              <a:rPr lang="en-US" sz="1600" dirty="0" err="1"/>
              <a:t>zqtmni</a:t>
            </a:r>
            <a:r>
              <a:rPr lang="en-US" sz="1600" dirty="0"/>
              <a:t> </a:t>
            </a:r>
            <a:r>
              <a:rPr lang="en-US" sz="1600" dirty="0" err="1"/>
              <a:t>ohkfdqho</a:t>
            </a:r>
            <a:r>
              <a:rPr lang="en-US" sz="1600" dirty="0"/>
              <a:t> </a:t>
            </a:r>
            <a:r>
              <a:rPr lang="en-US" sz="1600" dirty="0" err="1"/>
              <a:t>uemkh</a:t>
            </a:r>
            <a:r>
              <a:rPr lang="en-US" sz="1600" dirty="0"/>
              <a:t> </a:t>
            </a:r>
            <a:r>
              <a:rPr lang="en-US" sz="1600" dirty="0" err="1"/>
              <a:t>hpd</a:t>
            </a:r>
            <a:r>
              <a:rPr lang="en-US" sz="1600" dirty="0"/>
              <a:t> </a:t>
            </a:r>
            <a:r>
              <a:rPr lang="en-US" sz="1600" dirty="0" err="1"/>
              <a:t>tzdcf</a:t>
            </a:r>
            <a:r>
              <a:rPr lang="en-US" sz="1600" dirty="0"/>
              <a:t> mt </a:t>
            </a:r>
            <a:r>
              <a:rPr lang="en-US" sz="1600" dirty="0" err="1"/>
              <a:t>smigkhdn</a:t>
            </a:r>
            <a:r>
              <a:rPr lang="en-US" sz="1600" dirty="0"/>
              <a:t> </a:t>
            </a:r>
            <a:r>
              <a:rPr lang="en-US" sz="1600" dirty="0" err="1"/>
              <a:t>oszdqsd</a:t>
            </a:r>
            <a:r>
              <a:rPr lang="en-US" sz="1600" dirty="0"/>
              <a:t> </a:t>
            </a:r>
            <a:r>
              <a:rPr lang="en-US" sz="1600" dirty="0" err="1"/>
              <a:t>uqf</a:t>
            </a:r>
            <a:r>
              <a:rPr lang="en-US" sz="1600" dirty="0"/>
              <a:t> </a:t>
            </a:r>
            <a:r>
              <a:rPr lang="en-US" sz="1600" dirty="0" err="1"/>
              <a:t>dqazqddnzqa</a:t>
            </a:r>
            <a:r>
              <a:rPr lang="en-US" sz="1600" dirty="0"/>
              <a:t>, </a:t>
            </a:r>
            <a:r>
              <a:rPr lang="en-US" sz="1600" dirty="0" err="1"/>
              <a:t>uqf</a:t>
            </a:r>
            <a:r>
              <a:rPr lang="en-US" sz="1600" dirty="0"/>
              <a:t> hm </a:t>
            </a:r>
            <a:r>
              <a:rPr lang="en-US" sz="1600" dirty="0" err="1"/>
              <a:t>zqhnmfksd</a:t>
            </a:r>
            <a:r>
              <a:rPr lang="en-US" sz="1600" dirty="0"/>
              <a:t> </a:t>
            </a:r>
            <a:r>
              <a:rPr lang="en-US" sz="1600" dirty="0" err="1"/>
              <a:t>hpdi</a:t>
            </a:r>
            <a:r>
              <a:rPr lang="en-US" sz="1600" dirty="0"/>
              <a:t> hm </a:t>
            </a:r>
            <a:r>
              <a:rPr lang="en-US" sz="1600" dirty="0" err="1"/>
              <a:t>hpd</a:t>
            </a:r>
            <a:r>
              <a:rPr lang="en-US" sz="1600" dirty="0"/>
              <a:t> </a:t>
            </a:r>
            <a:r>
              <a:rPr lang="en-US" sz="1600" dirty="0" err="1"/>
              <a:t>xzfd</a:t>
            </a:r>
            <a:r>
              <a:rPr lang="en-US" sz="1600" dirty="0"/>
              <a:t> </a:t>
            </a:r>
            <a:r>
              <a:rPr lang="en-US" sz="1600" dirty="0" err="1"/>
              <a:t>nuqad</a:t>
            </a:r>
            <a:r>
              <a:rPr lang="en-US" sz="1600" dirty="0"/>
              <a:t> mt </a:t>
            </a:r>
            <a:r>
              <a:rPr lang="en-US" sz="1600" dirty="0" err="1"/>
              <a:t>dbszhzqa</a:t>
            </a:r>
            <a:r>
              <a:rPr lang="en-US" sz="1600" dirty="0"/>
              <a:t> </a:t>
            </a:r>
            <a:r>
              <a:rPr lang="en-US" sz="1600" dirty="0" err="1"/>
              <a:t>uggczsuhzmqo</a:t>
            </a:r>
            <a:r>
              <a:rPr lang="en-US" sz="1600" dirty="0"/>
              <a:t> mt </a:t>
            </a:r>
            <a:r>
              <a:rPr lang="en-US" sz="1600" dirty="0" err="1"/>
              <a:t>smigkhuhzmq</a:t>
            </a:r>
            <a:r>
              <a:rPr lang="en-US" sz="1600" dirty="0"/>
              <a:t> </a:t>
            </a:r>
            <a:r>
              <a:rPr lang="en-US" sz="1600" dirty="0" err="1"/>
              <a:t>uqf</a:t>
            </a:r>
            <a:r>
              <a:rPr lang="en-US" sz="1600" dirty="0"/>
              <a:t> </a:t>
            </a:r>
            <a:r>
              <a:rPr lang="en-US" sz="1600" dirty="0" err="1"/>
              <a:t>hdspqmcmal</a:t>
            </a:r>
            <a:r>
              <a:rPr lang="en-US" sz="1600" dirty="0"/>
              <a:t> </a:t>
            </a:r>
            <a:r>
              <a:rPr lang="en-US" sz="1600" dirty="0" err="1"/>
              <a:t>zq</a:t>
            </a:r>
            <a:r>
              <a:rPr lang="en-US" sz="1600" dirty="0"/>
              <a:t> </a:t>
            </a:r>
            <a:r>
              <a:rPr lang="en-US" sz="1600" dirty="0" err="1"/>
              <a:t>omszdhl</a:t>
            </a:r>
            <a:r>
              <a:rPr lang="en-US" sz="1600" dirty="0"/>
              <a:t>. </a:t>
            </a:r>
            <a:r>
              <a:rPr lang="en-US" sz="1600" dirty="0" err="1"/>
              <a:t>xd</a:t>
            </a:r>
            <a:r>
              <a:rPr lang="en-US" sz="1600" dirty="0"/>
              <a:t> </a:t>
            </a:r>
            <a:r>
              <a:rPr lang="en-US" sz="1600" dirty="0" err="1"/>
              <a:t>xzcc</a:t>
            </a:r>
            <a:r>
              <a:rPr lang="en-US" sz="1600" dirty="0"/>
              <a:t> </a:t>
            </a:r>
            <a:r>
              <a:rPr lang="en-US" sz="1600" dirty="0" err="1"/>
              <a:t>dbgcuzq</a:t>
            </a:r>
            <a:r>
              <a:rPr lang="en-US" sz="1600" dirty="0"/>
              <a:t> </a:t>
            </a:r>
            <a:r>
              <a:rPr lang="en-US" sz="1600" dirty="0" err="1"/>
              <a:t>hpuh</a:t>
            </a:r>
            <a:r>
              <a:rPr lang="en-US" sz="1600" dirty="0"/>
              <a:t> </a:t>
            </a:r>
            <a:r>
              <a:rPr lang="en-US" sz="1600" dirty="0" err="1"/>
              <a:t>smigkhdn</a:t>
            </a:r>
            <a:r>
              <a:rPr lang="en-US" sz="1600" dirty="0"/>
              <a:t> </a:t>
            </a:r>
            <a:r>
              <a:rPr lang="en-US" sz="1600" dirty="0" err="1"/>
              <a:t>oszdqsd</a:t>
            </a:r>
            <a:r>
              <a:rPr lang="en-US" sz="1600" dirty="0"/>
              <a:t> zo </a:t>
            </a:r>
            <a:r>
              <a:rPr lang="en-US" sz="1600" dirty="0" err="1"/>
              <a:t>qmh</a:t>
            </a:r>
            <a:r>
              <a:rPr lang="en-US" sz="1600" dirty="0"/>
              <a:t> </a:t>
            </a:r>
            <a:r>
              <a:rPr lang="en-US" sz="1600" dirty="0" err="1"/>
              <a:t>vkoh</a:t>
            </a:r>
            <a:r>
              <a:rPr lang="en-US" sz="1600" dirty="0"/>
              <a:t> </a:t>
            </a:r>
            <a:r>
              <a:rPr lang="en-US" sz="1600" dirty="0" err="1"/>
              <a:t>uemkh</a:t>
            </a:r>
            <a:r>
              <a:rPr lang="en-US" sz="1600" dirty="0"/>
              <a:t> </a:t>
            </a:r>
            <a:r>
              <a:rPr lang="en-US" sz="1600" dirty="0" err="1"/>
              <a:t>gnmanuiizqa</a:t>
            </a:r>
            <a:r>
              <a:rPr lang="en-US" sz="1600" dirty="0"/>
              <a:t>, </a:t>
            </a:r>
            <a:r>
              <a:rPr lang="en-US" sz="1600" dirty="0" err="1"/>
              <a:t>ekh</a:t>
            </a:r>
            <a:r>
              <a:rPr lang="en-US" sz="1600" dirty="0"/>
              <a:t> </a:t>
            </a:r>
            <a:r>
              <a:rPr lang="en-US" sz="1600" dirty="0" err="1"/>
              <a:t>uemkh</a:t>
            </a:r>
            <a:r>
              <a:rPr lang="en-US" sz="1600" dirty="0"/>
              <a:t> </a:t>
            </a:r>
            <a:r>
              <a:rPr lang="en-US" sz="1600" dirty="0" err="1"/>
              <a:t>smigkhuhzmquc</a:t>
            </a:r>
            <a:r>
              <a:rPr lang="en-US" sz="1600" dirty="0"/>
              <a:t> </a:t>
            </a:r>
            <a:r>
              <a:rPr lang="en-US" sz="1600" dirty="0" err="1"/>
              <a:t>hpzqrzqa</a:t>
            </a:r>
            <a:r>
              <a:rPr lang="en-US" sz="1600" dirty="0"/>
              <a:t> </a:t>
            </a:r>
            <a:r>
              <a:rPr lang="en-US" sz="1600" dirty="0" err="1"/>
              <a:t>uqf</a:t>
            </a:r>
            <a:r>
              <a:rPr lang="en-US" sz="1600" dirty="0"/>
              <a:t> </a:t>
            </a:r>
            <a:r>
              <a:rPr lang="en-US" sz="1600" dirty="0" err="1"/>
              <a:t>hpd</a:t>
            </a:r>
            <a:r>
              <a:rPr lang="en-US" sz="1600" dirty="0"/>
              <a:t> </a:t>
            </a:r>
            <a:r>
              <a:rPr lang="en-US" sz="1600" dirty="0" err="1"/>
              <a:t>ohkfl</a:t>
            </a:r>
            <a:r>
              <a:rPr lang="en-US" sz="1600" dirty="0"/>
              <a:t> mt </a:t>
            </a:r>
            <a:r>
              <a:rPr lang="en-US" sz="1600" dirty="0" err="1"/>
              <a:t>ucamnzhpio</a:t>
            </a:r>
            <a:r>
              <a:rPr lang="en-US" sz="1600" dirty="0"/>
              <a:t>. </a:t>
            </a:r>
            <a:r>
              <a:rPr lang="en-US" sz="1600" dirty="0" err="1"/>
              <a:t>zigmnhuqh</a:t>
            </a:r>
            <a:r>
              <a:rPr lang="en-US" sz="1600" dirty="0"/>
              <a:t> </a:t>
            </a:r>
            <a:r>
              <a:rPr lang="en-US" sz="1600" dirty="0" err="1"/>
              <a:t>hdnio</a:t>
            </a:r>
            <a:r>
              <a:rPr lang="en-US" sz="1600" dirty="0"/>
              <a:t> </a:t>
            </a:r>
            <a:r>
              <a:rPr lang="en-US" sz="1600" dirty="0" err="1"/>
              <a:t>uqf</a:t>
            </a:r>
            <a:r>
              <a:rPr lang="en-US" sz="1600" dirty="0"/>
              <a:t> </a:t>
            </a:r>
            <a:r>
              <a:rPr lang="en-US" sz="1600" dirty="0" err="1"/>
              <a:t>smqsdgho</a:t>
            </a:r>
            <a:r>
              <a:rPr lang="en-US" sz="1600" dirty="0"/>
              <a:t> </a:t>
            </a:r>
            <a:r>
              <a:rPr lang="en-US" sz="1600" dirty="0" err="1"/>
              <a:t>zq</a:t>
            </a:r>
            <a:r>
              <a:rPr lang="en-US" sz="1600" dirty="0"/>
              <a:t> </a:t>
            </a:r>
            <a:r>
              <a:rPr lang="en-US" sz="1600" dirty="0" err="1"/>
              <a:t>hpd</a:t>
            </a:r>
            <a:r>
              <a:rPr lang="en-US" sz="1600" dirty="0"/>
              <a:t> </a:t>
            </a:r>
            <a:r>
              <a:rPr lang="en-US" sz="1600" dirty="0" err="1"/>
              <a:t>tzdcf</a:t>
            </a:r>
            <a:r>
              <a:rPr lang="en-US" sz="1600" dirty="0"/>
              <a:t> </a:t>
            </a:r>
            <a:r>
              <a:rPr lang="en-US" sz="1600" dirty="0" err="1"/>
              <a:t>xzcc</a:t>
            </a:r>
            <a:r>
              <a:rPr lang="en-US" sz="1600" dirty="0"/>
              <a:t> ed </a:t>
            </a:r>
            <a:r>
              <a:rPr lang="en-US" sz="1600" dirty="0" err="1"/>
              <a:t>zqhnmfksdf</a:t>
            </a:r>
            <a:r>
              <a:rPr lang="en-US" sz="1600" dirty="0"/>
              <a:t>, </a:t>
            </a:r>
            <a:r>
              <a:rPr lang="en-US" sz="1600" dirty="0" err="1"/>
              <a:t>uo</a:t>
            </a:r>
            <a:r>
              <a:rPr lang="en-US" sz="1600" dirty="0"/>
              <a:t> u </a:t>
            </a:r>
            <a:r>
              <a:rPr lang="en-US" sz="1600" dirty="0" err="1"/>
              <a:t>gndjzdx</a:t>
            </a:r>
            <a:r>
              <a:rPr lang="en-US" sz="1600" dirty="0"/>
              <a:t> hm </a:t>
            </a:r>
            <a:r>
              <a:rPr lang="en-US" sz="1600" dirty="0" err="1"/>
              <a:t>xpuh</a:t>
            </a:r>
            <a:r>
              <a:rPr lang="en-US" sz="1600" dirty="0"/>
              <a:t> </a:t>
            </a:r>
            <a:r>
              <a:rPr lang="en-US" sz="1600" dirty="0" err="1"/>
              <a:t>xzcc</a:t>
            </a:r>
            <a:r>
              <a:rPr lang="en-US" sz="1600" dirty="0"/>
              <a:t> ed </a:t>
            </a:r>
            <a:r>
              <a:rPr lang="en-US" sz="1600" dirty="0" err="1"/>
              <a:t>cdunqdf</a:t>
            </a:r>
            <a:r>
              <a:rPr lang="en-US" sz="1600" dirty="0"/>
              <a:t> </a:t>
            </a:r>
            <a:r>
              <a:rPr lang="en-US" sz="1600" dirty="0" err="1"/>
              <a:t>zq</a:t>
            </a:r>
            <a:r>
              <a:rPr lang="en-US" sz="1600" dirty="0"/>
              <a:t> </a:t>
            </a:r>
            <a:r>
              <a:rPr lang="en-US" sz="1600" dirty="0" err="1"/>
              <a:t>mhpdn</a:t>
            </a:r>
            <a:r>
              <a:rPr lang="en-US" sz="1600" dirty="0"/>
              <a:t> </a:t>
            </a:r>
            <a:r>
              <a:rPr lang="en-US" sz="1600" dirty="0" err="1"/>
              <a:t>smknodo</a:t>
            </a:r>
            <a:r>
              <a:rPr lang="en-US" sz="1600" dirty="0"/>
              <a:t>. </a:t>
            </a:r>
            <a:r>
              <a:rPr lang="en-US" sz="1600" dirty="0" err="1"/>
              <a:t>xd</a:t>
            </a:r>
            <a:r>
              <a:rPr lang="en-US" sz="1600" dirty="0"/>
              <a:t> </a:t>
            </a:r>
            <a:r>
              <a:rPr lang="en-US" sz="1600" dirty="0" err="1"/>
              <a:t>xzcc</a:t>
            </a:r>
            <a:r>
              <a:rPr lang="en-US" sz="1600" dirty="0"/>
              <a:t> </a:t>
            </a:r>
            <a:r>
              <a:rPr lang="en-US" sz="1600" dirty="0" err="1"/>
              <a:t>dbgcuzq</a:t>
            </a:r>
            <a:r>
              <a:rPr lang="en-US" sz="1600" dirty="0"/>
              <a:t> </a:t>
            </a:r>
            <a:r>
              <a:rPr lang="en-US" sz="1600" dirty="0" err="1"/>
              <a:t>hpd</a:t>
            </a:r>
            <a:r>
              <a:rPr lang="en-US" sz="1600" dirty="0"/>
              <a:t> </a:t>
            </a:r>
            <a:r>
              <a:rPr lang="en-US" sz="1600" dirty="0" err="1"/>
              <a:t>imhzjuhzmq</a:t>
            </a:r>
            <a:r>
              <a:rPr lang="en-US" sz="1600" dirty="0"/>
              <a:t> </a:t>
            </a:r>
            <a:r>
              <a:rPr lang="en-US" sz="1600" dirty="0" err="1"/>
              <a:t>tmn</a:t>
            </a:r>
            <a:r>
              <a:rPr lang="en-US" sz="1600" dirty="0"/>
              <a:t> </a:t>
            </a:r>
            <a:r>
              <a:rPr lang="en-US" sz="1600" dirty="0" err="1"/>
              <a:t>junzmko</a:t>
            </a:r>
            <a:r>
              <a:rPr lang="en-US" sz="1600" dirty="0"/>
              <a:t> </a:t>
            </a:r>
            <a:r>
              <a:rPr lang="en-US" sz="1600" dirty="0" err="1"/>
              <a:t>uogdsho</a:t>
            </a:r>
            <a:r>
              <a:rPr lang="en-US" sz="1600" dirty="0"/>
              <a:t> mt </a:t>
            </a:r>
            <a:r>
              <a:rPr lang="en-US" sz="1600" dirty="0" err="1"/>
              <a:t>mkn</a:t>
            </a:r>
            <a:r>
              <a:rPr lang="en-US" sz="1600" dirty="0"/>
              <a:t> </a:t>
            </a:r>
            <a:r>
              <a:rPr lang="en-US" sz="1600" dirty="0" err="1"/>
              <a:t>iuvmn</a:t>
            </a:r>
            <a:r>
              <a:rPr lang="en-US" sz="1600" dirty="0"/>
              <a:t>, </a:t>
            </a:r>
            <a:r>
              <a:rPr lang="en-US" sz="1600" dirty="0" err="1"/>
              <a:t>zqsckfzqa</a:t>
            </a:r>
            <a:r>
              <a:rPr lang="en-US" sz="1600" dirty="0"/>
              <a:t> </a:t>
            </a:r>
            <a:r>
              <a:rPr lang="en-US" sz="1600" dirty="0" err="1"/>
              <a:t>hpd</a:t>
            </a:r>
            <a:r>
              <a:rPr lang="en-US" sz="1600" dirty="0"/>
              <a:t> </a:t>
            </a:r>
            <a:r>
              <a:rPr lang="en-US" sz="1600" dirty="0" err="1"/>
              <a:t>smnd</a:t>
            </a:r>
            <a:r>
              <a:rPr lang="en-US" sz="1600" dirty="0"/>
              <a:t> </a:t>
            </a:r>
            <a:r>
              <a:rPr lang="en-US" sz="1600" dirty="0" err="1"/>
              <a:t>smknod</a:t>
            </a:r>
            <a:r>
              <a:rPr lang="en-US" sz="1600" dirty="0"/>
              <a:t> </a:t>
            </a:r>
            <a:r>
              <a:rPr lang="en-US" sz="1600" dirty="0" err="1"/>
              <a:t>odwkdqsd</a:t>
            </a:r>
            <a:r>
              <a:rPr lang="en-US" sz="1600" dirty="0"/>
              <a:t> </a:t>
            </a:r>
            <a:r>
              <a:rPr lang="en-US" sz="1600" dirty="0" err="1"/>
              <a:t>zq</a:t>
            </a:r>
            <a:r>
              <a:rPr lang="en-US" sz="1600" dirty="0"/>
              <a:t> </a:t>
            </a:r>
            <a:r>
              <a:rPr lang="en-US" sz="1600" dirty="0" err="1"/>
              <a:t>mkn</a:t>
            </a:r>
            <a:r>
              <a:rPr lang="en-US" sz="1600" dirty="0"/>
              <a:t> </a:t>
            </a:r>
            <a:r>
              <a:rPr lang="en-US" sz="1600" dirty="0" err="1"/>
              <a:t>sknnzskcki</a:t>
            </a:r>
            <a:r>
              <a:rPr lang="en-US" sz="1600" dirty="0"/>
              <a:t>, </a:t>
            </a:r>
            <a:r>
              <a:rPr lang="en-US" sz="1600" dirty="0" err="1"/>
              <a:t>iuhp</a:t>
            </a:r>
            <a:r>
              <a:rPr lang="en-US" sz="1600" dirty="0"/>
              <a:t> </a:t>
            </a:r>
            <a:r>
              <a:rPr lang="en-US" sz="1600" dirty="0" err="1"/>
              <a:t>ndwkzndidqho</a:t>
            </a:r>
            <a:r>
              <a:rPr lang="en-US" sz="1600" dirty="0"/>
              <a:t>, </a:t>
            </a:r>
            <a:r>
              <a:rPr lang="en-US" sz="1600" dirty="0" err="1"/>
              <a:t>okggmnhzqa</a:t>
            </a:r>
            <a:r>
              <a:rPr lang="en-US" sz="1600" dirty="0"/>
              <a:t> </a:t>
            </a:r>
            <a:r>
              <a:rPr lang="en-US" sz="1600" dirty="0" err="1"/>
              <a:t>undu</a:t>
            </a:r>
            <a:r>
              <a:rPr lang="en-US" sz="1600" dirty="0"/>
              <a:t>, </a:t>
            </a:r>
            <a:r>
              <a:rPr lang="en-US" sz="1600" dirty="0" err="1"/>
              <a:t>sm-mgo</a:t>
            </a:r>
            <a:r>
              <a:rPr lang="en-US" sz="1600" dirty="0"/>
              <a:t>, </a:t>
            </a:r>
            <a:r>
              <a:rPr lang="en-US" sz="1600" dirty="0" err="1"/>
              <a:t>dhs</a:t>
            </a:r>
            <a:r>
              <a:rPr lang="en-US" sz="1600" dirty="0"/>
              <a:t>. </a:t>
            </a:r>
          </a:p>
        </p:txBody>
      </p:sp>
      <p:sp>
        <p:nvSpPr>
          <p:cNvPr id="7" name="Speech Bubble: Rectangle 6">
            <a:extLst>
              <a:ext uri="{FF2B5EF4-FFF2-40B4-BE49-F238E27FC236}">
                <a16:creationId xmlns:a16="http://schemas.microsoft.com/office/drawing/2014/main" id="{F4FAEC7E-776B-496B-810A-6186FE1AF714}"/>
              </a:ext>
            </a:extLst>
          </p:cNvPr>
          <p:cNvSpPr/>
          <p:nvPr/>
        </p:nvSpPr>
        <p:spPr>
          <a:xfrm>
            <a:off x="1561012" y="1338943"/>
            <a:ext cx="6279443" cy="3046988"/>
          </a:xfrm>
          <a:prstGeom prst="wedgeRectCallout">
            <a:avLst>
              <a:gd name="adj1" fmla="val -56509"/>
              <a:gd name="adj2" fmla="val 30953"/>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647AAC4-BBA6-1020-4332-186D57938A4A}"/>
              </a:ext>
            </a:extLst>
          </p:cNvPr>
          <p:cNvPicPr>
            <a:picLocks noChangeAspect="1"/>
          </p:cNvPicPr>
          <p:nvPr/>
        </p:nvPicPr>
        <p:blipFill>
          <a:blip r:embed="rId2"/>
          <a:stretch>
            <a:fillRect/>
          </a:stretch>
        </p:blipFill>
        <p:spPr>
          <a:xfrm>
            <a:off x="8438198" y="3953032"/>
            <a:ext cx="651563" cy="1041743"/>
          </a:xfrm>
          <a:prstGeom prst="rect">
            <a:avLst/>
          </a:prstGeom>
        </p:spPr>
      </p:pic>
      <p:pic>
        <p:nvPicPr>
          <p:cNvPr id="9" name="Picture 8">
            <a:extLst>
              <a:ext uri="{FF2B5EF4-FFF2-40B4-BE49-F238E27FC236}">
                <a16:creationId xmlns:a16="http://schemas.microsoft.com/office/drawing/2014/main" id="{677758CC-61AB-31A2-085A-7BD1F75662A2}"/>
              </a:ext>
            </a:extLst>
          </p:cNvPr>
          <p:cNvPicPr>
            <a:picLocks noChangeAspect="1"/>
          </p:cNvPicPr>
          <p:nvPr/>
        </p:nvPicPr>
        <p:blipFill>
          <a:blip r:embed="rId3"/>
          <a:stretch>
            <a:fillRect/>
          </a:stretch>
        </p:blipFill>
        <p:spPr>
          <a:xfrm>
            <a:off x="277710" y="3942658"/>
            <a:ext cx="689498" cy="1041742"/>
          </a:xfrm>
          <a:prstGeom prst="rect">
            <a:avLst/>
          </a:prstGeom>
        </p:spPr>
      </p:pic>
      <p:sp>
        <p:nvSpPr>
          <p:cNvPr id="5" name="Rectangle 4">
            <a:extLst>
              <a:ext uri="{FF2B5EF4-FFF2-40B4-BE49-F238E27FC236}">
                <a16:creationId xmlns:a16="http://schemas.microsoft.com/office/drawing/2014/main" id="{9AE64BE8-8826-6274-F709-A0E2B13F061F}"/>
              </a:ext>
            </a:extLst>
          </p:cNvPr>
          <p:cNvSpPr/>
          <p:nvPr/>
        </p:nvSpPr>
        <p:spPr>
          <a:xfrm>
            <a:off x="1660957" y="1418577"/>
            <a:ext cx="6099048" cy="3044952"/>
          </a:xfrm>
          <a:prstGeom prst="rect">
            <a:avLst/>
          </a:prstGeom>
        </p:spPr>
        <p:txBody>
          <a:bodyPr wrap="square">
            <a:spAutoFit/>
          </a:bodyPr>
          <a:lstStyle/>
          <a:p>
            <a:r>
              <a:rPr lang="en-US" sz="1600" dirty="0">
                <a:highlight>
                  <a:srgbClr val="FFFF00"/>
                </a:highlight>
              </a:rPr>
              <a:t>the </a:t>
            </a:r>
            <a:r>
              <a:rPr lang="en-US" sz="1600" dirty="0" err="1">
                <a:highlight>
                  <a:srgbClr val="FFFF00"/>
                </a:highlight>
              </a:rPr>
              <a:t>objectipes</a:t>
            </a:r>
            <a:r>
              <a:rPr lang="en-US" sz="1600" dirty="0">
                <a:highlight>
                  <a:srgbClr val="FFFF00"/>
                </a:highlight>
              </a:rPr>
              <a:t> </a:t>
            </a:r>
            <a:r>
              <a:rPr lang="en-US" sz="1600" dirty="0" err="1">
                <a:highlight>
                  <a:srgbClr val="FFFF00"/>
                </a:highlight>
              </a:rPr>
              <a:t>og</a:t>
            </a:r>
            <a:r>
              <a:rPr lang="en-US" sz="1600" dirty="0">
                <a:highlight>
                  <a:srgbClr val="FFFF00"/>
                </a:highlight>
              </a:rPr>
              <a:t> this course are to </a:t>
            </a:r>
            <a:r>
              <a:rPr lang="en-US" sz="1600" dirty="0" err="1">
                <a:highlight>
                  <a:srgbClr val="FFFF00"/>
                </a:highlight>
              </a:rPr>
              <a:t>ingorm</a:t>
            </a:r>
            <a:r>
              <a:rPr lang="en-US" sz="1600" dirty="0">
                <a:highlight>
                  <a:srgbClr val="FFFF00"/>
                </a:highlight>
              </a:rPr>
              <a:t> students about the </a:t>
            </a:r>
            <a:r>
              <a:rPr lang="en-US" sz="1600" dirty="0" err="1">
                <a:highlight>
                  <a:srgbClr val="FFFF00"/>
                </a:highlight>
              </a:rPr>
              <a:t>gield</a:t>
            </a:r>
            <a:r>
              <a:rPr lang="en-US" sz="1600" dirty="0">
                <a:highlight>
                  <a:srgbClr val="FFFF00"/>
                </a:highlight>
              </a:rPr>
              <a:t> </a:t>
            </a:r>
            <a:r>
              <a:rPr lang="en-US" sz="1600" dirty="0" err="1">
                <a:highlight>
                  <a:srgbClr val="FFFF00"/>
                </a:highlight>
              </a:rPr>
              <a:t>og</a:t>
            </a:r>
            <a:r>
              <a:rPr lang="en-US" sz="1600" dirty="0">
                <a:highlight>
                  <a:srgbClr val="FFFF00"/>
                </a:highlight>
              </a:rPr>
              <a:t> </a:t>
            </a:r>
            <a:r>
              <a:rPr lang="en-US" sz="1600" dirty="0" err="1">
                <a:highlight>
                  <a:srgbClr val="FFFF00"/>
                </a:highlight>
              </a:rPr>
              <a:t>comwuter</a:t>
            </a:r>
            <a:r>
              <a:rPr lang="en-US" sz="1600" dirty="0">
                <a:highlight>
                  <a:srgbClr val="FFFF00"/>
                </a:highlight>
              </a:rPr>
              <a:t> </a:t>
            </a:r>
            <a:r>
              <a:rPr lang="en-US" sz="1600" dirty="0" err="1">
                <a:highlight>
                  <a:srgbClr val="FFFF00"/>
                </a:highlight>
              </a:rPr>
              <a:t>enfineerinf</a:t>
            </a:r>
            <a:r>
              <a:rPr lang="en-US" sz="1600" dirty="0">
                <a:highlight>
                  <a:srgbClr val="FFFF00"/>
                </a:highlight>
              </a:rPr>
              <a:t>, and to introduce them to the </a:t>
            </a:r>
            <a:r>
              <a:rPr lang="en-US" sz="1600" dirty="0" err="1">
                <a:highlight>
                  <a:srgbClr val="FFFF00"/>
                </a:highlight>
              </a:rPr>
              <a:t>yide</a:t>
            </a:r>
            <a:r>
              <a:rPr lang="en-US" sz="1600" dirty="0">
                <a:highlight>
                  <a:srgbClr val="FFFF00"/>
                </a:highlight>
              </a:rPr>
              <a:t> </a:t>
            </a:r>
            <a:r>
              <a:rPr lang="en-US" sz="1600" dirty="0" err="1">
                <a:highlight>
                  <a:srgbClr val="FFFF00"/>
                </a:highlight>
              </a:rPr>
              <a:t>ranfe</a:t>
            </a:r>
            <a:r>
              <a:rPr lang="en-US" sz="1600" dirty="0">
                <a:highlight>
                  <a:srgbClr val="FFFF00"/>
                </a:highlight>
              </a:rPr>
              <a:t> </a:t>
            </a:r>
            <a:r>
              <a:rPr lang="en-US" sz="1600" dirty="0" err="1">
                <a:highlight>
                  <a:srgbClr val="FFFF00"/>
                </a:highlight>
              </a:rPr>
              <a:t>og</a:t>
            </a:r>
            <a:r>
              <a:rPr lang="en-US" sz="1600" dirty="0">
                <a:highlight>
                  <a:srgbClr val="FFFF00"/>
                </a:highlight>
              </a:rPr>
              <a:t> </a:t>
            </a:r>
            <a:r>
              <a:rPr lang="en-US" sz="1600" dirty="0" err="1">
                <a:highlight>
                  <a:srgbClr val="FFFF00"/>
                </a:highlight>
              </a:rPr>
              <a:t>evcitinf</a:t>
            </a:r>
            <a:r>
              <a:rPr lang="en-US" sz="1600" dirty="0">
                <a:highlight>
                  <a:srgbClr val="FFFF00"/>
                </a:highlight>
              </a:rPr>
              <a:t> </a:t>
            </a:r>
            <a:r>
              <a:rPr lang="en-US" sz="1600" dirty="0" err="1">
                <a:highlight>
                  <a:srgbClr val="FFFF00"/>
                </a:highlight>
              </a:rPr>
              <a:t>awwlications</a:t>
            </a:r>
            <a:r>
              <a:rPr lang="en-US" sz="1600" dirty="0">
                <a:highlight>
                  <a:srgbClr val="FFFF00"/>
                </a:highlight>
              </a:rPr>
              <a:t> </a:t>
            </a:r>
            <a:r>
              <a:rPr lang="en-US" sz="1600" dirty="0" err="1">
                <a:highlight>
                  <a:srgbClr val="FFFF00"/>
                </a:highlight>
              </a:rPr>
              <a:t>og</a:t>
            </a:r>
            <a:r>
              <a:rPr lang="en-US" sz="1600" dirty="0">
                <a:highlight>
                  <a:srgbClr val="FFFF00"/>
                </a:highlight>
              </a:rPr>
              <a:t> </a:t>
            </a:r>
            <a:r>
              <a:rPr lang="en-US" sz="1600" dirty="0" err="1">
                <a:highlight>
                  <a:srgbClr val="FFFF00"/>
                </a:highlight>
              </a:rPr>
              <a:t>comwutation</a:t>
            </a:r>
            <a:r>
              <a:rPr lang="en-US" sz="1600" dirty="0">
                <a:highlight>
                  <a:srgbClr val="FFFF00"/>
                </a:highlight>
              </a:rPr>
              <a:t> and </a:t>
            </a:r>
            <a:r>
              <a:rPr lang="en-US" sz="1600" dirty="0" err="1">
                <a:highlight>
                  <a:srgbClr val="FFFF00"/>
                </a:highlight>
              </a:rPr>
              <a:t>technolofk</a:t>
            </a:r>
            <a:r>
              <a:rPr lang="en-US" sz="1600" dirty="0">
                <a:highlight>
                  <a:srgbClr val="FFFF00"/>
                </a:highlight>
              </a:rPr>
              <a:t> in </a:t>
            </a:r>
            <a:r>
              <a:rPr lang="en-US" sz="1600" dirty="0" err="1">
                <a:highlight>
                  <a:srgbClr val="FFFF00"/>
                </a:highlight>
              </a:rPr>
              <a:t>societk</a:t>
            </a:r>
            <a:r>
              <a:rPr lang="en-US" sz="1600" dirty="0">
                <a:highlight>
                  <a:srgbClr val="FFFF00"/>
                </a:highlight>
              </a:rPr>
              <a:t>. ye </a:t>
            </a:r>
            <a:r>
              <a:rPr lang="en-US" sz="1600" dirty="0" err="1">
                <a:highlight>
                  <a:srgbClr val="FFFF00"/>
                </a:highlight>
              </a:rPr>
              <a:t>yill</a:t>
            </a:r>
            <a:r>
              <a:rPr lang="en-US" sz="1600" dirty="0">
                <a:highlight>
                  <a:srgbClr val="FFFF00"/>
                </a:highlight>
              </a:rPr>
              <a:t> </a:t>
            </a:r>
            <a:r>
              <a:rPr lang="en-US" sz="1600" dirty="0" err="1">
                <a:highlight>
                  <a:srgbClr val="FFFF00"/>
                </a:highlight>
              </a:rPr>
              <a:t>evwlain</a:t>
            </a:r>
            <a:r>
              <a:rPr lang="en-US" sz="1600" dirty="0">
                <a:highlight>
                  <a:srgbClr val="FFFF00"/>
                </a:highlight>
              </a:rPr>
              <a:t> that </a:t>
            </a:r>
            <a:r>
              <a:rPr lang="en-US" sz="1600" dirty="0" err="1">
                <a:highlight>
                  <a:srgbClr val="FFFF00"/>
                </a:highlight>
              </a:rPr>
              <a:t>comwuter</a:t>
            </a:r>
            <a:r>
              <a:rPr lang="en-US" sz="1600" dirty="0">
                <a:highlight>
                  <a:srgbClr val="FFFF00"/>
                </a:highlight>
              </a:rPr>
              <a:t> </a:t>
            </a:r>
            <a:r>
              <a:rPr lang="en-US" sz="1600" dirty="0" err="1">
                <a:highlight>
                  <a:srgbClr val="FFFF00"/>
                </a:highlight>
              </a:rPr>
              <a:t>enfineerinf</a:t>
            </a:r>
            <a:r>
              <a:rPr lang="en-US" sz="1600" dirty="0">
                <a:highlight>
                  <a:srgbClr val="FFFF00"/>
                </a:highlight>
              </a:rPr>
              <a:t> is not just about </a:t>
            </a:r>
            <a:r>
              <a:rPr lang="en-US" sz="1600" dirty="0" err="1">
                <a:highlight>
                  <a:srgbClr val="FFFF00"/>
                </a:highlight>
              </a:rPr>
              <a:t>wroframminf</a:t>
            </a:r>
            <a:r>
              <a:rPr lang="en-US" sz="1600" dirty="0">
                <a:highlight>
                  <a:srgbClr val="FFFF00"/>
                </a:highlight>
              </a:rPr>
              <a:t>, but about </a:t>
            </a:r>
            <a:r>
              <a:rPr lang="en-US" sz="1600" dirty="0" err="1">
                <a:highlight>
                  <a:srgbClr val="FFFF00"/>
                </a:highlight>
              </a:rPr>
              <a:t>comwutational</a:t>
            </a:r>
            <a:r>
              <a:rPr lang="en-US" sz="1600" dirty="0">
                <a:highlight>
                  <a:srgbClr val="FFFF00"/>
                </a:highlight>
              </a:rPr>
              <a:t> </a:t>
            </a:r>
            <a:r>
              <a:rPr lang="en-US" sz="1600" dirty="0" err="1">
                <a:highlight>
                  <a:srgbClr val="FFFF00"/>
                </a:highlight>
              </a:rPr>
              <a:t>thinqinf</a:t>
            </a:r>
            <a:r>
              <a:rPr lang="en-US" sz="1600" dirty="0">
                <a:highlight>
                  <a:srgbClr val="FFFF00"/>
                </a:highlight>
              </a:rPr>
              <a:t> and the </a:t>
            </a:r>
            <a:r>
              <a:rPr lang="en-US" sz="1600" dirty="0" err="1">
                <a:highlight>
                  <a:srgbClr val="FFFF00"/>
                </a:highlight>
              </a:rPr>
              <a:t>studk</a:t>
            </a:r>
            <a:r>
              <a:rPr lang="en-US" sz="1600" dirty="0">
                <a:highlight>
                  <a:srgbClr val="FFFF00"/>
                </a:highlight>
              </a:rPr>
              <a:t> </a:t>
            </a:r>
            <a:r>
              <a:rPr lang="en-US" sz="1600" dirty="0" err="1">
                <a:highlight>
                  <a:srgbClr val="FFFF00"/>
                </a:highlight>
              </a:rPr>
              <a:t>og</a:t>
            </a:r>
            <a:r>
              <a:rPr lang="en-US" sz="1600" dirty="0">
                <a:highlight>
                  <a:srgbClr val="FFFF00"/>
                </a:highlight>
              </a:rPr>
              <a:t> </a:t>
            </a:r>
            <a:r>
              <a:rPr lang="en-US" sz="1600" dirty="0" err="1">
                <a:highlight>
                  <a:srgbClr val="FFFF00"/>
                </a:highlight>
              </a:rPr>
              <a:t>alforithms</a:t>
            </a:r>
            <a:r>
              <a:rPr lang="en-US" sz="1600" dirty="0">
                <a:highlight>
                  <a:srgbClr val="FFFF00"/>
                </a:highlight>
              </a:rPr>
              <a:t>. </a:t>
            </a:r>
            <a:r>
              <a:rPr lang="en-US" sz="1600" dirty="0" err="1">
                <a:highlight>
                  <a:srgbClr val="FFFF00"/>
                </a:highlight>
              </a:rPr>
              <a:t>imwortant</a:t>
            </a:r>
            <a:r>
              <a:rPr lang="en-US" sz="1600" dirty="0">
                <a:highlight>
                  <a:srgbClr val="FFFF00"/>
                </a:highlight>
              </a:rPr>
              <a:t> terms and </a:t>
            </a:r>
            <a:r>
              <a:rPr lang="en-US" sz="1600" dirty="0" err="1">
                <a:highlight>
                  <a:srgbClr val="FFFF00"/>
                </a:highlight>
              </a:rPr>
              <a:t>concewts</a:t>
            </a:r>
            <a:r>
              <a:rPr lang="en-US" sz="1600" dirty="0">
                <a:highlight>
                  <a:srgbClr val="FFFF00"/>
                </a:highlight>
              </a:rPr>
              <a:t> in the </a:t>
            </a:r>
            <a:r>
              <a:rPr lang="en-US" sz="1600" dirty="0" err="1">
                <a:highlight>
                  <a:srgbClr val="FFFF00"/>
                </a:highlight>
              </a:rPr>
              <a:t>gield</a:t>
            </a:r>
            <a:r>
              <a:rPr lang="en-US" sz="1600" dirty="0">
                <a:highlight>
                  <a:srgbClr val="FFFF00"/>
                </a:highlight>
              </a:rPr>
              <a:t> </a:t>
            </a:r>
            <a:r>
              <a:rPr lang="en-US" sz="1600" dirty="0" err="1">
                <a:highlight>
                  <a:srgbClr val="FFFF00"/>
                </a:highlight>
              </a:rPr>
              <a:t>yill</a:t>
            </a:r>
            <a:r>
              <a:rPr lang="en-US" sz="1600" dirty="0">
                <a:highlight>
                  <a:srgbClr val="FFFF00"/>
                </a:highlight>
              </a:rPr>
              <a:t> be introduced, as a </a:t>
            </a:r>
            <a:r>
              <a:rPr lang="en-US" sz="1600" dirty="0" err="1">
                <a:highlight>
                  <a:srgbClr val="FFFF00"/>
                </a:highlight>
              </a:rPr>
              <a:t>wrepiey</a:t>
            </a:r>
            <a:r>
              <a:rPr lang="en-US" sz="1600" dirty="0">
                <a:highlight>
                  <a:srgbClr val="FFFF00"/>
                </a:highlight>
              </a:rPr>
              <a:t> to </a:t>
            </a:r>
            <a:r>
              <a:rPr lang="en-US" sz="1600" dirty="0" err="1">
                <a:highlight>
                  <a:srgbClr val="FFFF00"/>
                </a:highlight>
              </a:rPr>
              <a:t>yhat</a:t>
            </a:r>
            <a:r>
              <a:rPr lang="en-US" sz="1600" dirty="0">
                <a:highlight>
                  <a:srgbClr val="FFFF00"/>
                </a:highlight>
              </a:rPr>
              <a:t> </a:t>
            </a:r>
            <a:r>
              <a:rPr lang="en-US" sz="1600" dirty="0" err="1">
                <a:highlight>
                  <a:srgbClr val="FFFF00"/>
                </a:highlight>
              </a:rPr>
              <a:t>yill</a:t>
            </a:r>
            <a:r>
              <a:rPr lang="en-US" sz="1600" dirty="0">
                <a:highlight>
                  <a:srgbClr val="FFFF00"/>
                </a:highlight>
              </a:rPr>
              <a:t> be learned in other courses. ye </a:t>
            </a:r>
            <a:r>
              <a:rPr lang="en-US" sz="1600" dirty="0" err="1">
                <a:highlight>
                  <a:srgbClr val="FFFF00"/>
                </a:highlight>
              </a:rPr>
              <a:t>yill</a:t>
            </a:r>
            <a:r>
              <a:rPr lang="en-US" sz="1600" dirty="0">
                <a:highlight>
                  <a:srgbClr val="FFFF00"/>
                </a:highlight>
              </a:rPr>
              <a:t> </a:t>
            </a:r>
            <a:r>
              <a:rPr lang="en-US" sz="1600" dirty="0" err="1">
                <a:highlight>
                  <a:srgbClr val="FFFF00"/>
                </a:highlight>
              </a:rPr>
              <a:t>evwlain</a:t>
            </a:r>
            <a:r>
              <a:rPr lang="en-US" sz="1600" dirty="0">
                <a:highlight>
                  <a:srgbClr val="FFFF00"/>
                </a:highlight>
              </a:rPr>
              <a:t> the </a:t>
            </a:r>
            <a:r>
              <a:rPr lang="en-US" sz="1600" dirty="0" err="1">
                <a:highlight>
                  <a:srgbClr val="FFFF00"/>
                </a:highlight>
              </a:rPr>
              <a:t>motipation</a:t>
            </a:r>
            <a:r>
              <a:rPr lang="en-US" sz="1600" dirty="0">
                <a:highlight>
                  <a:srgbClr val="FFFF00"/>
                </a:highlight>
              </a:rPr>
              <a:t> </a:t>
            </a:r>
            <a:r>
              <a:rPr lang="en-US" sz="1600" dirty="0" err="1">
                <a:highlight>
                  <a:srgbClr val="FFFF00"/>
                </a:highlight>
              </a:rPr>
              <a:t>gor</a:t>
            </a:r>
            <a:r>
              <a:rPr lang="en-US" sz="1600" dirty="0">
                <a:highlight>
                  <a:srgbClr val="FFFF00"/>
                </a:highlight>
              </a:rPr>
              <a:t> </a:t>
            </a:r>
            <a:r>
              <a:rPr lang="en-US" sz="1600" dirty="0" err="1">
                <a:highlight>
                  <a:srgbClr val="FFFF00"/>
                </a:highlight>
              </a:rPr>
              <a:t>parious</a:t>
            </a:r>
            <a:r>
              <a:rPr lang="en-US" sz="1600" dirty="0">
                <a:highlight>
                  <a:srgbClr val="FFFF00"/>
                </a:highlight>
              </a:rPr>
              <a:t> </a:t>
            </a:r>
            <a:r>
              <a:rPr lang="en-US" sz="1600" dirty="0" err="1">
                <a:highlight>
                  <a:srgbClr val="FFFF00"/>
                </a:highlight>
              </a:rPr>
              <a:t>aswects</a:t>
            </a:r>
            <a:r>
              <a:rPr lang="en-US" sz="1600" dirty="0">
                <a:highlight>
                  <a:srgbClr val="FFFF00"/>
                </a:highlight>
              </a:rPr>
              <a:t> </a:t>
            </a:r>
            <a:r>
              <a:rPr lang="en-US" sz="1600" dirty="0" err="1">
                <a:highlight>
                  <a:srgbClr val="FFFF00"/>
                </a:highlight>
              </a:rPr>
              <a:t>og</a:t>
            </a:r>
            <a:r>
              <a:rPr lang="en-US" sz="1600" dirty="0">
                <a:highlight>
                  <a:srgbClr val="FFFF00"/>
                </a:highlight>
              </a:rPr>
              <a:t> our major, </a:t>
            </a:r>
            <a:r>
              <a:rPr lang="en-US" sz="1600" dirty="0" err="1">
                <a:highlight>
                  <a:srgbClr val="FFFF00"/>
                </a:highlight>
              </a:rPr>
              <a:t>includinf</a:t>
            </a:r>
            <a:r>
              <a:rPr lang="en-US" sz="1600" dirty="0">
                <a:highlight>
                  <a:srgbClr val="FFFF00"/>
                </a:highlight>
              </a:rPr>
              <a:t> the core course </a:t>
            </a:r>
            <a:r>
              <a:rPr lang="en-US" sz="1600" dirty="0" err="1">
                <a:highlight>
                  <a:srgbClr val="FFFF00"/>
                </a:highlight>
              </a:rPr>
              <a:t>sexuence</a:t>
            </a:r>
            <a:r>
              <a:rPr lang="en-US" sz="1600" dirty="0">
                <a:highlight>
                  <a:srgbClr val="FFFF00"/>
                </a:highlight>
              </a:rPr>
              <a:t> in our curriculum, math </a:t>
            </a:r>
            <a:r>
              <a:rPr lang="en-US" sz="1600" dirty="0" err="1">
                <a:highlight>
                  <a:srgbClr val="FFFF00"/>
                </a:highlight>
              </a:rPr>
              <a:t>rexuirements</a:t>
            </a:r>
            <a:r>
              <a:rPr lang="en-US" sz="1600" dirty="0">
                <a:highlight>
                  <a:srgbClr val="FFFF00"/>
                </a:highlight>
              </a:rPr>
              <a:t>, </a:t>
            </a:r>
            <a:r>
              <a:rPr lang="en-US" sz="1600" dirty="0" err="1">
                <a:highlight>
                  <a:srgbClr val="FFFF00"/>
                </a:highlight>
              </a:rPr>
              <a:t>suwwortinf</a:t>
            </a:r>
            <a:r>
              <a:rPr lang="en-US" sz="1600" dirty="0">
                <a:highlight>
                  <a:srgbClr val="FFFF00"/>
                </a:highlight>
              </a:rPr>
              <a:t> area, co-</a:t>
            </a:r>
            <a:r>
              <a:rPr lang="en-US" sz="1600" dirty="0" err="1">
                <a:highlight>
                  <a:srgbClr val="FFFF00"/>
                </a:highlight>
              </a:rPr>
              <a:t>ows</a:t>
            </a:r>
            <a:r>
              <a:rPr lang="en-US" sz="1600" dirty="0">
                <a:highlight>
                  <a:srgbClr val="FFFF00"/>
                </a:highlight>
              </a:rPr>
              <a:t>, etc. </a:t>
            </a:r>
          </a:p>
        </p:txBody>
      </p:sp>
    </p:spTree>
    <p:extLst>
      <p:ext uri="{BB962C8B-B14F-4D97-AF65-F5344CB8AC3E}">
        <p14:creationId xmlns:p14="http://schemas.microsoft.com/office/powerpoint/2010/main" val="1624092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peech Bubble: Rectangle 6">
            <a:extLst>
              <a:ext uri="{FF2B5EF4-FFF2-40B4-BE49-F238E27FC236}">
                <a16:creationId xmlns:a16="http://schemas.microsoft.com/office/drawing/2014/main" id="{4D0181C1-9AC9-48EC-9670-20C59199A64B}"/>
              </a:ext>
            </a:extLst>
          </p:cNvPr>
          <p:cNvSpPr/>
          <p:nvPr/>
        </p:nvSpPr>
        <p:spPr>
          <a:xfrm>
            <a:off x="3108961" y="1456509"/>
            <a:ext cx="6279443" cy="3046988"/>
          </a:xfrm>
          <a:prstGeom prst="wedgeRectCallout">
            <a:avLst>
              <a:gd name="adj1" fmla="val -56509"/>
              <a:gd name="adj2" fmla="val 30953"/>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822082-ED9A-4527-A6EA-1727C827DAFB}"/>
              </a:ext>
            </a:extLst>
          </p:cNvPr>
          <p:cNvSpPr/>
          <p:nvPr/>
        </p:nvSpPr>
        <p:spPr>
          <a:xfrm>
            <a:off x="3250475" y="1495308"/>
            <a:ext cx="6096000" cy="2554545"/>
          </a:xfrm>
          <a:prstGeom prst="rect">
            <a:avLst/>
          </a:prstGeom>
        </p:spPr>
        <p:txBody>
          <a:bodyPr>
            <a:spAutoFit/>
          </a:bodyPr>
          <a:lstStyle/>
          <a:p>
            <a:r>
              <a:rPr lang="en-US" sz="1600" dirty="0"/>
              <a:t>The objectives of this course are to inform students about the field of Computer Engineering, and to introduce them to the wide range of exciting applications of computation and technology in society. We will explain that Computer Engineering is not just about programming, but about computational thinking and the study of algorithms. Important terms and concepts in the field will be introduced, as a preview to what will be learned in other courses. We will explain the motivation for various aspects of our major, including the core course sequence in our curriculum, math requirements, supporting area, co-ops, etc. </a:t>
            </a:r>
            <a:endParaRPr lang="en-US" sz="1400" dirty="0"/>
          </a:p>
        </p:txBody>
      </p:sp>
      <p:pic>
        <p:nvPicPr>
          <p:cNvPr id="2" name="Picture 1">
            <a:extLst>
              <a:ext uri="{FF2B5EF4-FFF2-40B4-BE49-F238E27FC236}">
                <a16:creationId xmlns:a16="http://schemas.microsoft.com/office/drawing/2014/main" id="{57FA86B2-5BAC-9A3B-4EBD-6070BE82C81A}"/>
              </a:ext>
            </a:extLst>
          </p:cNvPr>
          <p:cNvPicPr>
            <a:picLocks noChangeAspect="1"/>
          </p:cNvPicPr>
          <p:nvPr/>
        </p:nvPicPr>
        <p:blipFill>
          <a:blip r:embed="rId2"/>
          <a:stretch>
            <a:fillRect/>
          </a:stretch>
        </p:blipFill>
        <p:spPr>
          <a:xfrm>
            <a:off x="9843416" y="4204261"/>
            <a:ext cx="651563" cy="1041743"/>
          </a:xfrm>
          <a:prstGeom prst="rect">
            <a:avLst/>
          </a:prstGeom>
        </p:spPr>
      </p:pic>
      <p:pic>
        <p:nvPicPr>
          <p:cNvPr id="3" name="Picture 2">
            <a:extLst>
              <a:ext uri="{FF2B5EF4-FFF2-40B4-BE49-F238E27FC236}">
                <a16:creationId xmlns:a16="http://schemas.microsoft.com/office/drawing/2014/main" id="{D7C9FF3D-AE41-F4B4-F63F-D8DF1AF0C20B}"/>
              </a:ext>
            </a:extLst>
          </p:cNvPr>
          <p:cNvPicPr>
            <a:picLocks noChangeAspect="1"/>
          </p:cNvPicPr>
          <p:nvPr/>
        </p:nvPicPr>
        <p:blipFill>
          <a:blip r:embed="rId3"/>
          <a:stretch>
            <a:fillRect/>
          </a:stretch>
        </p:blipFill>
        <p:spPr>
          <a:xfrm>
            <a:off x="1682928" y="4193887"/>
            <a:ext cx="689498" cy="1041742"/>
          </a:xfrm>
          <a:prstGeom prst="rect">
            <a:avLst/>
          </a:prstGeom>
        </p:spPr>
      </p:pic>
    </p:spTree>
    <p:extLst>
      <p:ext uri="{BB962C8B-B14F-4D97-AF65-F5344CB8AC3E}">
        <p14:creationId xmlns:p14="http://schemas.microsoft.com/office/powerpoint/2010/main" val="1358706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7ACCC-8B55-4148-9069-FA1147CE76F0}"/>
              </a:ext>
            </a:extLst>
          </p:cNvPr>
          <p:cNvSpPr>
            <a:spLocks noGrp="1"/>
          </p:cNvSpPr>
          <p:nvPr>
            <p:ph type="title"/>
          </p:nvPr>
        </p:nvSpPr>
        <p:spPr/>
        <p:txBody>
          <a:bodyPr/>
          <a:lstStyle/>
          <a:p>
            <a:r>
              <a:rPr lang="en-US" dirty="0" err="1"/>
              <a:t>Vigenere</a:t>
            </a:r>
            <a:r>
              <a:rPr lang="en-US" dirty="0"/>
              <a:t> cipher</a:t>
            </a:r>
          </a:p>
        </p:txBody>
      </p:sp>
      <p:sp>
        <p:nvSpPr>
          <p:cNvPr id="3" name="Content Placeholder 2">
            <a:extLst>
              <a:ext uri="{FF2B5EF4-FFF2-40B4-BE49-F238E27FC236}">
                <a16:creationId xmlns:a16="http://schemas.microsoft.com/office/drawing/2014/main" id="{E1005181-E581-4C7F-91BF-3AE3BD998C68}"/>
              </a:ext>
            </a:extLst>
          </p:cNvPr>
          <p:cNvSpPr>
            <a:spLocks noGrp="1"/>
          </p:cNvSpPr>
          <p:nvPr>
            <p:ph idx="1"/>
          </p:nvPr>
        </p:nvSpPr>
        <p:spPr>
          <a:xfrm>
            <a:off x="959386" y="1449343"/>
            <a:ext cx="10515600" cy="886652"/>
          </a:xfrm>
        </p:spPr>
        <p:txBody>
          <a:bodyPr>
            <a:normAutofit/>
          </a:bodyPr>
          <a:lstStyle/>
          <a:p>
            <a:pPr marL="0" indent="0">
              <a:buNone/>
            </a:pPr>
            <a:r>
              <a:rPr lang="en-US" dirty="0"/>
              <a:t>Idea 3: rotation by different shifts</a:t>
            </a:r>
          </a:p>
          <a:p>
            <a:pPr marL="0" indent="0">
              <a:buNone/>
            </a:pPr>
            <a:endParaRPr lang="en-US" dirty="0"/>
          </a:p>
        </p:txBody>
      </p:sp>
      <p:graphicFrame>
        <p:nvGraphicFramePr>
          <p:cNvPr id="14" name="Table 13">
            <a:extLst>
              <a:ext uri="{FF2B5EF4-FFF2-40B4-BE49-F238E27FC236}">
                <a16:creationId xmlns:a16="http://schemas.microsoft.com/office/drawing/2014/main" id="{93BDC3C7-11C9-1DF2-630D-92ED33CB4665}"/>
              </a:ext>
            </a:extLst>
          </p:cNvPr>
          <p:cNvGraphicFramePr>
            <a:graphicFrameLocks noGrp="1"/>
          </p:cNvGraphicFramePr>
          <p:nvPr>
            <p:extLst>
              <p:ext uri="{D42A27DB-BD31-4B8C-83A1-F6EECF244321}">
                <p14:modId xmlns:p14="http://schemas.microsoft.com/office/powerpoint/2010/main" val="1386985276"/>
              </p:ext>
            </p:extLst>
          </p:nvPr>
        </p:nvGraphicFramePr>
        <p:xfrm>
          <a:off x="2490729" y="2369465"/>
          <a:ext cx="7501571" cy="3784700"/>
        </p:xfrm>
        <a:graphic>
          <a:graphicData uri="http://schemas.openxmlformats.org/drawingml/2006/table">
            <a:tbl>
              <a:tblPr/>
              <a:tblGrid>
                <a:gridCol w="919291">
                  <a:extLst>
                    <a:ext uri="{9D8B030D-6E8A-4147-A177-3AD203B41FA5}">
                      <a16:colId xmlns:a16="http://schemas.microsoft.com/office/drawing/2014/main" val="494001186"/>
                    </a:ext>
                  </a:extLst>
                </a:gridCol>
                <a:gridCol w="1592970">
                  <a:extLst>
                    <a:ext uri="{9D8B030D-6E8A-4147-A177-3AD203B41FA5}">
                      <a16:colId xmlns:a16="http://schemas.microsoft.com/office/drawing/2014/main" val="703348822"/>
                    </a:ext>
                  </a:extLst>
                </a:gridCol>
                <a:gridCol w="692634">
                  <a:extLst>
                    <a:ext uri="{9D8B030D-6E8A-4147-A177-3AD203B41FA5}">
                      <a16:colId xmlns:a16="http://schemas.microsoft.com/office/drawing/2014/main" val="3215676881"/>
                    </a:ext>
                  </a:extLst>
                </a:gridCol>
                <a:gridCol w="1256132">
                  <a:extLst>
                    <a:ext uri="{9D8B030D-6E8A-4147-A177-3AD203B41FA5}">
                      <a16:colId xmlns:a16="http://schemas.microsoft.com/office/drawing/2014/main" val="3115921887"/>
                    </a:ext>
                  </a:extLst>
                </a:gridCol>
                <a:gridCol w="1995724">
                  <a:extLst>
                    <a:ext uri="{9D8B030D-6E8A-4147-A177-3AD203B41FA5}">
                      <a16:colId xmlns:a16="http://schemas.microsoft.com/office/drawing/2014/main" val="1632395846"/>
                    </a:ext>
                  </a:extLst>
                </a:gridCol>
                <a:gridCol w="1044820">
                  <a:extLst>
                    <a:ext uri="{9D8B030D-6E8A-4147-A177-3AD203B41FA5}">
                      <a16:colId xmlns:a16="http://schemas.microsoft.com/office/drawing/2014/main" val="2146129159"/>
                    </a:ext>
                  </a:extLst>
                </a:gridCol>
              </a:tblGrid>
              <a:tr h="329589">
                <a:tc>
                  <a:txBody>
                    <a:bodyPr/>
                    <a:lstStyle/>
                    <a:p>
                      <a:r>
                        <a:rPr lang="en-US" sz="1400" b="1">
                          <a:solidFill>
                            <a:srgbClr val="000000"/>
                          </a:solidFill>
                          <a:effectLst/>
                          <a:latin typeface="Helvetica Neue" panose="02000503000000020004" pitchFamily="2" charset="0"/>
                        </a:rPr>
                        <a:t>Plaintext</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Plaintext value 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a:solidFill>
                            <a:srgbClr val="000000"/>
                          </a:solidFill>
                          <a:effectLst/>
                          <a:latin typeface="Helvetica Neue" panose="02000503000000020004" pitchFamily="2" charset="0"/>
                        </a:rPr>
                        <a:t>Key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Key value 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a:solidFill>
                            <a:srgbClr val="000000"/>
                          </a:solidFill>
                          <a:effectLst/>
                          <a:latin typeface="Helvetica Neue" panose="02000503000000020004" pitchFamily="2" charset="0"/>
                        </a:rPr>
                        <a:t>Ciphertext Value 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Ciphertext</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3645327454"/>
                  </a:ext>
                </a:extLst>
              </a:tr>
              <a:tr h="281855">
                <a:tc>
                  <a:txBody>
                    <a:bodyPr/>
                    <a:lstStyle/>
                    <a:p>
                      <a:r>
                        <a:rPr lang="en-US" sz="1400" b="1" dirty="0">
                          <a:solidFill>
                            <a:srgbClr val="000000"/>
                          </a:solidFill>
                          <a:effectLst/>
                          <a:latin typeface="Helvetica Neue" panose="02000503000000020004" pitchFamily="2" charset="0"/>
                        </a:rPr>
                        <a:t>C</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2</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10</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12</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M</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954012406"/>
                  </a:ext>
                </a:extLst>
              </a:tr>
              <a:tr h="281855">
                <a:tc>
                  <a:txBody>
                    <a:bodyPr/>
                    <a:lstStyle/>
                    <a:p>
                      <a:r>
                        <a:rPr lang="en-US" sz="1400" b="1" dirty="0">
                          <a:solidFill>
                            <a:srgbClr val="000000"/>
                          </a:solidFill>
                          <a:effectLst/>
                          <a:latin typeface="Helvetica Neue" panose="02000503000000020004" pitchFamily="2" charset="0"/>
                        </a:rPr>
                        <a:t>R</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21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V</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79766707"/>
                  </a:ext>
                </a:extLst>
              </a:tr>
              <a:tr h="281855">
                <a:tc>
                  <a:txBody>
                    <a:bodyPr/>
                    <a:lstStyle/>
                    <a:p>
                      <a:r>
                        <a:rPr lang="en-US" sz="1400" b="1"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24</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W</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524491642"/>
                  </a:ext>
                </a:extLst>
              </a:tr>
              <a:tr h="281855">
                <a:tc>
                  <a:txBody>
                    <a:bodyPr/>
                    <a:lstStyle/>
                    <a:p>
                      <a:r>
                        <a:rPr lang="en-US" sz="1400" b="1" dirty="0">
                          <a:solidFill>
                            <a:srgbClr val="000000"/>
                          </a:solidFill>
                          <a:effectLst/>
                          <a:latin typeface="Helvetica Neue" panose="02000503000000020004" pitchFamily="2" charset="0"/>
                        </a:rPr>
                        <a:t>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15</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K</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25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Z</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139640264"/>
                  </a:ext>
                </a:extLst>
              </a:tr>
              <a:tr h="281855">
                <a:tc>
                  <a:txBody>
                    <a:bodyPr/>
                    <a:lstStyle/>
                    <a:p>
                      <a:r>
                        <a:rPr lang="en-US" sz="1400" b="1" dirty="0">
                          <a:solidFill>
                            <a:srgbClr val="000000"/>
                          </a:solidFill>
                          <a:effectLst/>
                          <a:latin typeface="Helvetica Neue" panose="02000503000000020004" pitchFamily="2" charset="0"/>
                        </a:rPr>
                        <a:t>T</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19</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23</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X</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61707227"/>
                  </a:ext>
                </a:extLst>
              </a:tr>
              <a:tr h="281855">
                <a:tc>
                  <a:txBody>
                    <a:bodyPr/>
                    <a:lstStyle/>
                    <a:p>
                      <a:r>
                        <a:rPr lang="en-US" sz="1400" b="1" dirty="0">
                          <a:solidFill>
                            <a:srgbClr val="000000"/>
                          </a:solidFill>
                          <a:effectLst/>
                          <a:latin typeface="Helvetica Neue" panose="02000503000000020004" pitchFamily="2" charset="0"/>
                        </a:rPr>
                        <a:t>O</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14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12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M</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33251704"/>
                  </a:ext>
                </a:extLst>
              </a:tr>
              <a:tr h="281855">
                <a:tc>
                  <a:txBody>
                    <a:bodyPr/>
                    <a:lstStyle/>
                    <a:p>
                      <a:r>
                        <a:rPr lang="en-US" sz="1400" b="1" dirty="0">
                          <a:solidFill>
                            <a:srgbClr val="000000"/>
                          </a:solidFill>
                          <a:effectLst/>
                          <a:latin typeface="Helvetica Neue" panose="02000503000000020004" pitchFamily="2" charset="0"/>
                        </a:rPr>
                        <a:t>G</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6</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16</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Q</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496658037"/>
                  </a:ext>
                </a:extLst>
              </a:tr>
              <a:tr h="281855">
                <a:tc>
                  <a:txBody>
                    <a:bodyPr/>
                    <a:lstStyle/>
                    <a:p>
                      <a:r>
                        <a:rPr lang="en-US" sz="1400" b="1" dirty="0">
                          <a:solidFill>
                            <a:srgbClr val="000000"/>
                          </a:solidFill>
                          <a:effectLst/>
                          <a:latin typeface="Helvetica Neue" panose="02000503000000020004" pitchFamily="2" charset="0"/>
                        </a:rPr>
                        <a:t>R</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21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V</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26765274"/>
                  </a:ext>
                </a:extLst>
              </a:tr>
              <a:tr h="354706">
                <a:tc>
                  <a:txBody>
                    <a:bodyPr/>
                    <a:lstStyle/>
                    <a:p>
                      <a:r>
                        <a:rPr lang="en-US" sz="1400" b="1" dirty="0">
                          <a:solidFill>
                            <a:srgbClr val="000000"/>
                          </a:solidFill>
                          <a:effectLst/>
                          <a:latin typeface="Helvetica Neue" panose="02000503000000020004" pitchFamily="2" charset="0"/>
                        </a:rPr>
                        <a:t>A</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182944818"/>
                  </a:ext>
                </a:extLst>
              </a:tr>
              <a:tr h="281855">
                <a:tc>
                  <a:txBody>
                    <a:bodyPr/>
                    <a:lstStyle/>
                    <a:p>
                      <a:r>
                        <a:rPr lang="en-US" sz="1400" b="1" dirty="0">
                          <a:solidFill>
                            <a:srgbClr val="000000"/>
                          </a:solidFill>
                          <a:effectLst/>
                          <a:latin typeface="Helvetica Neue" panose="02000503000000020004" pitchFamily="2" charset="0"/>
                        </a:rPr>
                        <a:t>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K</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25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Z</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100751794"/>
                  </a:ext>
                </a:extLst>
              </a:tr>
              <a:tr h="281855">
                <a:tc>
                  <a:txBody>
                    <a:bodyPr/>
                    <a:lstStyle/>
                    <a:p>
                      <a:r>
                        <a:rPr lang="en-US" sz="1400" b="1" dirty="0">
                          <a:solidFill>
                            <a:srgbClr val="000000"/>
                          </a:solidFill>
                          <a:effectLst/>
                          <a:latin typeface="Helvetica Neue" panose="02000503000000020004" pitchFamily="2" charset="0"/>
                        </a:rPr>
                        <a:t>H</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L</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7633335"/>
                  </a:ext>
                </a:extLst>
              </a:tr>
              <a:tr h="281855">
                <a:tc>
                  <a:txBody>
                    <a:bodyPr/>
                    <a:lstStyle/>
                    <a:p>
                      <a:r>
                        <a:rPr lang="en-US" sz="1400" b="1"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W</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464126730"/>
                  </a:ext>
                </a:extLst>
              </a:tr>
            </a:tbl>
          </a:graphicData>
        </a:graphic>
      </p:graphicFrame>
    </p:spTree>
    <p:extLst>
      <p:ext uri="{BB962C8B-B14F-4D97-AF65-F5344CB8AC3E}">
        <p14:creationId xmlns:p14="http://schemas.microsoft.com/office/powerpoint/2010/main" val="153509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8C131-16E5-43F6-902C-5C4F862CF73D}"/>
              </a:ext>
            </a:extLst>
          </p:cNvPr>
          <p:cNvSpPr>
            <a:spLocks noGrp="1"/>
          </p:cNvSpPr>
          <p:nvPr>
            <p:ph type="title"/>
          </p:nvPr>
        </p:nvSpPr>
        <p:spPr/>
        <p:txBody>
          <a:bodyPr/>
          <a:lstStyle/>
          <a:p>
            <a:r>
              <a:rPr lang="en-US" dirty="0"/>
              <a:t>Attacking </a:t>
            </a:r>
            <a:r>
              <a:rPr lang="en-US" dirty="0" err="1"/>
              <a:t>Vigenere</a:t>
            </a:r>
            <a:r>
              <a:rPr lang="en-US" dirty="0"/>
              <a:t> cipher</a:t>
            </a:r>
          </a:p>
        </p:txBody>
      </p:sp>
      <p:sp>
        <p:nvSpPr>
          <p:cNvPr id="3" name="Content Placeholder 2">
            <a:extLst>
              <a:ext uri="{FF2B5EF4-FFF2-40B4-BE49-F238E27FC236}">
                <a16:creationId xmlns:a16="http://schemas.microsoft.com/office/drawing/2014/main" id="{8B74C3C8-05CC-4DCB-8C43-16327C7B5176}"/>
              </a:ext>
            </a:extLst>
          </p:cNvPr>
          <p:cNvSpPr>
            <a:spLocks noGrp="1"/>
          </p:cNvSpPr>
          <p:nvPr>
            <p:ph idx="1"/>
          </p:nvPr>
        </p:nvSpPr>
        <p:spPr>
          <a:xfrm>
            <a:off x="732183" y="1454564"/>
            <a:ext cx="10515600" cy="4351338"/>
          </a:xfrm>
        </p:spPr>
        <p:txBody>
          <a:bodyPr/>
          <a:lstStyle/>
          <a:p>
            <a:r>
              <a:rPr lang="en-US" dirty="0"/>
              <a:t>If the key length is known</a:t>
            </a:r>
          </a:p>
          <a:p>
            <a:pPr lvl="1"/>
            <a:endParaRPr lang="en-US" dirty="0"/>
          </a:p>
          <a:p>
            <a:pPr lvl="1"/>
            <a:r>
              <a:rPr lang="en-US" dirty="0"/>
              <a:t>Every </a:t>
            </a:r>
            <a:r>
              <a:rPr lang="en-US" altLang="zh-CN" dirty="0"/>
              <a:t>3</a:t>
            </a:r>
            <a:r>
              <a:rPr lang="en-US" dirty="0"/>
              <a:t>th letter still following letter frequency</a:t>
            </a:r>
          </a:p>
          <a:p>
            <a:pPr lvl="1"/>
            <a:endParaRPr lang="en-US" dirty="0"/>
          </a:p>
        </p:txBody>
      </p:sp>
      <p:graphicFrame>
        <p:nvGraphicFramePr>
          <p:cNvPr id="4" name="Table 3">
            <a:extLst>
              <a:ext uri="{FF2B5EF4-FFF2-40B4-BE49-F238E27FC236}">
                <a16:creationId xmlns:a16="http://schemas.microsoft.com/office/drawing/2014/main" id="{A1C25F44-FDC9-77E3-6B39-2F91213BF9C1}"/>
              </a:ext>
            </a:extLst>
          </p:cNvPr>
          <p:cNvGraphicFramePr>
            <a:graphicFrameLocks noGrp="1"/>
          </p:cNvGraphicFramePr>
          <p:nvPr>
            <p:extLst>
              <p:ext uri="{D42A27DB-BD31-4B8C-83A1-F6EECF244321}">
                <p14:modId xmlns:p14="http://schemas.microsoft.com/office/powerpoint/2010/main" val="2373853826"/>
              </p:ext>
            </p:extLst>
          </p:nvPr>
        </p:nvGraphicFramePr>
        <p:xfrm>
          <a:off x="3166590" y="2926056"/>
          <a:ext cx="7501571" cy="3784700"/>
        </p:xfrm>
        <a:graphic>
          <a:graphicData uri="http://schemas.openxmlformats.org/drawingml/2006/table">
            <a:tbl>
              <a:tblPr/>
              <a:tblGrid>
                <a:gridCol w="919291">
                  <a:extLst>
                    <a:ext uri="{9D8B030D-6E8A-4147-A177-3AD203B41FA5}">
                      <a16:colId xmlns:a16="http://schemas.microsoft.com/office/drawing/2014/main" val="494001186"/>
                    </a:ext>
                  </a:extLst>
                </a:gridCol>
                <a:gridCol w="1592970">
                  <a:extLst>
                    <a:ext uri="{9D8B030D-6E8A-4147-A177-3AD203B41FA5}">
                      <a16:colId xmlns:a16="http://schemas.microsoft.com/office/drawing/2014/main" val="703348822"/>
                    </a:ext>
                  </a:extLst>
                </a:gridCol>
                <a:gridCol w="692634">
                  <a:extLst>
                    <a:ext uri="{9D8B030D-6E8A-4147-A177-3AD203B41FA5}">
                      <a16:colId xmlns:a16="http://schemas.microsoft.com/office/drawing/2014/main" val="3215676881"/>
                    </a:ext>
                  </a:extLst>
                </a:gridCol>
                <a:gridCol w="1256132">
                  <a:extLst>
                    <a:ext uri="{9D8B030D-6E8A-4147-A177-3AD203B41FA5}">
                      <a16:colId xmlns:a16="http://schemas.microsoft.com/office/drawing/2014/main" val="3115921887"/>
                    </a:ext>
                  </a:extLst>
                </a:gridCol>
                <a:gridCol w="1995724">
                  <a:extLst>
                    <a:ext uri="{9D8B030D-6E8A-4147-A177-3AD203B41FA5}">
                      <a16:colId xmlns:a16="http://schemas.microsoft.com/office/drawing/2014/main" val="1632395846"/>
                    </a:ext>
                  </a:extLst>
                </a:gridCol>
                <a:gridCol w="1044820">
                  <a:extLst>
                    <a:ext uri="{9D8B030D-6E8A-4147-A177-3AD203B41FA5}">
                      <a16:colId xmlns:a16="http://schemas.microsoft.com/office/drawing/2014/main" val="2146129159"/>
                    </a:ext>
                  </a:extLst>
                </a:gridCol>
              </a:tblGrid>
              <a:tr h="329589">
                <a:tc>
                  <a:txBody>
                    <a:bodyPr/>
                    <a:lstStyle/>
                    <a:p>
                      <a:r>
                        <a:rPr lang="en-US" sz="1400" b="1">
                          <a:solidFill>
                            <a:srgbClr val="000000"/>
                          </a:solidFill>
                          <a:effectLst/>
                          <a:latin typeface="Helvetica Neue" panose="02000503000000020004" pitchFamily="2" charset="0"/>
                        </a:rPr>
                        <a:t>Plaintext</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Plaintext value 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a:solidFill>
                            <a:srgbClr val="000000"/>
                          </a:solidFill>
                          <a:effectLst/>
                          <a:latin typeface="Helvetica Neue" panose="02000503000000020004" pitchFamily="2" charset="0"/>
                        </a:rPr>
                        <a:t>Key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Key value 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a:solidFill>
                            <a:srgbClr val="000000"/>
                          </a:solidFill>
                          <a:effectLst/>
                          <a:latin typeface="Helvetica Neue" panose="02000503000000020004" pitchFamily="2" charset="0"/>
                        </a:rPr>
                        <a:t>Ciphertext Value 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400" b="1" dirty="0">
                          <a:solidFill>
                            <a:srgbClr val="000000"/>
                          </a:solidFill>
                          <a:effectLst/>
                          <a:latin typeface="Helvetica Neue" panose="02000503000000020004" pitchFamily="2" charset="0"/>
                        </a:rPr>
                        <a:t>Ciphertext</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3645327454"/>
                  </a:ext>
                </a:extLst>
              </a:tr>
              <a:tr h="281855">
                <a:tc>
                  <a:txBody>
                    <a:bodyPr/>
                    <a:lstStyle/>
                    <a:p>
                      <a:r>
                        <a:rPr lang="en-US" sz="1400" b="1" dirty="0">
                          <a:solidFill>
                            <a:srgbClr val="000000"/>
                          </a:solidFill>
                          <a:effectLst/>
                          <a:latin typeface="Helvetica Neue" panose="02000503000000020004" pitchFamily="2" charset="0"/>
                        </a:rPr>
                        <a:t>C</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2</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10</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12</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M</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954012406"/>
                  </a:ext>
                </a:extLst>
              </a:tr>
              <a:tr h="281855">
                <a:tc>
                  <a:txBody>
                    <a:bodyPr/>
                    <a:lstStyle/>
                    <a:p>
                      <a:r>
                        <a:rPr lang="en-US" sz="1400" b="1" dirty="0">
                          <a:solidFill>
                            <a:srgbClr val="000000"/>
                          </a:solidFill>
                          <a:effectLst/>
                          <a:latin typeface="Helvetica Neue" panose="02000503000000020004" pitchFamily="2" charset="0"/>
                        </a:rPr>
                        <a:t>R</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21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V</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79766707"/>
                  </a:ext>
                </a:extLst>
              </a:tr>
              <a:tr h="281855">
                <a:tc>
                  <a:txBody>
                    <a:bodyPr/>
                    <a:lstStyle/>
                    <a:p>
                      <a:r>
                        <a:rPr lang="en-US" sz="1400" b="1"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24</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W</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524491642"/>
                  </a:ext>
                </a:extLst>
              </a:tr>
              <a:tr h="281855">
                <a:tc>
                  <a:txBody>
                    <a:bodyPr/>
                    <a:lstStyle/>
                    <a:p>
                      <a:r>
                        <a:rPr lang="en-US" sz="1400" b="1" dirty="0">
                          <a:solidFill>
                            <a:srgbClr val="000000"/>
                          </a:solidFill>
                          <a:effectLst/>
                          <a:latin typeface="Helvetica Neue" panose="02000503000000020004" pitchFamily="2" charset="0"/>
                        </a:rPr>
                        <a:t>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15</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K</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25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Z</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139640264"/>
                  </a:ext>
                </a:extLst>
              </a:tr>
              <a:tr h="281855">
                <a:tc>
                  <a:txBody>
                    <a:bodyPr/>
                    <a:lstStyle/>
                    <a:p>
                      <a:r>
                        <a:rPr lang="en-US" sz="1400" b="1" dirty="0">
                          <a:solidFill>
                            <a:srgbClr val="000000"/>
                          </a:solidFill>
                          <a:effectLst/>
                          <a:latin typeface="Helvetica Neue" panose="02000503000000020004" pitchFamily="2" charset="0"/>
                        </a:rPr>
                        <a:t>T</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19</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23</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X</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61707227"/>
                  </a:ext>
                </a:extLst>
              </a:tr>
              <a:tr h="281855">
                <a:tc>
                  <a:txBody>
                    <a:bodyPr/>
                    <a:lstStyle/>
                    <a:p>
                      <a:r>
                        <a:rPr lang="en-US" sz="1400" b="1" dirty="0">
                          <a:solidFill>
                            <a:srgbClr val="000000"/>
                          </a:solidFill>
                          <a:effectLst/>
                          <a:latin typeface="Helvetica Neue" panose="02000503000000020004" pitchFamily="2" charset="0"/>
                        </a:rPr>
                        <a:t>O</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14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12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M</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33251704"/>
                  </a:ext>
                </a:extLst>
              </a:tr>
              <a:tr h="281855">
                <a:tc>
                  <a:txBody>
                    <a:bodyPr/>
                    <a:lstStyle/>
                    <a:p>
                      <a:r>
                        <a:rPr lang="en-US" sz="1400" b="1" dirty="0">
                          <a:solidFill>
                            <a:srgbClr val="000000"/>
                          </a:solidFill>
                          <a:effectLst/>
                          <a:latin typeface="Helvetica Neue" panose="02000503000000020004" pitchFamily="2" charset="0"/>
                        </a:rPr>
                        <a:t>G</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6</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K</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16</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Q</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496658037"/>
                  </a:ext>
                </a:extLst>
              </a:tr>
              <a:tr h="281855">
                <a:tc>
                  <a:txBody>
                    <a:bodyPr/>
                    <a:lstStyle/>
                    <a:p>
                      <a:r>
                        <a:rPr lang="en-US" sz="1400" b="1" dirty="0">
                          <a:solidFill>
                            <a:srgbClr val="000000"/>
                          </a:solidFill>
                          <a:effectLst/>
                          <a:latin typeface="Helvetica Neue" panose="02000503000000020004" pitchFamily="2" charset="0"/>
                        </a:rPr>
                        <a:t>R</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21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V</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26765274"/>
                  </a:ext>
                </a:extLst>
              </a:tr>
              <a:tr h="354706">
                <a:tc>
                  <a:txBody>
                    <a:bodyPr/>
                    <a:lstStyle/>
                    <a:p>
                      <a:r>
                        <a:rPr lang="en-US" sz="1400" b="1" dirty="0">
                          <a:solidFill>
                            <a:srgbClr val="000000"/>
                          </a:solidFill>
                          <a:effectLst/>
                          <a:latin typeface="Helvetica Neue" panose="02000503000000020004" pitchFamily="2" charset="0"/>
                        </a:rPr>
                        <a:t>A</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182944818"/>
                  </a:ext>
                </a:extLst>
              </a:tr>
              <a:tr h="281855">
                <a:tc>
                  <a:txBody>
                    <a:bodyPr/>
                    <a:lstStyle/>
                    <a:p>
                      <a:r>
                        <a:rPr lang="en-US" sz="1400" b="1" dirty="0">
                          <a:solidFill>
                            <a:srgbClr val="000000"/>
                          </a:solidFill>
                          <a:effectLst/>
                          <a:latin typeface="Helvetica Neue" panose="02000503000000020004" pitchFamily="2" charset="0"/>
                        </a:rPr>
                        <a:t>P</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K</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10</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a:solidFill>
                            <a:srgbClr val="000000"/>
                          </a:solidFill>
                          <a:effectLst/>
                          <a:latin typeface="Helvetica Neue" panose="02000503000000020004" pitchFamily="2" charset="0"/>
                        </a:rPr>
                        <a:t>25</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400" dirty="0">
                          <a:solidFill>
                            <a:srgbClr val="000000"/>
                          </a:solidFill>
                          <a:effectLst/>
                          <a:latin typeface="Helvetica Neue" panose="02000503000000020004" pitchFamily="2" charset="0"/>
                        </a:rPr>
                        <a:t>Z</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100751794"/>
                  </a:ext>
                </a:extLst>
              </a:tr>
              <a:tr h="281855">
                <a:tc>
                  <a:txBody>
                    <a:bodyPr/>
                    <a:lstStyle/>
                    <a:p>
                      <a:r>
                        <a:rPr lang="en-US" sz="1400" b="1" dirty="0">
                          <a:solidFill>
                            <a:srgbClr val="000000"/>
                          </a:solidFill>
                          <a:effectLst/>
                          <a:latin typeface="Helvetica Neue" panose="02000503000000020004" pitchFamily="2" charset="0"/>
                        </a:rPr>
                        <a:t>H</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7</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E</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a:solidFill>
                            <a:srgbClr val="000000"/>
                          </a:solidFill>
                          <a:effectLst/>
                          <a:latin typeface="Helvetica Neue" panose="02000503000000020004" pitchFamily="2" charset="0"/>
                        </a:rPr>
                        <a:t>11</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400" dirty="0">
                          <a:solidFill>
                            <a:srgbClr val="000000"/>
                          </a:solidFill>
                          <a:effectLst/>
                          <a:latin typeface="Helvetica Neue" panose="02000503000000020004" pitchFamily="2" charset="0"/>
                        </a:rPr>
                        <a:t>L</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7633335"/>
                  </a:ext>
                </a:extLst>
              </a:tr>
              <a:tr h="281855">
                <a:tc>
                  <a:txBody>
                    <a:bodyPr/>
                    <a:lstStyle/>
                    <a:p>
                      <a:r>
                        <a:rPr lang="en-US" sz="1400" b="1" dirty="0">
                          <a:solidFill>
                            <a:srgbClr val="000000"/>
                          </a:solidFill>
                          <a:effectLst/>
                          <a:latin typeface="Helvetica Neue" panose="02000503000000020004" pitchFamily="2" charset="0"/>
                        </a:rPr>
                        <a:t>Y</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Y</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24</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a:solidFill>
                            <a:srgbClr val="000000"/>
                          </a:solidFill>
                          <a:effectLst/>
                          <a:latin typeface="Helvetica Neue" panose="02000503000000020004" pitchFamily="2" charset="0"/>
                        </a:rPr>
                        <a:t>22</a:t>
                      </a:r>
                      <a:endParaRPr lang="en-US" sz="14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400" dirty="0">
                          <a:solidFill>
                            <a:srgbClr val="000000"/>
                          </a:solidFill>
                          <a:effectLst/>
                          <a:latin typeface="Helvetica Neue" panose="02000503000000020004" pitchFamily="2" charset="0"/>
                        </a:rPr>
                        <a:t>W</a:t>
                      </a:r>
                      <a:endParaRPr lang="en-US" sz="14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464126730"/>
                  </a:ext>
                </a:extLst>
              </a:tr>
            </a:tbl>
          </a:graphicData>
        </a:graphic>
      </p:graphicFrame>
    </p:spTree>
    <p:extLst>
      <p:ext uri="{BB962C8B-B14F-4D97-AF65-F5344CB8AC3E}">
        <p14:creationId xmlns:p14="http://schemas.microsoft.com/office/powerpoint/2010/main" val="335288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E173-8261-20F5-3C28-F7FD9107FFF3}"/>
              </a:ext>
            </a:extLst>
          </p:cNvPr>
          <p:cNvSpPr>
            <a:spLocks noGrp="1"/>
          </p:cNvSpPr>
          <p:nvPr>
            <p:ph type="title"/>
          </p:nvPr>
        </p:nvSpPr>
        <p:spPr/>
        <p:txBody>
          <a:bodyPr/>
          <a:lstStyle/>
          <a:p>
            <a:r>
              <a:rPr lang="en-US" dirty="0"/>
              <a:t>How to find the key length?</a:t>
            </a:r>
          </a:p>
        </p:txBody>
      </p:sp>
      <p:sp>
        <p:nvSpPr>
          <p:cNvPr id="3" name="Content Placeholder 2">
            <a:extLst>
              <a:ext uri="{FF2B5EF4-FFF2-40B4-BE49-F238E27FC236}">
                <a16:creationId xmlns:a16="http://schemas.microsoft.com/office/drawing/2014/main" id="{22217784-9384-86A3-8FA2-546484AA15B0}"/>
              </a:ext>
            </a:extLst>
          </p:cNvPr>
          <p:cNvSpPr>
            <a:spLocks noGrp="1"/>
          </p:cNvSpPr>
          <p:nvPr>
            <p:ph idx="1"/>
          </p:nvPr>
        </p:nvSpPr>
        <p:spPr/>
        <p:txBody>
          <a:bodyPr/>
          <a:lstStyle/>
          <a:p>
            <a:r>
              <a:rPr lang="en-US" dirty="0"/>
              <a:t>Try key length of 1, 2, 3,…</a:t>
            </a:r>
          </a:p>
          <a:p>
            <a:pPr marL="0" indent="0">
              <a:buNone/>
            </a:pPr>
            <a:endParaRPr lang="en-US" dirty="0"/>
          </a:p>
          <a:p>
            <a:pPr lvl="1"/>
            <a:r>
              <a:rPr lang="en-US" dirty="0"/>
              <a:t>If key length is correct: following letter frequency</a:t>
            </a:r>
          </a:p>
          <a:p>
            <a:pPr lvl="1"/>
            <a:endParaRPr lang="en-US" dirty="0"/>
          </a:p>
          <a:p>
            <a:pPr marL="0" indent="0">
              <a:buNone/>
            </a:pPr>
            <a:endParaRPr lang="en-US" dirty="0"/>
          </a:p>
        </p:txBody>
      </p:sp>
    </p:spTree>
    <p:extLst>
      <p:ext uri="{BB962C8B-B14F-4D97-AF65-F5344CB8AC3E}">
        <p14:creationId xmlns:p14="http://schemas.microsoft.com/office/powerpoint/2010/main" val="757975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3555-3FDD-7C30-9EFF-1E7F3DAAFB2C}"/>
              </a:ext>
            </a:extLst>
          </p:cNvPr>
          <p:cNvSpPr>
            <a:spLocks noGrp="1"/>
          </p:cNvSpPr>
          <p:nvPr>
            <p:ph type="title"/>
          </p:nvPr>
        </p:nvSpPr>
        <p:spPr/>
        <p:txBody>
          <a:bodyPr/>
          <a:lstStyle/>
          <a:p>
            <a:r>
              <a:rPr lang="en-US" dirty="0"/>
              <a:t>Friedman Test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B8944DD-8773-14B0-834F-EA4E6FDB1A14}"/>
                  </a:ext>
                </a:extLst>
              </p:cNvPr>
              <p:cNvSpPr>
                <a:spLocks noGrp="1"/>
              </p:cNvSpPr>
              <p:nvPr>
                <p:ph idx="1"/>
              </p:nvPr>
            </p:nvSpPr>
            <p:spPr>
              <a:xfrm>
                <a:off x="838199" y="1825625"/>
                <a:ext cx="11599843" cy="4351338"/>
              </a:xfrm>
            </p:spPr>
            <p:txBody>
              <a:bodyPr>
                <a:normAutofit fontScale="85000" lnSpcReduction="20000"/>
              </a:bodyPr>
              <a:lstStyle/>
              <a:p>
                <a:pPr marL="0" indent="0">
                  <a:buNone/>
                </a:pPr>
                <a:r>
                  <a:rPr lang="en-US" sz="3200" dirty="0"/>
                  <a:t>Index of coincidence</a:t>
                </a:r>
                <a:r>
                  <a:rPr lang="zh-CN" altLang="en-US" sz="3200" dirty="0"/>
                  <a:t> </a:t>
                </a:r>
                <a14:m>
                  <m:oMath xmlns:m="http://schemas.openxmlformats.org/officeDocument/2006/math">
                    <m:r>
                      <a:rPr lang="en-US" sz="3200" i="1">
                        <a:latin typeface="Cambria Math" panose="02040503050406030204" pitchFamily="18" charset="0"/>
                      </a:rPr>
                      <m:t>𝐼</m:t>
                    </m:r>
                    <m:r>
                      <a:rPr lang="en-US" sz="3200" i="1">
                        <a:latin typeface="Cambria Math" panose="02040503050406030204" pitchFamily="18" charset="0"/>
                      </a:rPr>
                      <m:t> </m:t>
                    </m:r>
                  </m:oMath>
                </a14:m>
                <a:r>
                  <a:rPr lang="en-US" sz="3200" dirty="0"/>
                  <a:t>: probability of two letters the </a:t>
                </a:r>
                <a:r>
                  <a:rPr lang="en-US" sz="3200" b="1" dirty="0"/>
                  <a:t>same</a:t>
                </a:r>
                <a:r>
                  <a:rPr lang="en-US" sz="3200" dirty="0"/>
                  <a:t> when drawing </a:t>
                </a:r>
                <a:r>
                  <a:rPr lang="en-US" sz="3200" b="1" dirty="0"/>
                  <a:t>randomly</a:t>
                </a:r>
              </a:p>
              <a:p>
                <a:pPr marL="0" indent="0">
                  <a:buNone/>
                </a:pPr>
                <a:endParaRPr lang="en-US" sz="3200" dirty="0"/>
              </a:p>
              <a:p>
                <a:pPr marL="0" indent="0">
                  <a:buNone/>
                </a:pPr>
                <a:r>
                  <a:rPr lang="zh-CN" altLang="en-US" sz="3200" b="0" dirty="0"/>
                  <a:t> </a:t>
                </a:r>
                <a14:m>
                  <m:oMath xmlns:m="http://schemas.openxmlformats.org/officeDocument/2006/math">
                    <m:r>
                      <a:rPr lang="en-US" sz="3200" b="0" i="1" smtClean="0">
                        <a:latin typeface="Cambria Math" panose="02040503050406030204" pitchFamily="18" charset="0"/>
                      </a:rPr>
                      <m:t>𝐼</m:t>
                    </m:r>
                    <m:r>
                      <a:rPr lang="en-US" sz="3200" b="0" i="1" smtClean="0">
                        <a:latin typeface="Cambria Math" panose="02040503050406030204" pitchFamily="18" charset="0"/>
                      </a:rPr>
                      <m:t>=</m:t>
                    </m:r>
                    <m:nary>
                      <m:naryPr>
                        <m:chr m:val="∑"/>
                        <m:ctrlPr>
                          <a:rPr lang="en-US" sz="3200" i="1">
                            <a:latin typeface="Cambria Math" panose="02040503050406030204" pitchFamily="18" charset="0"/>
                          </a:rPr>
                        </m:ctrlPr>
                      </m:naryPr>
                      <m:sub>
                        <m:r>
                          <m:rPr>
                            <m:brk m:alnAt="23"/>
                          </m:rPr>
                          <a:rPr lang="en-US" sz="3200" i="1">
                            <a:latin typeface="Cambria Math" panose="02040503050406030204" pitchFamily="18" charset="0"/>
                          </a:rPr>
                          <m:t>𝑖</m:t>
                        </m:r>
                        <m:r>
                          <a:rPr lang="en-US" sz="3200" i="1">
                            <a:latin typeface="Cambria Math" panose="02040503050406030204" pitchFamily="18" charset="0"/>
                          </a:rPr>
                          <m:t>=0</m:t>
                        </m:r>
                      </m:sub>
                      <m:sup>
                        <m:r>
                          <a:rPr lang="en-US" sz="3200" i="1">
                            <a:latin typeface="Cambria Math" panose="02040503050406030204" pitchFamily="18" charset="0"/>
                          </a:rPr>
                          <m:t>25</m:t>
                        </m:r>
                      </m:sup>
                      <m:e>
                        <m:sSubSup>
                          <m:sSubSupPr>
                            <m:ctrlPr>
                              <a:rPr lang="en-US" sz="3200" i="1">
                                <a:latin typeface="Cambria Math" panose="02040503050406030204" pitchFamily="18" charset="0"/>
                              </a:rPr>
                            </m:ctrlPr>
                          </m:sSubSupPr>
                          <m:e>
                            <m:r>
                              <a:rPr lang="en-US" sz="3200" b="0" i="1" smtClean="0">
                                <a:latin typeface="Cambria Math" panose="02040503050406030204" pitchFamily="18" charset="0"/>
                              </a:rPr>
                              <m:t>𝑝</m:t>
                            </m:r>
                          </m:e>
                          <m:sub>
                            <m:r>
                              <a:rPr lang="en-US" sz="3200" i="1">
                                <a:latin typeface="Cambria Math" panose="02040503050406030204" pitchFamily="18" charset="0"/>
                              </a:rPr>
                              <m:t>𝑖</m:t>
                            </m:r>
                          </m:sub>
                          <m:sup>
                            <m:r>
                              <a:rPr lang="en-US" sz="3200" i="1">
                                <a:latin typeface="Cambria Math" panose="02040503050406030204" pitchFamily="18" charset="0"/>
                              </a:rPr>
                              <m:t>2</m:t>
                            </m:r>
                          </m:sup>
                        </m:sSubSup>
                      </m:e>
                    </m:nary>
                  </m:oMath>
                </a14:m>
                <a:r>
                  <a:rPr lang="en-US" altLang="zh-CN" sz="3200" dirty="0"/>
                  <a:t>,</a:t>
                </a:r>
                <a:r>
                  <a:rPr lang="zh-CN" altLang="en-US" sz="3200" dirty="0"/>
                  <a:t> </a:t>
                </a:r>
                <a14:m>
                  <m:oMath xmlns:m="http://schemas.openxmlformats.org/officeDocument/2006/math">
                    <m:r>
                      <a:rPr lang="zh-CN" altLang="en-US" sz="3200" b="0" i="0" smtClean="0">
                        <a:latin typeface="Cambria Math" panose="02040503050406030204" pitchFamily="18" charset="0"/>
                      </a:rPr>
                      <m:t> </m:t>
                    </m:r>
                    <m:sSubSup>
                      <m:sSubSupPr>
                        <m:ctrlPr>
                          <a:rPr lang="en-US" sz="3200" i="1" smtClean="0">
                            <a:latin typeface="Cambria Math" panose="02040503050406030204" pitchFamily="18" charset="0"/>
                          </a:rPr>
                        </m:ctrlPr>
                      </m:sSubSupPr>
                      <m:e>
                        <m:r>
                          <a:rPr lang="en-US" sz="3200" b="0" i="1" smtClean="0">
                            <a:latin typeface="Cambria Math" panose="02040503050406030204" pitchFamily="18" charset="0"/>
                          </a:rPr>
                          <m:t>𝑝</m:t>
                        </m:r>
                      </m:e>
                      <m:sub>
                        <m:r>
                          <a:rPr lang="en-US" sz="3200" i="1">
                            <a:latin typeface="Cambria Math" panose="02040503050406030204" pitchFamily="18" charset="0"/>
                          </a:rPr>
                          <m:t>𝑖</m:t>
                        </m:r>
                      </m:sub>
                      <m:sup/>
                    </m:sSubSup>
                    <m:r>
                      <a:rPr lang="zh-CN" altLang="en-US" sz="3200" b="0" i="1" smtClean="0">
                        <a:latin typeface="Cambria Math" panose="02040503050406030204" pitchFamily="18" charset="0"/>
                      </a:rPr>
                      <m:t> </m:t>
                    </m:r>
                  </m:oMath>
                </a14:m>
                <a:r>
                  <a:rPr lang="en-US" altLang="zh-CN" sz="3200" dirty="0"/>
                  <a:t>is</a:t>
                </a:r>
                <a:r>
                  <a:rPr lang="zh-CN" altLang="en-US" sz="3200" dirty="0"/>
                  <a:t> </a:t>
                </a:r>
                <a:r>
                  <a:rPr lang="en-US" altLang="zh-CN" sz="3200" dirty="0"/>
                  <a:t>the</a:t>
                </a:r>
                <a:r>
                  <a:rPr lang="zh-CN" altLang="en-US" sz="3200" dirty="0"/>
                  <a:t> </a:t>
                </a:r>
                <a:r>
                  <a:rPr lang="en-US" altLang="zh-CN" sz="3200" dirty="0"/>
                  <a:t>frequency</a:t>
                </a:r>
                <a:r>
                  <a:rPr lang="zh-CN" altLang="en-US" sz="3200" dirty="0"/>
                  <a:t> </a:t>
                </a:r>
                <a:r>
                  <a:rPr lang="en-US" altLang="zh-CN" sz="3200" dirty="0"/>
                  <a:t>of</a:t>
                </a:r>
                <a:r>
                  <a:rPr lang="zh-CN" altLang="en-US" sz="3200" dirty="0"/>
                  <a:t> </a:t>
                </a:r>
                <a:r>
                  <a:rPr lang="en-US" altLang="zh-CN" sz="3200" dirty="0"/>
                  <a:t>the</a:t>
                </a:r>
                <a:r>
                  <a:rPr lang="zh-CN" altLang="en-US" sz="3200" dirty="0"/>
                  <a:t> </a:t>
                </a:r>
                <a14:m>
                  <m:oMath xmlns:m="http://schemas.openxmlformats.org/officeDocument/2006/math">
                    <m:r>
                      <a:rPr lang="en-US" altLang="zh-CN" sz="3200" i="1" dirty="0" smtClean="0">
                        <a:latin typeface="Cambria Math" panose="02040503050406030204" pitchFamily="18" charset="0"/>
                      </a:rPr>
                      <m:t>𝑖</m:t>
                    </m:r>
                    <m:r>
                      <a:rPr lang="zh-CN" altLang="en-US" sz="3200" i="1" dirty="0" smtClean="0">
                        <a:latin typeface="Cambria Math" panose="02040503050406030204" pitchFamily="18" charset="0"/>
                      </a:rPr>
                      <m:t> </m:t>
                    </m:r>
                    <m:r>
                      <a:rPr lang="en-US" altLang="zh-CN" sz="3200" i="1" dirty="0" err="1" smtClean="0">
                        <a:latin typeface="Cambria Math" panose="02040503050406030204" pitchFamily="18" charset="0"/>
                      </a:rPr>
                      <m:t>𝑡h</m:t>
                    </m:r>
                    <m:r>
                      <a:rPr lang="zh-CN" altLang="en-US" sz="3200" i="1" dirty="0" smtClean="0">
                        <a:latin typeface="Cambria Math" panose="02040503050406030204" pitchFamily="18" charset="0"/>
                      </a:rPr>
                      <m:t> </m:t>
                    </m:r>
                  </m:oMath>
                </a14:m>
                <a:r>
                  <a:rPr lang="en-US" altLang="zh-CN" sz="3200" dirty="0"/>
                  <a:t>letter</a:t>
                </a:r>
              </a:p>
              <a:p>
                <a:pPr marL="0" indent="0">
                  <a:buNone/>
                </a:pPr>
                <a:endParaRPr lang="en-US" altLang="zh-CN" sz="3200" dirty="0"/>
              </a:p>
              <a:p>
                <a:pPr marL="0" indent="0">
                  <a:buNone/>
                </a:pPr>
                <a:r>
                  <a:rPr lang="en-US" altLang="zh-CN" sz="3200" dirty="0"/>
                  <a:t>English: </a:t>
                </a:r>
                <a14:m>
                  <m:oMath xmlns:m="http://schemas.openxmlformats.org/officeDocument/2006/math">
                    <m:r>
                      <a:rPr lang="en-US" altLang="zh-CN" sz="3200" i="1" dirty="0" smtClean="0">
                        <a:latin typeface="Cambria Math" panose="02040503050406030204" pitchFamily="18" charset="0"/>
                      </a:rPr>
                      <m:t>𝐼</m:t>
                    </m:r>
                    <m:r>
                      <a:rPr lang="en-US" altLang="zh-CN" sz="3200" i="1" dirty="0" smtClean="0">
                        <a:latin typeface="Cambria Math" panose="02040503050406030204" pitchFamily="18" charset="0"/>
                      </a:rPr>
                      <m:t>=0.065</m:t>
                    </m:r>
                  </m:oMath>
                </a14:m>
                <a:endParaRPr lang="en-US" altLang="zh-CN" sz="3200" dirty="0"/>
              </a:p>
              <a:p>
                <a:pPr marL="0" indent="0">
                  <a:buNone/>
                </a:pPr>
                <a:endParaRPr lang="en-US" altLang="zh-CN" sz="3200" dirty="0"/>
              </a:p>
              <a:p>
                <a:pPr marL="0" indent="0">
                  <a:buNone/>
                </a:pPr>
                <a:r>
                  <a:rPr lang="en-US" altLang="zh-CN" sz="3200" dirty="0"/>
                  <a:t>Uniform distribution </a:t>
                </a:r>
                <a14:m>
                  <m:oMath xmlns:m="http://schemas.openxmlformats.org/officeDocument/2006/math">
                    <m:r>
                      <a:rPr lang="en-US" altLang="zh-CN" sz="3200" i="1" dirty="0" smtClean="0">
                        <a:latin typeface="Cambria Math" panose="02040503050406030204" pitchFamily="18" charset="0"/>
                      </a:rPr>
                      <m:t>𝐼</m:t>
                    </m:r>
                    <m:r>
                      <a:rPr lang="en-US" altLang="zh-CN" sz="3200" i="1" dirty="0" smtClean="0">
                        <a:latin typeface="Cambria Math" panose="02040503050406030204" pitchFamily="18" charset="0"/>
                      </a:rPr>
                      <m:t>=0.038</m:t>
                    </m:r>
                  </m:oMath>
                </a14:m>
                <a:r>
                  <a:rPr lang="zh-CN" altLang="en-US" sz="3200" dirty="0"/>
                  <a:t> </a:t>
                </a:r>
                <a:r>
                  <a:rPr lang="en-US" altLang="zh-CN" sz="3200" dirty="0">
                    <a:solidFill>
                      <a:srgbClr val="FF0000"/>
                    </a:solidFill>
                  </a:rPr>
                  <a:t>(why?)</a:t>
                </a:r>
              </a:p>
              <a:p>
                <a:pPr marL="0" indent="0">
                  <a:buNone/>
                </a:pPr>
                <a:endParaRPr lang="en-US" altLang="zh-CN" sz="3200" dirty="0">
                  <a:solidFill>
                    <a:srgbClr val="FF0000"/>
                  </a:solidFill>
                </a:endParaRPr>
              </a:p>
              <a:p>
                <a:pPr marL="0" indent="0">
                  <a:buNone/>
                </a:pPr>
                <a14:m>
                  <m:oMath xmlns:m="http://schemas.openxmlformats.org/officeDocument/2006/math">
                    <m:r>
                      <a:rPr lang="en-US" sz="3200" b="0" i="1" smtClean="0">
                        <a:solidFill>
                          <a:srgbClr val="FF0000"/>
                        </a:solidFill>
                        <a:latin typeface="Cambria Math" panose="02040503050406030204" pitchFamily="18" charset="0"/>
                      </a:rPr>
                      <m:t>𝐼</m:t>
                    </m:r>
                    <m:r>
                      <a:rPr lang="en-US" sz="3200" b="0" i="1" smtClean="0">
                        <a:solidFill>
                          <a:srgbClr val="FF0000"/>
                        </a:solidFill>
                        <a:latin typeface="Cambria Math" panose="02040503050406030204" pitchFamily="18" charset="0"/>
                      </a:rPr>
                      <m:t> </m:t>
                    </m:r>
                  </m:oMath>
                </a14:m>
                <a:r>
                  <a:rPr lang="en-US" altLang="zh-CN" sz="3200" dirty="0">
                    <a:solidFill>
                      <a:srgbClr val="FF0000"/>
                    </a:solidFill>
                  </a:rPr>
                  <a:t> is invariant to rotation </a:t>
                </a:r>
              </a:p>
              <a:p>
                <a:pPr marL="0" indent="0">
                  <a:buNone/>
                </a:pPr>
                <a:endParaRPr lang="en-US" altLang="zh-CN" sz="3200" dirty="0">
                  <a:solidFill>
                    <a:srgbClr val="FF0000"/>
                  </a:solidFill>
                </a:endParaRPr>
              </a:p>
              <a:p>
                <a:pPr marL="0" indent="0">
                  <a:buNone/>
                </a:pPr>
                <a:endParaRPr lang="en-US" altLang="zh-CN" sz="3200" dirty="0">
                  <a:solidFill>
                    <a:srgbClr val="FF0000"/>
                  </a:solidFill>
                </a:endParaRPr>
              </a:p>
              <a:p>
                <a:pPr marL="0" indent="0">
                  <a:buNone/>
                </a:pPr>
                <a:endParaRPr lang="en-US" altLang="zh-CN" sz="3200" dirty="0"/>
              </a:p>
              <a:p>
                <a:pPr marL="0" indent="0">
                  <a:buNone/>
                </a:pPr>
                <a:endParaRPr lang="en-US" altLang="zh-CN" sz="3200" dirty="0"/>
              </a:p>
              <a:p>
                <a:pPr marL="0" indent="0">
                  <a:buNone/>
                </a:pPr>
                <a:endParaRPr lang="en-US" altLang="zh-CN" sz="3200" dirty="0"/>
              </a:p>
              <a:p>
                <a:pPr marL="0" indent="0">
                  <a:buNone/>
                </a:pPr>
                <a:endParaRPr lang="en-US" altLang="zh-CN" sz="3200" dirty="0"/>
              </a:p>
              <a:p>
                <a:pPr marL="0" indent="0">
                  <a:buNone/>
                </a:pPr>
                <a:endParaRPr lang="en-US" sz="3200" dirty="0"/>
              </a:p>
              <a:p>
                <a:pPr marL="0" indent="0">
                  <a:buNone/>
                </a:pPr>
                <a:endParaRPr lang="en-US" sz="3200" dirty="0"/>
              </a:p>
            </p:txBody>
          </p:sp>
        </mc:Choice>
        <mc:Fallback>
          <p:sp>
            <p:nvSpPr>
              <p:cNvPr id="3" name="Content Placeholder 2">
                <a:extLst>
                  <a:ext uri="{FF2B5EF4-FFF2-40B4-BE49-F238E27FC236}">
                    <a16:creationId xmlns:a16="http://schemas.microsoft.com/office/drawing/2014/main" id="{7B8944DD-8773-14B0-834F-EA4E6FDB1A14}"/>
                  </a:ext>
                </a:extLst>
              </p:cNvPr>
              <p:cNvSpPr>
                <a:spLocks noGrp="1" noRot="1" noChangeAspect="1" noMove="1" noResize="1" noEditPoints="1" noAdjustHandles="1" noChangeArrowheads="1" noChangeShapeType="1" noTextEdit="1"/>
              </p:cNvSpPr>
              <p:nvPr>
                <p:ph idx="1"/>
              </p:nvPr>
            </p:nvSpPr>
            <p:spPr>
              <a:xfrm>
                <a:off x="838199" y="1825625"/>
                <a:ext cx="11599843" cy="4351338"/>
              </a:xfrm>
              <a:blipFill>
                <a:blip r:embed="rId2"/>
                <a:stretch>
                  <a:fillRect l="-874" t="-3488"/>
                </a:stretch>
              </a:blipFill>
            </p:spPr>
            <p:txBody>
              <a:bodyPr/>
              <a:lstStyle/>
              <a:p>
                <a:r>
                  <a:rPr lang="en-US">
                    <a:noFill/>
                  </a:rPr>
                  <a:t> </a:t>
                </a:r>
              </a:p>
            </p:txBody>
          </p:sp>
        </mc:Fallback>
      </mc:AlternateContent>
    </p:spTree>
    <p:extLst>
      <p:ext uri="{BB962C8B-B14F-4D97-AF65-F5344CB8AC3E}">
        <p14:creationId xmlns:p14="http://schemas.microsoft.com/office/powerpoint/2010/main" val="2981465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eorgia" panose="02040502050405020303" pitchFamily="18" charset="0"/>
              </a:rPr>
              <a:t>Probability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i="1" dirty="0">
                    <a:latin typeface="Georgia" panose="02040502050405020303" pitchFamily="18" charset="0"/>
                  </a:rPr>
                  <a:t>Event</a:t>
                </a:r>
                <a:r>
                  <a:rPr lang="en-US" dirty="0">
                    <a:latin typeface="Georgia" panose="02040502050405020303" pitchFamily="18" charset="0"/>
                  </a:rPr>
                  <a:t>: a particular occurrence in some experiment</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oMath>
                </a14:m>
                <a:r>
                  <a:rPr lang="en-US" dirty="0">
                    <a:latin typeface="Georgia" panose="02040502050405020303" pitchFamily="18" charset="0"/>
                  </a:rPr>
                  <a:t>: probability of event E</a:t>
                </a:r>
              </a:p>
              <a:p>
                <a:endParaRPr lang="en-US" dirty="0">
                  <a:latin typeface="Georgia" panose="02040502050405020303" pitchFamily="18" charset="0"/>
                </a:endParaRPr>
              </a:p>
              <a:p>
                <a:r>
                  <a:rPr lang="en-US" dirty="0">
                    <a:latin typeface="Georgia" panose="02040502050405020303" pitchFamily="18" charset="0"/>
                  </a:rPr>
                  <a:t>Law of total probability: say E</a:t>
                </a:r>
                <a:r>
                  <a:rPr lang="en-US" baseline="-25000" dirty="0">
                    <a:latin typeface="Georgia" panose="02040502050405020303" pitchFamily="18" charset="0"/>
                  </a:rPr>
                  <a:t>1</a:t>
                </a:r>
                <a:r>
                  <a:rPr lang="en-US" dirty="0">
                    <a:latin typeface="Georgia" panose="02040502050405020303" pitchFamily="18" charset="0"/>
                  </a:rPr>
                  <a:t>, …, E</a:t>
                </a:r>
                <a:r>
                  <a:rPr lang="en-US" baseline="-25000" dirty="0">
                    <a:latin typeface="Georgia" panose="02040502050405020303" pitchFamily="18" charset="0"/>
                  </a:rPr>
                  <a:t>n</a:t>
                </a:r>
                <a:r>
                  <a:rPr lang="en-US" dirty="0">
                    <a:latin typeface="Georgia" panose="02040502050405020303" pitchFamily="18" charset="0"/>
                  </a:rPr>
                  <a:t> are a </a:t>
                </a:r>
                <a:r>
                  <a:rPr lang="en-US" i="1" dirty="0">
                    <a:latin typeface="Georgia" panose="02040502050405020303" pitchFamily="18" charset="0"/>
                  </a:rPr>
                  <a:t>partition</a:t>
                </a:r>
                <a:r>
                  <a:rPr lang="en-US" dirty="0">
                    <a:latin typeface="Georgia" panose="02040502050405020303" pitchFamily="18" charset="0"/>
                  </a:rPr>
                  <a:t> of all possibilities. Then for any A:</a:t>
                </a:r>
                <a:br>
                  <a:rPr lang="en-US" dirty="0">
                    <a:latin typeface="Georgia" panose="02040502050405020303" pitchFamily="18" charset="0"/>
                  </a:rPr>
                </a:br>
                <a:r>
                  <a:rPr lang="en-US" dirty="0">
                    <a:latin typeface="Georgia" panose="02040502050405020303" pitchFamily="18" charset="0"/>
                  </a:rPr>
                  <a:t>    </a:t>
                </a:r>
              </a:p>
              <a:p>
                <a:pPr marL="0" indent="0">
                  <a:buNone/>
                </a:pPr>
                <a:r>
                  <a:rPr lang="en-US" dirty="0">
                    <a:latin typeface="Georgia" panose="02040502050405020303" pitchFamily="18" charset="0"/>
                  </a:rPr>
                  <a:t>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baseline="-25000" dirty="0" err="1">
                        <a:latin typeface="Cambria Math" panose="02040503050406030204" pitchFamily="18" charset="0"/>
                        <a:sym typeface="Symbol"/>
                      </a:rPr>
                      <m:t>𝑖</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m:t>
                    </m:r>
                    <m:r>
                      <a:rPr lang="en-US" i="1" dirty="0">
                        <a:latin typeface="Cambria Math" panose="02040503050406030204" pitchFamily="18" charset="0"/>
                        <a:sym typeface="Symbol"/>
                      </a:rPr>
                      <m:t>𝑎𝑛𝑑</m:t>
                    </m:r>
                    <m:r>
                      <a:rPr lang="en-US" i="1" dirty="0">
                        <a:latin typeface="Cambria Math" panose="02040503050406030204" pitchFamily="18" charset="0"/>
                        <a:sym typeface="Symbol"/>
                      </a:rPr>
                      <m:t>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oMath>
                </a14:m>
                <a:endParaRPr lang="en-US" dirty="0">
                  <a:latin typeface="Georgia" panose="02040502050405020303" pitchFamily="18" charset="0"/>
                </a:endParaRPr>
              </a:p>
              <a:p>
                <a:pPr marL="0" indent="0">
                  <a:buNone/>
                </a:pPr>
                <a:endParaRPr lang="en-US" dirty="0">
                  <a:latin typeface="Georgia" panose="02040502050405020303" pitchFamily="18" charset="0"/>
                </a:endParaRPr>
              </a:p>
              <a:p>
                <a:endParaRPr lang="en-US" dirty="0">
                  <a:latin typeface="Georgia" panose="02040502050405020303" pitchFamily="18" charset="0"/>
                </a:endParaRPr>
              </a:p>
              <a:p>
                <a:pPr lvl="1"/>
                <a:endParaRPr lang="en-US" sz="2800" dirty="0">
                  <a:latin typeface="Georgia" panose="02040502050405020303" pitchFamily="18" charset="0"/>
                </a:endParaRPr>
              </a:p>
              <a:p>
                <a:pPr lvl="1"/>
                <a:endParaRPr lang="en-US" dirty="0">
                  <a:latin typeface="Georgia" panose="02040502050405020303"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73730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5C5A7B-C046-1773-4C1A-DDB6A19EA846}"/>
              </a:ext>
            </a:extLst>
          </p:cNvPr>
          <p:cNvSpPr txBox="1">
            <a:spLocks/>
          </p:cNvSpPr>
          <p:nvPr/>
        </p:nvSpPr>
        <p:spPr>
          <a:xfrm>
            <a:off x="838200" y="26413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Friedman Test</a:t>
            </a:r>
          </a:p>
        </p:txBody>
      </p:sp>
      <p:graphicFrame>
        <p:nvGraphicFramePr>
          <p:cNvPr id="8" name="Table 7">
            <a:extLst>
              <a:ext uri="{FF2B5EF4-FFF2-40B4-BE49-F238E27FC236}">
                <a16:creationId xmlns:a16="http://schemas.microsoft.com/office/drawing/2014/main" id="{E455AA89-EA95-3130-0E59-1463526B264C}"/>
              </a:ext>
            </a:extLst>
          </p:cNvPr>
          <p:cNvGraphicFramePr>
            <a:graphicFrameLocks noGrp="1"/>
          </p:cNvGraphicFramePr>
          <p:nvPr>
            <p:extLst>
              <p:ext uri="{D42A27DB-BD31-4B8C-83A1-F6EECF244321}">
                <p14:modId xmlns:p14="http://schemas.microsoft.com/office/powerpoint/2010/main" val="4171329933"/>
              </p:ext>
            </p:extLst>
          </p:nvPr>
        </p:nvGraphicFramePr>
        <p:xfrm>
          <a:off x="2137272" y="1421601"/>
          <a:ext cx="6521987" cy="3159764"/>
        </p:xfrm>
        <a:graphic>
          <a:graphicData uri="http://schemas.openxmlformats.org/drawingml/2006/table">
            <a:tbl>
              <a:tblPr/>
              <a:tblGrid>
                <a:gridCol w="799246">
                  <a:extLst>
                    <a:ext uri="{9D8B030D-6E8A-4147-A177-3AD203B41FA5}">
                      <a16:colId xmlns:a16="http://schemas.microsoft.com/office/drawing/2014/main" val="494001186"/>
                    </a:ext>
                  </a:extLst>
                </a:gridCol>
                <a:gridCol w="1384954">
                  <a:extLst>
                    <a:ext uri="{9D8B030D-6E8A-4147-A177-3AD203B41FA5}">
                      <a16:colId xmlns:a16="http://schemas.microsoft.com/office/drawing/2014/main" val="703348822"/>
                    </a:ext>
                  </a:extLst>
                </a:gridCol>
                <a:gridCol w="602187">
                  <a:extLst>
                    <a:ext uri="{9D8B030D-6E8A-4147-A177-3AD203B41FA5}">
                      <a16:colId xmlns:a16="http://schemas.microsoft.com/office/drawing/2014/main" val="3215676881"/>
                    </a:ext>
                  </a:extLst>
                </a:gridCol>
                <a:gridCol w="1092101">
                  <a:extLst>
                    <a:ext uri="{9D8B030D-6E8A-4147-A177-3AD203B41FA5}">
                      <a16:colId xmlns:a16="http://schemas.microsoft.com/office/drawing/2014/main" val="3115921887"/>
                    </a:ext>
                  </a:extLst>
                </a:gridCol>
                <a:gridCol w="1735115">
                  <a:extLst>
                    <a:ext uri="{9D8B030D-6E8A-4147-A177-3AD203B41FA5}">
                      <a16:colId xmlns:a16="http://schemas.microsoft.com/office/drawing/2014/main" val="1632395846"/>
                    </a:ext>
                  </a:extLst>
                </a:gridCol>
                <a:gridCol w="908384">
                  <a:extLst>
                    <a:ext uri="{9D8B030D-6E8A-4147-A177-3AD203B41FA5}">
                      <a16:colId xmlns:a16="http://schemas.microsoft.com/office/drawing/2014/main" val="2146129159"/>
                    </a:ext>
                  </a:extLst>
                </a:gridCol>
              </a:tblGrid>
              <a:tr h="261476">
                <a:tc>
                  <a:txBody>
                    <a:bodyPr/>
                    <a:lstStyle/>
                    <a:p>
                      <a:r>
                        <a:rPr lang="en-US" sz="1200" b="1">
                          <a:solidFill>
                            <a:srgbClr val="000000"/>
                          </a:solidFill>
                          <a:effectLst/>
                          <a:latin typeface="Helvetica Neue" panose="02000503000000020004" pitchFamily="2" charset="0"/>
                        </a:rPr>
                        <a:t>Plaintext</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dirty="0">
                          <a:solidFill>
                            <a:srgbClr val="000000"/>
                          </a:solidFill>
                          <a:effectLst/>
                          <a:latin typeface="Helvetica Neue" panose="02000503000000020004" pitchFamily="2" charset="0"/>
                        </a:rPr>
                        <a:t>Plaintext value P</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a:solidFill>
                            <a:srgbClr val="000000"/>
                          </a:solidFill>
                          <a:effectLst/>
                          <a:latin typeface="Helvetica Neue" panose="02000503000000020004" pitchFamily="2" charset="0"/>
                        </a:rPr>
                        <a:t>Key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dirty="0">
                          <a:solidFill>
                            <a:srgbClr val="000000"/>
                          </a:solidFill>
                          <a:effectLst/>
                          <a:latin typeface="Helvetica Neue" panose="02000503000000020004" pitchFamily="2" charset="0"/>
                        </a:rPr>
                        <a:t>Key value K</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dirty="0">
                          <a:solidFill>
                            <a:srgbClr val="000000"/>
                          </a:solidFill>
                          <a:effectLst/>
                          <a:latin typeface="Helvetica Neue" panose="02000503000000020004" pitchFamily="2" charset="0"/>
                        </a:rPr>
                        <a:t>Ciphertext Value E</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r>
                        <a:rPr lang="en-US" sz="1200" b="1" dirty="0">
                          <a:solidFill>
                            <a:srgbClr val="000000"/>
                          </a:solidFill>
                          <a:effectLst/>
                          <a:latin typeface="Helvetica Neue" panose="02000503000000020004" pitchFamily="2" charset="0"/>
                        </a:rPr>
                        <a:t>Ciphertext</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3645327454"/>
                  </a:ext>
                </a:extLst>
              </a:tr>
              <a:tr h="211365">
                <a:tc>
                  <a:txBody>
                    <a:bodyPr/>
                    <a:lstStyle/>
                    <a:p>
                      <a:r>
                        <a:rPr lang="en-US" sz="1200" b="1" dirty="0">
                          <a:solidFill>
                            <a:srgbClr val="000000"/>
                          </a:solidFill>
                          <a:effectLst/>
                          <a:latin typeface="Helvetica Neue" panose="02000503000000020004" pitchFamily="2" charset="0"/>
                        </a:rPr>
                        <a:t>C</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2</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K</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10</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12</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M</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954012406"/>
                  </a:ext>
                </a:extLst>
              </a:tr>
              <a:tr h="211365">
                <a:tc>
                  <a:txBody>
                    <a:bodyPr/>
                    <a:lstStyle/>
                    <a:p>
                      <a:r>
                        <a:rPr lang="en-US" sz="1200" b="1" dirty="0">
                          <a:solidFill>
                            <a:srgbClr val="000000"/>
                          </a:solidFill>
                          <a:effectLst/>
                          <a:latin typeface="Helvetica Neue" panose="02000503000000020004" pitchFamily="2" charset="0"/>
                        </a:rPr>
                        <a:t>R</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17</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E</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21</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V</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79766707"/>
                  </a:ext>
                </a:extLst>
              </a:tr>
              <a:tr h="211365">
                <a:tc>
                  <a:txBody>
                    <a:bodyPr/>
                    <a:lstStyle/>
                    <a:p>
                      <a:r>
                        <a:rPr lang="en-US" sz="1200" b="1" dirty="0">
                          <a:solidFill>
                            <a:srgbClr val="000000"/>
                          </a:solidFill>
                          <a:effectLst/>
                          <a:latin typeface="Helvetica Neue" panose="02000503000000020004" pitchFamily="2" charset="0"/>
                        </a:rPr>
                        <a:t>Y</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24</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22</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W</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524491642"/>
                  </a:ext>
                </a:extLst>
              </a:tr>
              <a:tr h="211365">
                <a:tc>
                  <a:txBody>
                    <a:bodyPr/>
                    <a:lstStyle/>
                    <a:p>
                      <a:r>
                        <a:rPr lang="en-US" sz="1200" b="1" dirty="0">
                          <a:solidFill>
                            <a:srgbClr val="000000"/>
                          </a:solidFill>
                          <a:effectLst/>
                          <a:latin typeface="Helvetica Neue" panose="02000503000000020004" pitchFamily="2" charset="0"/>
                        </a:rPr>
                        <a:t>P</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15</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K</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10</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25</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Z</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139640264"/>
                  </a:ext>
                </a:extLst>
              </a:tr>
              <a:tr h="211365">
                <a:tc>
                  <a:txBody>
                    <a:bodyPr/>
                    <a:lstStyle/>
                    <a:p>
                      <a:r>
                        <a:rPr lang="en-US" sz="1200" b="1" dirty="0">
                          <a:solidFill>
                            <a:srgbClr val="000000"/>
                          </a:solidFill>
                          <a:effectLst/>
                          <a:latin typeface="Helvetica Neue" panose="02000503000000020004" pitchFamily="2" charset="0"/>
                        </a:rPr>
                        <a:t>T</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19</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E</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23</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X</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961707227"/>
                  </a:ext>
                </a:extLst>
              </a:tr>
              <a:tr h="211365">
                <a:tc>
                  <a:txBody>
                    <a:bodyPr/>
                    <a:lstStyle/>
                    <a:p>
                      <a:r>
                        <a:rPr lang="en-US" sz="1200" b="1" dirty="0">
                          <a:solidFill>
                            <a:srgbClr val="000000"/>
                          </a:solidFill>
                          <a:effectLst/>
                          <a:latin typeface="Helvetica Neue" panose="02000503000000020004" pitchFamily="2" charset="0"/>
                        </a:rPr>
                        <a:t>O</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14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12</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M</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2933251704"/>
                  </a:ext>
                </a:extLst>
              </a:tr>
              <a:tr h="211365">
                <a:tc>
                  <a:txBody>
                    <a:bodyPr/>
                    <a:lstStyle/>
                    <a:p>
                      <a:r>
                        <a:rPr lang="en-US" sz="1200" b="1" dirty="0">
                          <a:solidFill>
                            <a:srgbClr val="000000"/>
                          </a:solidFill>
                          <a:effectLst/>
                          <a:latin typeface="Helvetica Neue" panose="02000503000000020004" pitchFamily="2" charset="0"/>
                        </a:rPr>
                        <a:t>G</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6</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K</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10</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16</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Q</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3496658037"/>
                  </a:ext>
                </a:extLst>
              </a:tr>
              <a:tr h="211365">
                <a:tc>
                  <a:txBody>
                    <a:bodyPr/>
                    <a:lstStyle/>
                    <a:p>
                      <a:r>
                        <a:rPr lang="en-US" sz="1200" b="1" dirty="0">
                          <a:solidFill>
                            <a:srgbClr val="000000"/>
                          </a:solidFill>
                          <a:effectLst/>
                          <a:latin typeface="Helvetica Neue" panose="02000503000000020004" pitchFamily="2" charset="0"/>
                        </a:rPr>
                        <a:t>R</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17</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E</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21</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V</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026765274"/>
                  </a:ext>
                </a:extLst>
              </a:tr>
              <a:tr h="211365">
                <a:tc>
                  <a:txBody>
                    <a:bodyPr/>
                    <a:lstStyle/>
                    <a:p>
                      <a:r>
                        <a:rPr lang="en-US" sz="1200" b="1" dirty="0">
                          <a:solidFill>
                            <a:srgbClr val="000000"/>
                          </a:solidFill>
                          <a:effectLst/>
                          <a:latin typeface="Helvetica Neue" panose="02000503000000020004" pitchFamily="2" charset="0"/>
                        </a:rPr>
                        <a:t>A</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0</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Y</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182944818"/>
                  </a:ext>
                </a:extLst>
              </a:tr>
              <a:tr h="211365">
                <a:tc>
                  <a:txBody>
                    <a:bodyPr/>
                    <a:lstStyle/>
                    <a:p>
                      <a:r>
                        <a:rPr lang="en-US" sz="1200" b="1" dirty="0">
                          <a:solidFill>
                            <a:srgbClr val="000000"/>
                          </a:solidFill>
                          <a:effectLst/>
                          <a:latin typeface="Helvetica Neue" panose="02000503000000020004" pitchFamily="2" charset="0"/>
                        </a:rPr>
                        <a:t>P</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15</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K</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10</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a:solidFill>
                            <a:srgbClr val="000000"/>
                          </a:solidFill>
                          <a:effectLst/>
                          <a:latin typeface="Helvetica Neue" panose="02000503000000020004" pitchFamily="2" charset="0"/>
                        </a:rPr>
                        <a:t>25</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r>
                        <a:rPr lang="en-US" sz="1200" dirty="0">
                          <a:solidFill>
                            <a:srgbClr val="000000"/>
                          </a:solidFill>
                          <a:effectLst/>
                          <a:latin typeface="Helvetica Neue" panose="02000503000000020004" pitchFamily="2" charset="0"/>
                        </a:rPr>
                        <a:t>Z</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1100751794"/>
                  </a:ext>
                </a:extLst>
              </a:tr>
              <a:tr h="211365">
                <a:tc>
                  <a:txBody>
                    <a:bodyPr/>
                    <a:lstStyle/>
                    <a:p>
                      <a:r>
                        <a:rPr lang="en-US" sz="1200" b="1" dirty="0">
                          <a:solidFill>
                            <a:srgbClr val="000000"/>
                          </a:solidFill>
                          <a:effectLst/>
                          <a:latin typeface="Helvetica Neue" panose="02000503000000020004" pitchFamily="2" charset="0"/>
                        </a:rPr>
                        <a:t>H</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7</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E</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a:solidFill>
                            <a:srgbClr val="000000"/>
                          </a:solidFill>
                          <a:effectLst/>
                          <a:latin typeface="Helvetica Neue" panose="02000503000000020004" pitchFamily="2" charset="0"/>
                        </a:rPr>
                        <a:t>11</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r>
                        <a:rPr lang="en-US" sz="1200" dirty="0">
                          <a:solidFill>
                            <a:srgbClr val="000000"/>
                          </a:solidFill>
                          <a:effectLst/>
                          <a:latin typeface="Helvetica Neue" panose="02000503000000020004" pitchFamily="2" charset="0"/>
                        </a:rPr>
                        <a:t>L</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77633335"/>
                  </a:ext>
                </a:extLst>
              </a:tr>
              <a:tr h="211365">
                <a:tc>
                  <a:txBody>
                    <a:bodyPr/>
                    <a:lstStyle/>
                    <a:p>
                      <a:r>
                        <a:rPr lang="en-US" sz="1200" b="1" dirty="0">
                          <a:solidFill>
                            <a:srgbClr val="000000"/>
                          </a:solidFill>
                          <a:effectLst/>
                          <a:latin typeface="Helvetica Neue" panose="02000503000000020004" pitchFamily="2" charset="0"/>
                        </a:rPr>
                        <a:t>Y</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Y</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24</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a:solidFill>
                            <a:srgbClr val="000000"/>
                          </a:solidFill>
                          <a:effectLst/>
                          <a:latin typeface="Helvetica Neue" panose="02000503000000020004" pitchFamily="2" charset="0"/>
                        </a:rPr>
                        <a:t>22</a:t>
                      </a:r>
                      <a:endParaRPr lang="en-US" sz="120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r>
                        <a:rPr lang="en-US" sz="1200" dirty="0">
                          <a:solidFill>
                            <a:srgbClr val="000000"/>
                          </a:solidFill>
                          <a:effectLst/>
                          <a:latin typeface="Helvetica Neue" panose="02000503000000020004" pitchFamily="2" charset="0"/>
                        </a:rPr>
                        <a:t>W</a:t>
                      </a:r>
                      <a:endParaRPr lang="en-US" sz="1200" dirty="0">
                        <a:effectLst/>
                      </a:endParaRPr>
                    </a:p>
                  </a:txBody>
                  <a:tcPr marL="29322" marR="29322" marT="29322" marB="29322">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3464126730"/>
                  </a:ext>
                </a:extLst>
              </a:tr>
            </a:tbl>
          </a:graphicData>
        </a:graphic>
      </p:graphicFrame>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FAE2540-5B93-267C-4672-EE6EF97980A6}"/>
                  </a:ext>
                </a:extLst>
              </p:cNvPr>
              <p:cNvSpPr>
                <a:spLocks noGrp="1"/>
              </p:cNvSpPr>
              <p:nvPr>
                <p:ph idx="1"/>
              </p:nvPr>
            </p:nvSpPr>
            <p:spPr>
              <a:xfrm>
                <a:off x="352539" y="4618673"/>
                <a:ext cx="12103865" cy="2239327"/>
              </a:xfrm>
            </p:spPr>
            <p:txBody>
              <a:bodyPr>
                <a:normAutofit lnSpcReduction="10000"/>
              </a:bodyPr>
              <a:lstStyle/>
              <a:p>
                <a:pPr marL="0" indent="0">
                  <a:buNone/>
                </a:pPr>
                <a:r>
                  <a:rPr lang="en-US" sz="1800" b="1" dirty="0"/>
                  <a:t>If the key</a:t>
                </a:r>
                <a:r>
                  <a:rPr lang="zh-CN" altLang="en-US" sz="1800" b="1" dirty="0"/>
                  <a:t> </a:t>
                </a:r>
                <a:r>
                  <a:rPr lang="en-US" sz="1800" b="1" dirty="0"/>
                  <a:t>length guess is </a:t>
                </a:r>
                <a:r>
                  <a:rPr lang="en-US" altLang="zh-CN" sz="1800" b="1" dirty="0"/>
                  <a:t>correct</a:t>
                </a:r>
                <a:r>
                  <a:rPr lang="en-US" sz="1800" b="1" dirty="0"/>
                  <a:t>:</a:t>
                </a:r>
              </a:p>
              <a:p>
                <a14:m>
                  <m:oMath xmlns:m="http://schemas.openxmlformats.org/officeDocument/2006/math">
                    <m:r>
                      <a:rPr lang="en-US" altLang="zh-CN" sz="1800" b="0" i="1" dirty="0" smtClean="0">
                        <a:latin typeface="Cambria Math" panose="02040503050406030204" pitchFamily="18" charset="0"/>
                      </a:rPr>
                      <m:t>𝑙</m:t>
                    </m:r>
                  </m:oMath>
                </a14:m>
                <a:r>
                  <a:rPr lang="zh-CN" altLang="en-US" sz="1800" dirty="0"/>
                  <a:t> </a:t>
                </a:r>
                <a:r>
                  <a:rPr lang="en-US" altLang="zh-CN" sz="1800" dirty="0"/>
                  <a:t>is</a:t>
                </a:r>
                <a:r>
                  <a:rPr lang="zh-CN" altLang="en-US" sz="1800" dirty="0"/>
                  <a:t> </a:t>
                </a:r>
                <a:r>
                  <a:rPr lang="en-US" altLang="zh-CN" sz="1800" dirty="0"/>
                  <a:t>the</a:t>
                </a:r>
                <a:r>
                  <a:rPr lang="zh-CN" altLang="en-US" sz="1800" dirty="0"/>
                  <a:t> </a:t>
                </a:r>
                <a:r>
                  <a:rPr lang="en-US" altLang="zh-CN" sz="1800" dirty="0"/>
                  <a:t>key</a:t>
                </a:r>
                <a:r>
                  <a:rPr lang="zh-CN" altLang="en-US" sz="1800" dirty="0"/>
                  <a:t> </a:t>
                </a:r>
                <a:r>
                  <a:rPr lang="en-US" altLang="zh-CN" sz="1800" dirty="0"/>
                  <a:t>length</a:t>
                </a:r>
                <a:r>
                  <a:rPr lang="zh-CN" altLang="en-US" sz="1800" dirty="0"/>
                  <a:t> </a:t>
                </a:r>
                <a:r>
                  <a:rPr lang="en-US" altLang="zh-CN" sz="1800" dirty="0"/>
                  <a:t>and</a:t>
                </a:r>
                <a:r>
                  <a:rPr lang="zh-CN" altLang="en-US" sz="1800" dirty="0"/>
                  <a:t> </a:t>
                </a:r>
                <a14:m>
                  <m:oMath xmlns:m="http://schemas.openxmlformats.org/officeDocument/2006/math">
                    <m:r>
                      <a:rPr lang="en-US" altLang="zh-CN" sz="1800" b="0" i="1" smtClean="0">
                        <a:latin typeface="Cambria Math" panose="02040503050406030204" pitchFamily="18" charset="0"/>
                      </a:rPr>
                      <m:t>𝑛</m:t>
                    </m:r>
                  </m:oMath>
                </a14:m>
                <a:r>
                  <a:rPr lang="zh-CN" altLang="en-US" sz="1800" dirty="0"/>
                  <a:t>  </a:t>
                </a:r>
                <a:r>
                  <a:rPr lang="en-US" altLang="zh-CN" sz="1800" dirty="0"/>
                  <a:t>is</a:t>
                </a:r>
                <a:r>
                  <a:rPr lang="zh-CN" altLang="en-US" sz="1800" dirty="0"/>
                  <a:t> </a:t>
                </a:r>
                <a:r>
                  <a:rPr lang="en-US" altLang="zh-CN" sz="1800" dirty="0"/>
                  <a:t>the</a:t>
                </a:r>
                <a:r>
                  <a:rPr lang="zh-CN" altLang="en-US" sz="1800" dirty="0"/>
                  <a:t> </a:t>
                </a:r>
                <a:r>
                  <a:rPr lang="en-US" altLang="zh-CN" sz="1800" dirty="0"/>
                  <a:t>cipher</a:t>
                </a:r>
                <a:r>
                  <a:rPr lang="zh-CN" altLang="en-US" sz="1800" dirty="0"/>
                  <a:t> </a:t>
                </a:r>
                <a:r>
                  <a:rPr lang="en-US" altLang="zh-CN" sz="1800" dirty="0"/>
                  <a:t>length.</a:t>
                </a:r>
              </a:p>
              <a:p>
                <a:r>
                  <a:rPr lang="en-US" altLang="zh-CN" sz="1800" dirty="0"/>
                  <a:t>The</a:t>
                </a:r>
                <a:r>
                  <a:rPr lang="zh-CN" altLang="en-US" sz="1800" dirty="0"/>
                  <a:t> </a:t>
                </a:r>
                <a:r>
                  <a:rPr lang="en-US" sz="1800" dirty="0"/>
                  <a:t>probability that both letters are selected from the </a:t>
                </a:r>
                <a:r>
                  <a:rPr lang="en-US" altLang="zh-CN" sz="1800" dirty="0"/>
                  <a:t>same</a:t>
                </a:r>
                <a:r>
                  <a:rPr lang="en-US" sz="1800" dirty="0"/>
                  <a:t> </a:t>
                </a:r>
                <a:r>
                  <a:rPr lang="en-US" altLang="zh-CN" sz="1800" dirty="0"/>
                  <a:t>key</a:t>
                </a:r>
                <a:r>
                  <a:rPr lang="zh-CN" altLang="en-US" sz="1800" dirty="0"/>
                  <a:t> </a:t>
                </a:r>
                <a:r>
                  <a:rPr lang="en-US" altLang="zh-CN" sz="1800" dirty="0"/>
                  <a:t>group</a:t>
                </a:r>
                <a:r>
                  <a:rPr lang="en-US" sz="1800" dirty="0"/>
                  <a:t> and are the same is</a:t>
                </a:r>
                <a:r>
                  <a:rPr lang="zh-CN" altLang="en-US" sz="1800" dirty="0"/>
                  <a:t> </a:t>
                </a:r>
                <a14:m>
                  <m:oMath xmlns:m="http://schemas.openxmlformats.org/officeDocument/2006/math">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num>
                      <m:den>
                        <m:r>
                          <a:rPr lang="en-US" altLang="zh-CN" sz="1800" b="0" i="1" smtClean="0">
                            <a:latin typeface="Cambria Math" panose="02040503050406030204" pitchFamily="18" charset="0"/>
                          </a:rPr>
                          <m:t>𝑙</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−1)</m:t>
                        </m:r>
                      </m:den>
                    </m:f>
                    <m:r>
                      <a:rPr lang="en-US" altLang="zh-CN" sz="1800" b="0" i="1" smtClean="0">
                        <a:latin typeface="Cambria Math" panose="02040503050406030204" pitchFamily="18" charset="0"/>
                      </a:rPr>
                      <m:t>×0.065</m:t>
                    </m:r>
                  </m:oMath>
                </a14:m>
                <a:r>
                  <a:rPr lang="en-US" altLang="zh-CN" sz="1800" dirty="0"/>
                  <a:t>. </a:t>
                </a:r>
              </a:p>
              <a:p>
                <a:r>
                  <a:rPr lang="en-US" altLang="zh-CN" sz="1800" dirty="0"/>
                  <a:t>The</a:t>
                </a:r>
                <a:r>
                  <a:rPr lang="zh-CN" altLang="en-US" sz="1800" dirty="0"/>
                  <a:t> </a:t>
                </a:r>
                <a:r>
                  <a:rPr lang="en-US" sz="1800" dirty="0"/>
                  <a:t>probability that both letters are selected from </a:t>
                </a:r>
                <a:r>
                  <a:rPr lang="en-US" altLang="zh-CN" sz="1800" dirty="0"/>
                  <a:t>different</a:t>
                </a:r>
                <a:r>
                  <a:rPr lang="en-US" sz="1800" dirty="0"/>
                  <a:t>  </a:t>
                </a:r>
                <a:r>
                  <a:rPr lang="en-US" altLang="zh-CN" sz="1800" dirty="0"/>
                  <a:t>key</a:t>
                </a:r>
                <a:r>
                  <a:rPr lang="zh-CN" altLang="en-US" sz="1800" dirty="0"/>
                  <a:t> </a:t>
                </a:r>
                <a:r>
                  <a:rPr lang="en-US" altLang="zh-CN" sz="1800" dirty="0"/>
                  <a:t>groups</a:t>
                </a:r>
                <a:r>
                  <a:rPr lang="en-US" sz="1800" dirty="0"/>
                  <a:t> and are the same letter</a:t>
                </a:r>
                <a:r>
                  <a:rPr lang="zh-CN" altLang="en-US" sz="1800" dirty="0"/>
                  <a:t> </a:t>
                </a:r>
                <a:r>
                  <a:rPr lang="en-US" altLang="zh-CN" sz="1800" dirty="0"/>
                  <a:t> </a:t>
                </a:r>
                <a14:m>
                  <m:oMath xmlns:m="http://schemas.openxmlformats.org/officeDocument/2006/math">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𝑙</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−1)</m:t>
                        </m:r>
                      </m:den>
                    </m:f>
                    <m:r>
                      <a:rPr lang="en-US" altLang="zh-CN" sz="1800" b="0" i="1" smtClean="0">
                        <a:latin typeface="Cambria Math" panose="02040503050406030204" pitchFamily="18" charset="0"/>
                      </a:rPr>
                      <m:t>×0.038</m:t>
                    </m:r>
                  </m:oMath>
                </a14:m>
                <a:r>
                  <a:rPr lang="en-US" altLang="zh-CN" sz="1800" dirty="0"/>
                  <a:t>.</a:t>
                </a:r>
                <a:r>
                  <a:rPr lang="zh-CN" altLang="en-US" sz="1800" dirty="0"/>
                  <a:t> </a:t>
                </a:r>
                <a:r>
                  <a:rPr lang="en-US" altLang="zh-CN" sz="1800" b="1" dirty="0">
                    <a:solidFill>
                      <a:srgbClr val="FF0000"/>
                    </a:solidFill>
                  </a:rPr>
                  <a:t>WHY?</a:t>
                </a:r>
              </a:p>
              <a:p>
                <a:r>
                  <a:rPr lang="zh-CN" altLang="en-US" sz="1800" dirty="0"/>
                  <a:t> </a:t>
                </a:r>
                <a14:m>
                  <m:oMath xmlns:m="http://schemas.openxmlformats.org/officeDocument/2006/math">
                    <m:r>
                      <a:rPr lang="en-US" altLang="zh-CN" sz="1800" b="0" i="1" smtClean="0">
                        <a:latin typeface="Cambria Math" panose="02040503050406030204" pitchFamily="18" charset="0"/>
                      </a:rPr>
                      <m:t>𝐼</m:t>
                    </m:r>
                    <m:r>
                      <a:rPr lang="en-US" altLang="zh-CN" sz="1800" b="0" i="1" smtClean="0">
                        <a:latin typeface="Cambria Math" panose="02040503050406030204" pitchFamily="18" charset="0"/>
                      </a:rPr>
                      <m:t>=</m:t>
                    </m:r>
                    <m:r>
                      <m:rPr>
                        <m:nor/>
                      </m:rPr>
                      <a:rPr lang="zh-CN" altLang="en-US" sz="1800" dirty="0" smtClean="0"/>
                      <m:t> </m:t>
                    </m:r>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num>
                      <m:den>
                        <m:r>
                          <a:rPr lang="en-US" altLang="zh-CN" sz="1800" b="0" i="1" smtClean="0">
                            <a:latin typeface="Cambria Math" panose="02040503050406030204" pitchFamily="18" charset="0"/>
                          </a:rPr>
                          <m:t>𝑙</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−1)</m:t>
                        </m:r>
                      </m:den>
                    </m:f>
                    <m:r>
                      <a:rPr lang="en-US" altLang="zh-CN" sz="1800" b="0" i="1" smtClean="0">
                        <a:latin typeface="Cambria Math" panose="02040503050406030204" pitchFamily="18" charset="0"/>
                      </a:rPr>
                      <m:t>×0.065+</m:t>
                    </m:r>
                    <m:f>
                      <m:fPr>
                        <m:ctrlPr>
                          <a:rPr lang="en-US" altLang="zh-CN" sz="1800" i="1" smtClean="0">
                            <a:latin typeface="Cambria Math" panose="02040503050406030204" pitchFamily="18" charset="0"/>
                          </a:rPr>
                        </m:ctrlPr>
                      </m:fPr>
                      <m:num>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𝑙</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𝑛</m:t>
                        </m:r>
                        <m:r>
                          <a:rPr lang="en-US" altLang="zh-CN" sz="1800" b="0" i="1" smtClean="0">
                            <a:latin typeface="Cambria Math" panose="02040503050406030204" pitchFamily="18" charset="0"/>
                          </a:rPr>
                          <m:t>−1)</m:t>
                        </m:r>
                      </m:den>
                    </m:f>
                    <m:r>
                      <a:rPr lang="en-US" altLang="zh-CN" sz="1800" b="0" i="1" smtClean="0">
                        <a:latin typeface="Cambria Math" panose="02040503050406030204" pitchFamily="18" charset="0"/>
                      </a:rPr>
                      <m:t> ×0.038≈0.038+</m:t>
                    </m:r>
                    <m:r>
                      <a:rPr lang="zh-CN" altLang="en-US" sz="1800" b="0" i="1" smtClean="0">
                        <a:latin typeface="Cambria Math" panose="02040503050406030204" pitchFamily="18" charset="0"/>
                      </a:rPr>
                      <m:t> </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r>
                          <a:rPr lang="en-US" altLang="zh-CN" sz="1800" b="0" i="1" smtClean="0">
                            <a:latin typeface="Cambria Math" panose="02040503050406030204" pitchFamily="18" charset="0"/>
                          </a:rPr>
                          <m:t>𝑙</m:t>
                        </m:r>
                      </m:den>
                    </m:f>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m:t>
                    </m:r>
                    <m:r>
                      <a:rPr lang="zh-CN" altLang="en-US" sz="1800" b="0" i="1" smtClean="0">
                        <a:latin typeface="Cambria Math" panose="02040503050406030204" pitchFamily="18" charset="0"/>
                      </a:rPr>
                      <m:t> </m:t>
                    </m:r>
                    <m:r>
                      <a:rPr lang="en-US" altLang="zh-CN" sz="1800" b="0" i="1" smtClean="0">
                        <a:latin typeface="Cambria Math" panose="02040503050406030204" pitchFamily="18" charset="0"/>
                      </a:rPr>
                      <m:t>0.027</m:t>
                    </m:r>
                  </m:oMath>
                </a14:m>
                <a:endParaRPr lang="en-US" altLang="zh-CN" sz="1800" b="0" dirty="0"/>
              </a:p>
              <a:p>
                <a:endParaRPr lang="en-US" sz="1800" dirty="0"/>
              </a:p>
              <a:p>
                <a:endParaRPr lang="en-US" sz="1800" dirty="0"/>
              </a:p>
              <a:p>
                <a:endParaRPr lang="en-US" sz="1800" dirty="0"/>
              </a:p>
              <a:p>
                <a:pPr marL="0" indent="0">
                  <a:buNone/>
                </a:pPr>
                <a:endParaRPr lang="en-US" sz="1800" dirty="0"/>
              </a:p>
            </p:txBody>
          </p:sp>
        </mc:Choice>
        <mc:Fallback xmlns="">
          <p:sp>
            <p:nvSpPr>
              <p:cNvPr id="9" name="Content Placeholder 2">
                <a:extLst>
                  <a:ext uri="{FF2B5EF4-FFF2-40B4-BE49-F238E27FC236}">
                    <a16:creationId xmlns:a16="http://schemas.microsoft.com/office/drawing/2014/main" id="{1FAE2540-5B93-267C-4672-EE6EF97980A6}"/>
                  </a:ext>
                </a:extLst>
              </p:cNvPr>
              <p:cNvSpPr>
                <a:spLocks noGrp="1" noRot="1" noChangeAspect="1" noMove="1" noResize="1" noEditPoints="1" noAdjustHandles="1" noChangeArrowheads="1" noChangeShapeType="1" noTextEdit="1"/>
              </p:cNvSpPr>
              <p:nvPr>
                <p:ph idx="1"/>
              </p:nvPr>
            </p:nvSpPr>
            <p:spPr>
              <a:xfrm>
                <a:off x="352539" y="4618673"/>
                <a:ext cx="12103865" cy="2239327"/>
              </a:xfrm>
              <a:blipFill>
                <a:blip r:embed="rId3"/>
                <a:stretch>
                  <a:fillRect l="-419" t="-3390"/>
                </a:stretch>
              </a:blipFill>
            </p:spPr>
            <p:txBody>
              <a:bodyPr/>
              <a:lstStyle/>
              <a:p>
                <a:r>
                  <a:rPr lang="en-US">
                    <a:noFill/>
                  </a:rPr>
                  <a:t> </a:t>
                </a:r>
              </a:p>
            </p:txBody>
          </p:sp>
        </mc:Fallback>
      </mc:AlternateContent>
    </p:spTree>
    <p:extLst>
      <p:ext uri="{BB962C8B-B14F-4D97-AF65-F5344CB8AC3E}">
        <p14:creationId xmlns:p14="http://schemas.microsoft.com/office/powerpoint/2010/main" val="756255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AB151-7751-2F5B-9F92-FD884F7A50E5}"/>
              </a:ext>
            </a:extLst>
          </p:cNvPr>
          <p:cNvSpPr>
            <a:spLocks noGrp="1"/>
          </p:cNvSpPr>
          <p:nvPr>
            <p:ph type="title"/>
          </p:nvPr>
        </p:nvSpPr>
        <p:spPr/>
        <p:txBody>
          <a:bodyPr/>
          <a:lstStyle/>
          <a:p>
            <a:r>
              <a:rPr lang="en-US" altLang="zh-CN" dirty="0"/>
              <a:t>Quiz</a:t>
            </a:r>
            <a:r>
              <a:rPr lang="zh-CN" altLang="en-US" dirty="0"/>
              <a:t> </a:t>
            </a:r>
            <a:endParaRPr lang="en-US" dirty="0"/>
          </a:p>
        </p:txBody>
      </p:sp>
      <p:sp>
        <p:nvSpPr>
          <p:cNvPr id="3" name="Content Placeholder 2">
            <a:extLst>
              <a:ext uri="{FF2B5EF4-FFF2-40B4-BE49-F238E27FC236}">
                <a16:creationId xmlns:a16="http://schemas.microsoft.com/office/drawing/2014/main" id="{F913C32C-C01B-18CA-0531-F0B031AF7CBB}"/>
              </a:ext>
            </a:extLst>
          </p:cNvPr>
          <p:cNvSpPr>
            <a:spLocks noGrp="1"/>
          </p:cNvSpPr>
          <p:nvPr>
            <p:ph idx="1"/>
          </p:nvPr>
        </p:nvSpPr>
        <p:spPr/>
        <p:txBody>
          <a:bodyPr/>
          <a:lstStyle/>
          <a:p>
            <a:r>
              <a:rPr lang="en-US" dirty="0"/>
              <a:t>What</a:t>
            </a:r>
            <a:r>
              <a:rPr lang="zh-CN" altLang="en-US" dirty="0"/>
              <a:t> </a:t>
            </a:r>
            <a:r>
              <a:rPr lang="en-US" altLang="zh-CN" dirty="0"/>
              <a:t>i</a:t>
            </a:r>
            <a:r>
              <a:rPr lang="en-US" sz="2800" dirty="0"/>
              <a:t>ndex of coincidence</a:t>
            </a:r>
            <a:r>
              <a:rPr lang="zh-CN" altLang="en-US" sz="2800" dirty="0"/>
              <a:t>  </a:t>
            </a:r>
            <a:r>
              <a:rPr lang="en-US" altLang="zh-CN" sz="2800" dirty="0"/>
              <a:t>should</a:t>
            </a:r>
            <a:r>
              <a:rPr lang="zh-CN" altLang="en-US" sz="2800" dirty="0"/>
              <a:t> </a:t>
            </a:r>
            <a:r>
              <a:rPr lang="en-US" altLang="zh-CN" sz="2800" dirty="0"/>
              <a:t>be</a:t>
            </a:r>
            <a:r>
              <a:rPr lang="zh-CN" altLang="en-US" sz="2800" dirty="0"/>
              <a:t> </a:t>
            </a:r>
            <a:r>
              <a:rPr lang="en-US" altLang="zh-CN" sz="2800" dirty="0"/>
              <a:t>if</a:t>
            </a:r>
            <a:r>
              <a:rPr lang="zh-CN" altLang="en-US" dirty="0"/>
              <a:t>  </a:t>
            </a:r>
            <a:r>
              <a:rPr lang="en-US" altLang="zh-CN" dirty="0"/>
              <a:t>the</a:t>
            </a:r>
            <a:r>
              <a:rPr lang="zh-CN" altLang="en-US" dirty="0"/>
              <a:t> </a:t>
            </a:r>
            <a:r>
              <a:rPr lang="en-US" altLang="zh-CN" dirty="0"/>
              <a:t>key</a:t>
            </a:r>
            <a:r>
              <a:rPr lang="zh-CN" altLang="en-US" dirty="0"/>
              <a:t> </a:t>
            </a:r>
            <a:r>
              <a:rPr lang="en-US" altLang="zh-CN" dirty="0"/>
              <a:t>length</a:t>
            </a:r>
            <a:r>
              <a:rPr lang="zh-CN" altLang="en-US" dirty="0"/>
              <a:t> </a:t>
            </a:r>
            <a:r>
              <a:rPr lang="en-US" altLang="zh-CN" dirty="0"/>
              <a:t>is</a:t>
            </a:r>
            <a:r>
              <a:rPr lang="zh-CN" altLang="en-US" dirty="0"/>
              <a:t> </a:t>
            </a:r>
            <a:r>
              <a:rPr lang="en-US" altLang="zh-CN" dirty="0"/>
              <a:t>infinite</a:t>
            </a:r>
          </a:p>
        </p:txBody>
      </p:sp>
    </p:spTree>
    <p:extLst>
      <p:ext uri="{BB962C8B-B14F-4D97-AF65-F5344CB8AC3E}">
        <p14:creationId xmlns:p14="http://schemas.microsoft.com/office/powerpoint/2010/main" val="3542906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49C28-350C-7A8D-A3F3-1ED365A0D798}"/>
              </a:ext>
            </a:extLst>
          </p:cNvPr>
          <p:cNvSpPr>
            <a:spLocks noGrp="1"/>
          </p:cNvSpPr>
          <p:nvPr>
            <p:ph type="title"/>
          </p:nvPr>
        </p:nvSpPr>
        <p:spPr/>
        <p:txBody>
          <a:bodyPr/>
          <a:lstStyle/>
          <a:p>
            <a:r>
              <a:rPr lang="en-US" altLang="zh-CN" dirty="0"/>
              <a:t>Some</a:t>
            </a:r>
            <a:r>
              <a:rPr lang="zh-CN" altLang="en-US" dirty="0"/>
              <a:t> </a:t>
            </a:r>
            <a:r>
              <a:rPr lang="en-US" altLang="zh-CN" dirty="0"/>
              <a:t>Other</a:t>
            </a:r>
            <a:r>
              <a:rPr lang="zh-CN" altLang="en-US" dirty="0"/>
              <a:t> </a:t>
            </a:r>
            <a:r>
              <a:rPr lang="en-US" altLang="zh-CN" dirty="0"/>
              <a:t>Old</a:t>
            </a:r>
            <a:r>
              <a:rPr lang="zh-CN" altLang="en-US" dirty="0"/>
              <a:t> </a:t>
            </a:r>
            <a:r>
              <a:rPr lang="en-US" altLang="zh-CN" dirty="0"/>
              <a:t>Things</a:t>
            </a:r>
            <a:endParaRPr lang="en-US" dirty="0"/>
          </a:p>
        </p:txBody>
      </p:sp>
      <p:sp>
        <p:nvSpPr>
          <p:cNvPr id="3" name="Content Placeholder 2">
            <a:extLst>
              <a:ext uri="{FF2B5EF4-FFF2-40B4-BE49-F238E27FC236}">
                <a16:creationId xmlns:a16="http://schemas.microsoft.com/office/drawing/2014/main" id="{29FA6115-2793-0CB3-61DD-0A59786A8C34}"/>
              </a:ext>
            </a:extLst>
          </p:cNvPr>
          <p:cNvSpPr>
            <a:spLocks noGrp="1"/>
          </p:cNvSpPr>
          <p:nvPr>
            <p:ph idx="1"/>
          </p:nvPr>
        </p:nvSpPr>
        <p:spPr>
          <a:xfrm>
            <a:off x="3760177" y="3537195"/>
            <a:ext cx="4671646" cy="4351338"/>
          </a:xfrm>
        </p:spPr>
        <p:txBody>
          <a:bodyPr/>
          <a:lstStyle/>
          <a:p>
            <a:pPr marL="0" indent="0">
              <a:buNone/>
            </a:pPr>
            <a:r>
              <a:rPr lang="en-US" b="0" i="0" dirty="0">
                <a:solidFill>
                  <a:srgbClr val="101418"/>
                </a:solidFill>
                <a:effectLst/>
                <a:latin typeface="Linux Libertine"/>
              </a:rPr>
              <a:t>Enigma Machine</a:t>
            </a:r>
          </a:p>
          <a:p>
            <a:pPr marL="0" indent="0">
              <a:buNone/>
            </a:pPr>
            <a:endParaRPr lang="en-US" dirty="0"/>
          </a:p>
        </p:txBody>
      </p:sp>
      <p:pic>
        <p:nvPicPr>
          <p:cNvPr id="5122" name="Picture 2" descr="The Imitation Game (2014) - IMDb">
            <a:extLst>
              <a:ext uri="{FF2B5EF4-FFF2-40B4-BE49-F238E27FC236}">
                <a16:creationId xmlns:a16="http://schemas.microsoft.com/office/drawing/2014/main" id="{607EB390-4C93-AFFD-D284-6A54FBB25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591" y="1910694"/>
            <a:ext cx="2213095" cy="3253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055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C46C8-5C13-ED49-163F-4ED01BD2CCF0}"/>
              </a:ext>
            </a:extLst>
          </p:cNvPr>
          <p:cNvSpPr>
            <a:spLocks noGrp="1"/>
          </p:cNvSpPr>
          <p:nvPr>
            <p:ph type="title"/>
          </p:nvPr>
        </p:nvSpPr>
        <p:spPr/>
        <p:txBody>
          <a:bodyPr/>
          <a:lstStyle/>
          <a:p>
            <a:r>
              <a:rPr lang="en-US" dirty="0"/>
              <a:t>Classical Cryptography </a:t>
            </a:r>
          </a:p>
        </p:txBody>
      </p:sp>
      <p:sp>
        <p:nvSpPr>
          <p:cNvPr id="4" name="Rectangle: Rounded Corners 3">
            <a:extLst>
              <a:ext uri="{FF2B5EF4-FFF2-40B4-BE49-F238E27FC236}">
                <a16:creationId xmlns:a16="http://schemas.microsoft.com/office/drawing/2014/main" id="{3B10ED21-34C7-3131-77A4-5B368EFF954D}"/>
              </a:ext>
            </a:extLst>
          </p:cNvPr>
          <p:cNvSpPr/>
          <p:nvPr/>
        </p:nvSpPr>
        <p:spPr>
          <a:xfrm>
            <a:off x="1808629" y="1632460"/>
            <a:ext cx="2178424" cy="120351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Design</a:t>
            </a:r>
          </a:p>
        </p:txBody>
      </p:sp>
      <p:sp>
        <p:nvSpPr>
          <p:cNvPr id="5" name="Rectangle: Rounded Corners 4">
            <a:extLst>
              <a:ext uri="{FF2B5EF4-FFF2-40B4-BE49-F238E27FC236}">
                <a16:creationId xmlns:a16="http://schemas.microsoft.com/office/drawing/2014/main" id="{EDBD97D9-3193-8AE8-0B4A-6C7197CF9EF4}"/>
              </a:ext>
            </a:extLst>
          </p:cNvPr>
          <p:cNvSpPr/>
          <p:nvPr/>
        </p:nvSpPr>
        <p:spPr>
          <a:xfrm>
            <a:off x="6582335" y="1632459"/>
            <a:ext cx="2178424" cy="120351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Try to break</a:t>
            </a:r>
          </a:p>
        </p:txBody>
      </p:sp>
      <p:sp>
        <p:nvSpPr>
          <p:cNvPr id="6" name="Arrow: Curved Down 5">
            <a:extLst>
              <a:ext uri="{FF2B5EF4-FFF2-40B4-BE49-F238E27FC236}">
                <a16:creationId xmlns:a16="http://schemas.microsoft.com/office/drawing/2014/main" id="{D4923413-4717-24D1-E6D4-25FD6A00A572}"/>
              </a:ext>
            </a:extLst>
          </p:cNvPr>
          <p:cNvSpPr/>
          <p:nvPr/>
        </p:nvSpPr>
        <p:spPr>
          <a:xfrm>
            <a:off x="4363571" y="1442197"/>
            <a:ext cx="1869141" cy="638735"/>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Curved Down 7">
            <a:extLst>
              <a:ext uri="{FF2B5EF4-FFF2-40B4-BE49-F238E27FC236}">
                <a16:creationId xmlns:a16="http://schemas.microsoft.com/office/drawing/2014/main" id="{FCEB99D0-73A6-2407-F975-A1FB1F937BCF}"/>
              </a:ext>
            </a:extLst>
          </p:cNvPr>
          <p:cNvSpPr/>
          <p:nvPr/>
        </p:nvSpPr>
        <p:spPr>
          <a:xfrm rot="10800000">
            <a:off x="4303058" y="2835970"/>
            <a:ext cx="1869141" cy="638735"/>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52E0FF17-F3AD-666B-D5B5-0C6FDA5A82AB}"/>
              </a:ext>
            </a:extLst>
          </p:cNvPr>
          <p:cNvSpPr txBox="1"/>
          <p:nvPr/>
        </p:nvSpPr>
        <p:spPr>
          <a:xfrm>
            <a:off x="4809566" y="2635915"/>
            <a:ext cx="1021976" cy="400110"/>
          </a:xfrm>
          <a:prstGeom prst="rect">
            <a:avLst/>
          </a:prstGeom>
          <a:noFill/>
        </p:spPr>
        <p:txBody>
          <a:bodyPr wrap="square" rtlCol="0">
            <a:spAutoFit/>
          </a:bodyPr>
          <a:lstStyle/>
          <a:p>
            <a:r>
              <a:rPr lang="en-US" sz="2000" dirty="0"/>
              <a:t>broken</a:t>
            </a:r>
          </a:p>
        </p:txBody>
      </p:sp>
      <p:cxnSp>
        <p:nvCxnSpPr>
          <p:cNvPr id="11" name="Straight Arrow Connector 10">
            <a:extLst>
              <a:ext uri="{FF2B5EF4-FFF2-40B4-BE49-F238E27FC236}">
                <a16:creationId xmlns:a16="http://schemas.microsoft.com/office/drawing/2014/main" id="{154079DC-4AB3-A6AD-4B5D-543CC06E05D8}"/>
              </a:ext>
            </a:extLst>
          </p:cNvPr>
          <p:cNvCxnSpPr>
            <a:cxnSpLocks/>
            <a:stCxn id="5" idx="2"/>
          </p:cNvCxnSpPr>
          <p:nvPr/>
        </p:nvCxnSpPr>
        <p:spPr>
          <a:xfrm>
            <a:off x="7671547" y="2835970"/>
            <a:ext cx="0" cy="219323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B42733A-53BB-4150-1619-15198A9FD793}"/>
              </a:ext>
            </a:extLst>
          </p:cNvPr>
          <p:cNvSpPr txBox="1"/>
          <p:nvPr/>
        </p:nvSpPr>
        <p:spPr>
          <a:xfrm>
            <a:off x="6958854" y="5225541"/>
            <a:ext cx="1647264" cy="523220"/>
          </a:xfrm>
          <a:prstGeom prst="rect">
            <a:avLst/>
          </a:prstGeom>
          <a:noFill/>
        </p:spPr>
        <p:txBody>
          <a:bodyPr wrap="square" rtlCol="0">
            <a:spAutoFit/>
          </a:bodyPr>
          <a:lstStyle/>
          <a:p>
            <a:r>
              <a:rPr lang="en-US" sz="2800" dirty="0"/>
              <a:t>Deploy</a:t>
            </a:r>
          </a:p>
        </p:txBody>
      </p:sp>
      <p:cxnSp>
        <p:nvCxnSpPr>
          <p:cNvPr id="14" name="Straight Arrow Connector 13">
            <a:extLst>
              <a:ext uri="{FF2B5EF4-FFF2-40B4-BE49-F238E27FC236}">
                <a16:creationId xmlns:a16="http://schemas.microsoft.com/office/drawing/2014/main" id="{25C201CB-8F64-F18C-8EE6-FB1DA772E889}"/>
              </a:ext>
            </a:extLst>
          </p:cNvPr>
          <p:cNvCxnSpPr>
            <a:cxnSpLocks/>
            <a:stCxn id="13" idx="1"/>
          </p:cNvCxnSpPr>
          <p:nvPr/>
        </p:nvCxnSpPr>
        <p:spPr>
          <a:xfrm flipH="1">
            <a:off x="4558553" y="5487151"/>
            <a:ext cx="240030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3711981D-F0E5-3170-8816-3463B6DC6132}"/>
              </a:ext>
            </a:extLst>
          </p:cNvPr>
          <p:cNvSpPr txBox="1"/>
          <p:nvPr/>
        </p:nvSpPr>
        <p:spPr>
          <a:xfrm>
            <a:off x="2198593" y="5029200"/>
            <a:ext cx="2400301" cy="830997"/>
          </a:xfrm>
          <a:prstGeom prst="rect">
            <a:avLst/>
          </a:prstGeom>
          <a:noFill/>
        </p:spPr>
        <p:txBody>
          <a:bodyPr wrap="square">
            <a:spAutoFit/>
          </a:bodyPr>
          <a:lstStyle/>
          <a:p>
            <a:r>
              <a:rPr lang="en-US" sz="2400" dirty="0"/>
              <a:t>Catastrophic </a:t>
            </a:r>
          </a:p>
          <a:p>
            <a:r>
              <a:rPr lang="en-US" sz="2400" dirty="0"/>
              <a:t>failure</a:t>
            </a:r>
          </a:p>
        </p:txBody>
      </p:sp>
    </p:spTree>
    <p:extLst>
      <p:ext uri="{BB962C8B-B14F-4D97-AF65-F5344CB8AC3E}">
        <p14:creationId xmlns:p14="http://schemas.microsoft.com/office/powerpoint/2010/main" val="40724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1097A-AAC3-4FE2-AB3E-5E14BCFFE2B9}"/>
              </a:ext>
            </a:extLst>
          </p:cNvPr>
          <p:cNvSpPr>
            <a:spLocks noGrp="1"/>
          </p:cNvSpPr>
          <p:nvPr>
            <p:ph type="title"/>
          </p:nvPr>
        </p:nvSpPr>
        <p:spPr/>
        <p:txBody>
          <a:bodyPr/>
          <a:lstStyle/>
          <a:p>
            <a:r>
              <a:rPr lang="en-US" dirty="0"/>
              <a:t>Modern Cryptography </a:t>
            </a:r>
          </a:p>
        </p:txBody>
      </p:sp>
      <p:sp>
        <p:nvSpPr>
          <p:cNvPr id="6" name="Rectangle 5">
            <a:extLst>
              <a:ext uri="{FF2B5EF4-FFF2-40B4-BE49-F238E27FC236}">
                <a16:creationId xmlns:a16="http://schemas.microsoft.com/office/drawing/2014/main" id="{63CFCF88-C4AC-475E-8DD0-04CD389F3592}"/>
              </a:ext>
            </a:extLst>
          </p:cNvPr>
          <p:cNvSpPr/>
          <p:nvPr/>
        </p:nvSpPr>
        <p:spPr>
          <a:xfrm>
            <a:off x="2667000" y="1737386"/>
            <a:ext cx="1449638" cy="99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50" b="1" dirty="0">
                <a:solidFill>
                  <a:prstClr val="white"/>
                </a:solidFill>
                <a:latin typeface="Georgia" panose="02040502050405020303"/>
              </a:rPr>
              <a:t>Definitions</a:t>
            </a:r>
          </a:p>
        </p:txBody>
      </p:sp>
      <p:sp>
        <p:nvSpPr>
          <p:cNvPr id="7" name="Rectangle 6">
            <a:extLst>
              <a:ext uri="{FF2B5EF4-FFF2-40B4-BE49-F238E27FC236}">
                <a16:creationId xmlns:a16="http://schemas.microsoft.com/office/drawing/2014/main" id="{55999C47-F592-4D96-8A8E-25F33250F5F1}"/>
              </a:ext>
            </a:extLst>
          </p:cNvPr>
          <p:cNvSpPr/>
          <p:nvPr/>
        </p:nvSpPr>
        <p:spPr>
          <a:xfrm>
            <a:off x="4912007" y="1733135"/>
            <a:ext cx="1843495" cy="99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50" b="1" dirty="0">
                <a:solidFill>
                  <a:prstClr val="white"/>
                </a:solidFill>
                <a:latin typeface="Georgia" panose="02040502050405020303"/>
              </a:rPr>
              <a:t>Constructions</a:t>
            </a:r>
          </a:p>
        </p:txBody>
      </p:sp>
      <p:sp>
        <p:nvSpPr>
          <p:cNvPr id="15" name="Oval 14">
            <a:extLst>
              <a:ext uri="{FF2B5EF4-FFF2-40B4-BE49-F238E27FC236}">
                <a16:creationId xmlns:a16="http://schemas.microsoft.com/office/drawing/2014/main" id="{99F92670-CF4E-47FF-AA8A-05E8D6726162}"/>
              </a:ext>
            </a:extLst>
          </p:cNvPr>
          <p:cNvSpPr/>
          <p:nvPr/>
        </p:nvSpPr>
        <p:spPr>
          <a:xfrm>
            <a:off x="5672531" y="3598093"/>
            <a:ext cx="2333762" cy="81732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2000" dirty="0">
                <a:solidFill>
                  <a:prstClr val="white"/>
                </a:solidFill>
                <a:latin typeface="Georgia" panose="02040502050405020303"/>
              </a:rPr>
              <a:t>reductions</a:t>
            </a:r>
          </a:p>
        </p:txBody>
      </p:sp>
      <p:sp>
        <p:nvSpPr>
          <p:cNvPr id="16" name="Oval 15">
            <a:extLst>
              <a:ext uri="{FF2B5EF4-FFF2-40B4-BE49-F238E27FC236}">
                <a16:creationId xmlns:a16="http://schemas.microsoft.com/office/drawing/2014/main" id="{E9E70701-E1CA-449A-958F-9FD958A7842F}"/>
              </a:ext>
            </a:extLst>
          </p:cNvPr>
          <p:cNvSpPr/>
          <p:nvPr/>
        </p:nvSpPr>
        <p:spPr>
          <a:xfrm>
            <a:off x="9157530" y="3598093"/>
            <a:ext cx="2408664" cy="817322"/>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2000" dirty="0">
                <a:solidFill>
                  <a:prstClr val="white"/>
                </a:solidFill>
                <a:latin typeface="Georgia" panose="02040502050405020303"/>
              </a:rPr>
              <a:t>assumptions</a:t>
            </a:r>
          </a:p>
        </p:txBody>
      </p:sp>
      <p:sp>
        <p:nvSpPr>
          <p:cNvPr id="17" name="Rectangle 16">
            <a:extLst>
              <a:ext uri="{FF2B5EF4-FFF2-40B4-BE49-F238E27FC236}">
                <a16:creationId xmlns:a16="http://schemas.microsoft.com/office/drawing/2014/main" id="{345F117B-C9A5-48A0-971F-C27A274FF299}"/>
              </a:ext>
            </a:extLst>
          </p:cNvPr>
          <p:cNvSpPr/>
          <p:nvPr/>
        </p:nvSpPr>
        <p:spPr>
          <a:xfrm>
            <a:off x="7640311" y="1733135"/>
            <a:ext cx="1843495" cy="9941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650" b="1" dirty="0">
                <a:solidFill>
                  <a:prstClr val="white"/>
                </a:solidFill>
                <a:latin typeface="Georgia" panose="02040502050405020303"/>
              </a:rPr>
              <a:t>Proof</a:t>
            </a:r>
          </a:p>
        </p:txBody>
      </p:sp>
      <p:sp>
        <p:nvSpPr>
          <p:cNvPr id="21" name="Arrow: Right 20">
            <a:extLst>
              <a:ext uri="{FF2B5EF4-FFF2-40B4-BE49-F238E27FC236}">
                <a16:creationId xmlns:a16="http://schemas.microsoft.com/office/drawing/2014/main" id="{30AEFA8A-0D38-4AD9-BEFF-651773655768}"/>
              </a:ext>
            </a:extLst>
          </p:cNvPr>
          <p:cNvSpPr/>
          <p:nvPr/>
        </p:nvSpPr>
        <p:spPr>
          <a:xfrm rot="8873894">
            <a:off x="7337608" y="3045471"/>
            <a:ext cx="757732" cy="255730"/>
          </a:xfrm>
          <a:prstGeom prst="rightArrow">
            <a:avLst>
              <a:gd name="adj1" fmla="val 50000"/>
              <a:gd name="adj2" fmla="val 8659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A76C7111-4A35-47E2-A380-2B07E5BF7F71}"/>
              </a:ext>
            </a:extLst>
          </p:cNvPr>
          <p:cNvSpPr/>
          <p:nvPr/>
        </p:nvSpPr>
        <p:spPr>
          <a:xfrm rot="2145852">
            <a:off x="9104939" y="3132042"/>
            <a:ext cx="757732" cy="255730"/>
          </a:xfrm>
          <a:prstGeom prst="rightArrow">
            <a:avLst>
              <a:gd name="adj1" fmla="val 50000"/>
              <a:gd name="adj2" fmla="val 8659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381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1"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E3D97-B01F-44C6-8C46-6ADD45488367}"/>
              </a:ext>
            </a:extLst>
          </p:cNvPr>
          <p:cNvSpPr>
            <a:spLocks noGrp="1"/>
          </p:cNvSpPr>
          <p:nvPr>
            <p:ph type="title"/>
          </p:nvPr>
        </p:nvSpPr>
        <p:spPr/>
        <p:txBody>
          <a:bodyPr/>
          <a:lstStyle/>
          <a:p>
            <a:r>
              <a:rPr lang="en-US" dirty="0"/>
              <a:t>Symmetric-key Encryption</a:t>
            </a:r>
          </a:p>
        </p:txBody>
      </p:sp>
      <p:pic>
        <p:nvPicPr>
          <p:cNvPr id="3074" name="Picture 2" descr="Image result for symmetric encryption">
            <a:extLst>
              <a:ext uri="{FF2B5EF4-FFF2-40B4-BE49-F238E27FC236}">
                <a16:creationId xmlns:a16="http://schemas.microsoft.com/office/drawing/2014/main" id="{67E2A111-96F2-4CEF-B692-EA79CB0145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6858" y="1899454"/>
            <a:ext cx="5369138" cy="2934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675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CA6A-C822-4E19-B1C0-D052760707C2}"/>
              </a:ext>
            </a:extLst>
          </p:cNvPr>
          <p:cNvSpPr>
            <a:spLocks noGrp="1"/>
          </p:cNvSpPr>
          <p:nvPr>
            <p:ph type="title"/>
          </p:nvPr>
        </p:nvSpPr>
        <p:spPr/>
        <p:txBody>
          <a:bodyPr/>
          <a:lstStyle/>
          <a:p>
            <a:r>
              <a:rPr lang="en-US" dirty="0"/>
              <a:t>Definitions for encryption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00187A-FE99-4C59-9E46-A6883838BC95}"/>
                  </a:ext>
                </a:extLst>
              </p:cNvPr>
              <p:cNvSpPr>
                <a:spLocks noGrp="1"/>
              </p:cNvSpPr>
              <p:nvPr>
                <p:ph idx="1"/>
              </p:nvPr>
            </p:nvSpPr>
            <p:spPr>
              <a:xfrm>
                <a:off x="2152650" y="1524000"/>
                <a:ext cx="7886700" cy="4876800"/>
              </a:xfrm>
            </p:spPr>
            <p:txBody>
              <a:bodyPr>
                <a:normAutofit/>
              </a:bodyPr>
              <a:lstStyle/>
              <a:p>
                <a:pPr marL="0" indent="0">
                  <a:buNone/>
                </a:pPr>
                <a:r>
                  <a:rPr lang="en-US" dirty="0"/>
                  <a:t>Algorithms: </a:t>
                </a:r>
              </a:p>
              <a:p>
                <a:pPr lvl="1"/>
                <a:r>
                  <a:rPr lang="en-US" sz="2800" b="1" i="1" dirty="0">
                    <a:solidFill>
                      <a:srgbClr val="0070C0"/>
                    </a:solidFill>
                  </a:rPr>
                  <a:t>k</a:t>
                </a:r>
                <a:r>
                  <a:rPr lang="en-US" sz="2800" dirty="0"/>
                  <a:t>: secret key, </a:t>
                </a:r>
                <a:r>
                  <a:rPr lang="en-US" sz="2800" b="1" i="1" dirty="0">
                    <a:solidFill>
                      <a:srgbClr val="0070C0"/>
                    </a:solidFill>
                  </a:rPr>
                  <a:t>m</a:t>
                </a:r>
                <a:r>
                  <a:rPr lang="en-US" sz="2800" dirty="0"/>
                  <a:t>: message, </a:t>
                </a:r>
                <a:r>
                  <a:rPr lang="en-US" sz="2800" b="1" i="1" dirty="0">
                    <a:solidFill>
                      <a:srgbClr val="0070C0"/>
                    </a:solidFill>
                  </a:rPr>
                  <a:t>c</a:t>
                </a:r>
                <a:r>
                  <a:rPr lang="en-US" sz="2800" dirty="0"/>
                  <a:t>: ciphertext</a:t>
                </a:r>
              </a:p>
              <a:p>
                <a:pPr lvl="1"/>
                <a14:m>
                  <m:oMath xmlns:m="http://schemas.openxmlformats.org/officeDocument/2006/math">
                    <m:r>
                      <a:rPr lang="en-US" sz="2800" b="0" i="1" smtClean="0">
                        <a:latin typeface="Cambria Math" panose="02040503050406030204" pitchFamily="18" charset="0"/>
                      </a:rPr>
                      <m:t>𝑘</m:t>
                    </m:r>
                    <m:r>
                      <a:rPr lang="en-US" sz="2800" i="1">
                        <a:latin typeface="Cambria Math" panose="02040503050406030204" pitchFamily="18" charset="0"/>
                      </a:rPr>
                      <m:t>=</m:t>
                    </m:r>
                    <m:r>
                      <a:rPr lang="en-US" sz="2800" b="1" i="0" smtClean="0">
                        <a:latin typeface="Cambria Math" panose="02040503050406030204" pitchFamily="18" charset="0"/>
                      </a:rPr>
                      <m:t>𝐆𝐞𝐧</m:t>
                    </m:r>
                    <m:r>
                      <a:rPr lang="en-US" sz="2800" i="1">
                        <a:latin typeface="Cambria Math" panose="02040503050406030204" pitchFamily="18" charset="0"/>
                      </a:rPr>
                      <m:t>(</m:t>
                    </m:r>
                    <m:r>
                      <a:rPr lang="en-US" sz="2800" b="0" i="1" smtClean="0">
                        <a:latin typeface="Cambria Math" panose="02040503050406030204" pitchFamily="18" charset="0"/>
                      </a:rPr>
                      <m:t> </m:t>
                    </m:r>
                    <m:r>
                      <a:rPr lang="en-US" sz="2800" i="1">
                        <a:latin typeface="Cambria Math" panose="02040503050406030204" pitchFamily="18" charset="0"/>
                      </a:rPr>
                      <m:t>)</m:t>
                    </m:r>
                  </m:oMath>
                </a14:m>
                <a:endParaRPr lang="en-US" sz="2800" dirty="0"/>
              </a:p>
              <a:p>
                <a:pPr lvl="1"/>
                <a14:m>
                  <m:oMath xmlns:m="http://schemas.openxmlformats.org/officeDocument/2006/math">
                    <m:r>
                      <a:rPr lang="en-US" sz="2800" i="1">
                        <a:latin typeface="Cambria Math" panose="02040503050406030204" pitchFamily="18" charset="0"/>
                      </a:rPr>
                      <m:t>𝑐</m:t>
                    </m:r>
                    <m:r>
                      <a:rPr lang="en-US" sz="2800" i="1">
                        <a:latin typeface="Cambria Math" panose="02040503050406030204" pitchFamily="18" charset="0"/>
                      </a:rPr>
                      <m:t>= </m:t>
                    </m:r>
                    <m:r>
                      <a:rPr lang="en-US" sz="2800" b="1" i="1">
                        <a:latin typeface="Cambria Math" panose="02040503050406030204" pitchFamily="18" charset="0"/>
                      </a:rPr>
                      <m:t>𝐄𝐧𝐜</m:t>
                    </m:r>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𝑚</m:t>
                    </m:r>
                    <m:r>
                      <a:rPr lang="en-US" sz="2800" i="1">
                        <a:latin typeface="Cambria Math" panose="02040503050406030204" pitchFamily="18" charset="0"/>
                      </a:rPr>
                      <m:t>)</m:t>
                    </m:r>
                  </m:oMath>
                </a14:m>
                <a:endParaRPr lang="en-US" sz="2800" dirty="0"/>
              </a:p>
              <a:p>
                <a:pPr lvl="1"/>
                <a14:m>
                  <m:oMath xmlns:m="http://schemas.openxmlformats.org/officeDocument/2006/math">
                    <m:r>
                      <a:rPr lang="en-US" sz="2800" i="1">
                        <a:latin typeface="Cambria Math" panose="02040503050406030204" pitchFamily="18" charset="0"/>
                      </a:rPr>
                      <m:t>𝑚</m:t>
                    </m:r>
                    <m:r>
                      <a:rPr lang="en-US" sz="2800" i="1">
                        <a:latin typeface="Cambria Math" panose="02040503050406030204" pitchFamily="18" charset="0"/>
                      </a:rPr>
                      <m:t>=</m:t>
                    </m:r>
                    <m:r>
                      <a:rPr lang="en-US" sz="2800" b="1" i="1">
                        <a:latin typeface="Cambria Math" panose="02040503050406030204" pitchFamily="18" charset="0"/>
                      </a:rPr>
                      <m:t>𝐃𝐞𝐜</m:t>
                    </m:r>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𝑐</m:t>
                    </m:r>
                    <m:r>
                      <a:rPr lang="en-US" sz="2800" i="1">
                        <a:latin typeface="Cambria Math" panose="02040503050406030204" pitchFamily="18" charset="0"/>
                      </a:rPr>
                      <m:t>)</m:t>
                    </m:r>
                  </m:oMath>
                </a14:m>
                <a:endParaRPr lang="en-US" sz="2800" dirty="0"/>
              </a:p>
              <a:p>
                <a:pPr lvl="1"/>
                <a:endParaRPr lang="en-US" sz="2000" dirty="0"/>
              </a:p>
            </p:txBody>
          </p:sp>
        </mc:Choice>
        <mc:Fallback xmlns="">
          <p:sp>
            <p:nvSpPr>
              <p:cNvPr id="3" name="Content Placeholder 2">
                <a:extLst>
                  <a:ext uri="{FF2B5EF4-FFF2-40B4-BE49-F238E27FC236}">
                    <a16:creationId xmlns:a16="http://schemas.microsoft.com/office/drawing/2014/main" id="{E300187A-FE99-4C59-9E46-A6883838BC95}"/>
                  </a:ext>
                </a:extLst>
              </p:cNvPr>
              <p:cNvSpPr>
                <a:spLocks noGrp="1" noRot="1" noChangeAspect="1" noMove="1" noResize="1" noEditPoints="1" noAdjustHandles="1" noChangeArrowheads="1" noChangeShapeType="1" noTextEdit="1"/>
              </p:cNvSpPr>
              <p:nvPr>
                <p:ph idx="1"/>
              </p:nvPr>
            </p:nvSpPr>
            <p:spPr>
              <a:xfrm>
                <a:off x="2152650" y="1524000"/>
                <a:ext cx="7886700" cy="4876800"/>
              </a:xfrm>
              <a:blipFill>
                <a:blip r:embed="rId2"/>
                <a:stretch>
                  <a:fillRect l="-1546" t="-2125"/>
                </a:stretch>
              </a:blipFill>
            </p:spPr>
            <p:txBody>
              <a:bodyPr/>
              <a:lstStyle/>
              <a:p>
                <a:r>
                  <a:rPr lang="en-US">
                    <a:noFill/>
                  </a:rPr>
                  <a:t> </a:t>
                </a:r>
              </a:p>
            </p:txBody>
          </p:sp>
        </mc:Fallback>
      </mc:AlternateContent>
    </p:spTree>
    <p:extLst>
      <p:ext uri="{BB962C8B-B14F-4D97-AF65-F5344CB8AC3E}">
        <p14:creationId xmlns:p14="http://schemas.microsoft.com/office/powerpoint/2010/main" val="2909275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342900" lvl="1" indent="-342900"/>
                <a14:m>
                  <m:oMath xmlns:m="http://schemas.openxmlformats.org/officeDocument/2006/math">
                    <m:r>
                      <a:rPr lang="en-US" sz="2800" b="0" i="1" smtClean="0">
                        <a:latin typeface="Cambria Math" panose="02040503050406030204" pitchFamily="18" charset="0"/>
                      </a:rPr>
                      <m:t>𝒦</m:t>
                    </m:r>
                  </m:oMath>
                </a14:m>
                <a:r>
                  <a:rPr lang="en-US" sz="2800" b="1" dirty="0"/>
                  <a:t> </a:t>
                </a:r>
                <a:r>
                  <a:rPr lang="en-US" sz="2800" dirty="0"/>
                  <a:t>(key space) – set of all possible keys</a:t>
                </a:r>
                <a:endParaRPr lang="en-US" sz="2800" b="1" dirty="0"/>
              </a:p>
              <a:p>
                <a:endParaRPr lang="en-US" b="1" dirty="0"/>
              </a:p>
              <a:p>
                <a14:m>
                  <m:oMath xmlns:m="http://schemas.openxmlformats.org/officeDocument/2006/math">
                    <m:r>
                      <a:rPr lang="en-US" b="0" i="1" smtClean="0">
                        <a:latin typeface="Cambria Math" panose="02040503050406030204" pitchFamily="18" charset="0"/>
                      </a:rPr>
                      <m:t>𝒞</m:t>
                    </m:r>
                  </m:oMath>
                </a14:m>
                <a:r>
                  <a:rPr lang="en-US" dirty="0"/>
                  <a:t>(ciphertext space) – set of all possible ciphertexts</a:t>
                </a:r>
              </a:p>
              <a:p>
                <a:endParaRPr lang="en-US" dirty="0"/>
              </a:p>
              <a:p>
                <a14:m>
                  <m:oMath xmlns:m="http://schemas.openxmlformats.org/officeDocument/2006/math">
                    <m:r>
                      <a:rPr lang="en-US" i="1" smtClean="0">
                        <a:latin typeface="Cambria Math" panose="02040503050406030204" pitchFamily="18" charset="0"/>
                      </a:rPr>
                      <m:t>ℳ</m:t>
                    </m:r>
                  </m:oMath>
                </a14:m>
                <a:r>
                  <a:rPr lang="en-US" dirty="0"/>
                  <a:t> (message space) - set of all possible messages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521"/>
                </a:stretch>
              </a:blipFill>
            </p:spPr>
            <p:txBody>
              <a:bodyPr/>
              <a:lstStyle/>
              <a:p>
                <a:r>
                  <a:rPr lang="en-US">
                    <a:noFill/>
                  </a:rPr>
                  <a:t> </a:t>
                </a:r>
              </a:p>
            </p:txBody>
          </p:sp>
        </mc:Fallback>
      </mc:AlternateContent>
    </p:spTree>
    <p:extLst>
      <p:ext uri="{BB962C8B-B14F-4D97-AF65-F5344CB8AC3E}">
        <p14:creationId xmlns:p14="http://schemas.microsoft.com/office/powerpoint/2010/main" val="1851486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CA6A-C822-4E19-B1C0-D052760707C2}"/>
              </a:ext>
            </a:extLst>
          </p:cNvPr>
          <p:cNvSpPr>
            <a:spLocks noGrp="1"/>
          </p:cNvSpPr>
          <p:nvPr>
            <p:ph type="title"/>
          </p:nvPr>
        </p:nvSpPr>
        <p:spPr/>
        <p:txBody>
          <a:bodyPr/>
          <a:lstStyle/>
          <a:p>
            <a:r>
              <a:rPr lang="en-US" dirty="0"/>
              <a:t>Definitions for encryption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00187A-FE99-4C59-9E46-A6883838BC95}"/>
                  </a:ext>
                </a:extLst>
              </p:cNvPr>
              <p:cNvSpPr>
                <a:spLocks noGrp="1"/>
              </p:cNvSpPr>
              <p:nvPr>
                <p:ph idx="1"/>
              </p:nvPr>
            </p:nvSpPr>
            <p:spPr>
              <a:xfrm>
                <a:off x="658906" y="1524000"/>
                <a:ext cx="10428194" cy="4876800"/>
              </a:xfrm>
            </p:spPr>
            <p:txBody>
              <a:bodyPr>
                <a:normAutofit/>
              </a:bodyPr>
              <a:lstStyle/>
              <a:p>
                <a:r>
                  <a:rPr lang="en-US" dirty="0"/>
                  <a:t>Algorithms: </a:t>
                </a:r>
              </a:p>
              <a:p>
                <a:pPr lvl="1"/>
                <a:r>
                  <a:rPr lang="en-US" sz="2000" b="1" i="1" dirty="0">
                    <a:solidFill>
                      <a:srgbClr val="0070C0"/>
                    </a:solidFill>
                  </a:rPr>
                  <a:t>k</a:t>
                </a:r>
                <a:r>
                  <a:rPr lang="en-US" sz="2000" dirty="0"/>
                  <a:t>: secret key, </a:t>
                </a:r>
                <a:r>
                  <a:rPr lang="en-US" sz="2000" b="1" i="1" dirty="0">
                    <a:solidFill>
                      <a:srgbClr val="0070C0"/>
                    </a:solidFill>
                  </a:rPr>
                  <a:t>m</a:t>
                </a:r>
                <a:r>
                  <a:rPr lang="en-US" sz="2000" dirty="0"/>
                  <a:t>: message, </a:t>
                </a:r>
                <a:r>
                  <a:rPr lang="en-US" sz="2000" b="1" i="1" dirty="0">
                    <a:solidFill>
                      <a:srgbClr val="0070C0"/>
                    </a:solidFill>
                  </a:rPr>
                  <a:t>c</a:t>
                </a:r>
                <a:r>
                  <a:rPr lang="en-US" sz="2000" dirty="0"/>
                  <a:t>: ciphertext</a:t>
                </a:r>
              </a:p>
              <a:p>
                <a:pPr lvl="1"/>
                <a14:m>
                  <m:oMath xmlns:m="http://schemas.openxmlformats.org/officeDocument/2006/math">
                    <m:r>
                      <a:rPr lang="en-US" sz="2000" b="0" i="1" smtClean="0">
                        <a:latin typeface="Cambria Math" panose="02040503050406030204" pitchFamily="18" charset="0"/>
                      </a:rPr>
                      <m:t>𝑘</m:t>
                    </m:r>
                    <m:r>
                      <a:rPr lang="en-US" sz="2000" i="1">
                        <a:latin typeface="Cambria Math" panose="02040503050406030204" pitchFamily="18" charset="0"/>
                      </a:rPr>
                      <m:t>=</m:t>
                    </m:r>
                    <m:r>
                      <m:rPr>
                        <m:sty m:val="p"/>
                      </m:rPr>
                      <a:rPr lang="en-US" sz="2000" b="0" i="0" smtClean="0">
                        <a:latin typeface="Cambria Math" panose="02040503050406030204" pitchFamily="18" charset="0"/>
                      </a:rPr>
                      <m:t>Gen</m:t>
                    </m:r>
                    <m:r>
                      <a:rPr lang="en-US" sz="2000" i="1">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𝑐</m:t>
                    </m:r>
                    <m:r>
                      <a:rPr lang="en-US" sz="2000" i="1">
                        <a:latin typeface="Cambria Math" panose="02040503050406030204" pitchFamily="18" charset="0"/>
                      </a:rPr>
                      <m:t>= </m:t>
                    </m:r>
                    <m:r>
                      <m:rPr>
                        <m:sty m:val="p"/>
                      </m:rPr>
                      <a:rPr lang="en-US" sz="2000">
                        <a:latin typeface="Cambria Math" panose="02040503050406030204" pitchFamily="18" charset="0"/>
                      </a:rPr>
                      <m:t>Enc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𝑚</m:t>
                    </m:r>
                    <m:r>
                      <a:rPr lang="en-US" sz="2000" i="1">
                        <a:latin typeface="Cambria Math" panose="02040503050406030204" pitchFamily="18" charset="0"/>
                      </a:rPr>
                      <m:t>=</m:t>
                    </m:r>
                    <m:r>
                      <m:rPr>
                        <m:sty m:val="p"/>
                      </m:rPr>
                      <a:rPr lang="en-US" sz="2000">
                        <a:latin typeface="Cambria Math" panose="02040503050406030204" pitchFamily="18" charset="0"/>
                      </a:rPr>
                      <m:t>Dec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𝑐</m:t>
                    </m:r>
                    <m:r>
                      <a:rPr lang="en-US" sz="2000" i="1">
                        <a:latin typeface="Cambria Math" panose="02040503050406030204" pitchFamily="18" charset="0"/>
                      </a:rPr>
                      <m:t>)</m:t>
                    </m:r>
                  </m:oMath>
                </a14:m>
                <a:endParaRPr lang="en-US" sz="2000" dirty="0"/>
              </a:p>
              <a:p>
                <a:pPr lvl="1"/>
                <a:endParaRPr lang="en-US" sz="2000" dirty="0"/>
              </a:p>
              <a:p>
                <a:r>
                  <a:rPr lang="en-US" b="1" dirty="0"/>
                  <a:t>Correctness</a:t>
                </a:r>
                <a:r>
                  <a:rPr lang="en-US" dirty="0"/>
                  <a:t>: for every message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ℳ</m:t>
                    </m:r>
                    <m:r>
                      <a:rPr lang="en-US" b="0" i="1" smtClean="0">
                        <a:latin typeface="Cambria Math" panose="02040503050406030204" pitchFamily="18" charset="0"/>
                      </a:rPr>
                      <m:t>,</m:t>
                    </m:r>
                  </m:oMath>
                </a14:m>
                <a:r>
                  <a:rPr lang="en-US" dirty="0"/>
                  <a:t> any secret key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𝒦</m:t>
                    </m:r>
                  </m:oMath>
                </a14:m>
                <a:endParaRPr lang="en-US" dirty="0"/>
              </a:p>
              <a:p>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𝑚</m:t>
                      </m:r>
                      <m:r>
                        <a:rPr lang="en-US">
                          <a:latin typeface="Cambria Math" panose="02040503050406030204" pitchFamily="18" charset="0"/>
                        </a:rPr>
                        <m:t>=</m:t>
                      </m:r>
                      <m:r>
                        <m:rPr>
                          <m:sty m:val="p"/>
                        </m:rPr>
                        <a:rPr lang="en-US">
                          <a:latin typeface="Cambria Math" panose="02040503050406030204" pitchFamily="18" charset="0"/>
                        </a:rPr>
                        <m:t>Dec</m:t>
                      </m:r>
                      <m:r>
                        <a:rPr lang="en-US">
                          <a:latin typeface="Cambria Math" panose="02040503050406030204" pitchFamily="18" charset="0"/>
                        </a:rPr>
                        <m:t>(</m:t>
                      </m:r>
                      <m:r>
                        <a:rPr lang="en-US" i="1">
                          <a:latin typeface="Cambria Math" panose="02040503050406030204" pitchFamily="18" charset="0"/>
                        </a:rPr>
                        <m:t>𝑘</m:t>
                      </m:r>
                      <m:r>
                        <a:rPr lang="en-US">
                          <a:latin typeface="Cambria Math" panose="02040503050406030204" pitchFamily="18" charset="0"/>
                        </a:rPr>
                        <m:t>,</m:t>
                      </m:r>
                      <m:r>
                        <m:rPr>
                          <m:sty m:val="p"/>
                        </m:rPr>
                        <a:rPr lang="en-US">
                          <a:latin typeface="Cambria Math" panose="02040503050406030204" pitchFamily="18" charset="0"/>
                        </a:rPr>
                        <m:t>Enc</m:t>
                      </m:r>
                      <m:d>
                        <m:dPr>
                          <m:ctrlPr>
                            <a:rPr lang="en-US"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𝑚</m:t>
                          </m:r>
                        </m:e>
                      </m:d>
                      <m:r>
                        <a:rPr lang="en-US" i="1">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E300187A-FE99-4C59-9E46-A6883838BC95}"/>
                  </a:ext>
                </a:extLst>
              </p:cNvPr>
              <p:cNvSpPr>
                <a:spLocks noGrp="1" noRot="1" noChangeAspect="1" noMove="1" noResize="1" noEditPoints="1" noAdjustHandles="1" noChangeArrowheads="1" noChangeShapeType="1" noTextEdit="1"/>
              </p:cNvSpPr>
              <p:nvPr>
                <p:ph idx="1"/>
              </p:nvPr>
            </p:nvSpPr>
            <p:spPr>
              <a:xfrm>
                <a:off x="658906" y="1524000"/>
                <a:ext cx="10428194" cy="4876800"/>
              </a:xfrm>
              <a:blipFill>
                <a:blip r:embed="rId2"/>
                <a:stretch>
                  <a:fillRect l="-1052" t="-2125"/>
                </a:stretch>
              </a:blipFill>
            </p:spPr>
            <p:txBody>
              <a:bodyPr/>
              <a:lstStyle/>
              <a:p>
                <a:r>
                  <a:rPr lang="en-US">
                    <a:noFill/>
                  </a:rPr>
                  <a:t> </a:t>
                </a:r>
              </a:p>
            </p:txBody>
          </p:sp>
        </mc:Fallback>
      </mc:AlternateContent>
    </p:spTree>
    <p:extLst>
      <p:ext uri="{BB962C8B-B14F-4D97-AF65-F5344CB8AC3E}">
        <p14:creationId xmlns:p14="http://schemas.microsoft.com/office/powerpoint/2010/main" val="2325272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i="1" dirty="0"/>
                  <a:t>Event</a:t>
                </a:r>
                <a:r>
                  <a:rPr lang="en-US" dirty="0"/>
                  <a:t>: a particular occurrence in some experiment</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oMath>
                </a14:m>
                <a:r>
                  <a:rPr lang="en-US" dirty="0"/>
                  <a:t>: probability of event E</a:t>
                </a:r>
              </a:p>
              <a:p>
                <a:pPr lvl="1"/>
                <a:endParaRPr lang="en-US" sz="2800" dirty="0"/>
              </a:p>
              <a:p>
                <a:r>
                  <a:rPr lang="en-US" dirty="0"/>
                  <a:t>Conditional probability: probability that one event occurs, </a:t>
                </a:r>
                <a:r>
                  <a:rPr lang="en-US" i="1" dirty="0"/>
                  <a:t>given that </a:t>
                </a:r>
                <a:r>
                  <a:rPr lang="en-US" dirty="0"/>
                  <a:t>some other event occurred</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 </m:t>
                    </m:r>
                    <m:r>
                      <a:rPr lang="en-US" i="1" dirty="0">
                        <a:latin typeface="Cambria Math" panose="02040503050406030204" pitchFamily="18" charset="0"/>
                      </a:rPr>
                      <m:t>𝐵</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dirty="0">
                        <a:latin typeface="Cambria Math" panose="02040503050406030204" pitchFamily="18" charset="0"/>
                      </a:rPr>
                      <m:t>𝑎𝑛𝑑</m:t>
                    </m:r>
                    <m:r>
                      <a:rPr lang="en-US" i="1" dirty="0">
                        <a:latin typeface="Cambria Math" panose="02040503050406030204" pitchFamily="18" charset="0"/>
                      </a:rPr>
                      <m:t> </m:t>
                    </m:r>
                    <m:r>
                      <a:rPr lang="en-US" i="1" dirty="0">
                        <a:latin typeface="Cambria Math" panose="02040503050406030204" pitchFamily="18" charset="0"/>
                      </a:rPr>
                      <m:t>𝐵</m:t>
                    </m:r>
                    <m:r>
                      <a:rPr lang="en-US" i="1" dirty="0">
                        <a:latin typeface="Cambria Math" panose="02040503050406030204" pitchFamily="18" charset="0"/>
                      </a:rPr>
                      <m:t>]/</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m:t>
                    </m:r>
                  </m:oMath>
                </a14:m>
                <a:endParaRPr lang="en-US" dirty="0"/>
              </a:p>
              <a:p>
                <a:pPr lvl="1"/>
                <a:endParaRPr lang="en-US" dirty="0"/>
              </a:p>
              <a:p>
                <a:r>
                  <a:rPr lang="en-US" dirty="0"/>
                  <a:t>Two </a:t>
                </a:r>
                <a:r>
                  <a:rPr lang="en-US" dirty="0" err="1"/>
                  <a:t>r.v.’s</a:t>
                </a:r>
                <a:r>
                  <a:rPr lang="en-US" dirty="0"/>
                  <a:t> X, Y are </a:t>
                </a:r>
                <a:r>
                  <a:rPr lang="en-US" i="1" dirty="0"/>
                  <a:t>independent</a:t>
                </a:r>
                <a:r>
                  <a:rPr lang="en-US" dirty="0"/>
                  <a:t> if</a:t>
                </a:r>
                <a:br>
                  <a:rPr lang="en-US" dirty="0"/>
                </a:br>
                <a:r>
                  <a:rPr lang="en-US" dirty="0"/>
                  <a:t>  for all x, y: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𝑌</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521" r="-1681"/>
                </a:stretch>
              </a:blipFill>
            </p:spPr>
            <p:txBody>
              <a:bodyPr/>
              <a:lstStyle/>
              <a:p>
                <a:r>
                  <a:rPr lang="en-US">
                    <a:noFill/>
                  </a:rPr>
                  <a:t> </a:t>
                </a:r>
              </a:p>
            </p:txBody>
          </p:sp>
        </mc:Fallback>
      </mc:AlternateContent>
    </p:spTree>
    <p:extLst>
      <p:ext uri="{BB962C8B-B14F-4D97-AF65-F5344CB8AC3E}">
        <p14:creationId xmlns:p14="http://schemas.microsoft.com/office/powerpoint/2010/main" val="434466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CA6A-C822-4E19-B1C0-D052760707C2}"/>
              </a:ext>
            </a:extLst>
          </p:cNvPr>
          <p:cNvSpPr>
            <a:spLocks noGrp="1"/>
          </p:cNvSpPr>
          <p:nvPr>
            <p:ph type="title"/>
          </p:nvPr>
        </p:nvSpPr>
        <p:spPr/>
        <p:txBody>
          <a:bodyPr/>
          <a:lstStyle/>
          <a:p>
            <a:r>
              <a:rPr lang="en-US" dirty="0"/>
              <a:t>Definitions for encryption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00187A-FE99-4C59-9E46-A6883838BC95}"/>
                  </a:ext>
                </a:extLst>
              </p:cNvPr>
              <p:cNvSpPr>
                <a:spLocks noGrp="1"/>
              </p:cNvSpPr>
              <p:nvPr>
                <p:ph idx="1"/>
              </p:nvPr>
            </p:nvSpPr>
            <p:spPr>
              <a:xfrm>
                <a:off x="1169895" y="1524000"/>
                <a:ext cx="10448364" cy="4876800"/>
              </a:xfrm>
            </p:spPr>
            <p:txBody>
              <a:bodyPr>
                <a:normAutofit/>
              </a:bodyPr>
              <a:lstStyle/>
              <a:p>
                <a:r>
                  <a:rPr lang="en-US" dirty="0"/>
                  <a:t>Algorithms: </a:t>
                </a:r>
              </a:p>
              <a:p>
                <a:pPr lvl="1"/>
                <a:r>
                  <a:rPr lang="en-US" sz="2000" b="1" i="1" dirty="0">
                    <a:solidFill>
                      <a:srgbClr val="0070C0"/>
                    </a:solidFill>
                  </a:rPr>
                  <a:t>k</a:t>
                </a:r>
                <a:r>
                  <a:rPr lang="en-US" sz="2000" dirty="0"/>
                  <a:t>: secret key, </a:t>
                </a:r>
                <a:r>
                  <a:rPr lang="en-US" sz="2000" b="1" i="1" dirty="0">
                    <a:solidFill>
                      <a:srgbClr val="0070C0"/>
                    </a:solidFill>
                  </a:rPr>
                  <a:t>m</a:t>
                </a:r>
                <a:r>
                  <a:rPr lang="en-US" sz="2000" dirty="0"/>
                  <a:t>: message, </a:t>
                </a:r>
                <a:r>
                  <a:rPr lang="en-US" sz="2000" b="1" i="1" dirty="0">
                    <a:solidFill>
                      <a:srgbClr val="0070C0"/>
                    </a:solidFill>
                  </a:rPr>
                  <a:t>c</a:t>
                </a:r>
                <a:r>
                  <a:rPr lang="en-US" sz="2000" dirty="0"/>
                  <a:t>: ciphertext</a:t>
                </a:r>
              </a:p>
              <a:p>
                <a:pPr lvl="1"/>
                <a14:m>
                  <m:oMath xmlns:m="http://schemas.openxmlformats.org/officeDocument/2006/math">
                    <m:r>
                      <a:rPr lang="en-US" sz="2000" b="0" i="1" smtClean="0">
                        <a:latin typeface="Cambria Math" panose="02040503050406030204" pitchFamily="18" charset="0"/>
                      </a:rPr>
                      <m:t>𝑘</m:t>
                    </m:r>
                    <m:r>
                      <a:rPr lang="en-US" sz="2000" i="1">
                        <a:latin typeface="Cambria Math" panose="02040503050406030204" pitchFamily="18" charset="0"/>
                      </a:rPr>
                      <m:t>=</m:t>
                    </m:r>
                    <m:r>
                      <m:rPr>
                        <m:sty m:val="p"/>
                      </m:rPr>
                      <a:rPr lang="en-US" sz="2000" b="0" i="0" smtClean="0">
                        <a:latin typeface="Cambria Math" panose="02040503050406030204" pitchFamily="18" charset="0"/>
                      </a:rPr>
                      <m:t>Gen</m:t>
                    </m:r>
                    <m:r>
                      <a:rPr lang="en-US" sz="2000" i="1">
                        <a:latin typeface="Cambria Math" panose="02040503050406030204" pitchFamily="18" charset="0"/>
                      </a:rPr>
                      <m:t>(</m:t>
                    </m:r>
                    <m:r>
                      <a:rPr lang="en-US" sz="2000" b="0" i="1" smtClean="0">
                        <a:latin typeface="Cambria Math" panose="02040503050406030204" pitchFamily="18" charset="0"/>
                      </a:rPr>
                      <m:t> </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𝑐</m:t>
                    </m:r>
                    <m:r>
                      <a:rPr lang="en-US" sz="2000" i="1">
                        <a:latin typeface="Cambria Math" panose="02040503050406030204" pitchFamily="18" charset="0"/>
                      </a:rPr>
                      <m:t>= </m:t>
                    </m:r>
                    <m:r>
                      <m:rPr>
                        <m:sty m:val="p"/>
                      </m:rPr>
                      <a:rPr lang="en-US" sz="2000">
                        <a:latin typeface="Cambria Math" panose="02040503050406030204" pitchFamily="18" charset="0"/>
                      </a:rPr>
                      <m:t>Enc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𝑚</m:t>
                    </m:r>
                    <m:r>
                      <a:rPr lang="en-US" sz="2000" i="1">
                        <a:latin typeface="Cambria Math" panose="02040503050406030204" pitchFamily="18" charset="0"/>
                      </a:rPr>
                      <m:t>=</m:t>
                    </m:r>
                    <m:r>
                      <m:rPr>
                        <m:sty m:val="p"/>
                      </m:rPr>
                      <a:rPr lang="en-US" sz="2000">
                        <a:latin typeface="Cambria Math" panose="02040503050406030204" pitchFamily="18" charset="0"/>
                      </a:rPr>
                      <m:t>Dec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𝑐</m:t>
                    </m:r>
                    <m:r>
                      <a:rPr lang="en-US" sz="2000" i="1">
                        <a:latin typeface="Cambria Math" panose="02040503050406030204" pitchFamily="18" charset="0"/>
                      </a:rPr>
                      <m:t>)</m:t>
                    </m:r>
                  </m:oMath>
                </a14:m>
                <a:endParaRPr lang="en-US" sz="2000" dirty="0"/>
              </a:p>
              <a:p>
                <a:pPr lvl="1"/>
                <a:endParaRPr lang="en-US" sz="2000" dirty="0"/>
              </a:p>
              <a:p>
                <a:r>
                  <a:rPr lang="en-US" b="1" dirty="0"/>
                  <a:t>Perfect secrecy</a:t>
                </a:r>
                <a:r>
                  <a:rPr lang="en-US" dirty="0"/>
                  <a:t>: for any distribution over the message space </a:t>
                </a:r>
                <a14:m>
                  <m:oMath xmlns:m="http://schemas.openxmlformats.org/officeDocument/2006/math">
                    <m:r>
                      <a:rPr lang="en-US" i="1">
                        <a:latin typeface="Cambria Math" panose="02040503050406030204" pitchFamily="18" charset="0"/>
                      </a:rPr>
                      <m:t>ℳ</m:t>
                    </m:r>
                  </m:oMath>
                </a14:m>
                <a:r>
                  <a:rPr lang="en-US" dirty="0"/>
                  <a:t>, for every message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ℳ</m:t>
                    </m:r>
                  </m:oMath>
                </a14:m>
                <a:r>
                  <a:rPr lang="en-US" dirty="0"/>
                  <a:t> and every ciphertext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𝒞</m:t>
                    </m:r>
                  </m:oMath>
                </a14:m>
                <a:r>
                  <a:rPr lang="en-US" dirty="0"/>
                  <a:t>, </a:t>
                </a:r>
              </a:p>
              <a:p>
                <a:endParaRPr lang="en-US" dirty="0"/>
              </a:p>
              <a:p>
                <a:pPr marL="685800" lvl="2" indent="0">
                  <a:buNone/>
                </a:pPr>
                <a14:m>
                  <m:oMathPara xmlns:m="http://schemas.openxmlformats.org/officeDocument/2006/math">
                    <m:oMathParaPr>
                      <m:jc m:val="centerGroup"/>
                    </m:oMathParaPr>
                    <m:oMath xmlns:m="http://schemas.openxmlformats.org/officeDocument/2006/math">
                      <m:r>
                        <m:rPr>
                          <m:sty m:val="p"/>
                        </m:rPr>
                        <a:rPr lang="en-US" sz="2800" i="1" dirty="0" smtClean="0">
                          <a:latin typeface="Cambria Math" panose="02040503050406030204" pitchFamily="18" charset="0"/>
                        </a:rPr>
                        <m:t>Pr</m:t>
                      </m:r>
                      <m:r>
                        <a:rPr lang="en-US" sz="2800" i="1" dirty="0">
                          <a:latin typeface="Cambria Math" panose="02040503050406030204" pitchFamily="18" charset="0"/>
                        </a:rPr>
                        <m:t>⁡[ </m:t>
                      </m:r>
                      <m:r>
                        <a:rPr lang="en-US" sz="2800" i="1" dirty="0">
                          <a:latin typeface="Cambria Math" panose="02040503050406030204" pitchFamily="18" charset="0"/>
                        </a:rPr>
                        <m:t>𝑀</m:t>
                      </m:r>
                      <m:r>
                        <a:rPr lang="en-US" sz="2800" i="1" dirty="0">
                          <a:latin typeface="Cambria Math" panose="02040503050406030204" pitchFamily="18" charset="0"/>
                        </a:rPr>
                        <m:t> = </m:t>
                      </m:r>
                      <m:r>
                        <a:rPr lang="en-US" sz="2800" i="1" dirty="0">
                          <a:latin typeface="Cambria Math" panose="02040503050406030204" pitchFamily="18" charset="0"/>
                        </a:rPr>
                        <m:t>𝑚</m:t>
                      </m:r>
                      <m:r>
                        <a:rPr lang="en-US" sz="2800" i="1" dirty="0">
                          <a:latin typeface="Cambria Math" panose="02040503050406030204" pitchFamily="18" charset="0"/>
                        </a:rPr>
                        <m:t> | </m:t>
                      </m:r>
                      <m:r>
                        <a:rPr lang="en-US" sz="2800" i="1" dirty="0">
                          <a:latin typeface="Cambria Math" panose="02040503050406030204" pitchFamily="18" charset="0"/>
                        </a:rPr>
                        <m:t>𝐶</m:t>
                      </m:r>
                      <m:r>
                        <a:rPr lang="en-US" sz="2800" i="1" dirty="0">
                          <a:latin typeface="Cambria Math" panose="02040503050406030204" pitchFamily="18" charset="0"/>
                        </a:rPr>
                        <m:t>=</m:t>
                      </m:r>
                      <m:r>
                        <a:rPr lang="en-US" sz="2800" i="1" dirty="0">
                          <a:latin typeface="Cambria Math" panose="02040503050406030204" pitchFamily="18" charset="0"/>
                        </a:rPr>
                        <m:t>𝑐</m:t>
                      </m:r>
                      <m:r>
                        <a:rPr lang="en-US" sz="2800" i="1" dirty="0">
                          <a:latin typeface="Cambria Math" panose="02040503050406030204" pitchFamily="18" charset="0"/>
                        </a:rPr>
                        <m:t> ] = </m:t>
                      </m:r>
                      <m:r>
                        <m:rPr>
                          <m:sty m:val="p"/>
                        </m:rPr>
                        <a:rPr lang="en-US" sz="2800" i="1" dirty="0" err="1">
                          <a:latin typeface="Cambria Math" panose="02040503050406030204" pitchFamily="18" charset="0"/>
                        </a:rPr>
                        <m:t>Pr</m:t>
                      </m:r>
                      <m:r>
                        <a:rPr lang="en-US" sz="2800" i="1" dirty="0">
                          <a:latin typeface="Cambria Math" panose="02040503050406030204" pitchFamily="18" charset="0"/>
                        </a:rPr>
                        <m:t>⁡[</m:t>
                      </m:r>
                      <m:r>
                        <a:rPr lang="en-US" sz="2800" i="1" dirty="0">
                          <a:latin typeface="Cambria Math" panose="02040503050406030204" pitchFamily="18" charset="0"/>
                        </a:rPr>
                        <m:t>𝑀</m:t>
                      </m:r>
                      <m:r>
                        <a:rPr lang="en-US" sz="2800" i="1" dirty="0">
                          <a:latin typeface="Cambria Math" panose="02040503050406030204" pitchFamily="18" charset="0"/>
                        </a:rPr>
                        <m:t> = </m:t>
                      </m:r>
                      <m:r>
                        <a:rPr lang="en-US" sz="2800" i="1" dirty="0">
                          <a:latin typeface="Cambria Math" panose="02040503050406030204" pitchFamily="18" charset="0"/>
                        </a:rPr>
                        <m:t>𝑚</m:t>
                      </m:r>
                      <m:r>
                        <a:rPr lang="en-US" sz="2800" i="1" dirty="0">
                          <a:latin typeface="Cambria Math" panose="02040503050406030204" pitchFamily="18" charset="0"/>
                        </a:rPr>
                        <m:t>]</m:t>
                      </m:r>
                    </m:oMath>
                  </m:oMathPara>
                </a14:m>
                <a:endParaRPr lang="en-US" sz="2800" dirty="0"/>
              </a:p>
            </p:txBody>
          </p:sp>
        </mc:Choice>
        <mc:Fallback xmlns="">
          <p:sp>
            <p:nvSpPr>
              <p:cNvPr id="3" name="Content Placeholder 2">
                <a:extLst>
                  <a:ext uri="{FF2B5EF4-FFF2-40B4-BE49-F238E27FC236}">
                    <a16:creationId xmlns:a16="http://schemas.microsoft.com/office/drawing/2014/main" id="{E300187A-FE99-4C59-9E46-A6883838BC95}"/>
                  </a:ext>
                </a:extLst>
              </p:cNvPr>
              <p:cNvSpPr>
                <a:spLocks noGrp="1" noRot="1" noChangeAspect="1" noMove="1" noResize="1" noEditPoints="1" noAdjustHandles="1" noChangeArrowheads="1" noChangeShapeType="1" noTextEdit="1"/>
              </p:cNvSpPr>
              <p:nvPr>
                <p:ph idx="1"/>
              </p:nvPr>
            </p:nvSpPr>
            <p:spPr>
              <a:xfrm>
                <a:off x="1169895" y="1524000"/>
                <a:ext cx="10448364" cy="4876800"/>
              </a:xfrm>
              <a:blipFill>
                <a:blip r:embed="rId2"/>
                <a:stretch>
                  <a:fillRect l="-1050" t="-2125"/>
                </a:stretch>
              </a:blipFill>
            </p:spPr>
            <p:txBody>
              <a:bodyPr/>
              <a:lstStyle/>
              <a:p>
                <a:r>
                  <a:rPr lang="en-US">
                    <a:noFill/>
                  </a:rPr>
                  <a:t> </a:t>
                </a:r>
              </a:p>
            </p:txBody>
          </p:sp>
        </mc:Fallback>
      </mc:AlternateContent>
    </p:spTree>
    <p:extLst>
      <p:ext uri="{BB962C8B-B14F-4D97-AF65-F5344CB8AC3E}">
        <p14:creationId xmlns:p14="http://schemas.microsoft.com/office/powerpoint/2010/main" val="1050489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458A1-A2D1-F03E-FC1B-21EE2579D293}"/>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513174-EA83-2032-D9EB-035A00426908}"/>
                  </a:ext>
                </a:extLst>
              </p:cNvPr>
              <p:cNvSpPr>
                <a:spLocks noGrp="1"/>
              </p:cNvSpPr>
              <p:nvPr>
                <p:ph idx="1"/>
              </p:nvPr>
            </p:nvSpPr>
            <p:spPr/>
            <p:txBody>
              <a:bodyPr/>
              <a:lstStyle/>
              <a:p>
                <a14:m>
                  <m:oMath xmlns:m="http://schemas.openxmlformats.org/officeDocument/2006/math">
                    <m:r>
                      <a:rPr lang="en-US" sz="2400" i="1" smtClean="0">
                        <a:latin typeface="Cambria Math" panose="02040503050406030204" pitchFamily="18" charset="0"/>
                      </a:rPr>
                      <m:t>ℳ</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e>
                      <m:sup>
                        <m:r>
                          <a:rPr lang="en-US" sz="2400" b="0" i="1" smtClean="0">
                            <a:latin typeface="Cambria Math" panose="02040503050406030204" pitchFamily="18" charset="0"/>
                          </a:rPr>
                          <m:t>𝑛</m:t>
                        </m:r>
                      </m:sup>
                    </m:sSup>
                  </m:oMath>
                </a14:m>
                <a:r>
                  <a:rPr lang="en-US" sz="2400" dirty="0"/>
                  <a:t>,</a:t>
                </a:r>
                <a14:m>
                  <m:oMath xmlns:m="http://schemas.openxmlformats.org/officeDocument/2006/math">
                    <m:r>
                      <a:rPr lang="en-US" sz="2400" i="1">
                        <a:latin typeface="Cambria Math" panose="02040503050406030204" pitchFamily="18" charset="0"/>
                      </a:rPr>
                      <m:t>𝒦</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e>
                      <m:sup>
                        <m:r>
                          <a:rPr lang="en-US" sz="2400" i="1">
                            <a:latin typeface="Cambria Math" panose="02040503050406030204" pitchFamily="18" charset="0"/>
                          </a:rPr>
                          <m:t>𝑛</m:t>
                        </m:r>
                      </m:sup>
                    </m:sSup>
                  </m:oMath>
                </a14:m>
                <a:r>
                  <a:rPr lang="en-US" sz="2400" dirty="0"/>
                  <a:t>,</a:t>
                </a:r>
                <a14:m>
                  <m:oMath xmlns:m="http://schemas.openxmlformats.org/officeDocument/2006/math">
                    <m:r>
                      <a:rPr lang="en-US" sz="2400" i="1">
                        <a:latin typeface="Cambria Math" panose="02040503050406030204" pitchFamily="18" charset="0"/>
                      </a:rPr>
                      <m:t>𝒞</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e>
                      <m:sup>
                        <m:r>
                          <a:rPr lang="en-US" sz="2400" i="1">
                            <a:latin typeface="Cambria Math" panose="02040503050406030204" pitchFamily="18" charset="0"/>
                          </a:rPr>
                          <m:t>𝑛</m:t>
                        </m:r>
                      </m:sup>
                    </m:sSup>
                  </m:oMath>
                </a14:m>
                <a:endParaRPr lang="en-US" sz="2400" dirty="0"/>
              </a:p>
              <a:p>
                <a:endParaRPr lang="en-US" sz="2400" dirty="0"/>
              </a:p>
              <a:p>
                <a:r>
                  <a:rPr lang="en-US" sz="2400" dirty="0"/>
                  <a:t>for any distribution over the message space </a:t>
                </a:r>
                <a14:m>
                  <m:oMath xmlns:m="http://schemas.openxmlformats.org/officeDocument/2006/math">
                    <m:r>
                      <a:rPr lang="en-US" sz="2400" i="1">
                        <a:latin typeface="Cambria Math" panose="02040503050406030204" pitchFamily="18" charset="0"/>
                      </a:rPr>
                      <m:t>ℳ</m:t>
                    </m:r>
                  </m:oMath>
                </a14:m>
                <a:r>
                  <a:rPr lang="en-US" sz="2400" dirty="0"/>
                  <a:t>: English words encoded as ASCII code and then binary string</a:t>
                </a:r>
              </a:p>
              <a:p>
                <a:pPr marL="0" indent="0">
                  <a:buNone/>
                </a:pPr>
                <a:endParaRPr lang="en-US" sz="2400" dirty="0"/>
              </a:p>
              <a:p>
                <a:r>
                  <a:rPr lang="en-US" sz="2400" dirty="0"/>
                  <a:t> for every message </a:t>
                </a:r>
                <a14:m>
                  <m:oMath xmlns:m="http://schemas.openxmlformats.org/officeDocument/2006/math">
                    <m:r>
                      <a:rPr lang="en-US" sz="2400" i="1">
                        <a:latin typeface="Cambria Math" panose="02040503050406030204" pitchFamily="18" charset="0"/>
                      </a:rPr>
                      <m:t>𝑚</m:t>
                    </m:r>
                    <m:r>
                      <a:rPr lang="en-US" sz="2400" i="1">
                        <a:latin typeface="Cambria Math" panose="02040503050406030204" pitchFamily="18" charset="0"/>
                      </a:rPr>
                      <m:t>∈</m:t>
                    </m:r>
                    <m:r>
                      <a:rPr lang="en-US" sz="2400" i="1">
                        <a:latin typeface="Cambria Math" panose="02040503050406030204" pitchFamily="18" charset="0"/>
                      </a:rPr>
                      <m:t>ℳ</m:t>
                    </m:r>
                  </m:oMath>
                </a14:m>
                <a:r>
                  <a:rPr lang="en-US" sz="2400" dirty="0"/>
                  <a:t>: </a:t>
                </a:r>
                <a14:m>
                  <m:oMath xmlns:m="http://schemas.openxmlformats.org/officeDocument/2006/math">
                    <m:r>
                      <a:rPr lang="en-US" sz="2400" b="0" i="1" smtClean="0">
                        <a:latin typeface="Cambria Math" panose="02040503050406030204" pitchFamily="18" charset="0"/>
                      </a:rPr>
                      <m:t>𝑚</m:t>
                    </m:r>
                    <m:r>
                      <a:rPr lang="en-US" sz="2400" b="0" i="1" smtClean="0">
                        <a:latin typeface="Cambria Math" panose="02040503050406030204" pitchFamily="18" charset="0"/>
                      </a:rPr>
                      <m:t>=0000000</m:t>
                    </m:r>
                  </m:oMath>
                </a14:m>
                <a:endParaRPr lang="en-US" sz="2400" dirty="0"/>
              </a:p>
              <a:p>
                <a:r>
                  <a:rPr lang="en-US" sz="2400" dirty="0"/>
                  <a:t>every ciphertext </a:t>
                </a:r>
                <a14:m>
                  <m:oMath xmlns:m="http://schemas.openxmlformats.org/officeDocument/2006/math">
                    <m:r>
                      <a:rPr lang="en-US" sz="2400" b="0" i="1" smtClean="0">
                        <a:latin typeface="Cambria Math" panose="02040503050406030204" pitchFamily="18" charset="0"/>
                      </a:rPr>
                      <m:t>𝑐</m:t>
                    </m:r>
                    <m:r>
                      <a:rPr lang="en-US" sz="2400" b="0" i="1" smtClean="0">
                        <a:latin typeface="Cambria Math" panose="02040503050406030204" pitchFamily="18" charset="0"/>
                      </a:rPr>
                      <m:t>∈</m:t>
                    </m:r>
                    <m:r>
                      <a:rPr lang="en-US" sz="2400" b="0" i="1" smtClean="0">
                        <a:latin typeface="Cambria Math" panose="02040503050406030204" pitchFamily="18" charset="0"/>
                      </a:rPr>
                      <m:t>𝒞</m:t>
                    </m:r>
                  </m:oMath>
                </a14:m>
                <a:r>
                  <a:rPr lang="en-US" sz="2400" dirty="0"/>
                  <a:t>: </a:t>
                </a:r>
                <a14:m>
                  <m:oMath xmlns:m="http://schemas.openxmlformats.org/officeDocument/2006/math">
                    <m:r>
                      <a:rPr lang="en-US" sz="2400" b="0" i="1" smtClean="0">
                        <a:latin typeface="Cambria Math" panose="02040503050406030204" pitchFamily="18" charset="0"/>
                      </a:rPr>
                      <m:t>𝑐</m:t>
                    </m:r>
                    <m:r>
                      <a:rPr lang="en-US" sz="2400" i="1">
                        <a:latin typeface="Cambria Math" panose="02040503050406030204" pitchFamily="18" charset="0"/>
                      </a:rPr>
                      <m:t>=0</m:t>
                    </m:r>
                    <m:r>
                      <a:rPr lang="en-US" sz="2400" b="0" i="1" smtClean="0">
                        <a:latin typeface="Cambria Math" panose="02040503050406030204" pitchFamily="18" charset="0"/>
                      </a:rPr>
                      <m:t>1</m:t>
                    </m:r>
                    <m:r>
                      <a:rPr lang="en-US" sz="2400" i="1">
                        <a:latin typeface="Cambria Math" panose="02040503050406030204" pitchFamily="18" charset="0"/>
                      </a:rPr>
                      <m:t>00</m:t>
                    </m:r>
                    <m:r>
                      <a:rPr lang="en-US" sz="2400" b="0" i="1" smtClean="0">
                        <a:latin typeface="Cambria Math" panose="02040503050406030204" pitchFamily="18" charset="0"/>
                      </a:rPr>
                      <m:t>1</m:t>
                    </m:r>
                    <m:r>
                      <a:rPr lang="en-US" sz="2400" i="1">
                        <a:latin typeface="Cambria Math" panose="02040503050406030204" pitchFamily="18" charset="0"/>
                      </a:rPr>
                      <m:t>00</m:t>
                    </m:r>
                  </m:oMath>
                </a14:m>
                <a:endParaRPr lang="en-US" sz="2400" dirty="0"/>
              </a:p>
              <a:p>
                <a:pPr marL="0" indent="0">
                  <a:buNone/>
                </a:pPr>
                <a:endParaRPr lang="en-US" sz="2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US" sz="2800" i="1" dirty="0" smtClean="0">
                          <a:latin typeface="Cambria Math" panose="02040503050406030204" pitchFamily="18" charset="0"/>
                        </a:rPr>
                        <m:t>Pr</m:t>
                      </m:r>
                      <m:r>
                        <a:rPr lang="en-US" sz="2800" i="1" dirty="0">
                          <a:latin typeface="Cambria Math" panose="02040503050406030204" pitchFamily="18" charset="0"/>
                        </a:rPr>
                        <m:t>⁡[ </m:t>
                      </m:r>
                      <m:r>
                        <a:rPr lang="en-US" sz="2800" i="1" dirty="0">
                          <a:latin typeface="Cambria Math" panose="02040503050406030204" pitchFamily="18" charset="0"/>
                        </a:rPr>
                        <m:t>𝑀</m:t>
                      </m:r>
                      <m:r>
                        <a:rPr lang="en-US" sz="2800" i="1" dirty="0">
                          <a:latin typeface="Cambria Math" panose="02040503050406030204" pitchFamily="18" charset="0"/>
                        </a:rPr>
                        <m:t> =</m:t>
                      </m:r>
                      <m:r>
                        <a:rPr lang="en-US" i="1">
                          <a:latin typeface="Cambria Math" panose="02040503050406030204" pitchFamily="18" charset="0"/>
                        </a:rPr>
                        <m:t>0000000</m:t>
                      </m:r>
                      <m:r>
                        <a:rPr lang="en-US" sz="2800" i="1" dirty="0">
                          <a:latin typeface="Cambria Math" panose="02040503050406030204" pitchFamily="18" charset="0"/>
                        </a:rPr>
                        <m:t>| </m:t>
                      </m:r>
                      <m:r>
                        <a:rPr lang="en-US" sz="2800" i="1" dirty="0">
                          <a:latin typeface="Cambria Math" panose="02040503050406030204" pitchFamily="18" charset="0"/>
                        </a:rPr>
                        <m:t>𝐶</m:t>
                      </m:r>
                      <m:r>
                        <a:rPr lang="en-US" sz="2800" i="1" dirty="0">
                          <a:latin typeface="Cambria Math" panose="02040503050406030204" pitchFamily="18" charset="0"/>
                        </a:rPr>
                        <m:t>=</m:t>
                      </m:r>
                      <m:r>
                        <a:rPr lang="en-US" i="1">
                          <a:latin typeface="Cambria Math" panose="02040503050406030204" pitchFamily="18" charset="0"/>
                        </a:rPr>
                        <m:t>0100100</m:t>
                      </m:r>
                      <m:r>
                        <a:rPr lang="en-US" sz="2800" i="1" dirty="0">
                          <a:latin typeface="Cambria Math" panose="02040503050406030204" pitchFamily="18" charset="0"/>
                        </a:rPr>
                        <m:t>] = </m:t>
                      </m:r>
                      <m:r>
                        <m:rPr>
                          <m:sty m:val="p"/>
                        </m:rPr>
                        <a:rPr lang="en-US" sz="2800" i="1" dirty="0" err="1">
                          <a:latin typeface="Cambria Math" panose="02040503050406030204" pitchFamily="18" charset="0"/>
                        </a:rPr>
                        <m:t>Pr</m:t>
                      </m:r>
                      <m:r>
                        <a:rPr lang="en-US" sz="2800" i="1" dirty="0">
                          <a:latin typeface="Cambria Math" panose="02040503050406030204" pitchFamily="18" charset="0"/>
                        </a:rPr>
                        <m:t>⁡[</m:t>
                      </m:r>
                      <m:r>
                        <a:rPr lang="en-US" sz="2800" i="1" dirty="0">
                          <a:latin typeface="Cambria Math" panose="02040503050406030204" pitchFamily="18" charset="0"/>
                        </a:rPr>
                        <m:t>𝑀</m:t>
                      </m:r>
                      <m:r>
                        <a:rPr lang="en-US" sz="2800" i="1" dirty="0">
                          <a:latin typeface="Cambria Math" panose="02040503050406030204" pitchFamily="18" charset="0"/>
                        </a:rPr>
                        <m:t> =</m:t>
                      </m:r>
                      <m:r>
                        <a:rPr lang="en-US" i="1">
                          <a:latin typeface="Cambria Math" panose="02040503050406030204" pitchFamily="18" charset="0"/>
                        </a:rPr>
                        <m:t>0000000</m:t>
                      </m:r>
                      <m:r>
                        <a:rPr lang="en-US" sz="2800" i="1" dirty="0">
                          <a:latin typeface="Cambria Math" panose="02040503050406030204" pitchFamily="18" charset="0"/>
                        </a:rPr>
                        <m:t>]</m:t>
                      </m:r>
                    </m:oMath>
                  </m:oMathPara>
                </a14:m>
                <a:endParaRPr lang="en-US" sz="2800" dirty="0"/>
              </a:p>
              <a:p>
                <a:endParaRPr lang="en-US" dirty="0"/>
              </a:p>
            </p:txBody>
          </p:sp>
        </mc:Choice>
        <mc:Fallback xmlns="">
          <p:sp>
            <p:nvSpPr>
              <p:cNvPr id="3" name="Content Placeholder 2">
                <a:extLst>
                  <a:ext uri="{FF2B5EF4-FFF2-40B4-BE49-F238E27FC236}">
                    <a16:creationId xmlns:a16="http://schemas.microsoft.com/office/drawing/2014/main" id="{80513174-EA83-2032-D9EB-035A00426908}"/>
                  </a:ext>
                </a:extLst>
              </p:cNvPr>
              <p:cNvSpPr>
                <a:spLocks noGrp="1" noRot="1" noChangeAspect="1" noMove="1" noResize="1" noEditPoints="1" noAdjustHandles="1" noChangeArrowheads="1" noChangeShapeType="1" noTextEdit="1"/>
              </p:cNvSpPr>
              <p:nvPr>
                <p:ph idx="1"/>
              </p:nvPr>
            </p:nvSpPr>
            <p:spPr>
              <a:blipFill>
                <a:blip r:embed="rId2"/>
                <a:stretch>
                  <a:fillRect l="-754" t="-1961"/>
                </a:stretch>
              </a:blipFill>
            </p:spPr>
            <p:txBody>
              <a:bodyPr/>
              <a:lstStyle/>
              <a:p>
                <a:r>
                  <a:rPr lang="en-US">
                    <a:noFill/>
                  </a:rPr>
                  <a:t> </a:t>
                </a:r>
              </a:p>
            </p:txBody>
          </p:sp>
        </mc:Fallback>
      </mc:AlternateContent>
    </p:spTree>
    <p:extLst>
      <p:ext uri="{BB962C8B-B14F-4D97-AF65-F5344CB8AC3E}">
        <p14:creationId xmlns:p14="http://schemas.microsoft.com/office/powerpoint/2010/main" val="2479063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25A8-19F9-AA27-DDDF-00E75981D448}"/>
              </a:ext>
            </a:extLst>
          </p:cNvPr>
          <p:cNvSpPr>
            <a:spLocks noGrp="1"/>
          </p:cNvSpPr>
          <p:nvPr>
            <p:ph type="title"/>
          </p:nvPr>
        </p:nvSpPr>
        <p:spPr>
          <a:xfrm>
            <a:off x="445477" y="286726"/>
            <a:ext cx="11031588" cy="1325563"/>
          </a:xfrm>
        </p:spPr>
        <p:txBody>
          <a:bodyPr/>
          <a:lstStyle/>
          <a:p>
            <a:r>
              <a:rPr lang="en-US" dirty="0"/>
              <a:t>Example: rotation cipher (rotation by k=3)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F2F323-706F-5FF3-3DF5-62270D70CC7A}"/>
                  </a:ext>
                </a:extLst>
              </p:cNvPr>
              <p:cNvSpPr>
                <a:spLocks noGrp="1"/>
              </p:cNvSpPr>
              <p:nvPr>
                <p:ph idx="1"/>
              </p:nvPr>
            </p:nvSpPr>
            <p:spPr/>
            <p:txBody>
              <a:bodyPr/>
              <a:lstStyle/>
              <a:p>
                <a:r>
                  <a:rPr lang="en-US" dirty="0"/>
                  <a:t>If </a:t>
                </a:r>
                <a14:m>
                  <m:oMath xmlns:m="http://schemas.openxmlformats.org/officeDocument/2006/math">
                    <m:r>
                      <a:rPr lang="en-US" i="1" dirty="0" smtClean="0">
                        <a:latin typeface="Cambria Math" panose="02040503050406030204" pitchFamily="18" charset="0"/>
                      </a:rPr>
                      <m:t>𝐶</m:t>
                    </m:r>
                    <m:r>
                      <a:rPr lang="en-US" i="1" dirty="0" smtClean="0">
                        <a:latin typeface="Cambria Math" panose="02040503050406030204" pitchFamily="18" charset="0"/>
                      </a:rPr>
                      <m:t> = </m:t>
                    </m:r>
                    <m:r>
                      <a:rPr lang="en-US" i="1" dirty="0" smtClean="0">
                        <a:latin typeface="Cambria Math" panose="02040503050406030204" pitchFamily="18" charset="0"/>
                      </a:rPr>
                      <m:t>𝑥𝑥</m:t>
                    </m:r>
                    <m:r>
                      <a:rPr lang="en-US" i="1" dirty="0" smtClean="0">
                        <a:latin typeface="Cambria Math" panose="02040503050406030204" pitchFamily="18" charset="0"/>
                      </a:rPr>
                      <m:t>,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m:t>
                    </m:r>
                    <m:r>
                      <a:rPr lang="en-US" i="1" dirty="0" err="1">
                        <a:latin typeface="Cambria Math" panose="02040503050406030204" pitchFamily="18" charset="0"/>
                      </a:rPr>
                      <m:t>𝑎𝑏</m:t>
                    </m:r>
                    <m:r>
                      <a:rPr lang="en-US" i="1" dirty="0" err="1">
                        <a:latin typeface="Cambria Math" panose="02040503050406030204" pitchFamily="18" charset="0"/>
                      </a:rPr>
                      <m:t>|</m:t>
                    </m:r>
                    <m:r>
                      <a:rPr lang="en-US" i="1" dirty="0" err="1">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𝑥𝑥</m:t>
                    </m:r>
                    <m:r>
                      <a:rPr lang="en-US" i="1" dirty="0">
                        <a:latin typeface="Cambria Math" panose="02040503050406030204" pitchFamily="18" charset="0"/>
                      </a:rPr>
                      <m:t>] = 0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𝑎𝑏</m:t>
                    </m:r>
                    <m:r>
                      <a:rPr lang="en-US" i="1" dirty="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23F2F323-706F-5FF3-3DF5-62270D70CC7A}"/>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en-US">
                    <a:noFill/>
                  </a:rPr>
                  <a:t> </a:t>
                </a:r>
              </a:p>
            </p:txBody>
          </p:sp>
        </mc:Fallback>
      </mc:AlternateContent>
    </p:spTree>
    <p:extLst>
      <p:ext uri="{BB962C8B-B14F-4D97-AF65-F5344CB8AC3E}">
        <p14:creationId xmlns:p14="http://schemas.microsoft.com/office/powerpoint/2010/main" val="2254297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FD3EC-8D2A-2CEF-3DF0-12E696537C2C}"/>
              </a:ext>
            </a:extLst>
          </p:cNvPr>
          <p:cNvSpPr>
            <a:spLocks noGrp="1"/>
          </p:cNvSpPr>
          <p:nvPr>
            <p:ph type="title"/>
          </p:nvPr>
        </p:nvSpPr>
        <p:spPr/>
        <p:txBody>
          <a:bodyPr/>
          <a:lstStyle/>
          <a:p>
            <a:r>
              <a:rPr lang="en-US" dirty="0"/>
              <a:t>An equivalent definition</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7CA5A4A-59CC-869D-6BBA-07B08C8D5610}"/>
                  </a:ext>
                </a:extLst>
              </p:cNvPr>
              <p:cNvSpPr>
                <a:spLocks noGrp="1"/>
              </p:cNvSpPr>
              <p:nvPr>
                <p:ph idx="1"/>
              </p:nvPr>
            </p:nvSpPr>
            <p:spPr>
              <a:xfrm>
                <a:off x="551329" y="1524000"/>
                <a:ext cx="10152529" cy="4876800"/>
              </a:xfrm>
            </p:spPr>
            <p:txBody>
              <a:bodyPr>
                <a:normAutofit/>
              </a:bodyPr>
              <a:lstStyle/>
              <a:p>
                <a:r>
                  <a:rPr lang="en-US" dirty="0"/>
                  <a:t>Algorithms: </a:t>
                </a:r>
              </a:p>
              <a:p>
                <a:pPr lvl="1"/>
                <a:r>
                  <a:rPr lang="en-US" sz="2000" b="1" i="1" dirty="0">
                    <a:solidFill>
                      <a:srgbClr val="0070C0"/>
                    </a:solidFill>
                  </a:rPr>
                  <a:t>k</a:t>
                </a:r>
                <a:r>
                  <a:rPr lang="en-US" sz="2000" dirty="0"/>
                  <a:t>: secret key, </a:t>
                </a:r>
                <a:r>
                  <a:rPr lang="en-US" sz="2000" b="1" i="1" dirty="0">
                    <a:solidFill>
                      <a:srgbClr val="0070C0"/>
                    </a:solidFill>
                  </a:rPr>
                  <a:t>m</a:t>
                </a:r>
                <a:r>
                  <a:rPr lang="en-US" sz="2000" dirty="0"/>
                  <a:t>: message, </a:t>
                </a:r>
                <a:r>
                  <a:rPr lang="en-US" sz="2000" b="1" i="1" dirty="0">
                    <a:solidFill>
                      <a:srgbClr val="0070C0"/>
                    </a:solidFill>
                  </a:rPr>
                  <a:t>c</a:t>
                </a:r>
                <a:r>
                  <a:rPr lang="en-US" sz="2000" dirty="0"/>
                  <a:t>: ciphertext</a:t>
                </a:r>
              </a:p>
              <a:p>
                <a:pPr lvl="1"/>
                <a14:m>
                  <m:oMath xmlns:m="http://schemas.openxmlformats.org/officeDocument/2006/math">
                    <m:r>
                      <a:rPr lang="en-US" sz="2000" b="0" i="1" smtClean="0">
                        <a:latin typeface="Cambria Math" panose="02040503050406030204" pitchFamily="18" charset="0"/>
                      </a:rPr>
                      <m:t>𝑘</m:t>
                    </m:r>
                    <m:r>
                      <a:rPr lang="en-US" sz="2000" i="1">
                        <a:latin typeface="Cambria Math" panose="02040503050406030204" pitchFamily="18" charset="0"/>
                      </a:rPr>
                      <m:t>=</m:t>
                    </m:r>
                    <m:r>
                      <m:rPr>
                        <m:sty m:val="p"/>
                      </m:rPr>
                      <a:rPr lang="en-US" sz="2000" b="0" i="0" smtClean="0">
                        <a:latin typeface="Cambria Math" panose="02040503050406030204" pitchFamily="18" charset="0"/>
                      </a:rPr>
                      <m:t>Gen</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𝑐</m:t>
                    </m:r>
                    <m:r>
                      <a:rPr lang="en-US" sz="2000" i="1">
                        <a:latin typeface="Cambria Math" panose="02040503050406030204" pitchFamily="18" charset="0"/>
                      </a:rPr>
                      <m:t>= </m:t>
                    </m:r>
                    <m:r>
                      <m:rPr>
                        <m:sty m:val="p"/>
                      </m:rPr>
                      <a:rPr lang="en-US" sz="2000">
                        <a:latin typeface="Cambria Math" panose="02040503050406030204" pitchFamily="18" charset="0"/>
                      </a:rPr>
                      <m:t>Enc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𝑚</m:t>
                    </m:r>
                    <m:r>
                      <a:rPr lang="en-US" sz="2000" i="1">
                        <a:latin typeface="Cambria Math" panose="02040503050406030204" pitchFamily="18" charset="0"/>
                      </a:rPr>
                      <m:t>)</m:t>
                    </m:r>
                  </m:oMath>
                </a14:m>
                <a:endParaRPr lang="en-US" sz="2000" dirty="0"/>
              </a:p>
              <a:p>
                <a:pPr lvl="1"/>
                <a14:m>
                  <m:oMath xmlns:m="http://schemas.openxmlformats.org/officeDocument/2006/math">
                    <m:r>
                      <a:rPr lang="en-US" sz="2000" i="1">
                        <a:latin typeface="Cambria Math" panose="02040503050406030204" pitchFamily="18" charset="0"/>
                      </a:rPr>
                      <m:t>𝑚</m:t>
                    </m:r>
                    <m:r>
                      <a:rPr lang="en-US" sz="2000" i="1">
                        <a:latin typeface="Cambria Math" panose="02040503050406030204" pitchFamily="18" charset="0"/>
                      </a:rPr>
                      <m:t>=</m:t>
                    </m:r>
                    <m:r>
                      <m:rPr>
                        <m:sty m:val="p"/>
                      </m:rPr>
                      <a:rPr lang="en-US" sz="2000">
                        <a:latin typeface="Cambria Math" panose="02040503050406030204" pitchFamily="18" charset="0"/>
                      </a:rPr>
                      <m:t>Dec</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𝑐</m:t>
                    </m:r>
                    <m:r>
                      <a:rPr lang="en-US" sz="2000" i="1">
                        <a:latin typeface="Cambria Math" panose="02040503050406030204" pitchFamily="18" charset="0"/>
                      </a:rPr>
                      <m:t>)</m:t>
                    </m:r>
                  </m:oMath>
                </a14:m>
                <a:endParaRPr lang="en-US" sz="2000" dirty="0"/>
              </a:p>
              <a:p>
                <a:pPr lvl="1"/>
                <a:endParaRPr lang="en-US" sz="2000" dirty="0"/>
              </a:p>
              <a:p>
                <a:r>
                  <a:rPr lang="en-US" b="1" dirty="0"/>
                  <a:t>Perfect secrecy</a:t>
                </a:r>
                <a:r>
                  <a:rPr lang="en-US" dirty="0"/>
                  <a:t>: for any distribution over the message space </a:t>
                </a:r>
                <a14:m>
                  <m:oMath xmlns:m="http://schemas.openxmlformats.org/officeDocument/2006/math">
                    <m:r>
                      <a:rPr lang="en-US" i="1">
                        <a:latin typeface="Cambria Math" panose="02040503050406030204" pitchFamily="18" charset="0"/>
                      </a:rPr>
                      <m:t>ℳ</m:t>
                    </m:r>
                  </m:oMath>
                </a14:m>
                <a:r>
                  <a:rPr lang="en-US" dirty="0"/>
                  <a:t>, for every message </a:t>
                </a:r>
                <a14:m>
                  <m:oMath xmlns:m="http://schemas.openxmlformats.org/officeDocument/2006/math">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ℳ</m:t>
                    </m:r>
                  </m:oMath>
                </a14:m>
                <a:r>
                  <a:rPr lang="en-US" dirty="0"/>
                  <a:t> and every ciphertext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𝒞</m:t>
                    </m:r>
                  </m:oMath>
                </a14:m>
                <a:r>
                  <a:rPr lang="en-US" dirty="0"/>
                  <a:t>, </a:t>
                </a:r>
              </a:p>
              <a:p>
                <a:endParaRPr lang="en-US" dirty="0"/>
              </a:p>
              <a:p>
                <a:pPr marL="685800" lvl="2" indent="0">
                  <a:buNone/>
                </a:pPr>
                <a14:m>
                  <m:oMathPara xmlns:m="http://schemas.openxmlformats.org/officeDocument/2006/math">
                    <m:oMathParaPr>
                      <m:jc m:val="centerGroup"/>
                    </m:oMathParaPr>
                    <m:oMath xmlns:m="http://schemas.openxmlformats.org/officeDocument/2006/math">
                      <m:r>
                        <m:rPr>
                          <m:sty m:val="p"/>
                        </m:rPr>
                        <a:rPr lang="en-US" sz="2800" i="1" dirty="0" smtClean="0">
                          <a:latin typeface="Cambria Math" panose="02040503050406030204" pitchFamily="18" charset="0"/>
                        </a:rPr>
                        <m:t>Pr</m:t>
                      </m:r>
                      <m:r>
                        <a:rPr lang="en-US" sz="2800" i="1" dirty="0">
                          <a:latin typeface="Cambria Math" panose="02040503050406030204" pitchFamily="18" charset="0"/>
                        </a:rPr>
                        <m:t>⁡[</m:t>
                      </m:r>
                      <m:r>
                        <a:rPr lang="en-US" sz="2800" i="1" dirty="0">
                          <a:latin typeface="Cambria Math" panose="02040503050406030204" pitchFamily="18" charset="0"/>
                        </a:rPr>
                        <m:t>𝐶</m:t>
                      </m:r>
                      <m:r>
                        <a:rPr lang="en-US" sz="2800" i="1" dirty="0">
                          <a:latin typeface="Cambria Math" panose="02040503050406030204" pitchFamily="18" charset="0"/>
                        </a:rPr>
                        <m:t>=</m:t>
                      </m:r>
                      <m:r>
                        <a:rPr lang="en-US" sz="2800" i="1" dirty="0">
                          <a:latin typeface="Cambria Math" panose="02040503050406030204" pitchFamily="18" charset="0"/>
                        </a:rPr>
                        <m:t>𝑐</m:t>
                      </m:r>
                      <m:r>
                        <a:rPr lang="en-US" sz="2800" b="0" i="1" dirty="0" smtClean="0">
                          <a:latin typeface="Cambria Math" panose="02040503050406030204" pitchFamily="18" charset="0"/>
                        </a:rPr>
                        <m:t>|</m:t>
                      </m:r>
                      <m:r>
                        <a:rPr lang="en-US" sz="2800" b="0" i="1" dirty="0" smtClean="0">
                          <a:latin typeface="Cambria Math" panose="02040503050406030204" pitchFamily="18" charset="0"/>
                        </a:rPr>
                        <m:t>𝑀</m:t>
                      </m:r>
                      <m:r>
                        <a:rPr lang="en-US" sz="2800" b="0" i="1" dirty="0" smtClean="0">
                          <a:latin typeface="Cambria Math" panose="02040503050406030204" pitchFamily="18" charset="0"/>
                        </a:rPr>
                        <m:t>=</m:t>
                      </m:r>
                      <m:r>
                        <a:rPr lang="en-US" sz="2800" b="0" i="1" dirty="0" smtClean="0">
                          <a:latin typeface="Cambria Math" panose="02040503050406030204" pitchFamily="18" charset="0"/>
                        </a:rPr>
                        <m:t>𝑚</m:t>
                      </m:r>
                      <m:r>
                        <a:rPr lang="en-US" sz="2800" i="1" dirty="0">
                          <a:latin typeface="Cambria Math" panose="02040503050406030204" pitchFamily="18" charset="0"/>
                        </a:rPr>
                        <m:t> ] = </m:t>
                      </m:r>
                      <m:r>
                        <m:rPr>
                          <m:sty m:val="p"/>
                        </m:rPr>
                        <a:rPr lang="en-US" sz="2800" i="1" dirty="0" err="1">
                          <a:latin typeface="Cambria Math" panose="02040503050406030204" pitchFamily="18" charset="0"/>
                        </a:rPr>
                        <m:t>Pr</m:t>
                      </m:r>
                      <m:r>
                        <a:rPr lang="en-US" sz="2800" i="1" dirty="0">
                          <a:latin typeface="Cambria Math" panose="02040503050406030204" pitchFamily="18" charset="0"/>
                        </a:rPr>
                        <m:t>⁡[</m:t>
                      </m:r>
                      <m:r>
                        <a:rPr lang="en-US" sz="2800" b="0" i="1" dirty="0" smtClean="0">
                          <a:latin typeface="Cambria Math" panose="02040503050406030204" pitchFamily="18" charset="0"/>
                        </a:rPr>
                        <m:t>𝐶</m:t>
                      </m:r>
                      <m:r>
                        <a:rPr lang="en-US" sz="2800" b="0" i="1" dirty="0" smtClean="0">
                          <a:latin typeface="Cambria Math" panose="02040503050406030204" pitchFamily="18" charset="0"/>
                        </a:rPr>
                        <m:t>=</m:t>
                      </m:r>
                      <m:r>
                        <a:rPr lang="en-US" sz="2800" b="0" i="1" dirty="0" smtClean="0">
                          <a:latin typeface="Cambria Math" panose="02040503050406030204" pitchFamily="18" charset="0"/>
                        </a:rPr>
                        <m:t>𝑐</m:t>
                      </m:r>
                      <m:r>
                        <a:rPr lang="en-US" sz="2800" i="1" dirty="0">
                          <a:latin typeface="Cambria Math" panose="02040503050406030204" pitchFamily="18" charset="0"/>
                        </a:rPr>
                        <m:t>]</m:t>
                      </m:r>
                    </m:oMath>
                  </m:oMathPara>
                </a14:m>
                <a:endParaRPr lang="en-US" sz="2800" dirty="0"/>
              </a:p>
            </p:txBody>
          </p:sp>
        </mc:Choice>
        <mc:Fallback xmlns="">
          <p:sp>
            <p:nvSpPr>
              <p:cNvPr id="4" name="Content Placeholder 2">
                <a:extLst>
                  <a:ext uri="{FF2B5EF4-FFF2-40B4-BE49-F238E27FC236}">
                    <a16:creationId xmlns:a16="http://schemas.microsoft.com/office/drawing/2014/main" id="{27CA5A4A-59CC-869D-6BBA-07B08C8D5610}"/>
                  </a:ext>
                </a:extLst>
              </p:cNvPr>
              <p:cNvSpPr>
                <a:spLocks noGrp="1" noRot="1" noChangeAspect="1" noMove="1" noResize="1" noEditPoints="1" noAdjustHandles="1" noChangeArrowheads="1" noChangeShapeType="1" noTextEdit="1"/>
              </p:cNvSpPr>
              <p:nvPr>
                <p:ph idx="1"/>
              </p:nvPr>
            </p:nvSpPr>
            <p:spPr>
              <a:xfrm>
                <a:off x="551329" y="1524000"/>
                <a:ext cx="10152529" cy="4876800"/>
              </a:xfrm>
              <a:blipFill>
                <a:blip r:embed="rId2"/>
                <a:stretch>
                  <a:fillRect l="-1080" t="-2125" r="-1981"/>
                </a:stretch>
              </a:blipFill>
            </p:spPr>
            <p:txBody>
              <a:bodyPr/>
              <a:lstStyle/>
              <a:p>
                <a:r>
                  <a:rPr lang="en-US">
                    <a:noFill/>
                  </a:rPr>
                  <a:t> </a:t>
                </a:r>
              </a:p>
            </p:txBody>
          </p:sp>
        </mc:Fallback>
      </mc:AlternateContent>
    </p:spTree>
    <p:extLst>
      <p:ext uri="{BB962C8B-B14F-4D97-AF65-F5344CB8AC3E}">
        <p14:creationId xmlns:p14="http://schemas.microsoft.com/office/powerpoint/2010/main" val="1739657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08536-6141-10C1-A361-ED3A370F8D7C}"/>
              </a:ext>
            </a:extLst>
          </p:cNvPr>
          <p:cNvSpPr>
            <a:spLocks noGrp="1"/>
          </p:cNvSpPr>
          <p:nvPr>
            <p:ph type="title"/>
          </p:nvPr>
        </p:nvSpPr>
        <p:spPr/>
        <p:txBody>
          <a:bodyPr/>
          <a:lstStyle/>
          <a:p>
            <a:r>
              <a:rPr lang="en-US" dirty="0"/>
              <a:t>Proof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73465D-CD49-E1D6-3BEB-C9DC765441A9}"/>
                  </a:ext>
                </a:extLst>
              </p:cNvPr>
              <p:cNvSpPr>
                <a:spLocks noGrp="1"/>
              </p:cNvSpPr>
              <p:nvPr>
                <p:ph idx="1"/>
              </p:nvPr>
            </p:nvSpPr>
            <p:spPr>
              <a:xfrm>
                <a:off x="445477" y="1743197"/>
                <a:ext cx="11596364" cy="4351338"/>
              </a:xfrm>
            </p:spPr>
            <p:txBody>
              <a:bodyPr/>
              <a:lstStyle/>
              <a:p>
                <a:r>
                  <a:rPr lang="en-US" dirty="0" err="1"/>
                  <a:t>Bayes’s</a:t>
                </a:r>
                <a:r>
                  <a:rPr lang="en-US" dirty="0"/>
                  <a:t> theorem: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 </m:t>
                    </m:r>
                    <m:r>
                      <a:rPr lang="en-US" i="1" dirty="0">
                        <a:latin typeface="Cambria Math" panose="02040503050406030204" pitchFamily="18" charset="0"/>
                      </a:rPr>
                      <m:t>𝐵</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 | </m:t>
                    </m:r>
                    <m:r>
                      <a:rPr lang="en-US" i="1" dirty="0">
                        <a:latin typeface="Cambria Math" panose="02040503050406030204" pitchFamily="18" charset="0"/>
                      </a:rPr>
                      <m:t>𝐴</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m:t>
                    </m:r>
                  </m:oMath>
                </a14:m>
                <a:endParaRPr lang="en-US" dirty="0"/>
              </a:p>
              <a:p>
                <a:endParaRPr lang="en-US" dirty="0"/>
              </a:p>
              <a:p>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 </m:t>
                    </m:r>
                    <m:r>
                      <a:rPr lang="en-US" i="1" dirty="0">
                        <a:latin typeface="Cambria Math" panose="02040503050406030204" pitchFamily="18" charset="0"/>
                      </a:rPr>
                      <m:t>𝑀</m:t>
                    </m:r>
                    <m:r>
                      <a:rPr lang="en-US" i="1" dirty="0">
                        <a:latin typeface="Cambria Math" panose="02040503050406030204" pitchFamily="18" charset="0"/>
                      </a:rPr>
                      <m:t> = </m:t>
                    </m:r>
                    <m:r>
                      <a:rPr lang="en-US" i="1" dirty="0">
                        <a:latin typeface="Cambria Math" panose="02040503050406030204" pitchFamily="18" charset="0"/>
                      </a:rPr>
                      <m:t>𝑚</m:t>
                    </m:r>
                    <m:r>
                      <a:rPr lang="en-US" i="1" dirty="0">
                        <a:latin typeface="Cambria Math" panose="02040503050406030204" pitchFamily="18" charset="0"/>
                      </a:rPr>
                      <m:t> | </m:t>
                    </m:r>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𝐶</m:t>
                    </m:r>
                    <m:r>
                      <a:rPr lang="en-US" i="1" dirty="0">
                        <a:latin typeface="Cambria Math" panose="02040503050406030204" pitchFamily="18" charset="0"/>
                      </a:rPr>
                      <m:t> = </m:t>
                    </m:r>
                    <m:r>
                      <a:rPr lang="en-US" i="1" dirty="0">
                        <a:latin typeface="Cambria Math" panose="02040503050406030204" pitchFamily="18" charset="0"/>
                      </a:rPr>
                      <m:t>𝑐</m:t>
                    </m:r>
                    <m:r>
                      <a:rPr lang="en-US" i="1" dirty="0">
                        <a:latin typeface="Cambria Math" panose="02040503050406030204" pitchFamily="18" charset="0"/>
                      </a:rPr>
                      <m:t>]= </m:t>
                    </m:r>
                    <m:r>
                      <m:rPr>
                        <m:sty m:val="p"/>
                      </m:rPr>
                      <a:rPr lang="en-US" i="1" dirty="0" err="1">
                        <a:latin typeface="Cambria Math" panose="02040503050406030204" pitchFamily="18" charset="0"/>
                      </a:rPr>
                      <m:t>Pr</m:t>
                    </m:r>
                    <m:r>
                      <a:rPr lang="en-US" i="1" dirty="0">
                        <a:latin typeface="Cambria Math" panose="02040503050406030204" pitchFamily="18" charset="0"/>
                      </a:rPr>
                      <m:t>⁡[ </m:t>
                    </m:r>
                    <m:r>
                      <a:rPr lang="en-US" i="1" dirty="0">
                        <a:latin typeface="Cambria Math" panose="02040503050406030204" pitchFamily="18" charset="0"/>
                      </a:rPr>
                      <m:t>𝐶</m:t>
                    </m:r>
                    <m:r>
                      <a:rPr lang="en-US" i="1" dirty="0">
                        <a:latin typeface="Cambria Math" panose="02040503050406030204" pitchFamily="18" charset="0"/>
                      </a:rPr>
                      <m:t> = </m:t>
                    </m:r>
                    <m:r>
                      <a:rPr lang="en-US" i="1" dirty="0">
                        <a:latin typeface="Cambria Math" panose="02040503050406030204" pitchFamily="18" charset="0"/>
                      </a:rPr>
                      <m:t>𝑐</m:t>
                    </m:r>
                    <m:r>
                      <a:rPr lang="en-US" i="1" dirty="0">
                        <a:latin typeface="Cambria Math" panose="02040503050406030204" pitchFamily="18" charset="0"/>
                      </a:rPr>
                      <m:t> | </m:t>
                    </m:r>
                    <m:r>
                      <a:rPr lang="en-US" i="1" dirty="0">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 = </m:t>
                    </m:r>
                    <m:r>
                      <a:rPr lang="en-US" i="1" dirty="0">
                        <a:latin typeface="Cambria Math" panose="02040503050406030204" pitchFamily="18" charset="0"/>
                      </a:rPr>
                      <m:t>𝑚</m:t>
                    </m:r>
                    <m:r>
                      <a:rPr lang="en-US" i="1" dirty="0">
                        <a:latin typeface="Cambria Math" panose="02040503050406030204" pitchFamily="18" charset="0"/>
                      </a:rPr>
                      <m:t>]</m:t>
                    </m:r>
                  </m:oMath>
                </a14:m>
                <a:endParaRPr lang="en-US" dirty="0"/>
              </a:p>
              <a:p>
                <a:endParaRPr lang="en-US" dirty="0"/>
              </a:p>
              <a:p>
                <a:r>
                  <a:rPr lang="en-US" dirty="0"/>
                  <a:t>If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 </m:t>
                    </m:r>
                    <m:r>
                      <a:rPr lang="en-US" i="1" dirty="0">
                        <a:latin typeface="Cambria Math" panose="02040503050406030204" pitchFamily="18" charset="0"/>
                      </a:rPr>
                      <m:t>𝑀</m:t>
                    </m:r>
                    <m:r>
                      <a:rPr lang="en-US" i="1" dirty="0">
                        <a:latin typeface="Cambria Math" panose="02040503050406030204" pitchFamily="18" charset="0"/>
                      </a:rPr>
                      <m:t> = </m:t>
                    </m:r>
                    <m:r>
                      <a:rPr lang="en-US" i="1" dirty="0">
                        <a:latin typeface="Cambria Math" panose="02040503050406030204" pitchFamily="18" charset="0"/>
                      </a:rPr>
                      <m:t>𝑚</m:t>
                    </m:r>
                    <m:r>
                      <a:rPr lang="en-US" i="1" dirty="0">
                        <a:latin typeface="Cambria Math" panose="02040503050406030204" pitchFamily="18" charset="0"/>
                      </a:rPr>
                      <m:t> | </m:t>
                    </m:r>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 ]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 = </m:t>
                    </m:r>
                    <m:r>
                      <a:rPr lang="en-US" i="1" dirty="0">
                        <a:latin typeface="Cambria Math" panose="02040503050406030204" pitchFamily="18" charset="0"/>
                      </a:rPr>
                      <m:t>𝑚</m:t>
                    </m:r>
                    <m:r>
                      <a:rPr lang="en-US" i="1" dirty="0">
                        <a:latin typeface="Cambria Math" panose="02040503050406030204" pitchFamily="18" charset="0"/>
                      </a:rPr>
                      <m:t>]</m:t>
                    </m:r>
                  </m:oMath>
                </a14:m>
                <a:r>
                  <a:rPr lang="en-US" dirty="0"/>
                  <a:t>, </a:t>
                </a:r>
              </a:p>
              <a:p>
                <a:pPr marL="0" indent="0">
                  <a:buNone/>
                </a:pPr>
                <a:r>
                  <a:rPr lang="en-US" dirty="0"/>
                  <a:t>	then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 </m:t>
                    </m:r>
                    <m:r>
                      <a:rPr lang="en-US" i="1" dirty="0">
                        <a:latin typeface="Cambria Math" panose="02040503050406030204" pitchFamily="18" charset="0"/>
                      </a:rPr>
                      <m:t>𝐶</m:t>
                    </m:r>
                    <m:r>
                      <a:rPr lang="en-US" i="1" dirty="0">
                        <a:latin typeface="Cambria Math" panose="02040503050406030204" pitchFamily="18" charset="0"/>
                      </a:rPr>
                      <m:t> = </m:t>
                    </m:r>
                    <m:r>
                      <a:rPr lang="en-US" i="1" dirty="0">
                        <a:latin typeface="Cambria Math" panose="02040503050406030204" pitchFamily="18" charset="0"/>
                      </a:rPr>
                      <m:t>𝑐</m:t>
                    </m:r>
                    <m:r>
                      <a:rPr lang="en-US" i="1" dirty="0">
                        <a:latin typeface="Cambria Math" panose="02040503050406030204" pitchFamily="18" charset="0"/>
                      </a:rPr>
                      <m:t> | </m:t>
                    </m:r>
                    <m:r>
                      <a:rPr lang="en-US" i="1" dirty="0">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𝐶</m:t>
                    </m:r>
                    <m:r>
                      <a:rPr lang="en-US" i="1" dirty="0">
                        <a:latin typeface="Cambria Math" panose="02040503050406030204" pitchFamily="18" charset="0"/>
                      </a:rPr>
                      <m:t> = </m:t>
                    </m:r>
                    <m:r>
                      <a:rPr lang="en-US" i="1" dirty="0">
                        <a:latin typeface="Cambria Math" panose="02040503050406030204" pitchFamily="18" charset="0"/>
                      </a:rPr>
                      <m:t>𝑐</m:t>
                    </m:r>
                    <m:r>
                      <a:rPr lang="en-US" i="1" dirty="0">
                        <a:latin typeface="Cambria Math" panose="02040503050406030204" pitchFamily="18" charset="0"/>
                      </a:rPr>
                      <m:t>]</m:t>
                    </m:r>
                  </m:oMath>
                </a14:m>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9173465D-CD49-E1D6-3BEB-C9DC765441A9}"/>
                  </a:ext>
                </a:extLst>
              </p:cNvPr>
              <p:cNvSpPr>
                <a:spLocks noGrp="1" noRot="1" noChangeAspect="1" noMove="1" noResize="1" noEditPoints="1" noAdjustHandles="1" noChangeArrowheads="1" noChangeShapeType="1" noTextEdit="1"/>
              </p:cNvSpPr>
              <p:nvPr>
                <p:ph idx="1"/>
              </p:nvPr>
            </p:nvSpPr>
            <p:spPr>
              <a:xfrm>
                <a:off x="445477" y="1743197"/>
                <a:ext cx="11596364" cy="4351338"/>
              </a:xfrm>
              <a:blipFill>
                <a:blip r:embed="rId2"/>
                <a:stretch>
                  <a:fillRect l="-946" t="-2521"/>
                </a:stretch>
              </a:blipFill>
            </p:spPr>
            <p:txBody>
              <a:bodyPr/>
              <a:lstStyle/>
              <a:p>
                <a:r>
                  <a:rPr lang="en-US">
                    <a:noFill/>
                  </a:rPr>
                  <a:t> </a:t>
                </a:r>
              </a:p>
            </p:txBody>
          </p:sp>
        </mc:Fallback>
      </mc:AlternateContent>
    </p:spTree>
    <p:extLst>
      <p:ext uri="{BB962C8B-B14F-4D97-AF65-F5344CB8AC3E}">
        <p14:creationId xmlns:p14="http://schemas.microsoft.com/office/powerpoint/2010/main" val="1008123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1082-422A-441E-95B0-DC2D1CD01824}"/>
              </a:ext>
            </a:extLst>
          </p:cNvPr>
          <p:cNvSpPr>
            <a:spLocks noGrp="1"/>
          </p:cNvSpPr>
          <p:nvPr>
            <p:ph type="title"/>
          </p:nvPr>
        </p:nvSpPr>
        <p:spPr/>
        <p:txBody>
          <a:bodyPr/>
          <a:lstStyle/>
          <a:p>
            <a:r>
              <a:rPr lang="en-US" dirty="0"/>
              <a:t>One-time pad</a:t>
            </a:r>
          </a:p>
        </p:txBody>
      </p:sp>
      <p:sp>
        <p:nvSpPr>
          <p:cNvPr id="3" name="Content Placeholder 2">
            <a:extLst>
              <a:ext uri="{FF2B5EF4-FFF2-40B4-BE49-F238E27FC236}">
                <a16:creationId xmlns:a16="http://schemas.microsoft.com/office/drawing/2014/main" id="{1EAF57F0-3824-4C36-B690-E5C73E5B3508}"/>
              </a:ext>
            </a:extLst>
          </p:cNvPr>
          <p:cNvSpPr>
            <a:spLocks noGrp="1"/>
          </p:cNvSpPr>
          <p:nvPr>
            <p:ph idx="1"/>
          </p:nvPr>
        </p:nvSpPr>
        <p:spPr/>
        <p:txBody>
          <a:bodyPr/>
          <a:lstStyle/>
          <a:p>
            <a:r>
              <a:rPr lang="en-US" dirty="0"/>
              <a:t>rotation by different shifts</a:t>
            </a:r>
          </a:p>
          <a:p>
            <a:r>
              <a:rPr lang="en-US" dirty="0"/>
              <a:t>Key length the same as message length</a:t>
            </a:r>
          </a:p>
        </p:txBody>
      </p:sp>
      <p:sp>
        <p:nvSpPr>
          <p:cNvPr id="4" name="Date Placeholder 3">
            <a:extLst>
              <a:ext uri="{FF2B5EF4-FFF2-40B4-BE49-F238E27FC236}">
                <a16:creationId xmlns:a16="http://schemas.microsoft.com/office/drawing/2014/main" id="{70FB080E-E6BB-4227-9933-0FDA391F134E}"/>
              </a:ext>
            </a:extLst>
          </p:cNvPr>
          <p:cNvSpPr>
            <a:spLocks noGrp="1"/>
          </p:cNvSpPr>
          <p:nvPr>
            <p:ph type="dt" sz="half" idx="4294967295"/>
          </p:nvPr>
        </p:nvSpPr>
        <p:spPr>
          <a:xfrm>
            <a:off x="1981200" y="6356351"/>
            <a:ext cx="2133600" cy="365125"/>
          </a:xfrm>
        </p:spPr>
        <p:txBody>
          <a:bodyPr/>
          <a:lstStyle/>
          <a:p>
            <a:pPr>
              <a:defRPr/>
            </a:pPr>
            <a:fld id="{A7DE4472-E95E-430B-AA46-2D76F67E4D17}" type="datetime1">
              <a:rPr lang="en-US" smtClean="0"/>
              <a:pPr>
                <a:defRPr/>
              </a:pPr>
              <a:t>8/28/25</a:t>
            </a:fld>
            <a:endParaRPr lang="en-GB"/>
          </a:p>
        </p:txBody>
      </p:sp>
      <p:sp>
        <p:nvSpPr>
          <p:cNvPr id="5" name="Footer Placeholder 4">
            <a:extLst>
              <a:ext uri="{FF2B5EF4-FFF2-40B4-BE49-F238E27FC236}">
                <a16:creationId xmlns:a16="http://schemas.microsoft.com/office/drawing/2014/main" id="{3657CA41-42D5-4E67-A08E-6854E3BF094B}"/>
              </a:ext>
            </a:extLst>
          </p:cNvPr>
          <p:cNvSpPr>
            <a:spLocks noGrp="1"/>
          </p:cNvSpPr>
          <p:nvPr>
            <p:ph type="ftr" sz="quarter" idx="4294967295"/>
          </p:nvPr>
        </p:nvSpPr>
        <p:spPr>
          <a:xfrm>
            <a:off x="4648200" y="6356351"/>
            <a:ext cx="2895600" cy="365125"/>
          </a:xfrm>
        </p:spPr>
        <p:txBody>
          <a:bodyPr/>
          <a:lstStyle/>
          <a:p>
            <a:pPr>
              <a:defRPr/>
            </a:pPr>
            <a:r>
              <a:rPr lang="en-GB"/>
              <a:t>Cryptography</a:t>
            </a:r>
          </a:p>
        </p:txBody>
      </p:sp>
      <p:sp>
        <p:nvSpPr>
          <p:cNvPr id="6" name="Slide Number Placeholder 5">
            <a:extLst>
              <a:ext uri="{FF2B5EF4-FFF2-40B4-BE49-F238E27FC236}">
                <a16:creationId xmlns:a16="http://schemas.microsoft.com/office/drawing/2014/main" id="{74837034-C552-4F65-91E4-2B2B83013876}"/>
              </a:ext>
            </a:extLst>
          </p:cNvPr>
          <p:cNvSpPr>
            <a:spLocks noGrp="1"/>
          </p:cNvSpPr>
          <p:nvPr>
            <p:ph type="sldNum" sz="quarter" idx="4294967295"/>
          </p:nvPr>
        </p:nvSpPr>
        <p:spPr>
          <a:xfrm>
            <a:off x="8077200" y="6356351"/>
            <a:ext cx="2133600" cy="365125"/>
          </a:xfrm>
        </p:spPr>
        <p:txBody>
          <a:bodyPr/>
          <a:lstStyle/>
          <a:p>
            <a:pPr>
              <a:defRPr/>
            </a:pPr>
            <a:fld id="{40430D0A-94E0-4A9E-8011-005B3BE16F20}" type="slidenum">
              <a:rPr lang="en-GB" smtClean="0"/>
              <a:pPr>
                <a:defRPr/>
              </a:pPr>
              <a:t>38</a:t>
            </a:fld>
            <a:endParaRPr lang="en-GB"/>
          </a:p>
        </p:txBody>
      </p:sp>
    </p:spTree>
    <p:extLst>
      <p:ext uri="{BB962C8B-B14F-4D97-AF65-F5344CB8AC3E}">
        <p14:creationId xmlns:p14="http://schemas.microsoft.com/office/powerpoint/2010/main" val="41841466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43F74-034E-4BDE-B982-7F6D0854C450}"/>
              </a:ext>
            </a:extLst>
          </p:cNvPr>
          <p:cNvSpPr>
            <a:spLocks noGrp="1"/>
          </p:cNvSpPr>
          <p:nvPr>
            <p:ph type="title"/>
          </p:nvPr>
        </p:nvSpPr>
        <p:spPr/>
        <p:txBody>
          <a:bodyPr/>
          <a:lstStyle/>
          <a:p>
            <a:r>
              <a:rPr lang="en-US" dirty="0"/>
              <a:t>Rotation vs modular addition </a:t>
            </a:r>
          </a:p>
        </p:txBody>
      </p:sp>
      <p:sp>
        <p:nvSpPr>
          <p:cNvPr id="3" name="Content Placeholder 2">
            <a:extLst>
              <a:ext uri="{FF2B5EF4-FFF2-40B4-BE49-F238E27FC236}">
                <a16:creationId xmlns:a16="http://schemas.microsoft.com/office/drawing/2014/main" id="{A331CB3C-B56D-4719-8BED-2BED4E1E1662}"/>
              </a:ext>
            </a:extLst>
          </p:cNvPr>
          <p:cNvSpPr>
            <a:spLocks noGrp="1"/>
          </p:cNvSpPr>
          <p:nvPr>
            <p:ph idx="1"/>
          </p:nvPr>
        </p:nvSpPr>
        <p:spPr/>
        <p:txBody>
          <a:bodyPr/>
          <a:lstStyle/>
          <a:p>
            <a:r>
              <a:rPr lang="en-US" dirty="0"/>
              <a:t>M: r   K: 24  --  C:  p</a:t>
            </a:r>
          </a:p>
          <a:p>
            <a:r>
              <a:rPr lang="en-US" dirty="0"/>
              <a:t>18 + 24 =  16 mod 26</a:t>
            </a:r>
          </a:p>
        </p:txBody>
      </p:sp>
    </p:spTree>
    <p:extLst>
      <p:ext uri="{BB962C8B-B14F-4D97-AF65-F5344CB8AC3E}">
        <p14:creationId xmlns:p14="http://schemas.microsoft.com/office/powerpoint/2010/main" val="16725800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0530-4BC6-40C8-8D0A-6A19BD91CA21}"/>
              </a:ext>
            </a:extLst>
          </p:cNvPr>
          <p:cNvSpPr>
            <a:spLocks noGrp="1"/>
          </p:cNvSpPr>
          <p:nvPr>
            <p:ph type="title"/>
          </p:nvPr>
        </p:nvSpPr>
        <p:spPr/>
        <p:txBody>
          <a:bodyPr/>
          <a:lstStyle/>
          <a:p>
            <a:r>
              <a:rPr lang="en-US" dirty="0"/>
              <a:t>XOR</a:t>
            </a:r>
          </a:p>
        </p:txBody>
      </p:sp>
      <p:sp>
        <p:nvSpPr>
          <p:cNvPr id="3" name="Content Placeholder 2">
            <a:extLst>
              <a:ext uri="{FF2B5EF4-FFF2-40B4-BE49-F238E27FC236}">
                <a16:creationId xmlns:a16="http://schemas.microsoft.com/office/drawing/2014/main" id="{56B8F183-2A46-4506-8ABA-F27E5442C7B3}"/>
              </a:ext>
            </a:extLst>
          </p:cNvPr>
          <p:cNvSpPr>
            <a:spLocks noGrp="1"/>
          </p:cNvSpPr>
          <p:nvPr>
            <p:ph idx="1"/>
          </p:nvPr>
        </p:nvSpPr>
        <p:spPr/>
        <p:txBody>
          <a:bodyPr/>
          <a:lstStyle/>
          <a:p>
            <a:r>
              <a:rPr lang="en-US" dirty="0">
                <a:sym typeface="Symbol"/>
              </a:rPr>
              <a:t>A  B</a:t>
            </a:r>
          </a:p>
          <a:p>
            <a:endParaRPr lang="en-US" dirty="0">
              <a:sym typeface="Symbol"/>
            </a:endParaRPr>
          </a:p>
          <a:p>
            <a:endParaRPr lang="en-US" dirty="0">
              <a:sym typeface="Symbol"/>
            </a:endParaRPr>
          </a:p>
          <a:p>
            <a:endParaRPr lang="en-US" dirty="0">
              <a:sym typeface="Symbol"/>
            </a:endParaRPr>
          </a:p>
          <a:p>
            <a:endParaRPr lang="en-US" dirty="0">
              <a:sym typeface="Symbol"/>
            </a:endParaRPr>
          </a:p>
          <a:p>
            <a:endParaRPr lang="en-US" dirty="0">
              <a:sym typeface="Symbol"/>
            </a:endParaRPr>
          </a:p>
          <a:p>
            <a:pPr marL="0" indent="0">
              <a:buNone/>
            </a:pPr>
            <a:r>
              <a:rPr lang="en-US" dirty="0">
                <a:sym typeface="Symbol"/>
              </a:rPr>
              <a:t>Equivalent to addition mod 2</a:t>
            </a:r>
          </a:p>
        </p:txBody>
      </p:sp>
      <p:graphicFrame>
        <p:nvGraphicFramePr>
          <p:cNvPr id="5" name="Table 4">
            <a:extLst>
              <a:ext uri="{FF2B5EF4-FFF2-40B4-BE49-F238E27FC236}">
                <a16:creationId xmlns:a16="http://schemas.microsoft.com/office/drawing/2014/main" id="{1FAB121A-2F6F-487B-9475-B8C1C645F561}"/>
              </a:ext>
            </a:extLst>
          </p:cNvPr>
          <p:cNvGraphicFramePr>
            <a:graphicFrameLocks noGrp="1"/>
          </p:cNvGraphicFramePr>
          <p:nvPr/>
        </p:nvGraphicFramePr>
        <p:xfrm>
          <a:off x="2082802" y="2514600"/>
          <a:ext cx="8127999" cy="2286000"/>
        </p:xfrm>
        <a:graphic>
          <a:graphicData uri="http://schemas.openxmlformats.org/drawingml/2006/table">
            <a:tbl>
              <a:tblPr>
                <a:tableStyleId>{073A0DAA-6AF3-43AB-8588-CEC1D06C72B9}</a:tableStyleId>
              </a:tblPr>
              <a:tblGrid>
                <a:gridCol w="2709333">
                  <a:extLst>
                    <a:ext uri="{9D8B030D-6E8A-4147-A177-3AD203B41FA5}">
                      <a16:colId xmlns:a16="http://schemas.microsoft.com/office/drawing/2014/main" val="1737638922"/>
                    </a:ext>
                  </a:extLst>
                </a:gridCol>
                <a:gridCol w="2709333">
                  <a:extLst>
                    <a:ext uri="{9D8B030D-6E8A-4147-A177-3AD203B41FA5}">
                      <a16:colId xmlns:a16="http://schemas.microsoft.com/office/drawing/2014/main" val="467017472"/>
                    </a:ext>
                  </a:extLst>
                </a:gridCol>
                <a:gridCol w="2709333">
                  <a:extLst>
                    <a:ext uri="{9D8B030D-6E8A-4147-A177-3AD203B41FA5}">
                      <a16:colId xmlns:a16="http://schemas.microsoft.com/office/drawing/2014/main" val="1158571416"/>
                    </a:ext>
                  </a:extLst>
                </a:gridCol>
              </a:tblGrid>
              <a:tr h="370840">
                <a:tc gridSpan="2">
                  <a:txBody>
                    <a:bodyPr/>
                    <a:lstStyle/>
                    <a:p>
                      <a:pPr algn="ctr"/>
                      <a:r>
                        <a:rPr lang="en-US" sz="2400" dirty="0"/>
                        <a:t>input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3023773"/>
                  </a:ext>
                </a:extLst>
              </a:tr>
              <a:tr h="370840">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8262903"/>
                  </a:ext>
                </a:extLst>
              </a:tr>
              <a:tr h="370840">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580065"/>
                  </a:ext>
                </a:extLst>
              </a:tr>
              <a:tr h="370840">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7964816"/>
                  </a:ext>
                </a:extLst>
              </a:tr>
              <a:tr h="370840">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77084805"/>
                  </a:ext>
                </a:extLst>
              </a:tr>
            </a:tbl>
          </a:graphicData>
        </a:graphic>
      </p:graphicFrame>
    </p:spTree>
    <p:extLst>
      <p:ext uri="{BB962C8B-B14F-4D97-AF65-F5344CB8AC3E}">
        <p14:creationId xmlns:p14="http://schemas.microsoft.com/office/powerpoint/2010/main" val="35007005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One-time pad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Let </a:t>
                </a:r>
                <a14:m>
                  <m:oMath xmlns:m="http://schemas.openxmlformats.org/officeDocument/2006/math">
                    <m:r>
                      <a:rPr lang="en-US" b="1" i="1" dirty="0" smtClean="0">
                        <a:latin typeface="Cambria Math" panose="02040503050406030204" pitchFamily="18" charset="0"/>
                      </a:rPr>
                      <m:t>ℳ</m:t>
                    </m:r>
                    <m:r>
                      <a:rPr lang="en-US" i="1" dirty="0">
                        <a:latin typeface="Cambria Math" panose="02040503050406030204" pitchFamily="18" charset="0"/>
                      </a:rPr>
                      <m:t>= {0,1}</m:t>
                    </m:r>
                    <m:r>
                      <a:rPr lang="en-US" i="1" baseline="30000" dirty="0">
                        <a:latin typeface="Cambria Math" panose="02040503050406030204" pitchFamily="18" charset="0"/>
                      </a:rPr>
                      <m:t>𝑛</m:t>
                    </m:r>
                  </m:oMath>
                </a14:m>
                <a:endParaRPr lang="en-US" dirty="0"/>
              </a:p>
              <a:p>
                <a14:m>
                  <m:oMath xmlns:m="http://schemas.openxmlformats.org/officeDocument/2006/math">
                    <m:r>
                      <m:rPr>
                        <m:sty m:val="p"/>
                      </m:rPr>
                      <a:rPr lang="en-US" i="0" dirty="0" smtClean="0">
                        <a:latin typeface="Cambria Math" panose="02040503050406030204" pitchFamily="18" charset="0"/>
                      </a:rPr>
                      <m:t>Gen</m:t>
                    </m:r>
                    <m:r>
                      <a:rPr lang="en-US" b="0" i="0" dirty="0" smtClean="0">
                        <a:latin typeface="Cambria Math" panose="02040503050406030204" pitchFamily="18" charset="0"/>
                      </a:rPr>
                      <m:t>()</m:t>
                    </m:r>
                  </m:oMath>
                </a14:m>
                <a:r>
                  <a:rPr lang="en-US" dirty="0"/>
                  <a:t>: choose a uniform key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  {0,1}</m:t>
                    </m:r>
                    <m:r>
                      <a:rPr lang="en-US" i="1" baseline="30000" dirty="0">
                        <a:latin typeface="Cambria Math" panose="02040503050406030204" pitchFamily="18" charset="0"/>
                        <a:sym typeface="Symbol"/>
                      </a:rPr>
                      <m:t>𝑛</m:t>
                    </m:r>
                  </m:oMath>
                </a14:m>
                <a:endParaRPr lang="en-US" dirty="0">
                  <a:sym typeface="Symbol"/>
                </a:endParaRPr>
              </a:p>
              <a:p>
                <a14:m>
                  <m:oMath xmlns:m="http://schemas.openxmlformats.org/officeDocument/2006/math">
                    <m:r>
                      <m:rPr>
                        <m:sty m:val="p"/>
                      </m:rPr>
                      <a:rPr lang="en-US" i="0" dirty="0" smtClean="0">
                        <a:latin typeface="Cambria Math" panose="02040503050406030204" pitchFamily="18" charset="0"/>
                        <a:sym typeface="Symbol"/>
                      </a:rPr>
                      <m:t>Enc</m:t>
                    </m:r>
                    <m:r>
                      <a:rPr lang="en-US" i="1" baseline="-25000" dirty="0" err="1">
                        <a:latin typeface="Cambria Math" panose="02040503050406030204" pitchFamily="18" charset="0"/>
                        <a:sym typeface="Symbol"/>
                      </a:rPr>
                      <m:t>𝑘</m:t>
                    </m:r>
                    <m:r>
                      <a:rPr lang="en-US" i="1" dirty="0">
                        <a:latin typeface="Cambria Math" panose="02040503050406030204" pitchFamily="18" charset="0"/>
                        <a:sym typeface="Symbol"/>
                      </a:rPr>
                      <m:t>(</m:t>
                    </m:r>
                    <m:r>
                      <a:rPr lang="en-US" i="1" dirty="0">
                        <a:latin typeface="Cambria Math" panose="02040503050406030204" pitchFamily="18" charset="0"/>
                        <a:sym typeface="Symbol"/>
                      </a:rPr>
                      <m:t>𝑚</m:t>
                    </m:r>
                    <m:r>
                      <a:rPr lang="en-US" i="1" dirty="0">
                        <a:latin typeface="Cambria Math" panose="02040503050406030204" pitchFamily="18" charset="0"/>
                        <a:sym typeface="Symbol"/>
                      </a:rPr>
                      <m:t>)</m:t>
                    </m:r>
                  </m:oMath>
                </a14:m>
                <a:r>
                  <a:rPr lang="en-US" dirty="0">
                    <a:sym typeface="Symbol"/>
                  </a:rPr>
                  <a:t>: </a:t>
                </a:r>
                <a14:m>
                  <m:oMath xmlns:m="http://schemas.openxmlformats.org/officeDocument/2006/math">
                    <m:r>
                      <a:rPr lang="en-US" b="0" i="1" dirty="0" smtClean="0">
                        <a:latin typeface="Cambria Math" panose="02040503050406030204" pitchFamily="18" charset="0"/>
                        <a:sym typeface="Symbol"/>
                      </a:rPr>
                      <m:t>𝑐</m:t>
                    </m:r>
                    <m:r>
                      <a:rPr lang="en-US" b="0" i="1" dirty="0" smtClean="0">
                        <a:latin typeface="Cambria Math" panose="02040503050406030204" pitchFamily="18" charset="0"/>
                        <a:sym typeface="Symbol"/>
                      </a:rPr>
                      <m:t>= </m:t>
                    </m:r>
                    <m:r>
                      <a:rPr lang="en-US" i="1" dirty="0" smtClean="0">
                        <a:latin typeface="Cambria Math" panose="02040503050406030204" pitchFamily="18" charset="0"/>
                        <a:sym typeface="Symbol"/>
                      </a:rPr>
                      <m:t>𝑘</m:t>
                    </m:r>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𝑚</m:t>
                    </m:r>
                  </m:oMath>
                </a14:m>
                <a:r>
                  <a:rPr lang="en-US" dirty="0">
                    <a:sym typeface="Symbol"/>
                  </a:rPr>
                  <a:t>              </a:t>
                </a:r>
              </a:p>
              <a:p>
                <a14:m>
                  <m:oMath xmlns:m="http://schemas.openxmlformats.org/officeDocument/2006/math">
                    <m:r>
                      <m:rPr>
                        <m:sty m:val="p"/>
                      </m:rPr>
                      <a:rPr lang="en-US" i="0" dirty="0" smtClean="0">
                        <a:latin typeface="Cambria Math" panose="02040503050406030204" pitchFamily="18" charset="0"/>
                        <a:sym typeface="Symbol"/>
                      </a:rPr>
                      <m:t>Dec</m:t>
                    </m:r>
                    <m:r>
                      <a:rPr lang="en-US" i="1" baseline="-25000" dirty="0">
                        <a:latin typeface="Cambria Math" panose="02040503050406030204" pitchFamily="18" charset="0"/>
                        <a:sym typeface="Symbol"/>
                      </a:rPr>
                      <m:t>𝑘</m:t>
                    </m:r>
                    <m:r>
                      <a:rPr lang="en-US" i="1" dirty="0">
                        <a:latin typeface="Cambria Math" panose="02040503050406030204" pitchFamily="18" charset="0"/>
                        <a:sym typeface="Symbol"/>
                      </a:rPr>
                      <m:t>(</m:t>
                    </m:r>
                    <m:r>
                      <a:rPr lang="en-US" i="1" dirty="0">
                        <a:latin typeface="Cambria Math" panose="02040503050406030204" pitchFamily="18" charset="0"/>
                        <a:sym typeface="Symbol"/>
                      </a:rPr>
                      <m:t>𝑐</m:t>
                    </m:r>
                    <m:r>
                      <a:rPr lang="en-US" i="1" dirty="0">
                        <a:latin typeface="Cambria Math" panose="02040503050406030204" pitchFamily="18" charset="0"/>
                        <a:sym typeface="Symbol"/>
                      </a:rPr>
                      <m:t>)</m:t>
                    </m:r>
                  </m:oMath>
                </a14:m>
                <a:r>
                  <a:rPr lang="en-US" dirty="0">
                    <a:sym typeface="Symbol"/>
                  </a:rPr>
                  <a:t>: </a:t>
                </a:r>
                <a14:m>
                  <m:oMath xmlns:m="http://schemas.openxmlformats.org/officeDocument/2006/math">
                    <m:r>
                      <a:rPr lang="en-US" b="0" i="1" dirty="0" smtClean="0">
                        <a:latin typeface="Cambria Math" panose="02040503050406030204" pitchFamily="18" charset="0"/>
                        <a:sym typeface="Symbol"/>
                      </a:rPr>
                      <m:t>𝑚</m:t>
                    </m:r>
                    <m:r>
                      <a:rPr lang="en-US" b="0" i="1" dirty="0" smtClean="0">
                        <a:latin typeface="Cambria Math" panose="02040503050406030204" pitchFamily="18" charset="0"/>
                        <a:sym typeface="Symbol"/>
                      </a:rPr>
                      <m:t>= </m:t>
                    </m:r>
                    <m:r>
                      <a:rPr lang="en-US" i="1" dirty="0">
                        <a:latin typeface="Cambria Math" panose="02040503050406030204" pitchFamily="18" charset="0"/>
                        <a:sym typeface="Symbol"/>
                      </a:rPr>
                      <m:t>𝑘</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𝑐</m:t>
                    </m:r>
                  </m:oMath>
                </a14:m>
                <a:endParaRPr lang="en-US" dirty="0">
                  <a:sym typeface="Symbol"/>
                </a:endParaRPr>
              </a:p>
              <a:p>
                <a:endParaRPr lang="en-US" dirty="0">
                  <a:sym typeface="Symbol"/>
                </a:endParaRPr>
              </a:p>
              <a:p>
                <a:r>
                  <a:rPr lang="en-US" dirty="0">
                    <a:sym typeface="Symbol"/>
                  </a:rPr>
                  <a:t>Correctness:</a:t>
                </a:r>
                <a:br>
                  <a:rPr lang="en-US" dirty="0">
                    <a:sym typeface="Symbol"/>
                  </a:rPr>
                </a:br>
                <a14:m>
                  <m:oMath xmlns:m="http://schemas.openxmlformats.org/officeDocument/2006/math">
                    <m:r>
                      <m:rPr>
                        <m:sty m:val="p"/>
                      </m:rPr>
                      <a:rPr lang="en-US" i="0" dirty="0" smtClean="0">
                        <a:latin typeface="Cambria Math" panose="02040503050406030204" pitchFamily="18" charset="0"/>
                        <a:sym typeface="Symbol"/>
                      </a:rPr>
                      <m:t>Dec</m:t>
                    </m:r>
                    <m:r>
                      <a:rPr lang="en-US" i="1" baseline="-25000" dirty="0">
                        <a:latin typeface="Cambria Math" panose="02040503050406030204" pitchFamily="18" charset="0"/>
                        <a:sym typeface="Symbol"/>
                      </a:rPr>
                      <m:t>𝑘</m:t>
                    </m:r>
                    <m:r>
                      <a:rPr lang="en-US" i="1" dirty="0">
                        <a:latin typeface="Cambria Math" panose="02040503050406030204" pitchFamily="18" charset="0"/>
                        <a:sym typeface="Symbol"/>
                      </a:rPr>
                      <m:t>( </m:t>
                    </m:r>
                    <m:r>
                      <m:rPr>
                        <m:sty m:val="p"/>
                      </m:rPr>
                      <a:rPr lang="en-US" i="0" dirty="0" err="1">
                        <a:latin typeface="Cambria Math" panose="02040503050406030204" pitchFamily="18" charset="0"/>
                        <a:sym typeface="Symbol"/>
                      </a:rPr>
                      <m:t>Enc</m:t>
                    </m:r>
                    <m:r>
                      <a:rPr lang="en-US" i="1" baseline="-25000" dirty="0" err="1">
                        <a:latin typeface="Cambria Math" panose="02040503050406030204" pitchFamily="18" charset="0"/>
                        <a:sym typeface="Symbol"/>
                      </a:rPr>
                      <m:t>𝑘</m:t>
                    </m:r>
                    <m:r>
                      <a:rPr lang="en-US" i="1" dirty="0">
                        <a:latin typeface="Cambria Math" panose="02040503050406030204" pitchFamily="18" charset="0"/>
                        <a:sym typeface="Symbol"/>
                      </a:rPr>
                      <m:t>(</m:t>
                    </m:r>
                    <m:r>
                      <a:rPr lang="en-US" i="1" dirty="0">
                        <a:latin typeface="Cambria Math" panose="02040503050406030204" pitchFamily="18" charset="0"/>
                        <a:sym typeface="Symbol"/>
                      </a:rPr>
                      <m:t>𝑚</m:t>
                    </m:r>
                    <m:r>
                      <a:rPr lang="en-US" i="1" dirty="0">
                        <a:latin typeface="Cambria Math" panose="02040503050406030204" pitchFamily="18" charset="0"/>
                        <a:sym typeface="Symbol"/>
                      </a:rPr>
                      <m:t>) ) = </m:t>
                    </m:r>
                    <m:r>
                      <a:rPr lang="en-US" i="1" dirty="0">
                        <a:latin typeface="Cambria Math" panose="02040503050406030204" pitchFamily="18" charset="0"/>
                        <a:sym typeface="Symbol"/>
                      </a:rPr>
                      <m:t>𝑘</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𝑘</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𝑚</m:t>
                    </m:r>
                    <m:r>
                      <a:rPr lang="en-US" i="1" dirty="0">
                        <a:latin typeface="Cambria Math" panose="02040503050406030204" pitchFamily="18" charset="0"/>
                        <a:sym typeface="Symbol"/>
                      </a:rPr>
                      <m:t>) </m:t>
                    </m:r>
                  </m:oMath>
                </a14:m>
                <a:br>
                  <a:rPr lang="en-US" dirty="0">
                    <a:sym typeface="Symbol"/>
                  </a:rPr>
                </a:br>
                <a14:m>
                  <m:oMath xmlns:m="http://schemas.openxmlformats.org/officeDocument/2006/math">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𝑘</m:t>
                    </m:r>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𝑘</m:t>
                    </m:r>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𝑚</m:t>
                    </m:r>
                    <m:r>
                      <a:rPr lang="en-US" i="1" dirty="0" smtClean="0">
                        <a:latin typeface="Cambria Math" panose="02040503050406030204" pitchFamily="18" charset="0"/>
                        <a:sym typeface="Symbol"/>
                      </a:rPr>
                      <m:t> = </m:t>
                    </m:r>
                    <m:r>
                      <a:rPr lang="en-US" i="1" dirty="0" smtClean="0">
                        <a:latin typeface="Cambria Math" panose="02040503050406030204" pitchFamily="18" charset="0"/>
                        <a:sym typeface="Symbol"/>
                      </a:rPr>
                      <m:t>𝑚</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521"/>
                </a:stretch>
              </a:blipFill>
            </p:spPr>
            <p:txBody>
              <a:bodyPr/>
              <a:lstStyle/>
              <a:p>
                <a:r>
                  <a:rPr lang="en-US">
                    <a:noFill/>
                  </a:rPr>
                  <a:t> </a:t>
                </a:r>
              </a:p>
            </p:txBody>
          </p:sp>
        </mc:Fallback>
      </mc:AlternateContent>
    </p:spTree>
    <p:extLst>
      <p:ext uri="{BB962C8B-B14F-4D97-AF65-F5344CB8AC3E}">
        <p14:creationId xmlns:p14="http://schemas.microsoft.com/office/powerpoint/2010/main" val="52024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AutoShape 2"/>
          <p:cNvSpPr>
            <a:spLocks noGrp="1" noChangeArrowheads="1"/>
          </p:cNvSpPr>
          <p:nvPr>
            <p:ph type="title"/>
          </p:nvPr>
        </p:nvSpPr>
        <p:spPr/>
        <p:txBody>
          <a:bodyPr/>
          <a:lstStyle/>
          <a:p>
            <a:pPr eaLnBrk="1" hangingPunct="1"/>
            <a:r>
              <a:rPr lang="en-US" altLang="en-US" dirty="0"/>
              <a:t>One-time pad</a:t>
            </a:r>
          </a:p>
        </p:txBody>
      </p:sp>
      <p:sp>
        <p:nvSpPr>
          <p:cNvPr id="32771" name="Rectangle 5"/>
          <p:cNvSpPr>
            <a:spLocks noChangeArrowheads="1"/>
          </p:cNvSpPr>
          <p:nvPr/>
        </p:nvSpPr>
        <p:spPr bwMode="auto">
          <a:xfrm>
            <a:off x="5334000" y="2433936"/>
            <a:ext cx="1487982"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lgn="ctr">
              <a:defRPr/>
            </a:pPr>
            <a:r>
              <a:rPr lang="en-US" altLang="en-US" dirty="0">
                <a:latin typeface="Calibri"/>
              </a:rPr>
              <a:t>key</a:t>
            </a:r>
          </a:p>
        </p:txBody>
      </p:sp>
      <p:sp>
        <p:nvSpPr>
          <p:cNvPr id="32774" name="Line 14"/>
          <p:cNvSpPr>
            <a:spLocks noChangeShapeType="1"/>
          </p:cNvSpPr>
          <p:nvPr/>
        </p:nvSpPr>
        <p:spPr bwMode="auto">
          <a:xfrm>
            <a:off x="4572000" y="4195019"/>
            <a:ext cx="1295400" cy="0"/>
          </a:xfrm>
          <a:prstGeom prst="line">
            <a:avLst/>
          </a:prstGeom>
          <a:noFill/>
          <a:ln w="19050">
            <a:solidFill>
              <a:srgbClr val="000000"/>
            </a:solidFill>
            <a:round/>
            <a:headEnd w="lg" len="me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en-US">
              <a:solidFill>
                <a:prstClr val="black"/>
              </a:solidFill>
              <a:latin typeface="Calibri"/>
            </a:endParaRPr>
          </a:p>
        </p:txBody>
      </p:sp>
      <p:sp>
        <p:nvSpPr>
          <p:cNvPr id="32775" name="Line 18"/>
          <p:cNvSpPr>
            <a:spLocks noChangeShapeType="1"/>
          </p:cNvSpPr>
          <p:nvPr/>
        </p:nvSpPr>
        <p:spPr bwMode="auto">
          <a:xfrm flipV="1">
            <a:off x="6119976" y="2971800"/>
            <a:ext cx="0" cy="990600"/>
          </a:xfrm>
          <a:prstGeom prst="line">
            <a:avLst/>
          </a:prstGeom>
          <a:noFill/>
          <a:ln w="19050">
            <a:solidFill>
              <a:srgbClr val="000000"/>
            </a:solidFill>
            <a:round/>
            <a:headEnd type="triangle" w="lg" len="med"/>
            <a:tailEnd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en-US">
              <a:solidFill>
                <a:prstClr val="black"/>
              </a:solidFill>
              <a:latin typeface="Calibri"/>
            </a:endParaRPr>
          </a:p>
        </p:txBody>
      </p:sp>
      <p:sp>
        <p:nvSpPr>
          <p:cNvPr id="32776" name="Line 19"/>
          <p:cNvSpPr>
            <a:spLocks noChangeShapeType="1"/>
          </p:cNvSpPr>
          <p:nvPr/>
        </p:nvSpPr>
        <p:spPr bwMode="auto">
          <a:xfrm>
            <a:off x="6324600" y="4195019"/>
            <a:ext cx="1316736" cy="0"/>
          </a:xfrm>
          <a:prstGeom prst="line">
            <a:avLst/>
          </a:prstGeom>
          <a:noFill/>
          <a:ln w="19050">
            <a:solidFill>
              <a:srgbClr val="000000"/>
            </a:solidFill>
            <a:round/>
            <a:headEnd w="lg" len="me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en-US">
              <a:solidFill>
                <a:prstClr val="black"/>
              </a:solidFill>
              <a:latin typeface="Calibri"/>
            </a:endParaRPr>
          </a:p>
        </p:txBody>
      </p:sp>
      <p:sp>
        <p:nvSpPr>
          <p:cNvPr id="32780" name="Text Box 26"/>
          <p:cNvSpPr txBox="1">
            <a:spLocks noChangeArrowheads="1"/>
          </p:cNvSpPr>
          <p:nvPr/>
        </p:nvSpPr>
        <p:spPr bwMode="auto">
          <a:xfrm>
            <a:off x="5642617" y="1595736"/>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defRPr/>
            </a:pPr>
            <a:r>
              <a:rPr lang="en-US" altLang="en-US" dirty="0">
                <a:latin typeface="Calibri"/>
              </a:rPr>
              <a:t>n bits</a:t>
            </a:r>
          </a:p>
        </p:txBody>
      </p:sp>
      <p:sp>
        <p:nvSpPr>
          <p:cNvPr id="20" name="Rectangle 5"/>
          <p:cNvSpPr>
            <a:spLocks noChangeArrowheads="1"/>
          </p:cNvSpPr>
          <p:nvPr/>
        </p:nvSpPr>
        <p:spPr bwMode="auto">
          <a:xfrm>
            <a:off x="3007818" y="3964188"/>
            <a:ext cx="1487982"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lgn="ctr">
              <a:defRPr/>
            </a:pPr>
            <a:r>
              <a:rPr lang="en-US" altLang="en-US" dirty="0">
                <a:latin typeface="Calibri"/>
              </a:rPr>
              <a:t>message</a:t>
            </a:r>
          </a:p>
        </p:txBody>
      </p:sp>
      <p:sp>
        <p:nvSpPr>
          <p:cNvPr id="22" name="Text Box 26"/>
          <p:cNvSpPr txBox="1">
            <a:spLocks noChangeArrowheads="1"/>
          </p:cNvSpPr>
          <p:nvPr/>
        </p:nvSpPr>
        <p:spPr bwMode="auto">
          <a:xfrm>
            <a:off x="3312620" y="3200401"/>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defRPr/>
            </a:pPr>
            <a:r>
              <a:rPr lang="en-US" altLang="en-US" dirty="0">
                <a:latin typeface="Calibri"/>
              </a:rPr>
              <a:t>n bits</a:t>
            </a:r>
          </a:p>
        </p:txBody>
      </p:sp>
      <p:sp>
        <p:nvSpPr>
          <p:cNvPr id="23" name="Rectangle 5"/>
          <p:cNvSpPr>
            <a:spLocks noChangeArrowheads="1"/>
          </p:cNvSpPr>
          <p:nvPr/>
        </p:nvSpPr>
        <p:spPr bwMode="auto">
          <a:xfrm>
            <a:off x="7677354" y="3964188"/>
            <a:ext cx="1487982" cy="461665"/>
          </a:xfrm>
          <a:prstGeom prst="rect">
            <a:avLst/>
          </a:prstGeom>
          <a:solidFill>
            <a:srgbClr val="FFFFFF"/>
          </a:soli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lgn="ctr">
              <a:defRPr/>
            </a:pPr>
            <a:r>
              <a:rPr lang="en-US" altLang="en-US" dirty="0" err="1">
                <a:latin typeface="Calibri"/>
              </a:rPr>
              <a:t>ciphertext</a:t>
            </a:r>
            <a:endParaRPr lang="en-US" altLang="en-US" dirty="0">
              <a:latin typeface="Calibri"/>
            </a:endParaRPr>
          </a:p>
        </p:txBody>
      </p:sp>
      <p:sp>
        <p:nvSpPr>
          <p:cNvPr id="25" name="Text Box 26"/>
          <p:cNvSpPr txBox="1">
            <a:spLocks noChangeArrowheads="1"/>
          </p:cNvSpPr>
          <p:nvPr/>
        </p:nvSpPr>
        <p:spPr bwMode="auto">
          <a:xfrm>
            <a:off x="7982156" y="3124201"/>
            <a:ext cx="87075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rgbClr val="000000"/>
                </a:solidFill>
                <a:latin typeface="Arial" charset="0"/>
              </a:defRPr>
            </a:lvl1pPr>
            <a:lvl2pPr marL="742950" indent="-285750">
              <a:defRPr sz="2400">
                <a:solidFill>
                  <a:srgbClr val="000000"/>
                </a:solidFill>
                <a:latin typeface="Arial" charset="0"/>
              </a:defRPr>
            </a:lvl2pPr>
            <a:lvl3pPr marL="1143000" indent="-228600">
              <a:defRPr sz="2400">
                <a:solidFill>
                  <a:srgbClr val="000000"/>
                </a:solidFill>
                <a:latin typeface="Arial" charset="0"/>
              </a:defRPr>
            </a:lvl3pPr>
            <a:lvl4pPr marL="1600200" indent="-228600">
              <a:defRPr sz="2400">
                <a:solidFill>
                  <a:srgbClr val="000000"/>
                </a:solidFill>
                <a:latin typeface="Arial" charset="0"/>
              </a:defRPr>
            </a:lvl4pPr>
            <a:lvl5pPr marL="2057400" indent="-228600">
              <a:defRPr sz="2400">
                <a:solidFill>
                  <a:srgbClr val="000000"/>
                </a:solidFill>
                <a:latin typeface="Arial" charset="0"/>
              </a:defRPr>
            </a:lvl5pPr>
            <a:lvl6pPr marL="2514600" indent="-228600" algn="ctr" eaLnBrk="0" fontAlgn="base" hangingPunct="0">
              <a:spcBef>
                <a:spcPct val="0"/>
              </a:spcBef>
              <a:spcAft>
                <a:spcPct val="0"/>
              </a:spcAft>
              <a:defRPr sz="2400">
                <a:solidFill>
                  <a:srgbClr val="000000"/>
                </a:solidFill>
                <a:latin typeface="Arial" charset="0"/>
              </a:defRPr>
            </a:lvl6pPr>
            <a:lvl7pPr marL="2971800" indent="-228600" algn="ctr" eaLnBrk="0" fontAlgn="base" hangingPunct="0">
              <a:spcBef>
                <a:spcPct val="0"/>
              </a:spcBef>
              <a:spcAft>
                <a:spcPct val="0"/>
              </a:spcAft>
              <a:defRPr sz="2400">
                <a:solidFill>
                  <a:srgbClr val="000000"/>
                </a:solidFill>
                <a:latin typeface="Arial" charset="0"/>
              </a:defRPr>
            </a:lvl7pPr>
            <a:lvl8pPr marL="3429000" indent="-228600" algn="ctr" eaLnBrk="0" fontAlgn="base" hangingPunct="0">
              <a:spcBef>
                <a:spcPct val="0"/>
              </a:spcBef>
              <a:spcAft>
                <a:spcPct val="0"/>
              </a:spcAft>
              <a:defRPr sz="2400">
                <a:solidFill>
                  <a:srgbClr val="000000"/>
                </a:solidFill>
                <a:latin typeface="Arial" charset="0"/>
              </a:defRPr>
            </a:lvl8pPr>
            <a:lvl9pPr marL="3886200" indent="-228600" algn="ctr" eaLnBrk="0" fontAlgn="base" hangingPunct="0">
              <a:spcBef>
                <a:spcPct val="0"/>
              </a:spcBef>
              <a:spcAft>
                <a:spcPct val="0"/>
              </a:spcAft>
              <a:defRPr sz="2400">
                <a:solidFill>
                  <a:srgbClr val="000000"/>
                </a:solidFill>
                <a:latin typeface="Arial" charset="0"/>
              </a:defRPr>
            </a:lvl9pPr>
          </a:lstStyle>
          <a:p>
            <a:pPr>
              <a:defRPr/>
            </a:pPr>
            <a:r>
              <a:rPr lang="en-US" altLang="en-US" dirty="0">
                <a:latin typeface="Calibri"/>
              </a:rPr>
              <a:t>n bits</a:t>
            </a:r>
          </a:p>
        </p:txBody>
      </p:sp>
      <p:sp>
        <p:nvSpPr>
          <p:cNvPr id="5" name="TextBox 4"/>
          <p:cNvSpPr txBox="1"/>
          <p:nvPr/>
        </p:nvSpPr>
        <p:spPr>
          <a:xfrm>
            <a:off x="5791200" y="3779522"/>
            <a:ext cx="657552" cy="830997"/>
          </a:xfrm>
          <a:prstGeom prst="rect">
            <a:avLst/>
          </a:prstGeom>
          <a:noFill/>
        </p:spPr>
        <p:txBody>
          <a:bodyPr wrap="none" rtlCol="0">
            <a:spAutoFit/>
          </a:bodyPr>
          <a:lstStyle/>
          <a:p>
            <a:pPr>
              <a:defRPr/>
            </a:pPr>
            <a:r>
              <a:rPr lang="en-US" sz="4800" dirty="0">
                <a:solidFill>
                  <a:prstClr val="black"/>
                </a:solidFill>
                <a:latin typeface="Calibri"/>
                <a:sym typeface="Symbol"/>
              </a:rPr>
              <a:t></a:t>
            </a:r>
            <a:endParaRPr lang="en-US" sz="4800" dirty="0">
              <a:solidFill>
                <a:prstClr val="black"/>
              </a:solidFill>
              <a:latin typeface="Calibri"/>
            </a:endParaRPr>
          </a:p>
        </p:txBody>
      </p:sp>
      <p:sp>
        <p:nvSpPr>
          <p:cNvPr id="2" name="Right Brace 1"/>
          <p:cNvSpPr/>
          <p:nvPr/>
        </p:nvSpPr>
        <p:spPr>
          <a:xfrm rot="16200000">
            <a:off x="3587665" y="3001554"/>
            <a:ext cx="328288" cy="1487982"/>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solidFill>
                <a:prstClr val="black"/>
              </a:solidFill>
              <a:latin typeface="Calibri"/>
            </a:endParaRPr>
          </a:p>
        </p:txBody>
      </p:sp>
      <p:sp>
        <p:nvSpPr>
          <p:cNvPr id="17" name="Right Brace 16"/>
          <p:cNvSpPr/>
          <p:nvPr/>
        </p:nvSpPr>
        <p:spPr>
          <a:xfrm rot="16200000">
            <a:off x="5913847" y="1454065"/>
            <a:ext cx="328288" cy="1487982"/>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solidFill>
                <a:prstClr val="black"/>
              </a:solidFill>
              <a:latin typeface="Calibri"/>
            </a:endParaRPr>
          </a:p>
        </p:txBody>
      </p:sp>
      <p:sp>
        <p:nvSpPr>
          <p:cNvPr id="18" name="Right Brace 17"/>
          <p:cNvSpPr/>
          <p:nvPr/>
        </p:nvSpPr>
        <p:spPr>
          <a:xfrm rot="16200000">
            <a:off x="8257201" y="2978065"/>
            <a:ext cx="328288" cy="1487982"/>
          </a:xfrm>
          <a:prstGeom prst="rightBrac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solidFill>
                <a:prstClr val="black"/>
              </a:solidFill>
              <a:latin typeface="Calibri"/>
            </a:endParaRPr>
          </a:p>
        </p:txBody>
      </p:sp>
    </p:spTree>
    <p:extLst>
      <p:ext uri="{BB962C8B-B14F-4D97-AF65-F5344CB8AC3E}">
        <p14:creationId xmlns:p14="http://schemas.microsoft.com/office/powerpoint/2010/main" val="32605759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D13A-4518-8BB6-DDC3-A7460369C2B8}"/>
              </a:ext>
            </a:extLst>
          </p:cNvPr>
          <p:cNvSpPr>
            <a:spLocks noGrp="1"/>
          </p:cNvSpPr>
          <p:nvPr>
            <p:ph type="title"/>
          </p:nvPr>
        </p:nvSpPr>
        <p:spPr/>
        <p:txBody>
          <a:bodyPr/>
          <a:lstStyle/>
          <a:p>
            <a:r>
              <a:rPr lang="en-US" dirty="0"/>
              <a:t>Theorem</a:t>
            </a:r>
          </a:p>
        </p:txBody>
      </p:sp>
      <p:sp>
        <p:nvSpPr>
          <p:cNvPr id="3" name="Content Placeholder 2">
            <a:extLst>
              <a:ext uri="{FF2B5EF4-FFF2-40B4-BE49-F238E27FC236}">
                <a16:creationId xmlns:a16="http://schemas.microsoft.com/office/drawing/2014/main" id="{85443E5C-9DF8-FDF4-2795-28F6D0C47459}"/>
              </a:ext>
            </a:extLst>
          </p:cNvPr>
          <p:cNvSpPr>
            <a:spLocks noGrp="1"/>
          </p:cNvSpPr>
          <p:nvPr>
            <p:ph idx="1"/>
          </p:nvPr>
        </p:nvSpPr>
        <p:spPr/>
        <p:txBody>
          <a:bodyPr/>
          <a:lstStyle/>
          <a:p>
            <a:r>
              <a:rPr lang="en-US" dirty="0"/>
              <a:t>Theorem 1: One-time pad encryption is perfectly secure.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10EE25E-86F8-29C2-0706-04B335197133}"/>
                  </a:ext>
                </a:extLst>
              </p:cNvPr>
              <p:cNvSpPr txBox="1"/>
              <p:nvPr/>
            </p:nvSpPr>
            <p:spPr>
              <a:xfrm>
                <a:off x="1030380" y="4045504"/>
                <a:ext cx="9626413" cy="1538883"/>
              </a:xfrm>
              <a:prstGeom prst="rect">
                <a:avLst/>
              </a:prstGeom>
              <a:noFill/>
            </p:spPr>
            <p:txBody>
              <a:bodyPr wrap="square">
                <a:spAutoFit/>
              </a:bodyPr>
              <a:lstStyle/>
              <a:p>
                <a:r>
                  <a:rPr lang="en-US" sz="2400" b="1" dirty="0"/>
                  <a:t>Perfect secrecy</a:t>
                </a:r>
                <a:r>
                  <a:rPr lang="en-US" sz="2400" dirty="0"/>
                  <a:t>: for any distribution over the message space </a:t>
                </a:r>
                <a14:m>
                  <m:oMath xmlns:m="http://schemas.openxmlformats.org/officeDocument/2006/math">
                    <m:r>
                      <a:rPr lang="en-US" sz="2400" i="1">
                        <a:latin typeface="Cambria Math" panose="02040503050406030204" pitchFamily="18" charset="0"/>
                      </a:rPr>
                      <m:t>ℳ</m:t>
                    </m:r>
                  </m:oMath>
                </a14:m>
                <a:r>
                  <a:rPr lang="en-US" sz="2400" dirty="0"/>
                  <a:t>, for every message </a:t>
                </a:r>
                <a14:m>
                  <m:oMath xmlns:m="http://schemas.openxmlformats.org/officeDocument/2006/math">
                    <m:r>
                      <a:rPr lang="en-US" sz="2400" i="1">
                        <a:latin typeface="Cambria Math" panose="02040503050406030204" pitchFamily="18" charset="0"/>
                      </a:rPr>
                      <m:t>𝑚</m:t>
                    </m:r>
                    <m:r>
                      <a:rPr lang="en-US" sz="2400" i="1">
                        <a:latin typeface="Cambria Math" panose="02040503050406030204" pitchFamily="18" charset="0"/>
                      </a:rPr>
                      <m:t>∈</m:t>
                    </m:r>
                    <m:r>
                      <a:rPr lang="en-US" sz="2400" i="1">
                        <a:latin typeface="Cambria Math" panose="02040503050406030204" pitchFamily="18" charset="0"/>
                      </a:rPr>
                      <m:t>ℳ</m:t>
                    </m:r>
                  </m:oMath>
                </a14:m>
                <a:r>
                  <a:rPr lang="en-US" sz="2400" dirty="0"/>
                  <a:t> and every ciphertext </a:t>
                </a:r>
                <a14:m>
                  <m:oMath xmlns:m="http://schemas.openxmlformats.org/officeDocument/2006/math">
                    <m:r>
                      <a:rPr lang="en-US" sz="2400" b="0" i="1" smtClean="0">
                        <a:latin typeface="Cambria Math" panose="02040503050406030204" pitchFamily="18" charset="0"/>
                      </a:rPr>
                      <m:t>𝑐</m:t>
                    </m:r>
                    <m:r>
                      <a:rPr lang="en-US" sz="2400" b="0" i="1" smtClean="0">
                        <a:latin typeface="Cambria Math" panose="02040503050406030204" pitchFamily="18" charset="0"/>
                      </a:rPr>
                      <m:t>∈</m:t>
                    </m:r>
                    <m:r>
                      <a:rPr lang="en-US" sz="2400" b="0" i="1" smtClean="0">
                        <a:latin typeface="Cambria Math" panose="02040503050406030204" pitchFamily="18" charset="0"/>
                      </a:rPr>
                      <m:t>𝒞</m:t>
                    </m:r>
                  </m:oMath>
                </a14:m>
                <a:r>
                  <a:rPr lang="en-US" sz="2400" dirty="0"/>
                  <a:t>, </a:t>
                </a:r>
              </a:p>
              <a:p>
                <a:endParaRPr lang="en-US" dirty="0"/>
              </a:p>
              <a:p>
                <a:pPr marL="685800" lvl="2" indent="0">
                  <a:buNone/>
                </a:pPr>
                <a14:m>
                  <m:oMathPara xmlns:m="http://schemas.openxmlformats.org/officeDocument/2006/math">
                    <m:oMathParaPr>
                      <m:jc m:val="centerGroup"/>
                    </m:oMathParaPr>
                    <m:oMath xmlns:m="http://schemas.openxmlformats.org/officeDocument/2006/math">
                      <m:r>
                        <m:rPr>
                          <m:sty m:val="p"/>
                        </m:rPr>
                        <a:rPr lang="en-US" sz="2800" i="1" dirty="0" smtClean="0">
                          <a:latin typeface="Cambria Math" panose="02040503050406030204" pitchFamily="18" charset="0"/>
                        </a:rPr>
                        <m:t>Pr</m:t>
                      </m:r>
                      <m:r>
                        <a:rPr lang="en-US" sz="2800" i="1" dirty="0">
                          <a:latin typeface="Cambria Math" panose="02040503050406030204" pitchFamily="18" charset="0"/>
                        </a:rPr>
                        <m:t>⁡[</m:t>
                      </m:r>
                      <m:r>
                        <a:rPr lang="en-US" sz="2800" i="1" dirty="0">
                          <a:latin typeface="Cambria Math" panose="02040503050406030204" pitchFamily="18" charset="0"/>
                        </a:rPr>
                        <m:t>𝐶</m:t>
                      </m:r>
                      <m:r>
                        <a:rPr lang="en-US" sz="2800" i="1" dirty="0">
                          <a:latin typeface="Cambria Math" panose="02040503050406030204" pitchFamily="18" charset="0"/>
                        </a:rPr>
                        <m:t>=</m:t>
                      </m:r>
                      <m:r>
                        <a:rPr lang="en-US" sz="2800" i="1" dirty="0">
                          <a:latin typeface="Cambria Math" panose="02040503050406030204" pitchFamily="18" charset="0"/>
                        </a:rPr>
                        <m:t>𝑐</m:t>
                      </m:r>
                      <m:r>
                        <a:rPr lang="en-US" sz="2800" b="0" i="1" dirty="0" smtClean="0">
                          <a:latin typeface="Cambria Math" panose="02040503050406030204" pitchFamily="18" charset="0"/>
                        </a:rPr>
                        <m:t>|</m:t>
                      </m:r>
                      <m:r>
                        <a:rPr lang="en-US" sz="2800" b="0" i="1" dirty="0" smtClean="0">
                          <a:latin typeface="Cambria Math" panose="02040503050406030204" pitchFamily="18" charset="0"/>
                        </a:rPr>
                        <m:t>𝑀</m:t>
                      </m:r>
                      <m:r>
                        <a:rPr lang="en-US" sz="2800" b="0" i="1" dirty="0" smtClean="0">
                          <a:latin typeface="Cambria Math" panose="02040503050406030204" pitchFamily="18" charset="0"/>
                        </a:rPr>
                        <m:t>=</m:t>
                      </m:r>
                      <m:r>
                        <a:rPr lang="en-US" sz="2800" b="0" i="1" dirty="0" smtClean="0">
                          <a:latin typeface="Cambria Math" panose="02040503050406030204" pitchFamily="18" charset="0"/>
                        </a:rPr>
                        <m:t>𝑚</m:t>
                      </m:r>
                      <m:r>
                        <a:rPr lang="en-US" sz="2800" i="1" dirty="0">
                          <a:latin typeface="Cambria Math" panose="02040503050406030204" pitchFamily="18" charset="0"/>
                        </a:rPr>
                        <m:t> ] = </m:t>
                      </m:r>
                      <m:r>
                        <m:rPr>
                          <m:sty m:val="p"/>
                        </m:rPr>
                        <a:rPr lang="en-US" sz="2800" i="1" dirty="0" err="1">
                          <a:latin typeface="Cambria Math" panose="02040503050406030204" pitchFamily="18" charset="0"/>
                        </a:rPr>
                        <m:t>Pr</m:t>
                      </m:r>
                      <m:r>
                        <a:rPr lang="en-US" sz="2800" i="1" dirty="0">
                          <a:latin typeface="Cambria Math" panose="02040503050406030204" pitchFamily="18" charset="0"/>
                        </a:rPr>
                        <m:t>⁡[</m:t>
                      </m:r>
                      <m:r>
                        <a:rPr lang="en-US" sz="2800" b="0" i="1" dirty="0" smtClean="0">
                          <a:latin typeface="Cambria Math" panose="02040503050406030204" pitchFamily="18" charset="0"/>
                        </a:rPr>
                        <m:t>𝐶</m:t>
                      </m:r>
                      <m:r>
                        <a:rPr lang="en-US" sz="2800" b="0" i="1" dirty="0" smtClean="0">
                          <a:latin typeface="Cambria Math" panose="02040503050406030204" pitchFamily="18" charset="0"/>
                        </a:rPr>
                        <m:t>=</m:t>
                      </m:r>
                      <m:r>
                        <a:rPr lang="en-US" sz="2800" b="0" i="1" dirty="0" smtClean="0">
                          <a:latin typeface="Cambria Math" panose="02040503050406030204" pitchFamily="18" charset="0"/>
                        </a:rPr>
                        <m:t>𝑐</m:t>
                      </m:r>
                      <m:r>
                        <a:rPr lang="en-US" sz="2800" i="1" dirty="0">
                          <a:latin typeface="Cambria Math" panose="02040503050406030204" pitchFamily="18" charset="0"/>
                        </a:rPr>
                        <m:t>]</m:t>
                      </m:r>
                    </m:oMath>
                  </m:oMathPara>
                </a14:m>
                <a:endParaRPr lang="en-US" sz="2800" dirty="0"/>
              </a:p>
            </p:txBody>
          </p:sp>
        </mc:Choice>
        <mc:Fallback xmlns="">
          <p:sp>
            <p:nvSpPr>
              <p:cNvPr id="5" name="TextBox 4">
                <a:extLst>
                  <a:ext uri="{FF2B5EF4-FFF2-40B4-BE49-F238E27FC236}">
                    <a16:creationId xmlns:a16="http://schemas.microsoft.com/office/drawing/2014/main" id="{510EE25E-86F8-29C2-0706-04B335197133}"/>
                  </a:ext>
                </a:extLst>
              </p:cNvPr>
              <p:cNvSpPr txBox="1">
                <a:spLocks noRot="1" noChangeAspect="1" noMove="1" noResize="1" noEditPoints="1" noAdjustHandles="1" noChangeArrowheads="1" noChangeShapeType="1" noTextEdit="1"/>
              </p:cNvSpPr>
              <p:nvPr/>
            </p:nvSpPr>
            <p:spPr>
              <a:xfrm>
                <a:off x="1030380" y="4045504"/>
                <a:ext cx="9626413" cy="1538883"/>
              </a:xfrm>
              <a:prstGeom prst="rect">
                <a:avLst/>
              </a:prstGeom>
              <a:blipFill>
                <a:blip r:embed="rId2"/>
                <a:stretch>
                  <a:fillRect l="-950" t="-3175" r="-380"/>
                </a:stretch>
              </a:blipFill>
            </p:spPr>
            <p:txBody>
              <a:bodyPr/>
              <a:lstStyle/>
              <a:p>
                <a:r>
                  <a:rPr lang="en-US">
                    <a:noFill/>
                  </a:rPr>
                  <a:t> </a:t>
                </a:r>
              </a:p>
            </p:txBody>
          </p:sp>
        </mc:Fallback>
      </mc:AlternateContent>
    </p:spTree>
    <p:extLst>
      <p:ext uri="{BB962C8B-B14F-4D97-AF65-F5344CB8AC3E}">
        <p14:creationId xmlns:p14="http://schemas.microsoft.com/office/powerpoint/2010/main" val="266210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ACFB-6E83-56F6-BD13-3F62F53947B4}"/>
              </a:ext>
            </a:extLst>
          </p:cNvPr>
          <p:cNvSpPr>
            <a:spLocks noGrp="1"/>
          </p:cNvSpPr>
          <p:nvPr>
            <p:ph type="title"/>
          </p:nvPr>
        </p:nvSpPr>
        <p:spPr/>
        <p:txBody>
          <a:bodyPr/>
          <a:lstStyle/>
          <a:p>
            <a:r>
              <a:rPr lang="en-US" dirty="0"/>
              <a:t>Proof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23A994-E5E0-E35E-D0D8-BDD52A9C80C4}"/>
                  </a:ext>
                </a:extLst>
              </p:cNvPr>
              <p:cNvSpPr>
                <a:spLocks noGrp="1"/>
              </p:cNvSpPr>
              <p:nvPr>
                <p:ph idx="1"/>
              </p:nvPr>
            </p:nvSpPr>
            <p:spPr/>
            <p:txBody>
              <a:bodyPr/>
              <a:lstStyle/>
              <a:p>
                <a14:m>
                  <m:oMath xmlns:m="http://schemas.openxmlformats.org/officeDocument/2006/math">
                    <m:r>
                      <m:rPr>
                        <m:sty m:val="p"/>
                      </m:rPr>
                      <a:rPr lang="en-US" i="1" dirty="0"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𝐶</m:t>
                    </m:r>
                    <m:r>
                      <a:rPr lang="en-US" i="1" dirty="0" smtClean="0">
                        <a:latin typeface="Cambria Math" panose="02040503050406030204" pitchFamily="18" charset="0"/>
                      </a:rPr>
                      <m:t>=</m:t>
                    </m:r>
                    <m:r>
                      <a:rPr lang="en-US" i="1" dirty="0" err="1">
                        <a:latin typeface="Cambria Math" panose="02040503050406030204" pitchFamily="18" charset="0"/>
                      </a:rPr>
                      <m:t>𝑐</m:t>
                    </m:r>
                    <m:r>
                      <a:rPr lang="en-US" i="1" dirty="0" err="1">
                        <a:latin typeface="Cambria Math" panose="02040503050406030204" pitchFamily="18" charset="0"/>
                      </a:rPr>
                      <m:t>|</m:t>
                    </m:r>
                    <m:r>
                      <a:rPr lang="en-US" i="1" dirty="0" err="1">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sym typeface="Symbol"/>
                      </a:rPr>
                      <m:t>𝑘</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𝑚</m:t>
                    </m:r>
                    <m:r>
                      <a:rPr lang="en-US" i="1" dirty="0">
                        <a:latin typeface="Cambria Math" panose="02040503050406030204" pitchFamily="18" charset="0"/>
                        <a:sym typeface="Symbol"/>
                      </a:rPr>
                      <m:t> =</m:t>
                    </m:r>
                    <m:r>
                      <a:rPr lang="en-US" i="1" dirty="0" err="1">
                        <a:latin typeface="Cambria Math" panose="02040503050406030204" pitchFamily="18" charset="0"/>
                        <a:sym typeface="Symbol"/>
                      </a:rPr>
                      <m:t>𝑐</m:t>
                    </m:r>
                    <m:r>
                      <a:rPr lang="en-US" i="1" dirty="0" err="1">
                        <a:latin typeface="Cambria Math" panose="02040503050406030204" pitchFamily="18" charset="0"/>
                        <a:sym typeface="Symbol"/>
                      </a:rPr>
                      <m:t>|</m:t>
                    </m:r>
                    <m:r>
                      <a:rPr lang="en-US" i="1" dirty="0" err="1">
                        <a:latin typeface="Cambria Math" panose="02040503050406030204" pitchFamily="18" charset="0"/>
                        <a:sym typeface="Symbol"/>
                      </a:rPr>
                      <m:t>𝑀</m:t>
                    </m:r>
                    <m:r>
                      <a:rPr lang="en-US" i="1" dirty="0">
                        <a:latin typeface="Cambria Math" panose="02040503050406030204" pitchFamily="18" charset="0"/>
                        <a:sym typeface="Symbol"/>
                      </a:rPr>
                      <m:t>=</m:t>
                    </m:r>
                    <m:r>
                      <a:rPr lang="en-US" i="1" dirty="0">
                        <a:latin typeface="Cambria Math" panose="02040503050406030204" pitchFamily="18" charset="0"/>
                        <a:sym typeface="Symbol"/>
                      </a:rPr>
                      <m:t>𝑚</m:t>
                    </m:r>
                    <m:r>
                      <a:rPr lang="en-US" i="1" dirty="0">
                        <a:latin typeface="Cambria Math" panose="02040503050406030204" pitchFamily="18" charset="0"/>
                      </a:rPr>
                      <m:t>]</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𝑐</m:t>
                      </m:r>
                      <m:r>
                        <a:rPr lang="en-US" i="1" dirty="0">
                          <a:latin typeface="Cambria Math" panose="02040503050406030204" pitchFamily="18" charset="0"/>
                          <a:sym typeface="Symbol"/>
                        </a:rPr>
                        <m:t> | </m:t>
                      </m:r>
                      <m:r>
                        <a:rPr lang="en-US" i="1" dirty="0">
                          <a:latin typeface="Cambria Math" panose="02040503050406030204" pitchFamily="18" charset="0"/>
                          <a:sym typeface="Symbol"/>
                        </a:rPr>
                        <m:t>𝑀</m:t>
                      </m:r>
                      <m:r>
                        <a:rPr lang="en-US" i="1" dirty="0">
                          <a:latin typeface="Cambria Math" panose="02040503050406030204" pitchFamily="18" charset="0"/>
                          <a:sym typeface="Symbol"/>
                        </a:rPr>
                        <m:t>=</m:t>
                      </m:r>
                      <m:r>
                        <a:rPr lang="en-US" i="1" dirty="0">
                          <a:latin typeface="Cambria Math" panose="02040503050406030204" pitchFamily="18" charset="0"/>
                          <a:sym typeface="Symbol"/>
                        </a:rPr>
                        <m:t>𝑚</m:t>
                      </m:r>
                      <m:r>
                        <a:rPr lang="en-US" i="1" dirty="0">
                          <a:latin typeface="Cambria Math" panose="02040503050406030204" pitchFamily="18" charset="0"/>
                        </a:rPr>
                        <m:t>] = </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m:t>
                          </m:r>
                          <m:r>
                            <a:rPr lang="en-US" b="0" i="1" smtClean="0">
                              <a:latin typeface="Cambria Math" panose="02040503050406030204" pitchFamily="18" charset="0"/>
                            </a:rPr>
                            <m:t>𝑛</m:t>
                          </m:r>
                        </m:sup>
                      </m:sSup>
                    </m:oMath>
                  </m:oMathPara>
                </a14:m>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9E23A994-E5E0-E35E-D0D8-BDD52A9C80C4}"/>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951586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Law of total probability: say E</a:t>
                </a:r>
                <a:r>
                  <a:rPr lang="en-US" baseline="-25000" dirty="0"/>
                  <a:t>1</a:t>
                </a:r>
                <a:r>
                  <a:rPr lang="en-US" dirty="0"/>
                  <a:t>, …, E</a:t>
                </a:r>
                <a:r>
                  <a:rPr lang="en-US" baseline="-25000" dirty="0"/>
                  <a:t>n</a:t>
                </a:r>
                <a:r>
                  <a:rPr lang="en-US" dirty="0"/>
                  <a:t> are a </a:t>
                </a:r>
                <a:r>
                  <a:rPr lang="en-US" i="1" dirty="0"/>
                  <a:t>partition</a:t>
                </a:r>
                <a:r>
                  <a:rPr lang="en-US" dirty="0"/>
                  <a:t> of all possibilities. Then for any A:</a:t>
                </a:r>
                <a:br>
                  <a:rPr lang="en-US" dirty="0"/>
                </a:br>
                <a:r>
                  <a:rPr lang="en-US" dirty="0"/>
                  <a:t>    </a:t>
                </a:r>
              </a:p>
              <a:p>
                <a:pPr marL="0" indent="0">
                  <a:buNone/>
                </a:pPr>
                <a:r>
                  <a:rPr lang="en-US" dirty="0"/>
                  <a:t>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m:t>
                    </m:r>
                    <m:r>
                      <a:rPr lang="en-US" i="1" dirty="0">
                        <a:latin typeface="Cambria Math" panose="02040503050406030204" pitchFamily="18" charset="0"/>
                        <a:sym typeface="Symbol"/>
                      </a:rPr>
                      <m:t>𝑎𝑛𝑑</m:t>
                    </m:r>
                    <m:r>
                      <a:rPr lang="en-US" i="1" dirty="0">
                        <a:latin typeface="Cambria Math" panose="02040503050406030204" pitchFamily="18" charset="0"/>
                        <a:sym typeface="Symbol"/>
                      </a:rPr>
                      <m:t>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oMath>
                </a14:m>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en-US">
                    <a:noFill/>
                  </a:rPr>
                  <a:t> </a:t>
                </a:r>
              </a:p>
            </p:txBody>
          </p:sp>
        </mc:Fallback>
      </mc:AlternateContent>
    </p:spTree>
    <p:extLst>
      <p:ext uri="{BB962C8B-B14F-4D97-AF65-F5344CB8AC3E}">
        <p14:creationId xmlns:p14="http://schemas.microsoft.com/office/powerpoint/2010/main" val="38866916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ACFB-6E83-56F6-BD13-3F62F53947B4}"/>
              </a:ext>
            </a:extLst>
          </p:cNvPr>
          <p:cNvSpPr>
            <a:spLocks noGrp="1"/>
          </p:cNvSpPr>
          <p:nvPr>
            <p:ph type="title"/>
          </p:nvPr>
        </p:nvSpPr>
        <p:spPr/>
        <p:txBody>
          <a:bodyPr/>
          <a:lstStyle/>
          <a:p>
            <a:r>
              <a:rPr lang="en-US" dirty="0"/>
              <a:t>Proof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23A994-E5E0-E35E-D0D8-BDD52A9C80C4}"/>
                  </a:ext>
                </a:extLst>
              </p:cNvPr>
              <p:cNvSpPr>
                <a:spLocks noGrp="1"/>
              </p:cNvSpPr>
              <p:nvPr>
                <p:ph idx="1"/>
              </p:nvPr>
            </p:nvSpPr>
            <p:spPr/>
            <p:txBody>
              <a:bodyPr/>
              <a:lstStyle/>
              <a:p>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𝑐</m:t>
                    </m:r>
                    <m:r>
                      <a:rPr lang="en-US" i="1" dirty="0">
                        <a:latin typeface="Cambria Math" panose="02040503050406030204" pitchFamily="18" charset="0"/>
                      </a:rPr>
                      <m:t>] =</m:t>
                    </m:r>
                    <m:nary>
                      <m:naryPr>
                        <m:chr m:val="∑"/>
                        <m:limLoc m:val="subSup"/>
                        <m:supHide m:val="on"/>
                        <m:ctrlPr>
                          <a:rPr lang="en-US" i="1" smtClean="0">
                            <a:latin typeface="Cambria Math" panose="02040503050406030204" pitchFamily="18" charset="0"/>
                          </a:rPr>
                        </m:ctrlPr>
                      </m:naryPr>
                      <m:sub>
                        <m:r>
                          <m:rPr>
                            <m:brk m:alnAt="9"/>
                          </m:rP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ℳ</m:t>
                        </m:r>
                      </m:sub>
                      <m:sup/>
                      <m:e>
                        <m:func>
                          <m:funcPr>
                            <m:ctrlPr>
                              <a:rPr lang="en-US" i="1" dirty="0">
                                <a:latin typeface="Cambria Math" panose="02040503050406030204" pitchFamily="18" charset="0"/>
                              </a:rPr>
                            </m:ctrlPr>
                          </m:funcPr>
                          <m:fName>
                            <m:r>
                              <m:rPr>
                                <m:sty m:val="p"/>
                              </m:rPr>
                              <a:rPr lang="en-US" i="0" dirty="0">
                                <a:latin typeface="Cambria Math" panose="02040503050406030204" pitchFamily="18" charset="0"/>
                              </a:rPr>
                              <m:t>Pr</m:t>
                            </m:r>
                          </m:fName>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𝑐</m:t>
                                </m:r>
                              </m:e>
                              <m:e>
                                <m:r>
                                  <a:rPr lang="en-US" i="1" dirty="0">
                                    <a:latin typeface="Cambria Math" panose="02040503050406030204" pitchFamily="18" charset="0"/>
                                  </a:rPr>
                                  <m:t>𝑀</m:t>
                                </m:r>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m:t>
                                </m:r>
                              </m:e>
                            </m:d>
                          </m:e>
                        </m:func>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Pr</m:t>
                            </m:r>
                          </m:fName>
                          <m:e>
                            <m:r>
                              <a:rPr lang="en-US" b="0" i="1" dirty="0" smtClean="0">
                                <a:latin typeface="Cambria Math" panose="02040503050406030204" pitchFamily="18" charset="0"/>
                              </a:rPr>
                              <m:t>[</m:t>
                            </m:r>
                            <m:r>
                              <a:rPr lang="en-US" b="0" i="1" dirty="0" smtClean="0">
                                <a:latin typeface="Cambria Math" panose="02040503050406030204" pitchFamily="18" charset="0"/>
                              </a:rPr>
                              <m:t>𝑀</m:t>
                            </m:r>
                            <m:r>
                              <a:rPr lang="en-US" b="0" i="1" dirty="0" smtClean="0">
                                <a:latin typeface="Cambria Math" panose="02040503050406030204" pitchFamily="18" charset="0"/>
                              </a:rPr>
                              <m:t>=</m:t>
                            </m:r>
                            <m:r>
                              <a:rPr lang="en-US" b="0" i="1" dirty="0" smtClean="0">
                                <a:latin typeface="Cambria Math" panose="02040503050406030204" pitchFamily="18" charset="0"/>
                              </a:rPr>
                              <m:t>𝑚</m:t>
                            </m:r>
                            <m:r>
                              <a:rPr lang="en-US" b="0" i="1" dirty="0" smtClean="0">
                                <a:latin typeface="Cambria Math" panose="02040503050406030204" pitchFamily="18" charset="0"/>
                              </a:rPr>
                              <m:t>]</m:t>
                            </m:r>
                          </m:e>
                        </m:func>
                      </m:e>
                    </m:nary>
                  </m:oMath>
                </a14:m>
                <a:r>
                  <a:rPr lang="en-US" dirty="0"/>
                  <a:t> </a:t>
                </a:r>
              </a:p>
              <a:p>
                <a:pPr marL="0" indent="0">
                  <a:buNone/>
                </a:pPr>
                <a:r>
                  <a:rPr lang="en-US" dirty="0"/>
                  <a:t>	= </a:t>
                </a:r>
                <a14:m>
                  <m:oMath xmlns:m="http://schemas.openxmlformats.org/officeDocument/2006/math">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ℳ</m:t>
                        </m:r>
                      </m:sub>
                      <m:sup/>
                      <m:e>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m:t>
                            </m:r>
                            <m:r>
                              <a:rPr lang="en-US" i="1">
                                <a:latin typeface="Cambria Math" panose="02040503050406030204" pitchFamily="18" charset="0"/>
                              </a:rPr>
                              <m:t>𝑛</m:t>
                            </m:r>
                          </m:sup>
                        </m:sSup>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r>
                              <a:rPr lang="en-US" b="0" i="1" smtClean="0">
                                <a:latin typeface="Cambria Math" panose="02040503050406030204" pitchFamily="18" charset="0"/>
                              </a:rPr>
                              <m:t>[</m:t>
                            </m:r>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 </m:t>
                            </m:r>
                          </m:e>
                        </m:func>
                      </m:e>
                    </m:nary>
                  </m:oMath>
                </a14:m>
                <a:endParaRPr lang="en-US" dirty="0"/>
              </a:p>
              <a:p>
                <a:pPr marL="0" indent="0">
                  <a:buNone/>
                </a:pPr>
                <a:r>
                  <a:rPr lang="en-US" dirty="0"/>
                  <a:t>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m:t>
                        </m:r>
                        <m:r>
                          <a:rPr lang="en-US" i="1">
                            <a:latin typeface="Cambria Math" panose="02040503050406030204" pitchFamily="18" charset="0"/>
                          </a:rPr>
                          <m:t>𝑛</m:t>
                        </m:r>
                      </m:sup>
                    </m:sSup>
                    <m:r>
                      <a:rPr lang="en-US" i="1">
                        <a:latin typeface="Cambria Math" panose="02040503050406030204" pitchFamily="18" charset="0"/>
                      </a:rPr>
                      <m:t> </m:t>
                    </m:r>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ℳ</m:t>
                        </m:r>
                      </m:sub>
                      <m:sup/>
                      <m:e>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 </m:t>
                            </m:r>
                          </m:e>
                        </m:func>
                      </m:e>
                    </m:nary>
                  </m:oMath>
                </a14:m>
                <a:endParaRPr lang="en-US" dirty="0"/>
              </a:p>
              <a:p>
                <a:pPr marL="0" indent="0">
                  <a:buNone/>
                </a:pPr>
                <a:r>
                  <a:rPr lang="en-US" dirty="0"/>
                  <a:t>	</a:t>
                </a: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m:t>
                        </m:r>
                        <m:r>
                          <a:rPr lang="en-US" b="0" i="1" smtClean="0">
                            <a:latin typeface="Cambria Math" panose="02040503050406030204" pitchFamily="18" charset="0"/>
                          </a:rPr>
                          <m:t>𝑛</m:t>
                        </m:r>
                      </m:sup>
                    </m:sSup>
                  </m:oMath>
                </a14:m>
                <a:endParaRPr lang="en-US" dirty="0"/>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9E23A994-E5E0-E35E-D0D8-BDD52A9C80C4}"/>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9603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CA6A-C822-4E19-B1C0-D052760707C2}"/>
              </a:ext>
            </a:extLst>
          </p:cNvPr>
          <p:cNvSpPr>
            <a:spLocks noGrp="1"/>
          </p:cNvSpPr>
          <p:nvPr>
            <p:ph type="title"/>
          </p:nvPr>
        </p:nvSpPr>
        <p:spPr>
          <a:xfrm>
            <a:off x="445476" y="286726"/>
            <a:ext cx="11697217" cy="1325563"/>
          </a:xfrm>
        </p:spPr>
        <p:txBody>
          <a:bodyPr/>
          <a:lstStyle/>
          <a:p>
            <a:r>
              <a:rPr lang="en-US" dirty="0"/>
              <a:t>Another def: </a:t>
            </a:r>
            <a:r>
              <a:rPr lang="en-US" b="1" dirty="0"/>
              <a:t>perfect indistinguishability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00187A-FE99-4C59-9E46-A6883838BC95}"/>
                  </a:ext>
                </a:extLst>
              </p:cNvPr>
              <p:cNvSpPr>
                <a:spLocks noGrp="1"/>
              </p:cNvSpPr>
              <p:nvPr>
                <p:ph idx="1"/>
              </p:nvPr>
            </p:nvSpPr>
            <p:spPr>
              <a:xfrm>
                <a:off x="968188" y="1550894"/>
                <a:ext cx="10226488" cy="4876800"/>
              </a:xfrm>
            </p:spPr>
            <p:txBody>
              <a:bodyPr>
                <a:normAutofit/>
              </a:bodyPr>
              <a:lstStyle/>
              <a:p>
                <a:pPr marL="0" indent="0">
                  <a:buNone/>
                </a:pPr>
                <a:r>
                  <a:rPr lang="en-US" sz="3200" dirty="0"/>
                  <a:t> Experiment: </a:t>
                </a:r>
              </a:p>
              <a:p>
                <a:pPr marL="571500" lvl="1" indent="-342900">
                  <a:buFont typeface="+mj-lt"/>
                  <a:buAutoNum type="arabicPeriod"/>
                </a:pPr>
                <a:r>
                  <a:rPr lang="en-US" sz="2800" dirty="0"/>
                  <a:t>Adversary A chooses any two messages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0</m:t>
                        </m:r>
                      </m:sub>
                    </m:sSub>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1</m:t>
                        </m:r>
                      </m:sub>
                    </m:sSub>
                    <m:r>
                      <a:rPr lang="en-US" sz="2800" b="0" i="1" smtClean="0">
                        <a:latin typeface="Cambria Math" panose="02040503050406030204" pitchFamily="18" charset="0"/>
                      </a:rPr>
                      <m:t>∈</m:t>
                    </m:r>
                  </m:oMath>
                </a14:m>
                <a:r>
                  <a:rPr lang="en-US" sz="2800" dirty="0">
                    <a:latin typeface="Monotype Corsiva" panose="03010101010201010101" pitchFamily="66" charset="0"/>
                  </a:rPr>
                  <a:t> </a:t>
                </a:r>
                <a14:m>
                  <m:oMath xmlns:m="http://schemas.openxmlformats.org/officeDocument/2006/math">
                    <m:r>
                      <a:rPr lang="en-US" sz="2800" i="1">
                        <a:latin typeface="Cambria Math" panose="02040503050406030204" pitchFamily="18" charset="0"/>
                      </a:rPr>
                      <m:t>ℳ</m:t>
                    </m:r>
                  </m:oMath>
                </a14:m>
                <a:endParaRPr lang="en-US" sz="2800" dirty="0">
                  <a:latin typeface="Monotype Corsiva" panose="03010101010201010101" pitchFamily="66" charset="0"/>
                </a:endParaRPr>
              </a:p>
              <a:p>
                <a:pPr marL="571500" lvl="1" indent="-342900">
                  <a:buFont typeface="+mj-lt"/>
                  <a:buAutoNum type="arabicPeriod"/>
                </a:pPr>
                <a:r>
                  <a:rPr lang="en-US" sz="2800" dirty="0"/>
                  <a:t>Generate a key </a:t>
                </a:r>
                <a14:m>
                  <m:oMath xmlns:m="http://schemas.openxmlformats.org/officeDocument/2006/math">
                    <m:r>
                      <a:rPr lang="en-US" sz="2800" i="1" dirty="0" smtClean="0">
                        <a:latin typeface="Cambria Math" panose="02040503050406030204" pitchFamily="18" charset="0"/>
                      </a:rPr>
                      <m:t>𝑘</m:t>
                    </m:r>
                  </m:oMath>
                </a14:m>
                <a:r>
                  <a:rPr lang="en-US" sz="2800" dirty="0"/>
                  <a:t> using </a:t>
                </a:r>
                <a14:m>
                  <m:oMath xmlns:m="http://schemas.openxmlformats.org/officeDocument/2006/math">
                    <m:r>
                      <m:rPr>
                        <m:sty m:val="p"/>
                      </m:rPr>
                      <a:rPr lang="en-US" sz="3200">
                        <a:latin typeface="Cambria Math" panose="02040503050406030204" pitchFamily="18" charset="0"/>
                      </a:rPr>
                      <m:t>Gen</m:t>
                    </m:r>
                    <m:r>
                      <a:rPr lang="en-US" sz="3200" b="0" i="0" smtClean="0">
                        <a:latin typeface="Cambria Math" panose="02040503050406030204" pitchFamily="18" charset="0"/>
                      </a:rPr>
                      <m:t>()</m:t>
                    </m:r>
                  </m:oMath>
                </a14:m>
                <a:r>
                  <a:rPr lang="en-US" sz="2800" dirty="0"/>
                  <a:t>, pick a random bit </a:t>
                </a:r>
                <a:r>
                  <a:rPr lang="en-US" sz="2800" i="1" dirty="0"/>
                  <a:t>b</a:t>
                </a:r>
                <a:r>
                  <a:rPr lang="en-US" sz="2800" dirty="0"/>
                  <a:t> </a:t>
                </a:r>
                <a14:m>
                  <m:oMath xmlns:m="http://schemas.openxmlformats.org/officeDocument/2006/math">
                    <m:r>
                      <a:rPr lang="en-US" sz="2800" i="1">
                        <a:latin typeface="Cambria Math" panose="02040503050406030204" pitchFamily="18" charset="0"/>
                      </a:rPr>
                      <m:t>∈</m:t>
                    </m:r>
                    <m:r>
                      <a:rPr lang="en-US" sz="2800" b="0" i="1" smtClean="0">
                        <a:latin typeface="Cambria Math" panose="02040503050406030204" pitchFamily="18" charset="0"/>
                      </a:rPr>
                      <m:t>{0,1}</m:t>
                    </m:r>
                  </m:oMath>
                </a14:m>
                <a:r>
                  <a:rPr lang="en-US" sz="2800" dirty="0"/>
                  <a:t>, send attacker </a:t>
                </a:r>
                <a14:m>
                  <m:oMath xmlns:m="http://schemas.openxmlformats.org/officeDocument/2006/math">
                    <m:r>
                      <m:rPr>
                        <m:sty m:val="p"/>
                      </m:rPr>
                      <a:rPr lang="en-US" sz="2800" b="0" i="0" smtClean="0">
                        <a:latin typeface="Cambria Math" panose="02040503050406030204" pitchFamily="18" charset="0"/>
                      </a:rPr>
                      <m:t>c</m:t>
                    </m:r>
                    <m:r>
                      <a:rPr lang="en-US" sz="2800" b="0" i="0" smtClean="0">
                        <a:latin typeface="Cambria Math" panose="02040503050406030204" pitchFamily="18" charset="0"/>
                      </a:rPr>
                      <m:t>=</m:t>
                    </m:r>
                    <m:r>
                      <m:rPr>
                        <m:sty m:val="p"/>
                      </m:rPr>
                      <a:rPr lang="en-US" sz="2800">
                        <a:latin typeface="Cambria Math" panose="02040503050406030204" pitchFamily="18" charset="0"/>
                      </a:rPr>
                      <m:t>Enc</m:t>
                    </m:r>
                    <m:d>
                      <m:dPr>
                        <m:ctrlPr>
                          <a:rPr lang="en-US" sz="2800" i="1">
                            <a:latin typeface="Cambria Math" panose="02040503050406030204" pitchFamily="18" charset="0"/>
                          </a:rPr>
                        </m:ctrlPr>
                      </m:dPr>
                      <m:e>
                        <m:r>
                          <a:rPr lang="en-US" sz="2800" i="1">
                            <a:latin typeface="Cambria Math" panose="02040503050406030204" pitchFamily="18" charset="0"/>
                          </a:rPr>
                          <m:t>𝑘</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b="0" i="1" smtClean="0">
                                <a:latin typeface="Cambria Math" panose="02040503050406030204" pitchFamily="18" charset="0"/>
                              </a:rPr>
                              <m:t>𝑏</m:t>
                            </m:r>
                          </m:sub>
                        </m:sSub>
                      </m:e>
                    </m:d>
                  </m:oMath>
                </a14:m>
                <a:endParaRPr lang="en-US" sz="2800" dirty="0"/>
              </a:p>
              <a:p>
                <a:pPr marL="571500" lvl="1" indent="-342900">
                  <a:buFont typeface="+mj-lt"/>
                  <a:buAutoNum type="arabicPeriod"/>
                </a:pPr>
                <a:r>
                  <a:rPr lang="en-US" sz="2800" dirty="0"/>
                  <a:t>Attacker guesses </a:t>
                </a:r>
                <a:r>
                  <a:rPr lang="en-US" sz="2800" i="1" dirty="0"/>
                  <a:t>b’</a:t>
                </a:r>
              </a:p>
              <a:p>
                <a:pPr marL="571500" lvl="1" indent="-342900">
                  <a:buFont typeface="+mj-lt"/>
                  <a:buAutoNum type="arabicPeriod"/>
                </a:pPr>
                <a:r>
                  <a:rPr lang="en-US" sz="2800" dirty="0"/>
                  <a:t>Experiment outputs succeed if </a:t>
                </a:r>
                <a:r>
                  <a:rPr lang="en-US" sz="2800" i="1" dirty="0"/>
                  <a:t>b=b’</a:t>
                </a:r>
              </a:p>
              <a:p>
                <a:pPr marL="571500" lvl="1" indent="-342900">
                  <a:buFont typeface="+mj-lt"/>
                  <a:buAutoNum type="arabicPeriod"/>
                </a:pPr>
                <a:endParaRPr lang="en-US" sz="2800" i="1" dirty="0"/>
              </a:p>
              <a:p>
                <a:pPr marL="571500" lvl="1" indent="-342900">
                  <a:buFont typeface="+mj-lt"/>
                  <a:buAutoNum type="arabicPeriod"/>
                </a:pPr>
                <a:endParaRPr lang="en-US" sz="2800" i="1" dirty="0"/>
              </a:p>
              <a:p>
                <a:pPr marL="0">
                  <a:buNone/>
                </a:pPr>
                <a:endParaRPr lang="en-US" sz="3200" i="1" dirty="0"/>
              </a:p>
              <a:p>
                <a:pPr marL="571500" lvl="1" indent="-342900">
                  <a:buFont typeface="+mj-lt"/>
                  <a:buAutoNum type="arabicPeriod"/>
                </a:pPr>
                <a:endParaRPr lang="en-US" sz="2800" i="1" dirty="0"/>
              </a:p>
              <a:p>
                <a:pPr marL="571500" lvl="1" indent="-342900">
                  <a:buFont typeface="+mj-lt"/>
                  <a:buAutoNum type="arabicPeriod"/>
                </a:pPr>
                <a:endParaRPr lang="en-US" sz="2800" i="1" dirty="0"/>
              </a:p>
              <a:p>
                <a:pPr marL="571500" lvl="1" indent="-342900">
                  <a:buFont typeface="+mj-lt"/>
                  <a:buAutoNum type="arabicPeriod"/>
                </a:pPr>
                <a:endParaRPr lang="en-US" sz="2800" i="1" dirty="0"/>
              </a:p>
            </p:txBody>
          </p:sp>
        </mc:Choice>
        <mc:Fallback xmlns="">
          <p:sp>
            <p:nvSpPr>
              <p:cNvPr id="3" name="Content Placeholder 2">
                <a:extLst>
                  <a:ext uri="{FF2B5EF4-FFF2-40B4-BE49-F238E27FC236}">
                    <a16:creationId xmlns:a16="http://schemas.microsoft.com/office/drawing/2014/main" id="{E300187A-FE99-4C59-9E46-A6883838BC95}"/>
                  </a:ext>
                </a:extLst>
              </p:cNvPr>
              <p:cNvSpPr>
                <a:spLocks noGrp="1" noRot="1" noChangeAspect="1" noMove="1" noResize="1" noEditPoints="1" noAdjustHandles="1" noChangeArrowheads="1" noChangeShapeType="1" noTextEdit="1"/>
              </p:cNvSpPr>
              <p:nvPr>
                <p:ph idx="1"/>
              </p:nvPr>
            </p:nvSpPr>
            <p:spPr>
              <a:xfrm>
                <a:off x="968188" y="1550894"/>
                <a:ext cx="10226488" cy="4876800"/>
              </a:xfrm>
              <a:blipFill>
                <a:blip r:embed="rId3"/>
                <a:stretch>
                  <a:fillRect l="-596" t="-250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F079284-9BE4-48C8-4EAD-2BCDC3A12D27}"/>
              </a:ext>
            </a:extLst>
          </p:cNvPr>
          <p:cNvSpPr txBox="1"/>
          <p:nvPr/>
        </p:nvSpPr>
        <p:spPr>
          <a:xfrm>
            <a:off x="1084169" y="5223747"/>
            <a:ext cx="9182660" cy="1077218"/>
          </a:xfrm>
          <a:prstGeom prst="rect">
            <a:avLst/>
          </a:prstGeom>
          <a:noFill/>
        </p:spPr>
        <p:txBody>
          <a:bodyPr wrap="square">
            <a:spAutoFit/>
          </a:bodyPr>
          <a:lstStyle/>
          <a:p>
            <a:pPr marL="0">
              <a:buNone/>
            </a:pPr>
            <a:r>
              <a:rPr lang="en-US" sz="3200" dirty="0"/>
              <a:t>Perfectly indistinguishable: for every adversary </a:t>
            </a:r>
            <a:r>
              <a:rPr lang="en-US" sz="3200" i="1" dirty="0"/>
              <a:t>A</a:t>
            </a:r>
          </a:p>
          <a:p>
            <a:pPr marL="0" algn="ctr">
              <a:buNone/>
            </a:pPr>
            <a:r>
              <a:rPr lang="en-US" sz="3200" dirty="0" err="1"/>
              <a:t>Pr</a:t>
            </a:r>
            <a:r>
              <a:rPr lang="en-US" sz="3200" dirty="0"/>
              <a:t>[</a:t>
            </a:r>
            <a:r>
              <a:rPr lang="en-US" sz="3200" dirty="0">
                <a:solidFill>
                  <a:srgbClr val="0070C0"/>
                </a:solidFill>
              </a:rPr>
              <a:t>Experiment outputs 1</a:t>
            </a:r>
            <a:r>
              <a:rPr lang="en-US" sz="3200" dirty="0"/>
              <a:t>] = ½ </a:t>
            </a:r>
          </a:p>
        </p:txBody>
      </p:sp>
    </p:spTree>
    <p:extLst>
      <p:ext uri="{BB962C8B-B14F-4D97-AF65-F5344CB8AC3E}">
        <p14:creationId xmlns:p14="http://schemas.microsoft.com/office/powerpoint/2010/main" val="85369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D143-F68F-F7AB-0F11-BEF8AA9290AA}"/>
              </a:ext>
            </a:extLst>
          </p:cNvPr>
          <p:cNvSpPr>
            <a:spLocks noGrp="1"/>
          </p:cNvSpPr>
          <p:nvPr>
            <p:ph type="title"/>
          </p:nvPr>
        </p:nvSpPr>
        <p:spPr/>
        <p:txBody>
          <a:bodyPr/>
          <a:lstStyle/>
          <a:p>
            <a:r>
              <a:rPr lang="en-US" dirty="0"/>
              <a:t>Perfect indistinguishability</a:t>
            </a:r>
          </a:p>
        </p:txBody>
      </p:sp>
      <p:sp>
        <p:nvSpPr>
          <p:cNvPr id="3" name="Content Placeholder 2">
            <a:extLst>
              <a:ext uri="{FF2B5EF4-FFF2-40B4-BE49-F238E27FC236}">
                <a16:creationId xmlns:a16="http://schemas.microsoft.com/office/drawing/2014/main" id="{E30BE2DA-3DA6-DD96-5E40-9731308E9AF3}"/>
              </a:ext>
            </a:extLst>
          </p:cNvPr>
          <p:cNvSpPr>
            <a:spLocks noGrp="1"/>
          </p:cNvSpPr>
          <p:nvPr>
            <p:ph idx="1"/>
          </p:nvPr>
        </p:nvSpPr>
        <p:spPr/>
        <p:txBody>
          <a:bodyPr/>
          <a:lstStyle/>
          <a:p>
            <a:r>
              <a:rPr lang="en-US" dirty="0"/>
              <a:t>Lemma 2 (2.7 in the book): An encryption scheme is perfectly secret if and only if it is perfectly indistinguishable. </a:t>
            </a:r>
          </a:p>
        </p:txBody>
      </p:sp>
    </p:spTree>
    <p:extLst>
      <p:ext uri="{BB962C8B-B14F-4D97-AF65-F5344CB8AC3E}">
        <p14:creationId xmlns:p14="http://schemas.microsoft.com/office/powerpoint/2010/main" val="22296818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4E708E-BE9A-42EA-5A6D-A1702B369FCE}"/>
                  </a:ext>
                </a:extLst>
              </p:cNvPr>
              <p:cNvSpPr>
                <a:spLocks noGrp="1"/>
              </p:cNvSpPr>
              <p:nvPr>
                <p:ph idx="1"/>
              </p:nvPr>
            </p:nvSpPr>
            <p:spPr>
              <a:xfrm>
                <a:off x="445477" y="652182"/>
                <a:ext cx="10515600" cy="5442353"/>
              </a:xfrm>
            </p:spPr>
            <p:txBody>
              <a:bodyPr/>
              <a:lstStyle/>
              <a:p>
                <a:pPr marL="0" indent="0">
                  <a:buNone/>
                </a:pPr>
                <a:r>
                  <a:rPr lang="en-US" dirty="0"/>
                  <a:t>Lemma 3: (2.5 in the book) </a:t>
                </a:r>
              </a:p>
              <a:p>
                <a:pPr marL="0" indent="0">
                  <a:buNone/>
                </a:pPr>
                <a:r>
                  <a:rPr lang="en-US" dirty="0"/>
                  <a:t>For every two messages </a:t>
                </a:r>
                <a14:m>
                  <m:oMath xmlns:m="http://schemas.openxmlformats.org/officeDocument/2006/math">
                    <m:sSub>
                      <m:sSubPr>
                        <m:ctrlPr>
                          <a:rPr lang="en-US" sz="2800" i="1" smtClean="0">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0</m:t>
                        </m:r>
                      </m:sub>
                    </m:sSub>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𝑚</m:t>
                        </m:r>
                      </m:e>
                      <m:sub>
                        <m:r>
                          <a:rPr lang="en-US" sz="2800" i="1">
                            <a:latin typeface="Cambria Math" panose="02040503050406030204" pitchFamily="18" charset="0"/>
                          </a:rPr>
                          <m:t>1</m:t>
                        </m:r>
                      </m:sub>
                    </m:sSub>
                    <m:r>
                      <a:rPr lang="en-US" sz="2800" b="0" i="1" smtClean="0">
                        <a:latin typeface="Cambria Math" panose="02040503050406030204" pitchFamily="18" charset="0"/>
                      </a:rPr>
                      <m:t>∈</m:t>
                    </m:r>
                    <m:r>
                      <a:rPr lang="en-US" sz="2800" b="0" i="1" smtClean="0">
                        <a:latin typeface="Cambria Math" panose="02040503050406030204" pitchFamily="18" charset="0"/>
                      </a:rPr>
                      <m:t>ℳ</m:t>
                    </m:r>
                  </m:oMath>
                </a14:m>
                <a:r>
                  <a:rPr lang="en-US" dirty="0"/>
                  <a:t> and any ciphertext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𝒞</m:t>
                    </m:r>
                  </m:oMath>
                </a14:m>
                <a:r>
                  <a:rPr lang="en-US" dirty="0"/>
                  <a:t>, </a:t>
                </a:r>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En</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rPr>
                                <m:t>𝑐</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r>
                            <a:rPr lang="en-US" b="0" i="1" smtClean="0">
                              <a:latin typeface="Cambria Math" panose="02040503050406030204" pitchFamily="18" charset="0"/>
                            </a:rPr>
                            <m:t>[</m:t>
                          </m:r>
                          <m:r>
                            <m:rPr>
                              <m:sty m:val="p"/>
                            </m:rPr>
                            <a:rPr lang="en-US" b="0" i="0" smtClean="0">
                              <a:latin typeface="Cambria Math" panose="02040503050406030204" pitchFamily="18" charset="0"/>
                            </a:rPr>
                            <m:t>En</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c</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e>
                      </m:func>
                    </m:oMath>
                  </m:oMathPara>
                </a14:m>
                <a:endParaRPr lang="en-US" dirty="0"/>
              </a:p>
              <a:p>
                <a:pPr marL="0" indent="0">
                  <a:buNone/>
                </a:pPr>
                <a:r>
                  <a:rPr lang="en-US" dirty="0"/>
                  <a:t>where the probability is over the random choice of </a:t>
                </a:r>
                <a14:m>
                  <m:oMath xmlns:m="http://schemas.openxmlformats.org/officeDocument/2006/math">
                    <m:r>
                      <a:rPr lang="en-US" b="0" i="1" smtClean="0">
                        <a:latin typeface="Cambria Math" panose="02040503050406030204" pitchFamily="18" charset="0"/>
                      </a:rPr>
                      <m:t>𝑘</m:t>
                    </m:r>
                  </m:oMath>
                </a14:m>
                <a:r>
                  <a:rPr lang="en-US" dirty="0"/>
                  <a:t>.</a:t>
                </a:r>
              </a:p>
              <a:p>
                <a:pPr marL="0" indent="0">
                  <a:buNone/>
                </a:pPr>
                <a:endParaRPr lang="en-US" dirty="0"/>
              </a:p>
              <a:p>
                <a:pPr marL="0" indent="0">
                  <a:buNone/>
                </a:pPr>
                <a:r>
                  <a:rPr lang="en-US" dirty="0"/>
                  <a:t>An encryption scheme is perfectly secure if and only if the equation above holds </a:t>
                </a:r>
              </a:p>
            </p:txBody>
          </p:sp>
        </mc:Choice>
        <mc:Fallback xmlns="">
          <p:sp>
            <p:nvSpPr>
              <p:cNvPr id="3" name="Content Placeholder 2">
                <a:extLst>
                  <a:ext uri="{FF2B5EF4-FFF2-40B4-BE49-F238E27FC236}">
                    <a16:creationId xmlns:a16="http://schemas.microsoft.com/office/drawing/2014/main" id="{F54E708E-BE9A-42EA-5A6D-A1702B369FCE}"/>
                  </a:ext>
                </a:extLst>
              </p:cNvPr>
              <p:cNvSpPr>
                <a:spLocks noGrp="1" noRot="1" noChangeAspect="1" noMove="1" noResize="1" noEditPoints="1" noAdjustHandles="1" noChangeArrowheads="1" noChangeShapeType="1" noTextEdit="1"/>
              </p:cNvSpPr>
              <p:nvPr>
                <p:ph idx="1"/>
              </p:nvPr>
            </p:nvSpPr>
            <p:spPr>
              <a:xfrm>
                <a:off x="445477" y="652182"/>
                <a:ext cx="10515600" cy="5442353"/>
              </a:xfrm>
              <a:blipFill>
                <a:blip r:embed="rId2"/>
                <a:stretch>
                  <a:fillRect l="-1159" t="-2016"/>
                </a:stretch>
              </a:blipFill>
            </p:spPr>
            <p:txBody>
              <a:bodyPr/>
              <a:lstStyle/>
              <a:p>
                <a:r>
                  <a:rPr lang="en-US">
                    <a:noFill/>
                  </a:rPr>
                  <a:t> </a:t>
                </a:r>
              </a:p>
            </p:txBody>
          </p:sp>
        </mc:Fallback>
      </mc:AlternateContent>
    </p:spTree>
    <p:extLst>
      <p:ext uri="{BB962C8B-B14F-4D97-AF65-F5344CB8AC3E}">
        <p14:creationId xmlns:p14="http://schemas.microsoft.com/office/powerpoint/2010/main" val="20803351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same key twice?</a:t>
            </a:r>
          </a:p>
        </p:txBody>
      </p:sp>
      <p:sp>
        <p:nvSpPr>
          <p:cNvPr id="3" name="Content Placeholder 2"/>
          <p:cNvSpPr>
            <a:spLocks noGrp="1"/>
          </p:cNvSpPr>
          <p:nvPr>
            <p:ph idx="1"/>
          </p:nvPr>
        </p:nvSpPr>
        <p:spPr/>
        <p:txBody>
          <a:bodyPr/>
          <a:lstStyle/>
          <a:p>
            <a:r>
              <a:rPr lang="en-US" dirty="0"/>
              <a:t>m</a:t>
            </a:r>
            <a:r>
              <a:rPr lang="en-US" baseline="-25000" dirty="0"/>
              <a:t>1 </a:t>
            </a:r>
            <a:r>
              <a:rPr lang="en-US" dirty="0">
                <a:sym typeface="Symbol"/>
              </a:rPr>
              <a:t> m</a:t>
            </a:r>
            <a:r>
              <a:rPr lang="en-US" baseline="-25000" dirty="0">
                <a:sym typeface="Symbol"/>
              </a:rPr>
              <a:t>2</a:t>
            </a:r>
            <a:r>
              <a:rPr lang="en-US" dirty="0">
                <a:sym typeface="Symbol"/>
              </a:rPr>
              <a:t> is information about m</a:t>
            </a:r>
            <a:r>
              <a:rPr lang="en-US" baseline="-25000" dirty="0">
                <a:sym typeface="Symbol"/>
              </a:rPr>
              <a:t>1</a:t>
            </a:r>
            <a:r>
              <a:rPr lang="en-US" dirty="0">
                <a:sym typeface="Symbol"/>
              </a:rPr>
              <a:t>, m</a:t>
            </a:r>
            <a:r>
              <a:rPr lang="en-US" baseline="-25000" dirty="0">
                <a:sym typeface="Symbol"/>
              </a:rPr>
              <a:t>2</a:t>
            </a:r>
            <a:endParaRPr lang="en-US" dirty="0">
              <a:sym typeface="Symbol"/>
            </a:endParaRPr>
          </a:p>
          <a:p>
            <a:endParaRPr lang="en-US" dirty="0">
              <a:sym typeface="Symbol"/>
            </a:endParaRPr>
          </a:p>
          <a:p>
            <a:r>
              <a:rPr lang="en-US" dirty="0">
                <a:sym typeface="Symbol"/>
              </a:rPr>
              <a:t>Is this significant?</a:t>
            </a:r>
          </a:p>
          <a:p>
            <a:pPr lvl="2"/>
            <a:r>
              <a:rPr lang="en-US" dirty="0">
                <a:sym typeface="Symbol"/>
              </a:rPr>
              <a:t>No longer perfectly secret!</a:t>
            </a:r>
          </a:p>
          <a:p>
            <a:pPr lvl="2"/>
            <a:r>
              <a:rPr lang="en-US" dirty="0">
                <a:sym typeface="Symbol"/>
              </a:rPr>
              <a:t>m</a:t>
            </a:r>
            <a:r>
              <a:rPr lang="en-US" baseline="-25000" dirty="0">
                <a:sym typeface="Symbol"/>
              </a:rPr>
              <a:t>1</a:t>
            </a:r>
            <a:r>
              <a:rPr lang="en-US" dirty="0">
                <a:sym typeface="Symbol"/>
              </a:rPr>
              <a:t>  m</a:t>
            </a:r>
            <a:r>
              <a:rPr lang="en-US" baseline="-25000" dirty="0">
                <a:sym typeface="Symbol"/>
              </a:rPr>
              <a:t>2</a:t>
            </a:r>
            <a:r>
              <a:rPr lang="en-US" dirty="0">
                <a:sym typeface="Symbol"/>
              </a:rPr>
              <a:t> reveals where m</a:t>
            </a:r>
            <a:r>
              <a:rPr lang="en-US" baseline="-25000" dirty="0">
                <a:sym typeface="Symbol"/>
              </a:rPr>
              <a:t>1</a:t>
            </a:r>
            <a:r>
              <a:rPr lang="en-US" dirty="0">
                <a:sym typeface="Symbol"/>
              </a:rPr>
              <a:t>, m</a:t>
            </a:r>
            <a:r>
              <a:rPr lang="en-US" baseline="-25000" dirty="0">
                <a:sym typeface="Symbol"/>
              </a:rPr>
              <a:t>2</a:t>
            </a:r>
            <a:r>
              <a:rPr lang="en-US" dirty="0">
                <a:sym typeface="Symbol"/>
              </a:rPr>
              <a:t> differ</a:t>
            </a:r>
          </a:p>
          <a:p>
            <a:pPr lvl="2"/>
            <a:r>
              <a:rPr lang="en-US" dirty="0">
                <a:sym typeface="Symbol"/>
              </a:rPr>
              <a:t>Frequency analysis</a:t>
            </a:r>
          </a:p>
          <a:p>
            <a:pPr lvl="2"/>
            <a:r>
              <a:rPr lang="en-US" dirty="0">
                <a:sym typeface="Symbol"/>
              </a:rPr>
              <a:t>Exploiting characteristics of ASCII…</a:t>
            </a:r>
          </a:p>
        </p:txBody>
      </p:sp>
    </p:spTree>
    <p:extLst>
      <p:ext uri="{BB962C8B-B14F-4D97-AF65-F5344CB8AC3E}">
        <p14:creationId xmlns:p14="http://schemas.microsoft.com/office/powerpoint/2010/main" val="8931441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B5234-C166-781E-25D0-B91AD90500EE}"/>
              </a:ext>
            </a:extLst>
          </p:cNvPr>
          <p:cNvSpPr>
            <a:spLocks noGrp="1"/>
          </p:cNvSpPr>
          <p:nvPr>
            <p:ph type="title"/>
          </p:nvPr>
        </p:nvSpPr>
        <p:spPr/>
        <p:txBody>
          <a:bodyPr/>
          <a:lstStyle/>
          <a:p>
            <a:r>
              <a:rPr lang="en-US" dirty="0"/>
              <a:t>Index of coincidence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2C8B6F-B8D1-1779-F690-6DA295808D43}"/>
                  </a:ext>
                </a:extLst>
              </p:cNvPr>
              <p:cNvSpPr>
                <a:spLocks noGrp="1"/>
              </p:cNvSpPr>
              <p:nvPr>
                <p:ph idx="1"/>
              </p:nvPr>
            </p:nvSpPr>
            <p:spPr>
              <a:xfrm>
                <a:off x="445476" y="1743197"/>
                <a:ext cx="10604441" cy="4351338"/>
              </a:xfrm>
            </p:spPr>
            <p:txBody>
              <a:bodyPr>
                <a:normAutofit/>
              </a:bodyPr>
              <a:lstStyle/>
              <a:p>
                <a:pPr marL="0" indent="0">
                  <a:buNone/>
                </a:pPr>
                <a:endParaRPr lang="en-US" dirty="0"/>
              </a:p>
              <a:p>
                <a:r>
                  <a:rPr lang="en-US" dirty="0"/>
                  <a:t>If the key</a:t>
                </a:r>
                <a:r>
                  <a:rPr lang="zh-CN" altLang="en-US" dirty="0"/>
                  <a:t> </a:t>
                </a:r>
                <a:r>
                  <a:rPr lang="en-US" dirty="0"/>
                  <a:t>length guess is </a:t>
                </a:r>
                <a:r>
                  <a:rPr lang="en-US" altLang="zh-CN" dirty="0"/>
                  <a:t>correct</a:t>
                </a:r>
                <a:r>
                  <a:rPr lang="en-US" dirty="0"/>
                  <a:t>:</a:t>
                </a:r>
              </a:p>
              <a:p>
                <a:pPr lvl="1"/>
                <a14:m>
                  <m:oMath xmlns:m="http://schemas.openxmlformats.org/officeDocument/2006/math">
                    <m:r>
                      <a:rPr lang="en-US" altLang="zh-CN" i="1" dirty="0" smtClean="0">
                        <a:latin typeface="Cambria Math" panose="02040503050406030204" pitchFamily="18" charset="0"/>
                      </a:rPr>
                      <m:t>𝐿</m:t>
                    </m:r>
                  </m:oMath>
                </a14:m>
                <a:r>
                  <a:rPr lang="zh-CN" altLang="en-US" dirty="0"/>
                  <a:t> </a:t>
                </a:r>
                <a:r>
                  <a:rPr lang="en-US" altLang="zh-CN" dirty="0"/>
                  <a:t>is</a:t>
                </a:r>
                <a:r>
                  <a:rPr lang="zh-CN" altLang="en-US" dirty="0"/>
                  <a:t> </a:t>
                </a:r>
                <a:r>
                  <a:rPr lang="en-US" altLang="zh-CN" dirty="0"/>
                  <a:t>the</a:t>
                </a:r>
                <a:r>
                  <a:rPr lang="zh-CN" altLang="en-US" dirty="0"/>
                  <a:t> </a:t>
                </a:r>
                <a:r>
                  <a:rPr lang="en-US" altLang="zh-CN" dirty="0"/>
                  <a:t>key</a:t>
                </a:r>
                <a:r>
                  <a:rPr lang="zh-CN" altLang="en-US" dirty="0"/>
                  <a:t> </a:t>
                </a:r>
                <a:r>
                  <a:rPr lang="en-US" altLang="zh-CN" dirty="0"/>
                  <a:t>length</a:t>
                </a:r>
                <a:r>
                  <a:rPr lang="zh-CN" altLang="en-US" dirty="0"/>
                  <a:t> </a:t>
                </a:r>
                <a:r>
                  <a:rPr lang="en-US" altLang="zh-CN" dirty="0"/>
                  <a:t>and</a:t>
                </a:r>
                <a:r>
                  <a:rPr lang="zh-CN" altLang="en-US" dirty="0"/>
                  <a:t> </a:t>
                </a:r>
                <a14:m>
                  <m:oMath xmlns:m="http://schemas.openxmlformats.org/officeDocument/2006/math">
                    <m:r>
                      <a:rPr lang="en-US" altLang="zh-CN" i="1" dirty="0" smtClean="0">
                        <a:latin typeface="Cambria Math" panose="02040503050406030204" pitchFamily="18" charset="0"/>
                      </a:rPr>
                      <m:t>𝑁</m:t>
                    </m:r>
                  </m:oMath>
                </a14:m>
                <a:r>
                  <a:rPr lang="zh-CN" altLang="en-US" dirty="0"/>
                  <a:t>  </a:t>
                </a:r>
                <a:r>
                  <a:rPr lang="en-US" altLang="zh-CN" dirty="0"/>
                  <a:t>is</a:t>
                </a:r>
                <a:r>
                  <a:rPr lang="zh-CN" altLang="en-US" dirty="0"/>
                  <a:t> </a:t>
                </a:r>
                <a:r>
                  <a:rPr lang="en-US" altLang="zh-CN" dirty="0"/>
                  <a:t>the</a:t>
                </a:r>
                <a:r>
                  <a:rPr lang="zh-CN" altLang="en-US" dirty="0"/>
                  <a:t> </a:t>
                </a:r>
                <a:r>
                  <a:rPr lang="en-US" altLang="zh-CN" dirty="0"/>
                  <a:t>cipher</a:t>
                </a:r>
                <a:r>
                  <a:rPr lang="zh-CN" altLang="en-US" dirty="0"/>
                  <a:t> </a:t>
                </a:r>
                <a:r>
                  <a:rPr lang="en-US" altLang="zh-CN" dirty="0"/>
                  <a:t>length</a:t>
                </a:r>
              </a:p>
              <a:p>
                <a:pPr lvl="1"/>
                <a:r>
                  <a:rPr lang="en-US" altLang="zh-CN" dirty="0"/>
                  <a:t>The</a:t>
                </a:r>
                <a:r>
                  <a:rPr lang="zh-CN" altLang="en-US" dirty="0"/>
                  <a:t> </a:t>
                </a:r>
                <a:r>
                  <a:rPr lang="en-US" dirty="0"/>
                  <a:t>probability that both letters are selected from the  </a:t>
                </a:r>
                <a:r>
                  <a:rPr lang="en-US" altLang="zh-CN" dirty="0"/>
                  <a:t>key</a:t>
                </a:r>
                <a:r>
                  <a:rPr lang="zh-CN" altLang="en-US" dirty="0"/>
                  <a:t> </a:t>
                </a:r>
                <a:r>
                  <a:rPr lang="en-US" altLang="zh-CN" dirty="0"/>
                  <a:t>group</a:t>
                </a:r>
                <a:r>
                  <a:rPr lang="en-US" dirty="0"/>
                  <a:t> and are the same letter is approximately</a:t>
                </a:r>
              </a:p>
              <a:p>
                <a:endParaRPr lang="en-US" dirty="0"/>
              </a:p>
              <a:p>
                <a:endParaRPr lang="en-US" dirty="0"/>
              </a:p>
              <a:p>
                <a:r>
                  <a:rPr lang="en-US" dirty="0"/>
                  <a:t>Find key length such that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e>
                    </m:nary>
                  </m:oMath>
                </a14:m>
                <a:r>
                  <a:rPr lang="en-US" dirty="0"/>
                  <a:t> is the largest</a:t>
                </a:r>
              </a:p>
              <a:p>
                <a:pPr lvl="1"/>
                <a:r>
                  <a:rPr lang="en-US" dirty="0"/>
                  <a:t>What about multiples of the key length?</a:t>
                </a:r>
              </a:p>
              <a:p>
                <a:endParaRPr lang="en-US" dirty="0"/>
              </a:p>
            </p:txBody>
          </p:sp>
        </mc:Choice>
        <mc:Fallback xmlns="">
          <p:sp>
            <p:nvSpPr>
              <p:cNvPr id="3" name="Content Placeholder 2">
                <a:extLst>
                  <a:ext uri="{FF2B5EF4-FFF2-40B4-BE49-F238E27FC236}">
                    <a16:creationId xmlns:a16="http://schemas.microsoft.com/office/drawing/2014/main" id="{162C8B6F-B8D1-1779-F690-6DA295808D43}"/>
                  </a:ext>
                </a:extLst>
              </p:cNvPr>
              <p:cNvSpPr>
                <a:spLocks noGrp="1" noRot="1" noChangeAspect="1" noMove="1" noResize="1" noEditPoints="1" noAdjustHandles="1" noChangeArrowheads="1" noChangeShapeType="1" noTextEdit="1"/>
              </p:cNvSpPr>
              <p:nvPr>
                <p:ph idx="1"/>
              </p:nvPr>
            </p:nvSpPr>
            <p:spPr>
              <a:xfrm>
                <a:off x="445476" y="1743197"/>
                <a:ext cx="10604441" cy="4351338"/>
              </a:xfrm>
              <a:blipFill>
                <a:blip r:embed="rId2"/>
                <a:stretch>
                  <a:fillRect l="-1077" b="-7267"/>
                </a:stretch>
              </a:blipFill>
            </p:spPr>
            <p:txBody>
              <a:bodyPr/>
              <a:lstStyle/>
              <a:p>
                <a:r>
                  <a:rPr lang="en-US">
                    <a:noFill/>
                  </a:rPr>
                  <a:t> </a:t>
                </a:r>
              </a:p>
            </p:txBody>
          </p:sp>
        </mc:Fallback>
      </mc:AlternateContent>
    </p:spTree>
    <p:extLst>
      <p:ext uri="{BB962C8B-B14F-4D97-AF65-F5344CB8AC3E}">
        <p14:creationId xmlns:p14="http://schemas.microsoft.com/office/powerpoint/2010/main" val="92540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10325</TotalTime>
  <Words>2942</Words>
  <Application>Microsoft Macintosh PowerPoint</Application>
  <PresentationFormat>Widescreen</PresentationFormat>
  <Paragraphs>744</Paragraphs>
  <Slides>51</Slides>
  <Notes>5</Notes>
  <HiddenSlides>14</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51</vt:i4>
      </vt:variant>
    </vt:vector>
  </HeadingPairs>
  <TitlesOfParts>
    <vt:vector size="64" baseType="lpstr">
      <vt:lpstr>Google Sans</vt:lpstr>
      <vt:lpstr>Linux Libertine</vt:lpstr>
      <vt:lpstr>Aptos</vt:lpstr>
      <vt:lpstr>Aptos Display</vt:lpstr>
      <vt:lpstr>Arial</vt:lpstr>
      <vt:lpstr>Calibri</vt:lpstr>
      <vt:lpstr>Cambria Math</vt:lpstr>
      <vt:lpstr>Georgia</vt:lpstr>
      <vt:lpstr>Helvetica Neue</vt:lpstr>
      <vt:lpstr>Monotype Corsiva</vt:lpstr>
      <vt:lpstr>Symbol</vt:lpstr>
      <vt:lpstr>Wingdings</vt:lpstr>
      <vt:lpstr>Office Theme</vt:lpstr>
      <vt:lpstr>PowerPoint Presentation</vt:lpstr>
      <vt:lpstr> (NOT) All Background You Need for This Course</vt:lpstr>
      <vt:lpstr>Exponentiation and log</vt:lpstr>
      <vt:lpstr>Prime Number</vt:lpstr>
      <vt:lpstr>Modular Arithmetic</vt:lpstr>
      <vt:lpstr>Modular Arithmetic</vt:lpstr>
      <vt:lpstr>Modular exponentiation</vt:lpstr>
      <vt:lpstr>Asymptotic complexity</vt:lpstr>
      <vt:lpstr>PowerPoint Presentation</vt:lpstr>
      <vt:lpstr>Ancient Ciphers</vt:lpstr>
      <vt:lpstr>How to encrypt a message?</vt:lpstr>
      <vt:lpstr>Idea 1: rotation (shift) cipher</vt:lpstr>
      <vt:lpstr>Idea 2: substitution cipher</vt:lpstr>
      <vt:lpstr>Attack: frequency analysis</vt:lpstr>
      <vt:lpstr>PowerPoint Presentation</vt:lpstr>
      <vt:lpstr>Attacking substitution cipher</vt:lpstr>
      <vt:lpstr>PowerPoint Presentation</vt:lpstr>
      <vt:lpstr>Vigenere cipher</vt:lpstr>
      <vt:lpstr>Attacking Vigenere cipher</vt:lpstr>
      <vt:lpstr>How to find the key length?</vt:lpstr>
      <vt:lpstr>Friedman Test</vt:lpstr>
      <vt:lpstr>Probability</vt:lpstr>
      <vt:lpstr>PowerPoint Presentation</vt:lpstr>
      <vt:lpstr>Quiz </vt:lpstr>
      <vt:lpstr>Some Other Old Things</vt:lpstr>
      <vt:lpstr>Classical Cryptography </vt:lpstr>
      <vt:lpstr>Modern Cryptography </vt:lpstr>
      <vt:lpstr>Symmetric-key Encryption</vt:lpstr>
      <vt:lpstr>Definitions for encryption</vt:lpstr>
      <vt:lpstr>Notation</vt:lpstr>
      <vt:lpstr>Definitions for encryption</vt:lpstr>
      <vt:lpstr>Probability</vt:lpstr>
      <vt:lpstr>Definitions for encryption</vt:lpstr>
      <vt:lpstr>Example</vt:lpstr>
      <vt:lpstr>Example: rotation cipher (rotation by k=3)</vt:lpstr>
      <vt:lpstr>An equivalent definition</vt:lpstr>
      <vt:lpstr>Proof</vt:lpstr>
      <vt:lpstr>One-time pad</vt:lpstr>
      <vt:lpstr>Rotation vs modular addition </vt:lpstr>
      <vt:lpstr>XOR</vt:lpstr>
      <vt:lpstr>One-time pad</vt:lpstr>
      <vt:lpstr>One-time pad</vt:lpstr>
      <vt:lpstr>Theorem</vt:lpstr>
      <vt:lpstr>Proof</vt:lpstr>
      <vt:lpstr>Probability</vt:lpstr>
      <vt:lpstr>Proof</vt:lpstr>
      <vt:lpstr>Another def: perfect indistinguishability</vt:lpstr>
      <vt:lpstr>Perfect indistinguishability</vt:lpstr>
      <vt:lpstr>PowerPoint Presentation</vt:lpstr>
      <vt:lpstr>Using the same key twice?</vt:lpstr>
      <vt:lpstr>Index of coincidence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Luo, Ning</dc:creator>
  <cp:lastModifiedBy>Luo, Ning</cp:lastModifiedBy>
  <cp:revision>4</cp:revision>
  <dcterms:created xsi:type="dcterms:W3CDTF">2025-08-24T21:52:15Z</dcterms:created>
  <dcterms:modified xsi:type="dcterms:W3CDTF">2025-09-01T01:58:40Z</dcterms:modified>
</cp:coreProperties>
</file>