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2" r:id="rId3"/>
    <p:sldId id="458" r:id="rId4"/>
    <p:sldId id="592" r:id="rId5"/>
    <p:sldId id="383" r:id="rId6"/>
    <p:sldId id="634" r:id="rId7"/>
    <p:sldId id="636" r:id="rId8"/>
    <p:sldId id="382" r:id="rId9"/>
    <p:sldId id="635" r:id="rId10"/>
    <p:sldId id="637" r:id="rId11"/>
    <p:sldId id="627" r:id="rId12"/>
    <p:sldId id="630" r:id="rId13"/>
    <p:sldId id="628" r:id="rId14"/>
    <p:sldId id="641" r:id="rId15"/>
    <p:sldId id="640" r:id="rId16"/>
    <p:sldId id="642" r:id="rId17"/>
    <p:sldId id="643" r:id="rId18"/>
    <p:sldId id="645" r:id="rId19"/>
    <p:sldId id="626" r:id="rId20"/>
    <p:sldId id="593" r:id="rId21"/>
    <p:sldId id="594" r:id="rId22"/>
    <p:sldId id="464" r:id="rId23"/>
    <p:sldId id="465" r:id="rId24"/>
    <p:sldId id="631" r:id="rId25"/>
    <p:sldId id="632" r:id="rId26"/>
    <p:sldId id="638" r:id="rId27"/>
    <p:sldId id="646" r:id="rId28"/>
    <p:sldId id="460" r:id="rId29"/>
    <p:sldId id="639" r:id="rId30"/>
    <p:sldId id="644" r:id="rId31"/>
    <p:sldId id="46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6"/>
    <p:restoredTop sz="78947"/>
  </p:normalViewPr>
  <p:slideViewPr>
    <p:cSldViewPr snapToGrid="0">
      <p:cViewPr varScale="1">
        <p:scale>
          <a:sx n="98" d="100"/>
          <a:sy n="98" d="100"/>
        </p:scale>
        <p:origin x="1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F752A-08D8-9145-B72F-9F7DAD6E41F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847B-3320-4D43-9AE9-B9425C6AC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2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</a:t>
            </a:r>
            <a:r>
              <a:rPr lang="zh-CN" altLang="en-US" dirty="0"/>
              <a:t> </a:t>
            </a:r>
            <a:r>
              <a:rPr lang="en-US" altLang="zh-CN"/>
              <a:t>def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9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we'll also use the terminology of an event, which is something that has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 formal definition within probability theory, but for our purposes,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can just think of, as a particular occurrence, in some randomized experiment.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And we'll write probability bracket E, to denote the probability of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some particular event E, </a:t>
            </a: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random variable is just going to be a variable that takes on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certain values with some probabilities that we're going to specify.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And in particular, a probability distribution for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 random variable is going to be a specification of the probabilities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with which that variable takes on each possible value. </a:t>
            </a:r>
          </a:p>
          <a:p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seeing the ciphertext, the adversary doesn't know more about the message than before seeing the ciphertext; the a posteriori knowledge is the same as the a priori knowledge. We think of M as known to the adversary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 holds that the A </a:t>
            </a:r>
            <a:r>
              <a:rPr lang="en-US" b="0" i="0" dirty="0">
                <a:solidFill>
                  <a:srgbClr val="101418"/>
                </a:solidFill>
                <a:effectLst/>
                <a:latin typeface="Linux Libertine"/>
              </a:rPr>
              <a:t>Posterior</a:t>
            </a:r>
            <a:r>
              <a:rPr lang="zh-CN" altLang="en-US" b="0" i="0" dirty="0">
                <a:solidFill>
                  <a:srgbClr val="101418"/>
                </a:solidFill>
                <a:effectLst/>
                <a:latin typeface="Linux Libertine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probability, that the message,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is equal to M, conditioned on the observed cipher text being equal to C.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is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exactly equal to the a</a:t>
            </a:r>
            <a:r>
              <a:rPr lang="zh-CN" alt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priori probability, that the message, </a:t>
            </a:r>
          </a:p>
          <a:p>
            <a:pPr algn="l">
              <a:lnSpc>
                <a:spcPts val="1800"/>
              </a:lnSpc>
            </a:pPr>
            <a:r>
              <a:rPr lang="en-US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is equal to M</a:t>
            </a:r>
          </a:p>
          <a:p>
            <a:pPr algn="l">
              <a:lnSpc>
                <a:spcPts val="1800"/>
              </a:lnSpc>
            </a:pPr>
            <a:endParaRPr lang="en-US" b="0" i="0" dirty="0">
              <a:solidFill>
                <a:srgbClr val="0F1114"/>
              </a:solidFill>
              <a:effectLst/>
              <a:latin typeface="Source Sans Pro" panose="020B0503030403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38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38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847B-3320-4D43-9AE9-B9425C6AC5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3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7CA986-3AF3-4A96-96D9-81DF283B35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677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93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9EF2-C916-54F8-B80E-5AD7FF677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8DD5D-898C-DA4C-25B3-C4AA7CAD4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1A6FA-101A-39C9-0B02-F2E0DAFC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37998-BD1B-DAFF-3A57-9CA6EC69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318C-A8A1-7CAC-0426-721806F9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2F53-8566-F771-23D1-3E5C0653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455E-F303-CC1D-5D33-E533F8839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AA6C-07F4-7FB3-9571-C06A9D4E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D49F-3D09-73AD-E55E-BF0287D0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7D02-D853-3998-4D51-BF53EAF5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5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8979-7F4C-2595-2996-B00AC9F2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C948-ED9A-5E7E-BA85-320C4DA95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1EFDC-6287-61F0-C3BD-0651B158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D00AE-992F-1EDF-2D24-99D69165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377B7-C3D4-FEAC-C9CC-3A23DF6E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0BCA-D01B-1FC9-8DBF-09C6EFD20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BAF0E-57A4-67C0-B8E2-797F9A98D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F989A-37D6-C944-88B4-363F3008A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61E06-B099-71E6-EF12-6B1B83F5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A8325-9D50-B0F3-8CAC-307FA601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3F35B-9D8B-38F4-356A-880F8F7B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2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BC45-AAE6-A166-7E39-32AC2416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5A810-A7EF-932C-10DD-FC9F75C24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0C13B-29C0-E891-0C3E-C2A28EF89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75A01-7B0F-28C4-F2D9-EAFC9BEFA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FDC8D-2C2C-552D-73CE-A57A34AE5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FBDC0-615C-3226-8F00-016A9CD4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FADCC2-7B0D-2AD0-EC23-4E9A2004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DA72C-8EF8-2AEE-0393-D4AEE69E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1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B817-E4E6-D4F8-DDC1-E7793E58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E3F73-655D-0064-5200-4B794E53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8D2AF-F6EF-9955-C49C-B90B6C6D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21A23-6266-B6F3-0C39-B6347FDC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6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39FF6-7C63-F67D-C72F-B33A233B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7A911-213C-2298-1E0F-4952B2B3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34F35-6595-5F92-049C-3DEA7F88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3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0A22-CB8B-38AF-2C12-76319530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0E481-E6B6-69E8-7FF3-F8B16FA23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AEEB1-E93E-D994-B37B-1A3630E35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71D4A-43E6-75F0-CA49-B7BEBFE7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9EA1A-8430-4F62-3734-C2A69AA3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E5DC2-50A1-5E32-4844-E68DA404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9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BAE4-7B47-485D-2FBB-DDCC7AB1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E2F96-2FFA-A0B7-4B18-EF12FCB90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C1D7F-47E4-222F-ED64-59B5220C6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A9FF-CF1E-3BF4-58F2-2482C243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C95FC-76E2-1BD3-BCD4-DE4AF3AF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04EA8-5590-C03E-8F83-FDFEDC38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1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AF94-EB0D-FBAC-D309-8373E2DD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F8D8-3F7D-EE98-6B00-AA9047481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403C-B406-79A5-B6AE-4C1064C8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4AD6D-05C1-F98A-F8FF-434A05C1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E25A-E552-BFE6-052E-233B46A4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1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515E3-EFC6-4E7A-0571-2B8DF847F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8279F-B157-80CC-E582-86F2C139F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6D02B-85C2-3C9B-E22B-0F6705AF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C653-7D84-4A7F-73B4-600FDB0E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398D8-9868-35A9-45E0-096FA05A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3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E39A3-CB7B-F2F2-BB80-D809AD51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4E6C-9DDE-E23D-AC40-949D8113E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700D-6204-838A-FFA2-4BF3516A8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F4B33-885B-F040-8A46-CBE76B52741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ADD7-624B-3173-23BB-78C9EE730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DD2E8-CFC8-F8AE-A9DF-EDCC7270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4611B-8B6E-6E4B-B112-D5042F8F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3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EDD4-682E-45C4-08F4-5D5695C99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	ONE-TIME PAD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80C6A-5B42-EC8C-E409-0DE3E9225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85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097A-AAC3-4FE2-AB3E-5E14BCFF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Cryptography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CFCF88-C4AC-475E-8DD0-04CD389F3592}"/>
              </a:ext>
            </a:extLst>
          </p:cNvPr>
          <p:cNvSpPr/>
          <p:nvPr/>
        </p:nvSpPr>
        <p:spPr>
          <a:xfrm>
            <a:off x="2667000" y="1737386"/>
            <a:ext cx="1449638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Definitions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99C47-F592-4D96-8A8E-25F33250F5F1}"/>
              </a:ext>
            </a:extLst>
          </p:cNvPr>
          <p:cNvSpPr/>
          <p:nvPr/>
        </p:nvSpPr>
        <p:spPr>
          <a:xfrm>
            <a:off x="4912007" y="1733135"/>
            <a:ext cx="1843495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Constructions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F92670-CF4E-47FF-AA8A-05E8D6726162}"/>
              </a:ext>
            </a:extLst>
          </p:cNvPr>
          <p:cNvSpPr/>
          <p:nvPr/>
        </p:nvSpPr>
        <p:spPr>
          <a:xfrm>
            <a:off x="5672531" y="3598093"/>
            <a:ext cx="2333762" cy="8173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000" dirty="0">
                <a:solidFill>
                  <a:prstClr val="white"/>
                </a:solidFill>
                <a:latin typeface="Georgia" panose="02040502050405020303"/>
              </a:rPr>
              <a:t>reductions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E70701-E1CA-449A-958F-9FD958A7842F}"/>
              </a:ext>
            </a:extLst>
          </p:cNvPr>
          <p:cNvSpPr/>
          <p:nvPr/>
        </p:nvSpPr>
        <p:spPr>
          <a:xfrm>
            <a:off x="9157530" y="3598093"/>
            <a:ext cx="2408664" cy="8173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000" dirty="0">
                <a:solidFill>
                  <a:prstClr val="white"/>
                </a:solidFill>
                <a:latin typeface="Georgia" panose="02040502050405020303"/>
              </a:rPr>
              <a:t>assumptions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5F117B-C9A5-48A0-971F-C27A274FF299}"/>
              </a:ext>
            </a:extLst>
          </p:cNvPr>
          <p:cNvSpPr/>
          <p:nvPr/>
        </p:nvSpPr>
        <p:spPr>
          <a:xfrm>
            <a:off x="7640311" y="1733135"/>
            <a:ext cx="1843495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Proof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0AEFA8A-0D38-4AD9-BEFF-651773655768}"/>
              </a:ext>
            </a:extLst>
          </p:cNvPr>
          <p:cNvSpPr/>
          <p:nvPr/>
        </p:nvSpPr>
        <p:spPr>
          <a:xfrm rot="8873894">
            <a:off x="7337608" y="3045471"/>
            <a:ext cx="757732" cy="255730"/>
          </a:xfrm>
          <a:prstGeom prst="rightArrow">
            <a:avLst>
              <a:gd name="adj1" fmla="val 50000"/>
              <a:gd name="adj2" fmla="val 8659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76C7111-4A35-47E2-A380-2B07E5BF7F71}"/>
              </a:ext>
            </a:extLst>
          </p:cNvPr>
          <p:cNvSpPr/>
          <p:nvPr/>
        </p:nvSpPr>
        <p:spPr>
          <a:xfrm rot="2145852">
            <a:off x="9104939" y="3132042"/>
            <a:ext cx="757732" cy="255730"/>
          </a:xfrm>
          <a:prstGeom prst="rightArrow">
            <a:avLst>
              <a:gd name="adj1" fmla="val 50000"/>
              <a:gd name="adj2" fmla="val 8659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1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3D97-B01F-44C6-8C46-6ADD4548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Symmetric-key Encryption</a:t>
            </a:r>
          </a:p>
        </p:txBody>
      </p:sp>
      <p:pic>
        <p:nvPicPr>
          <p:cNvPr id="3074" name="Picture 2" descr="Image result for symmetric encryption">
            <a:extLst>
              <a:ext uri="{FF2B5EF4-FFF2-40B4-BE49-F238E27FC236}">
                <a16:creationId xmlns:a16="http://schemas.microsoft.com/office/drawing/2014/main" id="{67E2A111-96F2-4CEF-B692-EA79CB01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858" y="1899454"/>
            <a:ext cx="5369138" cy="293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7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for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524000"/>
                <a:ext cx="78867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524000"/>
                <a:ext cx="7886700" cy="4876800"/>
              </a:xfrm>
              <a:blipFill>
                <a:blip r:embed="rId2"/>
                <a:stretch>
                  <a:fillRect l="-1447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27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lvl="1" indent="-342900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(key space) – set of all possible keys</a:t>
                </a:r>
                <a:endParaRPr lang="en-US" sz="2800" b="1" dirty="0"/>
              </a:p>
              <a:p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(ciphertext space) – set of all possible ciphertexts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(message space) - set of all possible messages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486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for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8906" y="1524000"/>
                <a:ext cx="10428194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b="1" dirty="0"/>
                  <a:t>Correctness</a:t>
                </a:r>
                <a:r>
                  <a:rPr lang="en-US" dirty="0"/>
                  <a:t>: for every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any secret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Dec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906" y="1524000"/>
                <a:ext cx="10428194" cy="4876800"/>
              </a:xfrm>
              <a:blipFill>
                <a:blip r:embed="rId3"/>
                <a:stretch>
                  <a:fillRect l="-972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27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i="1" dirty="0"/>
                  <a:t>Event</a:t>
                </a:r>
                <a:r>
                  <a:rPr lang="en-US" dirty="0"/>
                  <a:t>: a particular occurrence in some experiment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probability of event E</a:t>
                </a:r>
              </a:p>
              <a:p>
                <a:pPr lvl="1"/>
                <a:endParaRPr lang="en-US" sz="2800" dirty="0"/>
              </a:p>
              <a:p>
                <a:r>
                  <a:rPr lang="en-US" dirty="0"/>
                  <a:t>Conditional probability: probability that one event occurs, </a:t>
                </a:r>
                <a:r>
                  <a:rPr lang="en-US" i="1" dirty="0"/>
                  <a:t>given that </a:t>
                </a:r>
                <a:r>
                  <a:rPr lang="en-US" dirty="0"/>
                  <a:t>some other event occurred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]/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Two </a:t>
                </a:r>
                <a:r>
                  <a:rPr lang="en-US" dirty="0" err="1"/>
                  <a:t>r.v.’s</a:t>
                </a:r>
                <a:r>
                  <a:rPr lang="en-US" dirty="0"/>
                  <a:t>  X, Y are </a:t>
                </a:r>
                <a:r>
                  <a:rPr lang="en-US" i="1" dirty="0"/>
                  <a:t>independent</a:t>
                </a:r>
                <a:r>
                  <a:rPr lang="en-US" dirty="0"/>
                  <a:t> if</a:t>
                </a:r>
                <a:br>
                  <a:rPr lang="en-US" dirty="0"/>
                </a:br>
                <a:r>
                  <a:rPr lang="en-US" dirty="0"/>
                  <a:t>  for all x, 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466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Law of total probability: say E</a:t>
                </a:r>
                <a:r>
                  <a:rPr lang="en-US" baseline="-25000" dirty="0"/>
                  <a:t>1</a:t>
                </a:r>
                <a:r>
                  <a:rPr lang="en-US" dirty="0"/>
                  <a:t>, …, E</a:t>
                </a:r>
                <a:r>
                  <a:rPr lang="en-US" baseline="-25000" dirty="0"/>
                  <a:t>n</a:t>
                </a:r>
                <a:r>
                  <a:rPr lang="en-US" dirty="0"/>
                  <a:t> are a </a:t>
                </a:r>
                <a:r>
                  <a:rPr lang="en-US" i="1" dirty="0"/>
                  <a:t>partition</a:t>
                </a:r>
                <a:r>
                  <a:rPr lang="en-US" dirty="0"/>
                  <a:t> of all possibilities. Then for any A:</a:t>
                </a:r>
                <a:br>
                  <a:rPr lang="en-US" dirty="0"/>
                </a:br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=∑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𝑎𝑛𝑑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] = 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|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] ·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⁡[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]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96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for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9895" y="1524000"/>
                <a:ext cx="10448364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b="1" dirty="0"/>
                  <a:t>Perfect secrecy</a:t>
                </a:r>
                <a:r>
                  <a:rPr lang="en-US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, for every message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and every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9895" y="1524000"/>
                <a:ext cx="10448364" cy="4876800"/>
              </a:xfrm>
              <a:blipFill>
                <a:blip r:embed="rId3"/>
                <a:stretch>
                  <a:fillRect l="-1094" t="-2338" r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48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58A1-A2D1-F03E-FC1B-21EE2579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13174-EA83-2032-D9EB-035A00426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for any distribution over the message space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: English words encoded as ASCII code and then binary string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 for every message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=0000000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every ciphertext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0000000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0100100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0000000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13174-EA83-2032-D9EB-035A00426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06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25A8-19F9-AA27-DDDF-00E75981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1031588" cy="1325563"/>
          </a:xfrm>
        </p:spPr>
        <p:txBody>
          <a:bodyPr/>
          <a:lstStyle/>
          <a:p>
            <a:r>
              <a:rPr lang="en-US" dirty="0"/>
              <a:t>Example: rotation cipher (rotation by k=3)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2F323-706F-5FF3-3DF5-62270D70CC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0 ≠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2F323-706F-5FF3-3DF5-62270D70C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29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D3EC-8D2A-2CEF-3DF0-12E69653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equivalent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CA5A4A-59CC-869D-6BBA-07B08C8D5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329" y="1524000"/>
                <a:ext cx="10152529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Algorithms: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r>
                  <a:rPr lang="en-US" b="1" dirty="0"/>
                  <a:t>Perfect secrecy</a:t>
                </a:r>
                <a:r>
                  <a:rPr lang="en-US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, for every message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and every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CA5A4A-59CC-869D-6BBA-07B08C8D5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29" y="1524000"/>
                <a:ext cx="10152529" cy="4876800"/>
              </a:xfrm>
              <a:blipFill>
                <a:blip r:embed="rId2"/>
                <a:stretch>
                  <a:fillRect l="-1000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65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8536-6141-10C1-A361-ED3A370F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3465D-CD49-E1D6-3BEB-C9DC765441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596364" cy="4351338"/>
              </a:xfrm>
            </p:spPr>
            <p:txBody>
              <a:bodyPr/>
              <a:lstStyle/>
              <a:p>
                <a:r>
                  <a:rPr lang="en-US" dirty="0" err="1"/>
                  <a:t>Bayes’s</a:t>
                </a:r>
                <a:r>
                  <a:rPr lang="en-US" dirty="0"/>
                  <a:t> theorem: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·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·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]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]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/>
                  <a:t>	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3465D-CD49-E1D6-3BEB-C9DC76544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596364" cy="4351338"/>
              </a:xfrm>
              <a:blipFill>
                <a:blip r:embed="rId2"/>
                <a:stretch>
                  <a:fillRect l="-946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12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AFB8-264D-A17C-88EC-88AD1D01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Length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319DA-739C-ACF3-E373-9DE1E59FD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secret key,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: message,</a:t>
                </a:r>
                <a:r>
                  <a:rPr lang="en-US" sz="2000" b="0" dirty="0"/>
                  <a:t>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0, 1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0, 1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0, 1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319DA-739C-ACF3-E373-9DE1E59FD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4297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E708E-BE9A-42EA-5A6D-A1702B369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652182"/>
                <a:ext cx="10515600" cy="54423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Theorem 1(Shannon 1949) </a:t>
                </a:r>
                <a:r>
                  <a:rPr lang="en-US" i="1" dirty="0"/>
                  <a:t>:  If (Enc, Dec) is perfectly secure,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i="1" dirty="0"/>
                  <a:t>Proposition 1</a:t>
                </a:r>
                <a:r>
                  <a:rPr lang="en-US" i="1" dirty="0"/>
                  <a:t>:  For every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i="1" dirty="0"/>
                  <a:t> and any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i="1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where the probability is over the random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/>
                  <a:t>.An encryption scheme is perfectly secure if and only if the equation above holds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E708E-BE9A-42EA-5A6D-A1702B369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652182"/>
                <a:ext cx="10515600" cy="5442353"/>
              </a:xfrm>
              <a:blipFill>
                <a:blip r:embed="rId2"/>
                <a:stretch>
                  <a:fillRect l="-1327" t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33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DE557-4AC3-76F4-45CB-4EBD3D76A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6000" y="216000"/>
                <a:ext cx="10597800" cy="5960963"/>
              </a:xfrm>
            </p:spPr>
            <p:txBody>
              <a:bodyPr/>
              <a:lstStyle/>
              <a:p>
                <a:r>
                  <a:rPr lang="en-US" b="1" i="1" dirty="0"/>
                  <a:t>Theorem 1 </a:t>
                </a:r>
                <a:r>
                  <a:rPr lang="en-US" i="1" dirty="0"/>
                  <a:t>:  If (Enc, Dec) is perfectly secure,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fix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any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]&gt;0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𝒦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[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]= 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DE557-4AC3-76F4-45CB-4EBD3D76A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6000" y="216000"/>
                <a:ext cx="10597800" cy="5960963"/>
              </a:xfrm>
              <a:blipFill>
                <a:blip r:embed="rId2"/>
                <a:stretch>
                  <a:fillRect l="-1077" t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16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A57D-9736-20A7-F620-248BC4B2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62792-7D09-F481-FF8E-7618DA3B3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652182"/>
                <a:ext cx="10515600" cy="54423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Proposition 1</a:t>
                </a:r>
                <a:r>
                  <a:rPr lang="en-US" i="1" dirty="0"/>
                  <a:t>:  For every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i="1" dirty="0"/>
                  <a:t> and any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i="1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where the probability is over the random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/>
                  <a:t>.An encryption scheme is perfectly secure if and only if the equation above holds </a:t>
                </a:r>
              </a:p>
              <a:p>
                <a:pPr marL="0" indent="0">
                  <a:buNone/>
                </a:pPr>
                <a:r>
                  <a:rPr lang="en-US" i="1" dirty="0"/>
                  <a:t>Proof.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62792-7D09-F481-FF8E-7618DA3B3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652182"/>
                <a:ext cx="10515600" cy="5442353"/>
              </a:xfrm>
              <a:blipFill>
                <a:blip r:embed="rId3"/>
                <a:stretch>
                  <a:fillRect l="-1327" t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726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5D79-7CCB-DA8B-7EE0-0A2C4695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74D9A-0366-B723-20CF-4DE58439C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9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1082-422A-441E-95B0-DC2D1CD0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pad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F57F0-3824-4C36-B690-E5C73E5B3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Rotation by different shifts</a:t>
            </a:r>
          </a:p>
          <a:p>
            <a:r>
              <a:rPr lang="en-US" dirty="0"/>
              <a:t>Key length the same as message length</a:t>
            </a:r>
          </a:p>
        </p:txBody>
      </p:sp>
    </p:spTree>
    <p:extLst>
      <p:ext uri="{BB962C8B-B14F-4D97-AF65-F5344CB8AC3E}">
        <p14:creationId xmlns:p14="http://schemas.microsoft.com/office/powerpoint/2010/main" val="418414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3F74-034E-4BDE-B982-7F6D0854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vs modular addition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1CB3C-B56D-4719-8BED-2BED4E1E1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M: r   K: 24  --  C:  p</a:t>
            </a:r>
          </a:p>
          <a:p>
            <a:r>
              <a:rPr lang="en-US" dirty="0"/>
              <a:t>18 + 24 =  16 mod 26</a:t>
            </a:r>
          </a:p>
        </p:txBody>
      </p:sp>
    </p:spTree>
    <p:extLst>
      <p:ext uri="{BB962C8B-B14F-4D97-AF65-F5344CB8AC3E}">
        <p14:creationId xmlns:p14="http://schemas.microsoft.com/office/powerpoint/2010/main" val="1672580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0530-4BC6-40C8-8D0A-6A19BD91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8F183-2A46-4506-8ABA-F27E5442C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Symbol"/>
              </a:rPr>
              <a:t>A  B</a:t>
            </a: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Equivalent to addition mod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AB121A-2F6F-487B-9475-B8C1C645F561}"/>
              </a:ext>
            </a:extLst>
          </p:cNvPr>
          <p:cNvGraphicFramePr>
            <a:graphicFrameLocks noGrp="1"/>
          </p:cNvGraphicFramePr>
          <p:nvPr/>
        </p:nvGraphicFramePr>
        <p:xfrm>
          <a:off x="2082802" y="2514600"/>
          <a:ext cx="8127999" cy="228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376389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70174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857141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02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26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96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084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700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pad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{0,1}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dirty="0"/>
                  <a:t>: choose a uniform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{0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,1}</m:t>
                    </m:r>
                    <m:r>
                      <a:rPr lang="en-US" i="1" baseline="30000" dirty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</m:oMath>
                </a14:m>
                <a:endParaRPr lang="en-US" dirty="0">
                  <a:sym typeface="Symbol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Enc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dirty="0">
                    <a:sym typeface="Symbol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</m:oMath>
                </a14:m>
                <a:r>
                  <a:rPr lang="en-US" dirty="0">
                    <a:sym typeface="Symbol"/>
                  </a:rPr>
                  <a:t>             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Dec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dirty="0">
                    <a:sym typeface="Symbol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</m:oMath>
                </a14:m>
                <a:endParaRPr lang="en-US" dirty="0">
                  <a:sym typeface="Symbol"/>
                </a:endParaRPr>
              </a:p>
              <a:p>
                <a:endParaRPr lang="en-US" dirty="0">
                  <a:sym typeface="Symbol"/>
                </a:endParaRPr>
              </a:p>
              <a:p>
                <a:r>
                  <a:rPr lang="en-US" dirty="0">
                    <a:sym typeface="Symbol"/>
                  </a:rPr>
                  <a:t>Correctness:</a:t>
                </a:r>
                <a:br>
                  <a:rPr lang="en-US" dirty="0">
                    <a:sym typeface="Symbol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Dec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 </m:t>
                    </m:r>
                    <m:r>
                      <m:rPr>
                        <m:sty m:val="p"/>
                      </m:rPr>
                      <a:rPr lang="en-US" i="0" dirty="0" err="1">
                        <a:latin typeface="Cambria Math" panose="02040503050406030204" pitchFamily="18" charset="0"/>
                        <a:sym typeface="Symbol"/>
                      </a:rPr>
                      <m:t>Enc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 ) 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 </m:t>
                    </m:r>
                  </m:oMath>
                </a14:m>
                <a:br>
                  <a:rPr lang="en-US" dirty="0">
                    <a:sym typeface="Symbol"/>
                  </a:rPr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                           = 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)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245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One-time pad</a:t>
            </a: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5334000" y="2433936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key</a:t>
            </a:r>
          </a:p>
        </p:txBody>
      </p:sp>
      <p:sp>
        <p:nvSpPr>
          <p:cNvPr id="32774" name="Line 14"/>
          <p:cNvSpPr>
            <a:spLocks noChangeShapeType="1"/>
          </p:cNvSpPr>
          <p:nvPr/>
        </p:nvSpPr>
        <p:spPr bwMode="auto">
          <a:xfrm>
            <a:off x="4572000" y="4195019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5" name="Line 18"/>
          <p:cNvSpPr>
            <a:spLocks noChangeShapeType="1"/>
          </p:cNvSpPr>
          <p:nvPr/>
        </p:nvSpPr>
        <p:spPr bwMode="auto">
          <a:xfrm flipV="1">
            <a:off x="6119976" y="2971800"/>
            <a:ext cx="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lg" len="med"/>
            <a:tailEnd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6" name="Line 19"/>
          <p:cNvSpPr>
            <a:spLocks noChangeShapeType="1"/>
          </p:cNvSpPr>
          <p:nvPr/>
        </p:nvSpPr>
        <p:spPr bwMode="auto">
          <a:xfrm>
            <a:off x="6324600" y="4195019"/>
            <a:ext cx="131673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80" name="Text Box 26"/>
          <p:cNvSpPr txBox="1">
            <a:spLocks noChangeArrowheads="1"/>
          </p:cNvSpPr>
          <p:nvPr/>
        </p:nvSpPr>
        <p:spPr bwMode="auto">
          <a:xfrm>
            <a:off x="5642617" y="1595736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007818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message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3312620" y="32004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7677354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 err="1">
                <a:latin typeface="Calibri"/>
              </a:rPr>
              <a:t>ciphertext</a:t>
            </a:r>
            <a:endParaRPr lang="en-US" altLang="en-US" dirty="0">
              <a:latin typeface="Calibri"/>
            </a:endParaRP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7982156" y="31242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0" y="3779522"/>
            <a:ext cx="657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prstClr val="black"/>
                </a:solidFill>
                <a:latin typeface="Calibri"/>
                <a:sym typeface="Symbol"/>
              </a:rPr>
              <a:t></a:t>
            </a:r>
            <a:endParaRPr lang="en-US" sz="4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ight Brace 1"/>
          <p:cNvSpPr/>
          <p:nvPr/>
        </p:nvSpPr>
        <p:spPr>
          <a:xfrm rot="16200000">
            <a:off x="3587665" y="3001554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Right Brace 16"/>
          <p:cNvSpPr/>
          <p:nvPr/>
        </p:nvSpPr>
        <p:spPr>
          <a:xfrm rot="16200000">
            <a:off x="5913847" y="1454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Right Brace 17"/>
          <p:cNvSpPr/>
          <p:nvPr/>
        </p:nvSpPr>
        <p:spPr>
          <a:xfrm rot="16200000">
            <a:off x="8257201" y="2978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057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D13A-4518-8BB6-DDC3-A7460369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43E5C-9DF8-FDF4-2795-28F6D0C4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Theorem 1: One-time pad encryption is perfectly secure.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EE25E-86F8-29C2-0706-04B335197133}"/>
                  </a:ext>
                </a:extLst>
              </p:cNvPr>
              <p:cNvSpPr txBox="1"/>
              <p:nvPr/>
            </p:nvSpPr>
            <p:spPr>
              <a:xfrm>
                <a:off x="1030380" y="4045504"/>
                <a:ext cx="9626413" cy="1538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Perfect secrecy</a:t>
                </a:r>
                <a:r>
                  <a:rPr lang="en-US" sz="2400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, for every message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400" dirty="0"/>
                  <a:t> and every ciphertext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EE25E-86F8-29C2-0706-04B335197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0" y="4045504"/>
                <a:ext cx="9626413" cy="1538883"/>
              </a:xfrm>
              <a:prstGeom prst="rect">
                <a:avLst/>
              </a:prstGeom>
              <a:blipFill>
                <a:blip r:embed="rId2"/>
                <a:stretch>
                  <a:fillRect l="-950" t="-3175" r="-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10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CFB-6E83-56F6-BD13-3F62F539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=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=</m:t>
                      </m:r>
                      <m:r>
                        <m:rPr>
                          <m:sty m:val="p"/>
                        </m:rPr>
                        <a:rPr lang="en-US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 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 |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𝑀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 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158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CFB-6E83-56F6-BD13-3F62F539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ℳ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	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 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ℳ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 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3A994-E5E0-E35E-D0D8-BDD52A9C8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03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F6DA-8677-81CE-DDE6-585AC3A6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41C3-D039-FB13-8669-191B81BE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51A1C-4457-597D-181D-C3904EC27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41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697217" cy="1325563"/>
          </a:xfrm>
        </p:spPr>
        <p:txBody>
          <a:bodyPr/>
          <a:lstStyle/>
          <a:p>
            <a:r>
              <a:rPr lang="en-US" dirty="0"/>
              <a:t>Another def: </a:t>
            </a:r>
            <a:r>
              <a:rPr lang="en-US" b="1" dirty="0"/>
              <a:t>perfect indistinguishability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446" y="1303066"/>
                <a:ext cx="6258511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 Experiment: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Adversary A chooses any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endParaRPr lang="en-US" sz="28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Generate a key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800" dirty="0"/>
                  <a:t>, pick a random bit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∈{0,1}</m:t>
                    </m:r>
                  </m:oMath>
                </a14:m>
                <a:r>
                  <a:rPr lang="en-US" sz="2800" dirty="0"/>
                  <a:t>, send attacker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Attacker guesses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/>
                    </m:sSub>
                  </m:oMath>
                </a14:m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Experiment outputs succeed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/>
                    </m:sSub>
                  </m:oMath>
                </a14:m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0">
                  <a:buNone/>
                </a:pPr>
                <a:endParaRPr lang="en-US" sz="3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446" y="1303066"/>
                <a:ext cx="6258511" cy="4876800"/>
              </a:xfrm>
              <a:blipFill>
                <a:blip r:embed="rId3"/>
                <a:stretch>
                  <a:fillRect l="-1215" t="-2597" r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079284-9BE4-48C8-4EAD-2BCDC3A12D27}"/>
              </a:ext>
            </a:extLst>
          </p:cNvPr>
          <p:cNvSpPr txBox="1"/>
          <p:nvPr/>
        </p:nvSpPr>
        <p:spPr>
          <a:xfrm>
            <a:off x="1069769" y="5494056"/>
            <a:ext cx="91826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buNone/>
            </a:pPr>
            <a:r>
              <a:rPr lang="en-US" sz="3200" dirty="0"/>
              <a:t>Perfectly indistinguishable: for every adversary </a:t>
            </a:r>
            <a:r>
              <a:rPr lang="en-US" sz="3200" i="1" dirty="0"/>
              <a:t>A</a:t>
            </a:r>
          </a:p>
          <a:p>
            <a:pPr marL="0" algn="ctr">
              <a:buNone/>
            </a:pPr>
            <a:r>
              <a:rPr lang="en-US" sz="3200" dirty="0" err="1"/>
              <a:t>Pr</a:t>
            </a:r>
            <a:r>
              <a:rPr lang="en-US" sz="3200" dirty="0"/>
              <a:t>[</a:t>
            </a:r>
            <a:r>
              <a:rPr lang="en-US" sz="3200" dirty="0">
                <a:solidFill>
                  <a:srgbClr val="0070C0"/>
                </a:solidFill>
              </a:rPr>
              <a:t>Experiment outputs 1</a:t>
            </a:r>
            <a:r>
              <a:rPr lang="en-US" sz="3200" dirty="0"/>
              <a:t>] = ½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3021C-DDD7-C4E9-7A03-D5FD2D523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600" y="1900185"/>
            <a:ext cx="738672" cy="738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F466E1-D83B-1598-8597-91552451E878}"/>
                  </a:ext>
                </a:extLst>
              </p:cNvPr>
              <p:cNvSpPr/>
              <p:nvPr/>
            </p:nvSpPr>
            <p:spPr>
              <a:xfrm>
                <a:off x="9165600" y="1655983"/>
                <a:ext cx="2660293" cy="167041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/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←{0,1}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 algn="ctr"/>
                <a:endParaRPr lang="en-US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F466E1-D83B-1598-8597-91552451E8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00" y="1655983"/>
                <a:ext cx="2660293" cy="16704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F10A27-025F-71A5-206C-2E7D3AAE3F1D}"/>
              </a:ext>
            </a:extLst>
          </p:cNvPr>
          <p:cNvCxnSpPr>
            <a:cxnSpLocks/>
          </p:cNvCxnSpPr>
          <p:nvPr/>
        </p:nvCxnSpPr>
        <p:spPr>
          <a:xfrm>
            <a:off x="7428272" y="2269521"/>
            <a:ext cx="16581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8CD150-E744-0923-5FD0-93D326303D22}"/>
                  </a:ext>
                </a:extLst>
              </p:cNvPr>
              <p:cNvSpPr txBox="1"/>
              <p:nvPr/>
            </p:nvSpPr>
            <p:spPr>
              <a:xfrm>
                <a:off x="7687614" y="1849785"/>
                <a:ext cx="927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8CD150-E744-0923-5FD0-93D326303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614" y="1849785"/>
                <a:ext cx="927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9FA302-266D-A693-7D05-5D232D70CFBD}"/>
              </a:ext>
            </a:extLst>
          </p:cNvPr>
          <p:cNvCxnSpPr>
            <a:cxnSpLocks/>
          </p:cNvCxnSpPr>
          <p:nvPr/>
        </p:nvCxnSpPr>
        <p:spPr>
          <a:xfrm flipH="1">
            <a:off x="7359114" y="2753121"/>
            <a:ext cx="158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CFA035-CC02-965D-C46B-205E256BFC91}"/>
                  </a:ext>
                </a:extLst>
              </p:cNvPr>
              <p:cNvSpPr txBox="1"/>
              <p:nvPr/>
            </p:nvSpPr>
            <p:spPr>
              <a:xfrm>
                <a:off x="7687614" y="2383789"/>
                <a:ext cx="8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CFA035-CC02-965D-C46B-205E256BF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614" y="2383789"/>
                <a:ext cx="8334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53C5F7-130A-0A19-A1FC-D3C72E6423C2}"/>
              </a:ext>
            </a:extLst>
          </p:cNvPr>
          <p:cNvCxnSpPr>
            <a:cxnSpLocks/>
          </p:cNvCxnSpPr>
          <p:nvPr/>
        </p:nvCxnSpPr>
        <p:spPr>
          <a:xfrm flipH="1">
            <a:off x="7174693" y="2816918"/>
            <a:ext cx="16835" cy="739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CDB2BB-4B48-B54E-E122-1C6D8FB8C028}"/>
                  </a:ext>
                </a:extLst>
              </p:cNvPr>
              <p:cNvSpPr txBox="1"/>
              <p:nvPr/>
            </p:nvSpPr>
            <p:spPr>
              <a:xfrm>
                <a:off x="6891943" y="3556800"/>
                <a:ext cx="6211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/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CDB2BB-4B48-B54E-E122-1C6D8FB8C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943" y="3556800"/>
                <a:ext cx="62118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69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0D143-F68F-F7AB-0F11-BEF8AA92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indistinguishability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BE2DA-3DA6-DD96-5E40-9731308E9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i="1" dirty="0"/>
                  <a:t>Theorem 2: An encryption scheme is perfectly secret if and only if it is perfectly indistinguishable. </a:t>
                </a:r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r>
                  <a:rPr lang="en-US" b="1" i="1" dirty="0"/>
                  <a:t>Proposition 1</a:t>
                </a:r>
                <a:r>
                  <a:rPr lang="en-US" i="1" dirty="0"/>
                  <a:t>:  For every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i="1" dirty="0"/>
                  <a:t> and any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i="1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where the probability is over the random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i="1" dirty="0"/>
                  <a:t>. An encryption scheme is perfectly secure if and only if the equation above holds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i="1" dirty="0">
                    <a:solidFill>
                      <a:srgbClr val="FF0000"/>
                    </a:solidFill>
                  </a:rPr>
                  <a:t>Proof.  </a:t>
                </a:r>
              </a:p>
              <a:p>
                <a:endParaRPr lang="en-US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BE2DA-3DA6-DD96-5E40-9731308E9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362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681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D4FC9C-35A5-0BE5-F641-7D07A737F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89" y="2632188"/>
            <a:ext cx="1232567" cy="12325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8BEA47-91EE-AF6A-83BA-73FB1894A5DA}"/>
                  </a:ext>
                </a:extLst>
              </p:cNvPr>
              <p:cNvSpPr/>
              <p:nvPr/>
            </p:nvSpPr>
            <p:spPr>
              <a:xfrm>
                <a:off x="7820726" y="2999307"/>
                <a:ext cx="2660293" cy="167041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000" dirty="0">
                  <a:latin typeface="Georgia" panose="02040502050405020303" pitchFamily="18" charset="0"/>
                </a:endParaRPr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←{0,1}</m:t>
                    </m:r>
                  </m:oMath>
                </a14:m>
                <a:r>
                  <a:rPr lang="en-US" sz="2000" dirty="0">
                    <a:latin typeface="Georgia" panose="02040502050405020303" pitchFamily="18" charset="0"/>
                  </a:rPr>
                  <a:t>,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latin typeface="Georgia" panose="02040502050405020303" pitchFamily="18" charset="0"/>
                </a:endParaRPr>
              </a:p>
              <a:p>
                <a:pPr lvl="1" algn="ctr"/>
                <a:endParaRPr lang="en-US" sz="20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8BEA47-91EE-AF6A-83BA-73FB1894A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726" y="2999307"/>
                <a:ext cx="2660293" cy="16704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A8A8AC-8F1E-9072-9BC8-CA93A228047A}"/>
              </a:ext>
            </a:extLst>
          </p:cNvPr>
          <p:cNvCxnSpPr>
            <a:cxnSpLocks/>
          </p:cNvCxnSpPr>
          <p:nvPr/>
        </p:nvCxnSpPr>
        <p:spPr>
          <a:xfrm>
            <a:off x="3119793" y="3433983"/>
            <a:ext cx="42150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EEC538-F8E5-0CB0-367A-D29CC963F047}"/>
                  </a:ext>
                </a:extLst>
              </p:cNvPr>
              <p:cNvSpPr txBox="1"/>
              <p:nvPr/>
            </p:nvSpPr>
            <p:spPr>
              <a:xfrm>
                <a:off x="4714515" y="2867317"/>
                <a:ext cx="927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EEC538-F8E5-0CB0-367A-D29CC963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515" y="2867317"/>
                <a:ext cx="927000" cy="461665"/>
              </a:xfrm>
              <a:prstGeom prst="rect">
                <a:avLst/>
              </a:prstGeom>
              <a:blipFill>
                <a:blip r:embed="rId4"/>
                <a:stretch>
                  <a:fillRect r="-13514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8589B3-EB0D-795B-2D24-016BD7718BEC}"/>
              </a:ext>
            </a:extLst>
          </p:cNvPr>
          <p:cNvCxnSpPr>
            <a:cxnSpLocks/>
          </p:cNvCxnSpPr>
          <p:nvPr/>
        </p:nvCxnSpPr>
        <p:spPr>
          <a:xfrm flipH="1">
            <a:off x="3225547" y="3834515"/>
            <a:ext cx="4109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294F3-0C6A-2DE3-15D0-1592D6605C25}"/>
                  </a:ext>
                </a:extLst>
              </p:cNvPr>
              <p:cNvSpPr txBox="1"/>
              <p:nvPr/>
            </p:nvSpPr>
            <p:spPr>
              <a:xfrm>
                <a:off x="4714515" y="3447667"/>
                <a:ext cx="1092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294F3-0C6A-2DE3-15D0-1592D6605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515" y="3447667"/>
                <a:ext cx="109206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1D7231-D5A1-F155-C2FC-845D38710C51}"/>
                  </a:ext>
                </a:extLst>
              </p:cNvPr>
              <p:cNvSpPr txBox="1"/>
              <p:nvPr/>
            </p:nvSpPr>
            <p:spPr>
              <a:xfrm>
                <a:off x="771840" y="4187980"/>
                <a:ext cx="732942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Georgia" panose="02040502050405020303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Georgia" panose="02040502050405020303" pitchFamily="18" charset="0"/>
                  </a:rPr>
                  <a:t>, 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en-US" sz="2400" dirty="0">
                    <a:latin typeface="Georgia" panose="02040502050405020303" pitchFamily="18" charset="0"/>
                  </a:rPr>
                  <a:t> </a:t>
                </a:r>
              </a:p>
              <a:p>
                <a:r>
                  <a:rPr lang="en-US" sz="3200" dirty="0">
                    <a:latin typeface="Georgia" panose="02040502050405020303" pitchFamily="18" charset="0"/>
                  </a:rPr>
                  <a:t>Otherwise</a:t>
                </a:r>
                <a:r>
                  <a:rPr lang="en-US" sz="2400" dirty="0">
                    <a:latin typeface="Georgia" panose="02040502050405020303" pitchFamily="18" charset="0"/>
                  </a:rPr>
                  <a:t>, output random bit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0, 1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latin typeface="Georgia" panose="02040502050405020303" pitchFamily="18" charset="0"/>
                  </a:rPr>
                  <a:t> </a:t>
                </a:r>
              </a:p>
              <a:p>
                <a:r>
                  <a:rPr lang="en-US" sz="2400" dirty="0">
                    <a:latin typeface="Georgia" panose="020405020504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1D7231-D5A1-F155-C2FC-845D38710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0" y="4187980"/>
                <a:ext cx="7329423" cy="1323439"/>
              </a:xfrm>
              <a:prstGeom prst="rect">
                <a:avLst/>
              </a:prstGeom>
              <a:blipFill>
                <a:blip r:embed="rId6"/>
                <a:stretch>
                  <a:fillRect l="-2076" t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equential Access Storage 19">
            <a:extLst>
              <a:ext uri="{FF2B5EF4-FFF2-40B4-BE49-F238E27FC236}">
                <a16:creationId xmlns:a16="http://schemas.microsoft.com/office/drawing/2014/main" id="{82F8CCED-2B15-FC17-30EA-3F0FEE729F1A}"/>
              </a:ext>
            </a:extLst>
          </p:cNvPr>
          <p:cNvSpPr/>
          <p:nvPr/>
        </p:nvSpPr>
        <p:spPr>
          <a:xfrm flipH="1">
            <a:off x="2388455" y="946484"/>
            <a:ext cx="9031705" cy="1798927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BDC378-1F00-7FB7-DEC1-84B2DF29DE15}"/>
                  </a:ext>
                </a:extLst>
              </p:cNvPr>
              <p:cNvSpPr txBox="1"/>
              <p:nvPr/>
            </p:nvSpPr>
            <p:spPr>
              <a:xfrm>
                <a:off x="3530347" y="1416842"/>
                <a:ext cx="7200003" cy="1065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func>
                        <m:func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𝐸𝑛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func>
                        <m:func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𝐸𝑛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sz="3200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BDC378-1F00-7FB7-DEC1-84B2DF29D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347" y="1416842"/>
                <a:ext cx="7200003" cy="1065869"/>
              </a:xfrm>
              <a:prstGeom prst="rect">
                <a:avLst/>
              </a:prstGeom>
              <a:blipFill>
                <a:blip r:embed="rId7"/>
                <a:stretch>
                  <a:fillRect b="-1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199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same key twice?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baseline="-25000" dirty="0"/>
              <a:t>1 </a:t>
            </a:r>
            <a:r>
              <a:rPr lang="en-US" dirty="0">
                <a:sym typeface="Symbol"/>
              </a:rPr>
              <a:t> m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is information about m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, m</a:t>
            </a:r>
            <a:r>
              <a:rPr lang="en-US" baseline="-25000" dirty="0">
                <a:sym typeface="Symbol"/>
              </a:rPr>
              <a:t>2</a:t>
            </a:r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Is this significant?</a:t>
            </a:r>
          </a:p>
          <a:p>
            <a:pPr lvl="2"/>
            <a:r>
              <a:rPr lang="en-US" dirty="0">
                <a:sym typeface="Symbol"/>
              </a:rPr>
              <a:t>No longer perfectly secret!</a:t>
            </a:r>
          </a:p>
          <a:p>
            <a:pPr lvl="2"/>
            <a:r>
              <a:rPr lang="en-US" dirty="0">
                <a:sym typeface="Symbol"/>
              </a:rPr>
              <a:t>m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  m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reveals where m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, m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differ</a:t>
            </a:r>
          </a:p>
          <a:p>
            <a:pPr lvl="2"/>
            <a:r>
              <a:rPr lang="en-US" dirty="0">
                <a:sym typeface="Symbol"/>
              </a:rPr>
              <a:t>Frequency analysis</a:t>
            </a:r>
          </a:p>
        </p:txBody>
      </p:sp>
    </p:spTree>
    <p:extLst>
      <p:ext uri="{BB962C8B-B14F-4D97-AF65-F5344CB8AC3E}">
        <p14:creationId xmlns:p14="http://schemas.microsoft.com/office/powerpoint/2010/main" val="89314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</TotalTime>
  <Words>1619</Words>
  <Application>Microsoft Macintosh PowerPoint</Application>
  <PresentationFormat>Widescreen</PresentationFormat>
  <Paragraphs>240</Paragraphs>
  <Slides>31</Slides>
  <Notes>7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Linux Libertine</vt:lpstr>
      <vt:lpstr>Aptos</vt:lpstr>
      <vt:lpstr>Aptos Display</vt:lpstr>
      <vt:lpstr>Arial</vt:lpstr>
      <vt:lpstr>Calibri</vt:lpstr>
      <vt:lpstr>Cambria Math</vt:lpstr>
      <vt:lpstr>Georgia</vt:lpstr>
      <vt:lpstr>Monotype Corsiva</vt:lpstr>
      <vt:lpstr>Source Sans Pro</vt:lpstr>
      <vt:lpstr>Symbol</vt:lpstr>
      <vt:lpstr>Office Theme</vt:lpstr>
      <vt:lpstr> ONE-TIME PAD</vt:lpstr>
      <vt:lpstr>Modern Cryptography </vt:lpstr>
      <vt:lpstr>Symmetric-key Encryption</vt:lpstr>
      <vt:lpstr>Definitions for encryption</vt:lpstr>
      <vt:lpstr>Notation</vt:lpstr>
      <vt:lpstr>Definitions for encryption</vt:lpstr>
      <vt:lpstr>Probability</vt:lpstr>
      <vt:lpstr>Probability</vt:lpstr>
      <vt:lpstr>Definitions for encryption</vt:lpstr>
      <vt:lpstr>Example</vt:lpstr>
      <vt:lpstr>Example: rotation cipher (rotation by k=3)</vt:lpstr>
      <vt:lpstr>An equivalent definition</vt:lpstr>
      <vt:lpstr>Proof</vt:lpstr>
      <vt:lpstr>Key Length </vt:lpstr>
      <vt:lpstr>PowerPoint Presentation</vt:lpstr>
      <vt:lpstr>PowerPoint Presentation</vt:lpstr>
      <vt:lpstr>PowerPoint Presentation</vt:lpstr>
      <vt:lpstr>Quiz</vt:lpstr>
      <vt:lpstr>One-time pad</vt:lpstr>
      <vt:lpstr>Rotation vs modular addition </vt:lpstr>
      <vt:lpstr>XOR</vt:lpstr>
      <vt:lpstr>One-time pad</vt:lpstr>
      <vt:lpstr>One-time pad</vt:lpstr>
      <vt:lpstr>Theorem</vt:lpstr>
      <vt:lpstr>Proof</vt:lpstr>
      <vt:lpstr>Proof</vt:lpstr>
      <vt:lpstr>Quiz</vt:lpstr>
      <vt:lpstr>Another def: perfect indistinguishability</vt:lpstr>
      <vt:lpstr>Perfect indistinguishability</vt:lpstr>
      <vt:lpstr>PowerPoint Presentation</vt:lpstr>
      <vt:lpstr>Using the same key twice?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Luo, Ning</dc:creator>
  <cp:lastModifiedBy>Luo, Ning</cp:lastModifiedBy>
  <cp:revision>10</cp:revision>
  <dcterms:created xsi:type="dcterms:W3CDTF">2025-08-31T22:43:55Z</dcterms:created>
  <dcterms:modified xsi:type="dcterms:W3CDTF">2026-08-30T19:16:51Z</dcterms:modified>
</cp:coreProperties>
</file>